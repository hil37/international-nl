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contribution Communication ne constitue pas à elle seule une preuve de performance financière. La capacité réelle de l’équipe doit être objectivée avant de figer le séquencement des constructions.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matrice décrit des contributions, pas douze projets à créer. Un même dispositif sert plusieurs priorités et ne doit pas être reproduit dans chaque case. Les priorités sont reprises selon les termes fournis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Classification proposée pour la lecture du portefeuille, à confirmer en gouvernance. NEW et SCALE ne sont ni des budgets ni des niveaux de priorité. CONDITIONAL qualifie un déclencheur ou une incertitude ; il peut s’appliquer à un projet déjà identifié.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Proposition de priorisation, à valider avec le manager puis le CODIR. Aucun effectif, budget, temps de production ni nombre de projets simultanés n’est fourni. La faisabilité reste à objectiver. Les actions validées ne sont pas abandonnées : leur séquencement dépend de cette 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Direction : sens. DSI : outils/anonymisation. Juridique : cadre. RH Formation : compétences. Métiers : cas d’usage. Communication : orchestration. Zoom IA est un temps fort à date non confirmée ; son calendrier ne bloque pas mécaniquement toutes les autres actions. Détail complet en annexe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 : prompt IA brandé Leyton, bibliothèque slides/preuves, offres, vidéos corporate/produits/outils/clients, chiffres et références validés, signaux clients → offres, contacts experts. Communication porte expérience/branding/cohérence ; Marketing et métiers portent le fond commercial. Cross-sell : chaîne et récit détaillés en annexe A2. Minimum quatre vidéos par exercice, objectif fourni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Communication accompagne Marketing, Business et Customer Success, sans se substituer à leurs responsabilités. LinkedIn business relève du Marketing. Les opportunités ne sont pas des commandes automatiques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GPTW est déjà lancé. Ne pas reconstituer une campagne de lancement d’enquête. Workelo couvre J−60 à J+30 avec séquencement, informations utiles, culture, ressources, outils, contacts et séminaire d’intégration.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 lancement intranet, privilégier les relais existants disponibles et les supports validés ; ne pas annoncer une page intranet opérationnelle tant que le canal ne l’est pas. Teams est explicitement le canal de sourcing cross-sell. Les contenus Neoscreen suivent la mise en service en agences.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Neoscreen : campagne à partir d’octobre, durée et jalons de déploiement non fournis. Le point marque le début, sans inventer de fin. Cross-sell : quatre vidéos minimum sur le FY, pas de calendrier de production fourni. IA, Toolbox, kit et Workelo : séquencement à arbitrer. Les pointillés sur l’horizon ne signifient pas une mobilisation continue. IA : pack final par métier en fin d’exercice. Intranet en revue de production / potentiel changement de prestataire, aucune date annoncée.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Concentration des temps forts, sans score de charge : octobre, janvier et avril associent rituels et séquences commerciales ; mars porte le 8 mars ; la fin d’exercice combine All Staff, pack IA final, préparation S2 et séminaire à confirmer. Les déclinaisons et validations doivent être anticipées. Neoscreen alimenté toute l’année après déploiement ; intranet seulement après lancement. Christmas Party conservée, date exacte non fournie. Leytonienne : S1 fin janvier ; S2 préparation mai–juin et publication fin juillet hors FY. La ligne Business représente les reprises, pas une obligation de production nouvelle chaque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Répartition détaillée IA en annexe. Owners opérationnels et circuits de validation à confirmer. Les responsabilités proposées ci-dessous ne constituent pas un RACI signé.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et accès à confirmer. Aucune valeur cible ni base de comparaison chiffrée n’est disponible. Communication peut documenter une contribution ; elle ne doit pas s’attribuer seule un résultat de vente, de rétention ou d’adoption. Baseline et objectifs à discuter après disponibilité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statut de maturité NEW/BUILD, SCALE/TRANSFORM, RUN/MAINTAIN, CONDITIONAL/TBD est une proposition de classement. Les projets validés par l’utilisateur sont conservés. Leur calendrier détaillé, hors points fournis, reste à arbitrer.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DIRECTION DE LA COMMUNICATION • MANAGER / CODIR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FFFFFF"/>
                </a:solidFill>
                <a:latin typeface="Montserrat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9FB0C0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554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FFFFFF"/>
                </a:solidFill>
                <a:latin typeface="Montserrat"/>
              </a:defRPr>
            </a:pPr>
            <a:r>
              <a:t>PLAN DE COMMUNICATION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463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0" b="0">
                <a:solidFill>
                  <a:srgbClr val="FFFFFF"/>
                </a:solidFill>
                <a:latin typeface="Montserrat"/>
              </a:defRPr>
            </a:pPr>
            <a:r>
              <a:t>FY2026/27.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426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6633"/>
                </a:solidFill>
                <a:latin typeface="Montserrat"/>
              </a:defRPr>
            </a:pPr>
            <a:r>
              <a:t>Mettre Leyton 2030 en mouvement.</a:t>
            </a:r>
          </a:p>
        </p:txBody>
      </p:sp>
      <p:pic>
        <p:nvPicPr>
          <p:cNvPr id="11" name="Picture 10" descr="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720" y="5715000"/>
            <a:ext cx="3474720" cy="34110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7315200"/>
            <a:ext cx="1225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Montserrat"/>
              </a:defRPr>
            </a:pPr>
            <a:r>
              <a:t>Adoption des transformations. Preuves de valeur. Force du collectif.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01 / LE CHOIX STRATÉGIQUE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Concentrer l’effort sur ce que la Communication peut faire progresser.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Rendre les transformations compréhensibles, sûres et utilisables dans le travail.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PREUVE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Rendre visibles l’expertise et la valeur créée pour les clients.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COLLECTIF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Donner de la continuité à l’information, à la culture et à l’engagement.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Croiser les priorités 2030 → sélectionner les projets utiles → fusionner les doublons → arbitrer la capacité.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02 / MATRICE STRATÉGIQUE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Quatre priorités × trois piliers : des contributions croisées.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3977639" cy="594360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LEYTON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606040"/>
            <a:ext cx="3931920" cy="594360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7249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606040"/>
            <a:ext cx="3931920" cy="594360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7249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3080" y="2606040"/>
            <a:ext cx="4251960" cy="594360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0" y="2724912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PEOPLE /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64992"/>
            <a:ext cx="3977639" cy="1051560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511296"/>
            <a:ext cx="368503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Discipline financière</a:t>
            </a:r>
          </a:p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&amp;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3364992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3511296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Réflexes offres, kit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et cross-sell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364992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3511296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Preuves de valeur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Top Performers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13080" y="3364992"/>
            <a:ext cx="425196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9384" y="3511296"/>
            <a:ext cx="39593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Compréhension des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résultats via All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535424"/>
            <a:ext cx="3977639" cy="1051560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368503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Montée en gamme</a:t>
            </a:r>
          </a:p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&amp; leadership marché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4535424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4" y="4681728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Kit par pôle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cohérence des supports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4535424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4681728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Témoignages premium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preuves d’expertise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13080" y="4535424"/>
            <a:ext cx="425196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9384" y="4681728"/>
            <a:ext cx="39593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Image corporate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leadership incarné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705856"/>
            <a:ext cx="3977639" cy="1051560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5852160"/>
            <a:ext cx="368503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Digital, IA</a:t>
            </a:r>
          </a:p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&amp; outils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5705856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4" y="5852160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Parcours IA ; Toolbox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chantiers canaux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5705856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4584" y="5852160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Tech et expérience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client ; vidéo Groupe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13080" y="5705856"/>
            <a:ext cx="425196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59384" y="5852160"/>
            <a:ext cx="39593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Workelo ; ressources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et information utiles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6876288"/>
            <a:ext cx="3977639" cy="1051560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7022592"/>
            <a:ext cx="368503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Culture, équipes</a:t>
            </a:r>
          </a:p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&amp; collectif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6876288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9784" y="7022592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Implication dans les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transformations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6876288"/>
            <a:ext cx="393192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4584" y="7022592"/>
            <a:ext cx="36393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Reconnaissance des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réussites collectives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213080" y="6876288"/>
            <a:ext cx="4251960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59384" y="7022592"/>
            <a:ext cx="39593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Rituels ; CARE ; RSE ;</a:t>
            </a:r>
          </a:p>
          <a:p>
            <a:pPr>
              <a:spcAft>
                <a:spcPts val="1000"/>
              </a:spcAft>
              <a:defRPr sz="2300" b="0">
                <a:solidFill>
                  <a:srgbClr val="002C49"/>
                </a:solidFill>
                <a:latin typeface="Montserrat"/>
              </a:defRPr>
            </a:pPr>
            <a:r>
              <a:t>culture et engagement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Chaque projet peut servir plusieurs priorités. Aucune case ne justifie, à elle seule, un projet supplémentaire.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03 / HIÉRARCHIE PROPOSÉE • À CONFIRMER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Distinguer la nature du dispositif de son statut de travail.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NEW /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Construire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Kit Business Partner ; refonte Workelo ; déploiement Neoscreen.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20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20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46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SCALE /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46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Structurer / développer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Parcours IA ; Toolbox ; mécanisme cross-sell ; preuves clients.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RUN / MAINTAIN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Maintenir le socle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All Staff ; Leytonienne ; RDV ; RSE ; culture ; LinkedIn corporate.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102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102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028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CONDITIONAL / TBD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28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Activer sous conditions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Intranet ; lancements d’offres / Tech ; vidéo Groupe ; dates à confirmer.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Quatre natures : programmes / campagnes • projets de transformation • rituels • canaux 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03 / LES QUATRE 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Ne pas confondre programme, transformation, rituel et canal.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A / PROGRAMMES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IA ; Toolbox ; cross-sell ; performance ; preuves clients.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Dispositifs orientés vers un effet attendu.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20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20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46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B / PROJETS</a:t>
            </a:r>
          </a:p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DE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46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Kit par pôle ; Workelo ; Neoscreen ; intranet.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Un livrable à construire et une bascule à organiser.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 / RITUELS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All Staff ; Leytonienne ; RDV collaborateurs ; RSE ; temps collectifs.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Des rendez-vous structurants.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10260" y="2880360"/>
            <a:ext cx="3954780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10260" y="2880360"/>
            <a:ext cx="64008" cy="53949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02868" y="3172968"/>
            <a:ext cx="33695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D / CANAUX ET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2868" y="4297680"/>
            <a:ext cx="336956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Neoscreen / intranet après mise en service.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LinkedIn corporate annuel.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Une alimentation transverse continue.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Les fils rouges thématiques nourrissent les canaux ; la vidéo Groupe reste un livrable spécifique, au planning TBD.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03 / CAPACITÉ ET ARBITRAGES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Protéger le socle et séquencer les constructions.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SOCLE À PRÉSERVER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Rituels d’information.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RDV et RSE mensuels.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Continuité des canaux disponibles.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Relais des informations validées.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CONSTRUCTIONS À SÉQUENCER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IA, Toolbox, kit, cross-sell, Workelo, Neoscreen.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Exiger un owner, des ressources et un circuit de 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ACTIVATIONS À CONDITIONNER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Offres et outils : vrai lancement.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Témoignages : preuve disponible.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Intranet et Groupe : planning confirmé.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Si la capacité manque : mutualiser les contenus, décaler un build ou réduire les déclinaisons ; arbitrage explicite.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04 / CHANGE • PROGRAMME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L’adoption de l’IA est un parcours, pas un événement.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3182111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063240"/>
            <a:ext cx="27614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6633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886200"/>
            <a:ext cx="27614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COMPRENDRE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5303520"/>
            <a:ext cx="276148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Pourquoi maintenant ?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Message directeur ; Zoom 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2788920"/>
            <a:ext cx="3182111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063240"/>
            <a:ext cx="27614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6633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3886200"/>
            <a:ext cx="27614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RASSURER</a:t>
            </a:r>
          </a:p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&amp; IMPLIQUER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5303520"/>
            <a:ext cx="276148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Quelle place pour moi ?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Dialogue ; contribution des métiers.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2944" y="2788920"/>
            <a:ext cx="3182111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3256" y="3063240"/>
            <a:ext cx="27614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6633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886200"/>
            <a:ext cx="27614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PROTÉGER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5303520"/>
            <a:ext cx="276148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IA responsable.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Guide ; règles ; données clients.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17936" y="2788920"/>
            <a:ext cx="3182111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28248" y="3063240"/>
            <a:ext cx="27614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6633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8248" y="3886200"/>
            <a:ext cx="27614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MONTRER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8248" y="5303520"/>
            <a:ext cx="276148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Outils et cas concrets.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« 1 problème → 1 usage IA 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282928" y="2788920"/>
            <a:ext cx="3182111" cy="5394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93240" y="3063240"/>
            <a:ext cx="27614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6633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93240" y="3886200"/>
            <a:ext cx="27614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AGIR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93240" y="5303520"/>
            <a:ext cx="276148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Formations ; hub ; prompts ; Challenge ; pack par métier.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Communication orchestre le parcours ; Direction, DSI, Juridique, RH et métiers portent leurs expertises.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04 / CHANGE •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Transformer la disponibilité des outils en usages concrets.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RENDRE ACCESSIBLE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Inventaire des outils.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Hub / page dédiée.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Fiches standardisées.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L’intranet devient le hub après lancement.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FAIRE UTILISER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Capsules formation.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Use cases.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Relais adaptés à l’importance et aux publics.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Une campagne multicanale.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INSTALLER UN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Pour chaque nouvel outil : utilité, cible, accès, usage, ressource et contact.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Actualisation continue.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Avant l’intranet, utiliser les relais disponibles ; ne pas conditionner toute l’adoption à un canal non lancé.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04 / CHANGE • ENABLEMENT COMMERCIAL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Le kit équipe les pôles ; le cross-sell installe un réflexe.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8183879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KIT BUSINESS PARTNER / PÔLE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7598663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Prompt IA brandé ; slides et preuves ; offres ; vidéos ; chiffres validés ; signaux clients et contacts experts.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Un socle réutilisable, validé par Marketing / métiers.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2880360"/>
            <a:ext cx="8183879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MÉCANISME CROSS-SELL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8" y="4297680"/>
            <a:ext cx="7598663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Sourcing → sélection → interview → validation → diffusion → capitalisation.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Faire retenir un signal client, un relais et un réflexe.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Minimum 4 vidéos sur l’exercice.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Une preuve cross-sell validée peut enrichir le kit : deux livrables distincts, une capitalisation commune.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04–05 / CHANGE &amp; BUSINESS •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Relier la performance à une cible, une valeur et un réflexe.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8183879" cy="4846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484632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CHANGE / OFFRES QUI PERFORMENT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7598663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Podium des offres.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Toujours associer : performance + cible client + bénéfice + contact / réflexe commercial.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2880360"/>
            <a:ext cx="8183879" cy="4846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2880360"/>
            <a:ext cx="64008" cy="484632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BUSINESS / TOP PERFORMERS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8" y="4297680"/>
            <a:ext cx="7598663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Reconnaître la performance individuelle et collective.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Rendre visibles les réussites ; ne pas les confondre avec le podium des offres.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7909560"/>
            <a:ext cx="16642080" cy="457200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7955279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DEUX FENÊTRES COMMUNES : OCTOBRE → MI-DÉCEMBRE  /  FÉVRIER → AVRIL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Après les All Staff : rééditorialiser les tableaux et chiffres déjà validés, sans recréer une source de données.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04 / CHANGE • PROJETS DE CANAUX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Le lancement est un projet ; l’alimentation devient un run transverse.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8183879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NEOSCREEN / DÉPLOYER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7598663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Toutes les agences.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Campagne à partir d’octobre.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Après déploiement : alimentation toute l’année, au service des trois piliers.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2880360"/>
            <a:ext cx="8183879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3172968"/>
            <a:ext cx="7598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INTRANET / SÉCURISER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8" y="4297680"/>
            <a:ext cx="7598663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En revue de production ; changement de prestataire possible.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Planning TBD.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Alimentation uniquement après lancement effectif.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Aucun lancement intranet annoncé en octobre. Le chantier et le run ne constituent pas deux campagnes.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05 / BUSINESS • PREUVE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Faire de l’expérience client la preuve de la montée en gamme.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5394960" cy="30175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6633"/>
                </a:solidFill>
                <a:latin typeface="Montserrat"/>
              </a:defRPr>
            </a:pPr>
            <a:r>
              <a:t>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02C49"/>
                </a:solidFill>
                <a:latin typeface="Montserrat"/>
              </a:defRPr>
            </a:pPr>
            <a:r>
              <a:t>Le besoin et le contexte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834640"/>
            <a:ext cx="5394960" cy="30175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6633"/>
                </a:solidFill>
                <a:latin typeface="Montserrat"/>
              </a:defRPr>
            </a:pPr>
            <a:r>
              <a:t>ACCOMPAGNEMENT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20624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02C49"/>
                </a:solidFill>
                <a:latin typeface="Montserrat"/>
              </a:defRPr>
            </a:pPr>
            <a:r>
              <a:t>L’expertise Leyton mobilisée.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0" y="2834640"/>
            <a:ext cx="5394960" cy="30175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6633"/>
                </a:solidFill>
                <a:latin typeface="Montserrat"/>
              </a:defRPr>
            </a:pPr>
            <a:r>
              <a:t>VALEUR CRÉÉE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420624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02C49"/>
                </a:solidFill>
                <a:latin typeface="Montserrat"/>
              </a:defRPr>
            </a:pPr>
            <a:r>
              <a:t>Le résultat ou le bénéfice validé.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92240"/>
            <a:ext cx="1636775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02C49"/>
                </a:solidFill>
                <a:latin typeface="Montserrat"/>
              </a:defRPr>
            </a:pPr>
            <a:r>
              <a:t>Témoignages principalement vidéo.</a:t>
            </a:r>
          </a:p>
          <a:p>
            <a:pPr>
              <a:spcAft>
                <a:spcPts val="1000"/>
              </a:spcAft>
              <a:defRPr sz="2800" b="0">
                <a:solidFill>
                  <a:srgbClr val="002C49"/>
                </a:solidFill>
                <a:latin typeface="Montserrat"/>
              </a:defRPr>
            </a:pPr>
            <a:r>
              <a:t>Priorité PME / ETI / Grands Comptes lorsque possible.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Marketing, Business et Customer Success accompagnés ; les salons sont des occasions de captation, pas une campagne séparée.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05 / BUSINESS • DISPOSITIFS ACTIVABLES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Produire quand le lancement et la preuve le justifient.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OUTILS CLIENTS /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Montrer un gain réel d’expérience client.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Vidéo interne + externe au lancement si pertinent.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Modèle Oryx ; témoignage Tech si cas concret.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OFFRES STRATÉGIQUES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Selon les vrais lancements : expert, vidéo, fiche / support, preuve, relais interne et externe avec Marketing.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VIDÉO CORPORATE GROUPE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Expertise ; montée en gamme ; preuves clients ; Tech ; IA ; outils propriétaires.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Projet Groupe ; planning TBD.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Capter et valider une preuve, puis la réutiliser dans plusieurs formats ; le business LinkedIn reste au Marketing.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06 / PEOPLE • RITUELS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Installer une continuité d’information et des repères collectifs.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ALL STAFF FRANCE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4 temps structurants :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octobre ; janvier ; avril ; fin d’exercice.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Un rituel de direction, prolongé par les relais de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LA LEYTONIENNE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S1 : publication fin janvier.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S2 : préparation mai–juin.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Publication fin juillet 2027 : hors FY26/27.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TEMPS COLLECTIFS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Christmas Party.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Séminaire de fin d’exercice : date à confirmer.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Mobilisation en amont, valorisation pendant / après.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La régularité des rituels compte davantage qu’une succession de campagnes ponctuelles.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06 / PEOPLE • PARCOURS COLLABORATEURS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Renforcer l’engagement par des parcours utiles et des réponses visibles.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ONBOARDING WORKELO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Refonte J−60 → J+30.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Séquencer information, culture, ressources, outils, contacts et séminaire d’intégration.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GPTW /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Résultats → enseignements → actions RH.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Mobilité, formation, développement, parcours internes.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« Vous avez dit / nous avons fait » si pertinent.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COMMUNICATION MANAGÉRIALE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Pour les sujets importants nécessitant cascade et discussion.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Messages clés, FAQ courte, support équipe, questions / feedback, ressources.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RH porte les parcours et les actions ; Communication rend l’information accessible et les réponses compréhensibles.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06 / PEOPLE &amp; IMAGE CORPORATE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Faire vivre la culture, puis amplifier les preuves du collectif.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VÉCU INTERNE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Minimum 1 RDV collaborateurs / mois.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Minimum 1 activation RSE interne / mois.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Kudos, initiatives, collaborations, comportements culturels.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LEADERSHIP AU FÉMININ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Capsules régulières de femmes managers : parcours, management, conseil, vision.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Mash-up externe pour le 8 mars.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IMAGE CORPORATE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LinkedIn toute l’année : culture, collaborateurs, engagements, innovation, événements, prises de parole.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RSE externe : sélection d’actions vécues en interne.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LinkedIn corporate est un fil rouge d’image ; la mobilisation précède la valorisation des rendez-vous.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07 / ÉCOSYSTÈME DES CANAUX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Un rôle par canal ; des relais selon le besoin.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6642080" cy="81381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INTRANET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26079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Hub de ressources et cross-sell principal, uniquement après lancement.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13048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NEOSCREEN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813048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Amplification en agences après déploiement ; pas le lieu du contenu complet.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62856"/>
            <a:ext cx="16642080" cy="81381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00016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700016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Sourcing cross-sell, remontées et contributions des métiers.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86984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ALL STAFF / LEYTONIENNE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586984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Sens et dialogue / sélection éditoriale premium et mémoire collective.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36792"/>
            <a:ext cx="16642080" cy="81381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473952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VIDÉO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6473952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Cas forts : client, cross-sell, Tech, IA et expertise.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7360919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LINKEDIN CORPORATE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7360919"/>
            <a:ext cx="12252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Image et preuves de culture ; LinkedIn business sous responsabilité Marketing.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Le contenu source est validé une fois, puis adapté ; aucun canal ne justifie un projet supplémentaire.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08 / ROADMAP 1 • PROGRAMMES ET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Les fenêtres actées cadrent les projets ; le reste reste à séquencer.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323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4323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JUIL.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AOÛT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SEPT.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5128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OCT.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0384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NOV.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3564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7221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DÉC.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4089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77472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JANV.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46152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82728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FÉV.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551408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87984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56664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93240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AVR.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36192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9849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6717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303751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JUIN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8712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PILIER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28712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PROGRAMME / PROJET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442715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352958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506724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IA • Zoom TBD / pack fin FY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1461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987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0384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3564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74089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64615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551408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456664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36192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26717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17243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8251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8426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8601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8776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8952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9127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9302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9477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79652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9828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0003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0178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0353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0528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0704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0879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21054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51229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81404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11580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41755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71930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02105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32280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62456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92631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22806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52981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831567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13332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435072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736824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038576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340328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642080" y="363931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6968" y="40416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88" name="TextBox 87"/>
          <p:cNvSpPr txBox="1"/>
          <p:nvPr/>
        </p:nvSpPr>
        <p:spPr>
          <a:xfrm>
            <a:off x="2286000" y="4018787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Toolbox / kit par pôle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0936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21461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1987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25128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30384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3564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74089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64615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551408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456664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36192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26717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717243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38251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8426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98601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28776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8952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89127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9302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9477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9652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9828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0003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0178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0353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0528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704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90879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21054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51229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81404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211580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241755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271930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02105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332280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362456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392631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422806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452981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4831567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513332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543507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73682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603857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634032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664208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22960" y="4466844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86968" y="45537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139" name="TextBox 138"/>
          <p:cNvSpPr txBox="1"/>
          <p:nvPr/>
        </p:nvSpPr>
        <p:spPr>
          <a:xfrm>
            <a:off x="2286000" y="4530851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Cross-sell • ≥ 4 vidéos / FY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0936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21461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11987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025128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930384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83564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74089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64615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3551408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4456664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536192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626717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717243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38251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68426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98601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28776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58952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89127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19302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49477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79652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09828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40003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70178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00353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30528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60704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0879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21054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51229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81404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211580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241755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271930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302105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332280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362456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392631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422806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452981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4831567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513332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5435072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5736824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6038576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6340328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6642080" y="4663440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86968" y="50657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189" name="TextBox 188"/>
          <p:cNvSpPr txBox="1"/>
          <p:nvPr/>
        </p:nvSpPr>
        <p:spPr>
          <a:xfrm>
            <a:off x="2286000" y="5042916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Offres qui performent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21461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11987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025128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930384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83564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174089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264615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3551408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4456664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536192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26717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717243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098280" y="5161788"/>
            <a:ext cx="2116836" cy="11887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2719304" y="5161788"/>
            <a:ext cx="2569463" cy="11887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22960" y="5490972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86968" y="5577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207" name="TextBox 206"/>
          <p:cNvSpPr txBox="1"/>
          <p:nvPr/>
        </p:nvSpPr>
        <p:spPr>
          <a:xfrm>
            <a:off x="2286000" y="5554980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Neoscreen • début en oct.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30936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21461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11987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025128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930384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83564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174089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264615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3551408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4456664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536192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626717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717243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409176" y="5623560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86968" y="608990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223" name="TextBox 222"/>
          <p:cNvSpPr txBox="1"/>
          <p:nvPr/>
        </p:nvSpPr>
        <p:spPr>
          <a:xfrm>
            <a:off x="2286000" y="6067044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Intranet • planning TBD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30936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1461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11987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025128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930384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83564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174089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264615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3551408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4456664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536192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626717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717243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38251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68426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98601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28776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58952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89127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9302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49477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79652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09828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40003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70178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00353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30528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60704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90879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21054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51229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81404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211580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241755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271930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302105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332280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362456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392631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422806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52981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4831567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513332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5435072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5736824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6038576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6340328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6642080" y="6199632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22960" y="6515100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86968" y="66019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286000" y="6579107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Témoignages / Tech / offres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30936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21461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11987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025128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930384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83564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174089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264615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3551408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4456664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536192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626717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717243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38251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68426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98601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28776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58952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89127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19302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49477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79652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09828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940003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70178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353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30528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60704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90879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21054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51229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81404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211580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241755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271930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302105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332280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362456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392631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422806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452981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4831567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513332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435072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5736824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6038576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6340328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6642080" y="671169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886968" y="7114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324" name="TextBox 323"/>
          <p:cNvSpPr txBox="1"/>
          <p:nvPr/>
        </p:nvSpPr>
        <p:spPr>
          <a:xfrm>
            <a:off x="2286000" y="7091172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Top Performers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630936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21461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11987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025128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930384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83564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174089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264615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3551408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4456664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536192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626717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717243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098280" y="7210044"/>
            <a:ext cx="2116836" cy="11887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2719304" y="7210044"/>
            <a:ext cx="2569463" cy="11887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22960" y="7539228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886968" y="76260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342" name="TextBox 341"/>
          <p:cNvSpPr txBox="1"/>
          <p:nvPr/>
        </p:nvSpPr>
        <p:spPr>
          <a:xfrm>
            <a:off x="2286000" y="7603236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Vidéo corporate Groupe • TBD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630936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21461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11987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025128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930384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83564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174089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264615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3551408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4456664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536192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626717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717243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638251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668426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698601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728776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758952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89127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19302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49477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79652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09828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40003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70178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00353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30528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60704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90879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121054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151229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181404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211580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41755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271930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302105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332280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362456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392631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422806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452981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4831567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513332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5435072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5736824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6038576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6340328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6642080" y="7735824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886968" y="8138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PEOPLE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286000" y="8115300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Refonte Workelo • à séquencer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30936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721461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11987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9025128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9930384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83564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174089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264615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3551408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4456664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536192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626717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717243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638251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68426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698601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728776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758952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89127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19302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49477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79652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909828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940003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970178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00353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30528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60704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0879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121054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151229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181404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211580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241755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271930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302105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332280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362456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392631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422806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452981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4831567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513332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543507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573682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603857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634032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664208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868680" y="8833104"/>
            <a:ext cx="16459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536575"/>
                </a:solidFill>
                <a:latin typeface="Montserrat"/>
              </a:defRPr>
            </a:pPr>
            <a:r>
              <a:t>Barre orange : période actée  •  Point : début / temps fort</a:t>
            </a:r>
          </a:p>
          <a:p>
            <a:pPr>
              <a:spcAft>
                <a:spcPts val="1000"/>
              </a:spcAft>
              <a:defRPr sz="1900" b="0">
                <a:solidFill>
                  <a:srgbClr val="536575"/>
                </a:solidFill>
                <a:latin typeface="Montserrat"/>
              </a:defRPr>
            </a:pPr>
            <a:r>
              <a:t>Pointillés : non daté ou selon opportunités ; ne représentent pas une période de production engagée.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08 / ROADMAP 2 • RITUELS ET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Rituels et fils rouges assurent la continuité de juillet à juin.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323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4323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JUIL.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AOÛT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SEPT.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5128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OCT.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0384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NOV.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3564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7221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DÉC.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4089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77472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JANV.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46152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82728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FÉV.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551408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87984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56664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93240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AVR.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361920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98496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67176" y="2770632"/>
            <a:ext cx="882396" cy="484632"/>
          </a:xfrm>
          <a:prstGeom prst="rect">
            <a:avLst/>
          </a:prstGeom>
          <a:solidFill>
            <a:srgbClr val="002C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303751" y="2889504"/>
            <a:ext cx="841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JUIN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8712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PILIER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28712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36575"/>
                </a:solidFill>
                <a:latin typeface="Montserrat"/>
              </a:defRPr>
            </a:pPr>
            <a:r>
              <a:t>PROGRAMME / PROJET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442715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352958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506724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Relais après All Staff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1461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987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0384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3564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74089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64615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551408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456664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361920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267176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172432" y="3442715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09176" y="3575304"/>
            <a:ext cx="137160" cy="137160"/>
          </a:xfrm>
          <a:prstGeom prst="ellipse">
            <a:avLst/>
          </a:prstGeom>
          <a:solidFill>
            <a:srgbClr val="00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124944" y="3575304"/>
            <a:ext cx="137160" cy="137160"/>
          </a:xfrm>
          <a:prstGeom prst="ellipse">
            <a:avLst/>
          </a:prstGeom>
          <a:solidFill>
            <a:srgbClr val="00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840712" y="3575304"/>
            <a:ext cx="137160" cy="137160"/>
          </a:xfrm>
          <a:prstGeom prst="ellipse">
            <a:avLst/>
          </a:prstGeom>
          <a:solidFill>
            <a:srgbClr val="00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331184" y="3547872"/>
            <a:ext cx="758952" cy="256032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376904" y="3566160"/>
            <a:ext cx="676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36575"/>
                </a:solidFill>
                <a:latin typeface="Montserrat"/>
              </a:defRPr>
            </a:pPr>
            <a:r>
              <a:t>FIN FY*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" y="40416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2286000" y="4018787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Run après mise en service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1461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1987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25128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30384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3564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74089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64615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3551408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4456664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361920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267176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7172432" y="395478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251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8426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8601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28776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8952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89127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9302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9477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9652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9828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0003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0353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0528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0704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0879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21054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51229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81404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11580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1755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71930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02105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332280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362456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92631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22806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452981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831567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13332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435072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736824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038576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340328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642080" y="4151376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22960" y="4466844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86968" y="45537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86000" y="4530851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Preuves • reprises selon besoins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21461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11987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25128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930384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83564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4089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264615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551408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4456664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5361920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6267176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7172432" y="446684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82512" y="4663440"/>
            <a:ext cx="10652760" cy="5943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6968" y="50657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PEOPLE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86000" y="5042916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All Staff • 4e temps fin FY*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30936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21461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11987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025128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930384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83564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74089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64615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3551408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4456664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5361920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6267176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7172432" y="497890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409176" y="5111496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2124944" y="5111496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4840712" y="5111496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6331184" y="5084064"/>
            <a:ext cx="758952" cy="256032"/>
          </a:xfrm>
          <a:prstGeom prst="rect">
            <a:avLst/>
          </a:prstGeom>
          <a:solidFill>
            <a:srgbClr val="E5ED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6376904" y="5102352"/>
            <a:ext cx="676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36575"/>
                </a:solidFill>
                <a:latin typeface="Montserrat"/>
              </a:defRPr>
            </a:pPr>
            <a:r>
              <a:t>FIN FY*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22960" y="5490972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86968" y="5577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2286000" y="5554980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Leytonienne • S1 / prépa S2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21461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11987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025128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930384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83564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74089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64615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3551408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4456664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5361920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6267176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7172432" y="549097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5435072" y="5673852"/>
            <a:ext cx="1664208" cy="11887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2124944" y="5623560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86968" y="608990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163" name="TextBox 162"/>
          <p:cNvSpPr txBox="1"/>
          <p:nvPr/>
        </p:nvSpPr>
        <p:spPr>
          <a:xfrm>
            <a:off x="2286000" y="6067044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RDV collab. / RSE mensuels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30936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21461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11987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25128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930384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83564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4089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64615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3551408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4456664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5361920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6267176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7172432" y="6003036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6693408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98664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503920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409176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314432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219688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124944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3030200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3935456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4840712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5745968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6651224" y="6135624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22960" y="6515100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86968" y="66019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191" name="TextBox 190"/>
          <p:cNvSpPr txBox="1"/>
          <p:nvPr/>
        </p:nvSpPr>
        <p:spPr>
          <a:xfrm>
            <a:off x="2286000" y="6579107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Leadership féminin • 8 mars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30936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21461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11987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025128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930384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83564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74089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64615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3551408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4456664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5361920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6267176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7172432" y="6515100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382512" y="6711696"/>
            <a:ext cx="10652760" cy="5943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35456" y="6647688"/>
            <a:ext cx="137160" cy="13716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86968" y="7114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208" name="TextBox 207"/>
          <p:cNvSpPr txBox="1"/>
          <p:nvPr/>
        </p:nvSpPr>
        <p:spPr>
          <a:xfrm>
            <a:off x="2286000" y="7091172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LinkedIn corporate / culture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30936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21461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11987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025128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930384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83564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74089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264615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3551408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4456664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5361920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6267176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7172432" y="7027164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382512" y="7223760"/>
            <a:ext cx="10652760" cy="5943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2960" y="7539228"/>
            <a:ext cx="16642080" cy="49377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86968" y="76260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225" name="TextBox 224"/>
          <p:cNvSpPr txBox="1"/>
          <p:nvPr/>
        </p:nvSpPr>
        <p:spPr>
          <a:xfrm>
            <a:off x="2286000" y="7603236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GPTW / CARE • après enquête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30936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1461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11987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025128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930384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83564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74089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264615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3551408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4456664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5361920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6267176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7172432" y="7539228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382512" y="7735824"/>
            <a:ext cx="10652760" cy="5943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86968" y="8138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</a:p>
        </p:txBody>
      </p:sp>
      <p:sp>
        <p:nvSpPr>
          <p:cNvPr id="241" name="TextBox 240"/>
          <p:cNvSpPr txBox="1"/>
          <p:nvPr/>
        </p:nvSpPr>
        <p:spPr>
          <a:xfrm>
            <a:off x="2286000" y="8115300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02C49"/>
                </a:solidFill>
                <a:latin typeface="Montserrat"/>
              </a:defRPr>
            </a:pPr>
            <a:r>
              <a:t>Christmas / séminaire TBD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30936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21461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1987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025128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930384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83564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74089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264615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3551408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4456664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5361920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6267176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7172432" y="8051292"/>
            <a:ext cx="10972" cy="49377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38251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68426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98601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28776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58952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89127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19302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49477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79652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09828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40003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0178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00353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30528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60704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90879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21054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51229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81404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211580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241755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271930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302105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332280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362456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392631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22806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452981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4831567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513332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5435072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5736824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6038576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6340328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6642080" y="8247888"/>
            <a:ext cx="155448" cy="32004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868680" y="8823960"/>
            <a:ext cx="16550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536575"/>
                </a:solidFill>
                <a:latin typeface="Montserrat"/>
              </a:defRPr>
            </a:pPr>
            <a:r>
              <a:t>* 4e All Staff fin FY, date TBD. S2 : fin juillet hors FY. Vacances : rythme réduit.</a:t>
            </a:r>
          </a:p>
          <a:p>
            <a:pPr>
              <a:spcAft>
                <a:spcPts val="1000"/>
              </a:spcAft>
              <a:defRPr sz="1900" b="0">
                <a:solidFill>
                  <a:srgbClr val="536575"/>
                </a:solidFill>
                <a:latin typeface="Montserrat"/>
              </a:defRPr>
            </a:pPr>
            <a:r>
              <a:t>Concentration des temps forts : octobre, janvier, mars, avril et fin FY ; aucune mesure de charge.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09 / RESPONSABILITÉS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Communication orchestre ; les experts garantissent le fond.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6642080" cy="80467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926079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Sens, priorités, messages directeurs et arbitrages de capacité.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03904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DSI / JURIDIQUE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803904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IA : outils et anonymisation / cadre, données et règles ; interfaces canaux.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44568"/>
            <a:ext cx="16642080" cy="80467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1728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MARKETING / MÉTIERS / 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681728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Fond commercial et preuves clients ; Marketing : LinkedIn business.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59552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RH /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559552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Compétences, Workelo, CARE, actions RH ; Com : éditorial / relais.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00216"/>
            <a:ext cx="16642080" cy="80467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437376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GROUPE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437376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Cadre et planning vidéo corporate ; Challenge IA Groupe.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7315200"/>
            <a:ext cx="438912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7315200"/>
            <a:ext cx="1143000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Parcours, éditorial, branding, cohérence, diffusion et suivi des dispositifs.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Avant production : owner identifié, fond validé, droits de diffusion vérifiés et circuit d’approbation explicite.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09 / GOUVERNANCE PROPOSÉE • À VALIDER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Arbitrer le portefeuille avant d’arbitrer les formats.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ENTRÉE DANS LE PORTEFEUILLE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Priorité 2030 servie.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Effet attendu et public.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Preuve / contenu disponible.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Owner, validation et dépendances.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REVUE DE CAPACITÉ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Proposition : revue mensuelle Communication / owners.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Constructions en cours, run, temps forts, blocages.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Décider : lancer, mutualiser, décaler.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RETOUR ET DÉCISION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Lecture des résultats utiles.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Feedback métiers / collaborateurs.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Manager arbitre ; CODIR tranche les dépendances structurantes.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La concentration des temps forts signale une tension à anticiper ; elle ne mesure pas la charge de production.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10 / MESURE • SANS CIBLE INVENTÉE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Mesurer l’effet recherché, puis fixer une référence.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6642080" cy="90525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35661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PORTÉE /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26079"/>
            <a:ext cx="12252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Qui est touché, qui réagit ? Analytics, retours et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04488"/>
            <a:ext cx="35661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ADOPTION /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904488"/>
            <a:ext cx="12252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Usages IA/outils ; cas métiers et remontées. Données DSI/RH à rapprocher.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45736"/>
            <a:ext cx="16642080" cy="90525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82896"/>
            <a:ext cx="35661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USAGE DES CANAUX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882896"/>
            <a:ext cx="12252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Consultation des hubs, accès ressources, diffusion en agences.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861304"/>
            <a:ext cx="35661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CONTENUS / PREUVES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861304"/>
            <a:ext cx="12252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Performance des formats, témoignages validés, réemploi dans les supports.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702552"/>
            <a:ext cx="16642080" cy="90525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839712"/>
            <a:ext cx="35661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6839712"/>
            <a:ext cx="12252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RDV, RSE, All Staff, formations : données des organisateurs.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Définir pour chaque dispositif : effet attendu, donnée disponible, owner de la donnée et rythme de lecture.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11 / DÉCISIONS MANAGER PUIS CODIR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FFFFFF"/>
                </a:solidFill>
                <a:latin typeface="Montserrat"/>
              </a:defRPr>
            </a:pPr>
            <a:r>
              <a:t>Valider les conditions d’exécution, pas seulement le calendrier.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9FB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9FB0C0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12064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PRIORITÉS &amp; CAPACITÉ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Valider la hiérarchie du portefeuille.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Objectiver les ressources et séquencer les constructions.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Confirmer les owners et validations.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12064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DÉPENDANCES &amp; 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Intranet : production et prestataire, puis planning.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Zoom IA ; vidéo Groupe ; séminaire : dates à confirmer.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Aucun faux lancement annoncé.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12064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12064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PILOTAGE &amp;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Valider la gouvernance proposée.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Confirmer accès aux données et responsables.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Établir les références avant toute cible nouvelle.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Montserrat"/>
              </a:defRPr>
            </a:pPr>
            <a:r>
              <a:t>Une trajectoire commune : rendre les transformations utilisables, la valeur démontrable et le collectif visible.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ANNEXE A1 / IA • DISPOSITIF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Préserver les actions et les responsabilités du parcours 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COMPRENDRE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26079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Message directeur ; Zoom IA à date confirmée ultérieurement.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RASSURER / IMPLIQUER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79476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Expliquer la place du collaborateur ; recueillir contributions et cas métiers.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26279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PROTÉGER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66344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Guide IA responsable : règles, protection données clients ; DSI / Juridique.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3212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MONTRER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53212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Hub IA sur intranet après lancement ; série « 1 problème → 1 usage IA 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40080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AGIR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640080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Amplifier formations RH ; prompts / outils ; Challenge IA Groupe.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726948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CAPITALISER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726948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Pack final « IA par métier » en fin d’exercice.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Direction = sens • DSI = outils / anonymisation • Juridique = cadre • RH = compétences • métiers = cas • Com = parcours.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ANNEXE A2 / KIT &amp; CROSS-SELL • MÉCANISMES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La profondeur des dispositifs fait leur utilité.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623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6235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KIT / CHAQUE PÔLE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Prompt IA brandé Leyton.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Slides / preuves et offres.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Vidéos corporate, produits, outils, clients.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Chiffres / références validés.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Signaux clients → offres.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Contacts experts.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623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6235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CROSS-SELL / RÉCIT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Signal détecté → besoin client → relais → expertise Leyton → valeur / résultat → réflexe à retenir.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Sourcing → sélection → interview → validation → diffusion → capitalisation.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623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62356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CROSS-SELL / CANAUX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Teams : sourcing.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Intranet : principal après lancement.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Neoscreen : amplification.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Leytonienne : sélection premium.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Vidéo : cas les plus forts.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Minimum 4 vidéos / exercice.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Kit : Communication = expérience, branding, cohérence ; Marketing / métiers = fond commercial.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ANNEXE A3 / PEOPLE • PARCOURS ET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Des dispositifs récurrents avec un contenu précis.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WORKELO J−60 → J+30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26079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Séquençage, infos utiles, culture, ressources, outils, contacts, intégration.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LEADERSHIP AU FÉMININ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79476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Parcours, management, conseil, vision ; capsules et mash-up externe 8 mars.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26279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GPTW /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66344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Résultats, enseignements, actions RH, mobilité, formation, développement.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3212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CULTURE LEYTON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53212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Reconnaissance / Kudos, initiatives, transversalité, comportements incarnés.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16642080" cy="795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40080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CASCADE MANAGÉRIALE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640080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Sujets majeurs : messages, FAQ, support équipe, questions / feedback, ressources.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7269480"/>
            <a:ext cx="3566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2C49"/>
                </a:solidFill>
                <a:latin typeface="Montserrat"/>
              </a:defRPr>
            </a:pPr>
            <a:r>
              <a:t>RDV &amp; 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7269480"/>
            <a:ext cx="122529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536575"/>
                </a:solidFill>
                <a:latin typeface="Montserrat"/>
              </a:defRPr>
            </a:pPr>
            <a:r>
              <a:t>Minimum mensuel ; mobilisation avant, valorisation pendant / après.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RSE : événements internes ; sélection de certaines actions pour nourrir ensuite l’image corporate.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0" y="502920"/>
            <a:ext cx="1600200" cy="326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371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6633"/>
                </a:solidFill>
                <a:latin typeface="Montserrat"/>
              </a:defRPr>
            </a:pPr>
            <a:r>
              <a:t>ANNEXE A4 / PÉRIMÈTRE ET FRONTIÈRES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64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002C49"/>
                </a:solidFill>
                <a:latin typeface="Montserrat"/>
              </a:defRPr>
            </a:pPr>
            <a:r>
              <a:t>Conserver le portefeuille validé ; isoler les idées non actées.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710928"/>
            <a:ext cx="16642080" cy="13716"/>
          </a:xfrm>
          <a:prstGeom prst="rect">
            <a:avLst/>
          </a:prstGeom>
          <a:solidFill>
            <a:srgbClr val="D8E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848088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5"/>
                </a:solidFill>
                <a:latin typeface="Montserrat"/>
              </a:defRPr>
            </a:pPr>
            <a:r>
              <a:t>LEYTON FRANCE  /  PLAN DE COMMUNICATION  /  JUIL. 2026 – JUIN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0" y="98023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633"/>
                </a:solidFill>
                <a:latin typeface="Montserrat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5364480" cy="54864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64008" cy="548640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PROGRAMMES / PROJETS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779264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IA ; Toolbox ; kit ; cross-sell ; offres performantes.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Neoscreen ; intranet ; Workelo.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Preuves clients ; Tech ; nouvelles offres ; vidéo Groupe.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2880360"/>
            <a:ext cx="5364480" cy="54864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2880360"/>
            <a:ext cx="64008" cy="548640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43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RITUELS / FILS ROUGES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4368" y="4297680"/>
            <a:ext cx="4779264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All Staff ; Leytonienne ; RDV ; RSE ; leadership ; CARE ; culture ; Top Performers ; temps collectifs.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Run Neoscreen / intranet après lancement ; LinkedIn corporate.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560" y="2880360"/>
            <a:ext cx="5364480" cy="54864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00560" y="2880360"/>
            <a:ext cx="64008" cy="548640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3168" y="3172968"/>
            <a:ext cx="47792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6633"/>
                </a:solidFill>
                <a:latin typeface="Montserrat"/>
              </a:defRPr>
            </a:pPr>
            <a:r>
              <a:t>HORS CŒUR DU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93168" y="4297680"/>
            <a:ext cx="4779264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Programme ambassadeur : périmètre / owner à clarifier.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« 1 semaine, 1 métier » : à réévaluer.</a:t>
            </a:r>
          </a:p>
          <a:p>
            <a:pPr>
              <a:spcAft>
                <a:spcPts val="1000"/>
              </a:spcAft>
              <a:defRPr sz="2400" b="0">
                <a:solidFill>
                  <a:srgbClr val="002C49"/>
                </a:solidFill>
                <a:latin typeface="Montserrat"/>
              </a:defRPr>
            </a:pPr>
            <a:r>
              <a:t>Makers / Behind the tool : à réévaluer.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8549640"/>
            <a:ext cx="16642080" cy="868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8714232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2C49"/>
                </a:solidFill>
                <a:latin typeface="Montserrat"/>
              </a:defRPr>
            </a:pPr>
            <a:r>
              <a:t>Une idée non validée ne devient ni une priorité ni une ligne de production par défaut.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Communication France FY2026/27 — Leyton</dc:title>
  <dc:subject>Reconstruction stratégique : Leyton 2030 × Change / Business / People</dc:subject>
  <dc:creator>Direction de la Communication</dc:creator>
  <cp:keywords>Leyton, FY2026/27, communication, stratégie, CODIR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