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 fondé sur le portefeuille validé par l’utilisateur et le contexte Leyton 2030 du PPT Chamonix. Ambition principale de l’exercice : passer d’une fonction de production/diffusion à une fonction d’influence. Aucune nouvelle idée ajoutée au portefeuille central.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Informer, influencer, accompagner : rôles complémentaires visibles dans l’atelier. Les trois piliers ne sont pas des étapes successives. L’influence est une contribution à l’adoption, à la crédibilité et à la mobilisation ; elle ne permet pas d’attribuer à Communication seule des résultats de vente ou d’adoption.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 présentation Chamonix, slide 34, intitulés et explications Leyton 2030 repris sans objectifs financiers ou RH. Les développements sur Customer Success, technologie et culture contextualisent le plan ; ils n’ajoutent aucun projet Communication non validé.</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pas remplir une case pour créer un projet. La case Culture × Business reste volontairement sans projet autonome. Cette slide ne classe ni priorité ni calendrier et ne renomme aucun dispositif.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Classification proposée, pas arbitrage validé. NEW/BUILD : kit, refonte Workelo, déploiement Neoscreen. SCALE/TRANSFORM : adoption IA, Toolbox, cross-sell, preuves clients. RUN/MAINTAIN : socle existant. CONDITIONAL/TBD : déclencheurs ou calendrier, sans invalider un projet. Quatre natures : grands programmes/campagnes ; projets de transformation ; rituels récurrents ; canaux/run. Capacité réelle non fournie : séquencement à objectiver. Inventaire exhaustif en annexes A5/A6.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Actions complètes et rôles en annexe A1. Direction : sens. DSI : outils/anonymisation. Juridique : cadre. RH Formation : compétences. Métiers : cas d’usage. Communication : orchestration. Hub IA sur intranet seulement après lancement, relais disponibles avant. Zoom IA : date à confirmer. Pack final IA par métier en fin d’exercice. Le parcours ci-dessus appartient à l’IA uniquement, pas à l’ensemble du plan.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Campagne multicanale : inventaire, hub/page dédiée, fiches, capsules formation, cas d’usage, relais selon l’importance, standard de lancement, actualisation continue. L’intranet n’est pas l’unique canal ; utiliser les relais disponibles avant lancement effectif.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contexte Customer Success Chamonix : détecter, qualifier, transmettre, former. Le kit facilite cette posture ; Communication ne porte pas le fond commercial. Récit standard cross-sell : signal détecté → besoin client → relais → expertise Leyton mobilisée → valeur/résultat → réflexe à retenir. Intranet principal après lancement ; Neoscreen amplification ; Leytonienne premium ; Teams sourcing ; vidéo cas forts. Détail en annexe A2.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trois dispositifs restent distincts. Témoignages premium : problème → accompagnement → valeur. Outils : vidéo interne/externe au lancement si pertinent. Tech + expérience client : témoignage lorsque l’outil apporte une valeur démontrable, Leyton For Me uniquement si cas concret. Pas de nouveau projet salons, le stand existe. Prises de parole experts accompagnées au fil de l’eau. LinkedIn business relève du Marketing.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Dispositif nouvelles offres activable selon les lancements réels. Vidéo corporate : projet Groupe validé, calendrier à confirmer. Pas de production systématique de tous les formats si le sujet ou les preuves ne le justifient pas.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Staff : quatre temps, octobre/janvier/avril/fin d’exercice. Le mois exact du dernier n’est pas précisé. La Leytonienne S1 fin janvier ; S2 préparation mai–juin et publication fin juillet 2027 hors exercice. RDV collaborateurs : mobilisation avant, couverture et valorisation pendant/après. Christmas Party et séminaire de fin d’exercice : communication avant/pendant/après, séminaire date à confirmer.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Workelo à retravailler, pas un nouveau lancement déjà planifié. Parcours J−60 à J+30, séminaire d’intégration inclus. GPTW déjà lancé/en cours : résultats, enseignements, actions RH, mobilité, formation, développement, parcours internes, logique « vous avez dit / nous avons fait » si pertinent. Kits managériaux légers uniquement sur les sujets importants nécessitant cascade et discussion.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Neoscreen : toutes les agences, campagne à partir d’octobre, puis canal transverse. Intranet : projet validé mais revue de production/possible changement de prestataire, aucun lancement annoncé en octobre ; alimentation seulement après lancement effectif. Avant intranet, utiliser les relais disponibles. Vidéo = format de preuve, pas un canal permanent autonome ; rôle décrit dans slides de dispositifs. LinkedIn business relève du Marketing.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Pointillés sur tout l’horizon = non daté, pas mobilisation continue ni période engagée. IA, Toolbox, kit, cross-sell et Workelo : séquencement à arbitrer dans capacité réelle. Kit et cross-sell regroupés pour lisibilité, dispositifs distincts. Cross-sell ≥ 4 vidéos sur l’exercice. Neoscreen : point au début octobre seulement, fin de campagne non donnée. Intranet planning TBD, pas octobre. Business preuves/Tech/offres selon opportunités sont sur la vue complémentaire. Août/vacances : rythme réduit. Aucun score de charge.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Vue complémentaire. Témoignages clients premium, valorisation outils orientés client, témoignages Tech + expérience client, nouvelles offres : dispositifs activables selon les opportunités et lancements, pas une commande mensuelle. Run Neoscreen après déploiement, run intranet après lancement effectif seulement. Leadership : capsules régulières + mash-up externe 8 mars. Leytonienne S1 fin janvier ; S2 préparation mai–juin, publication fin juillet hors FY. Christmas Party conservée, pas de date exacte inventée ; séminaire à confirmer. Concentration des temps forts : octobre, janvier, mars, avril et fin d’exercice ; cette observation ne mesure pas une charge. GPTW en cours, résultats/enseignements/actions ensuite. Communication managériale sur sujets importants selon besoin.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Owners opérationnels à confirmer. Proposition : revue de portefeuille mensuelle Communication/owners pour décider lancer, mutualiser ou décaler ; manager arbitre et CODIR traite les dépendances structurantes. Aucun effectif/budget fourni. IA : Direction sens ; DSI outils/anonymisation ; Juridique cadre ; RH compétences ; métiers cas ; Communication parcours. Kit : Com expérience/branding/cohérence ; Marketing/métiers fond. LinkedIn business Marketing, corporate Communication.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Familles : portée, engagement, adoption, contribution, usage canaux, performance contenus, preuves business, participation. Sources et accès à confirmer, baseline à établir ; aucun objectif numérique créé. Cibles déjà fournies seulement : 4 vidéos cross-sell min/exercice, 1 RDV collaborateurs/mois, 1 activation RSE/mois, 4 All Staff. Ces repères de production ne suffisent pas à prouver l’influence. Communication documente une contribution, pas une causalité seule sur ventes/adoption.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Décisions à obtenir, pas décisions déjà prises. Intranet : revoir production/possible changement prestataire, puis confirmer planning. Zoom IA date ne doit pas bloquer mécaniquement le programme IA. Vidéo Groupe et séminaire date à confirmer. Priorité ne se déduit pas seulement d’une nouveauté : préserver les rituels et canaux nécessaires.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Portefeuille exact fourni par l’utilisateur. Noms et validation conservés. Nouvelles offres et outils activables selon les vrais lancements. Statuts NEW/BUILD, SCALE/TRANSFORM, RUN/MAINTAIN, CONDITIONAL/TBD sont une lecture de travail proposée à la slide5, pas les validations utilisateur. La synthèse des 25 éléments est conservée dans le document de référence accompagnant le deck.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Staff et Leytonienne sont des rituels structurants également utilisés comme relais, pas des campagnes à recréer. Les idées de brainstorming ne constituent pas un nouveau portefeuille. Programme ambassadeur présent dans Leyton2030 mais périmètre/owner Communication non clarifiés : hors cœur du plan. « 1 semaine,1métier » et Makers/Behindthetool à réévaluer.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2C49"/>
        </a:solidFill>
        <a:effectLst/>
      </p:bgPr>
    </p:bg>
    <p:spTree>
      <p:nvGrpSpPr>
        <p:cNvPr id="1" name=""/>
        <p:cNvGrpSpPr/>
        <p:nvPr/>
      </p:nvGrpSpPr>
      <p:grpSpPr/>
      <p:pic>
        <p:nvPicPr>
          <p:cNvPr id="2" name="Picture 1" descr="logo2.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9DB0BD"/>
                </a:solidFill>
                <a:latin typeface="Montserrat"/>
              </a:defRPr>
            </a:pPr>
            <a:r>
              <a:t>FRANCE • JUILLET 2026 – JUIN 2027</a:t>
            </a:r>
          </a:p>
        </p:txBody>
      </p:sp>
      <p:sp>
        <p:nvSpPr>
          <p:cNvPr id="4" name="Rectangle 3"/>
          <p:cNvSpPr/>
          <p:nvPr/>
        </p:nvSpPr>
        <p:spPr>
          <a:xfrm>
            <a:off x="822960" y="9738360"/>
            <a:ext cx="16642080" cy="10972"/>
          </a:xfrm>
          <a:prstGeom prst="rect">
            <a:avLst/>
          </a:prstGeom>
          <a:solidFill>
            <a:srgbClr val="0C405C"/>
          </a:solidFill>
          <a:ln>
            <a:noFill/>
          </a:ln>
        </p:spPr>
        <p:txBody>
          <a:bodyPr rtlCol="0" anchor="ctr"/>
          <a:lstStyle/>
          <a:p>
            <a:pPr algn="ctr"/>
          </a:p>
        </p:txBody>
      </p:sp>
      <p:sp>
        <p:nvSpPr>
          <p:cNvPr id="5" name="TextBox 4"/>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9DB0BD"/>
                </a:solidFill>
                <a:latin typeface="Montserrat"/>
              </a:defRPr>
            </a:pPr>
            <a:r>
              <a:t>LEYTON FRANCE  /  PLAN DE COMMUNICATION  /  FY2026/27</a:t>
            </a:r>
          </a:p>
        </p:txBody>
      </p:sp>
      <p:sp>
        <p:nvSpPr>
          <p:cNvPr id="6" name="TextBox 5"/>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01</a:t>
            </a:r>
          </a:p>
        </p:txBody>
      </p:sp>
      <p:sp>
        <p:nvSpPr>
          <p:cNvPr id="7" name="TextBox 6"/>
          <p:cNvSpPr txBox="1"/>
          <p:nvPr/>
        </p:nvSpPr>
        <p:spPr>
          <a:xfrm>
            <a:off x="822960" y="1874519"/>
            <a:ext cx="11521440" cy="3337560"/>
          </a:xfrm>
          <a:prstGeom prst="rect">
            <a:avLst/>
          </a:prstGeom>
          <a:noFill/>
        </p:spPr>
        <p:txBody>
          <a:bodyPr wrap="square" lIns="0" rIns="0" tIns="0" bIns="0">
            <a:spAutoFit/>
          </a:bodyPr>
          <a:lstStyle/>
          <a:p>
            <a:pPr>
              <a:lnSpc>
                <a:spcPts val="7700"/>
              </a:lnSpc>
              <a:spcBef>
                <a:spcPts val="0"/>
              </a:spcBef>
              <a:spcAft>
                <a:spcPts val="0"/>
              </a:spcAft>
              <a:defRPr sz="6700" b="0">
                <a:solidFill>
                  <a:srgbClr val="FFFFFF"/>
                </a:solidFill>
                <a:latin typeface="Nohemi"/>
              </a:defRPr>
            </a:pPr>
            <a:r>
              <a:t>Plan de</a:t>
            </a:r>
          </a:p>
          <a:p>
            <a:pPr>
              <a:lnSpc>
                <a:spcPts val="7700"/>
              </a:lnSpc>
              <a:spcBef>
                <a:spcPts val="0"/>
              </a:spcBef>
              <a:spcAft>
                <a:spcPts val="0"/>
              </a:spcAft>
              <a:defRPr sz="6700" b="0">
                <a:solidFill>
                  <a:srgbClr val="FFFFFF"/>
                </a:solidFill>
                <a:latin typeface="Nohemi"/>
              </a:defRPr>
            </a:pPr>
            <a:r>
              <a:t>Communication</a:t>
            </a:r>
          </a:p>
          <a:p>
            <a:pPr>
              <a:lnSpc>
                <a:spcPts val="7700"/>
              </a:lnSpc>
              <a:spcBef>
                <a:spcPts val="0"/>
              </a:spcBef>
              <a:spcAft>
                <a:spcPts val="0"/>
              </a:spcAft>
              <a:defRPr sz="6700" b="0">
                <a:solidFill>
                  <a:srgbClr val="FFFFFF"/>
                </a:solidFill>
                <a:latin typeface="Nohemi"/>
              </a:defRPr>
            </a:pPr>
            <a:r>
              <a:t>France</a:t>
            </a:r>
          </a:p>
        </p:txBody>
      </p:sp>
      <p:sp>
        <p:nvSpPr>
          <p:cNvPr id="8" name="TextBox 7"/>
          <p:cNvSpPr txBox="1"/>
          <p:nvPr/>
        </p:nvSpPr>
        <p:spPr>
          <a:xfrm>
            <a:off x="841248" y="5897880"/>
            <a:ext cx="12435840" cy="1371600"/>
          </a:xfrm>
          <a:prstGeom prst="rect">
            <a:avLst/>
          </a:prstGeom>
          <a:noFill/>
        </p:spPr>
        <p:txBody>
          <a:bodyPr wrap="square" lIns="0" rIns="0" tIns="0" bIns="0">
            <a:spAutoFit/>
          </a:bodyPr>
          <a:lstStyle/>
          <a:p>
            <a:pPr>
              <a:lnSpc>
                <a:spcPts val="10000"/>
              </a:lnSpc>
              <a:spcBef>
                <a:spcPts val="0"/>
              </a:spcBef>
              <a:spcAft>
                <a:spcPts val="0"/>
              </a:spcAft>
              <a:defRPr sz="8900" b="0">
                <a:solidFill>
                  <a:srgbClr val="FF6633"/>
                </a:solidFill>
                <a:latin typeface="Nohemi"/>
              </a:defRPr>
            </a:pPr>
            <a:r>
              <a:t>FY2026/27.</a:t>
            </a:r>
          </a:p>
        </p:txBody>
      </p:sp>
      <p:cxnSp>
        <p:nvCxnSpPr>
          <p:cNvPr id="9" name="Connector 8"/>
          <p:cNvCxnSpPr/>
          <p:nvPr/>
        </p:nvCxnSpPr>
        <p:spPr>
          <a:xfrm>
            <a:off x="12801600" y="1965960"/>
            <a:ext cx="0" cy="6675120"/>
          </a:xfrm>
          <a:prstGeom prst="line">
            <a:avLst/>
          </a:prstGeom>
          <a:ln w="19050">
            <a:solidFill>
              <a:srgbClr val="0C405C"/>
            </a:solidFill>
          </a:ln>
        </p:spPr>
      </p:cxnSp>
      <p:pic>
        <p:nvPicPr>
          <p:cNvPr id="10" name="Picture 9" descr="logo1.png"/>
          <p:cNvPicPr>
            <a:picLocks noChangeAspect="1"/>
          </p:cNvPicPr>
          <p:nvPr/>
        </p:nvPicPr>
        <p:blipFill>
          <a:blip r:embed="rId3"/>
          <a:stretch>
            <a:fillRect/>
          </a:stretch>
        </p:blipFill>
        <p:spPr>
          <a:xfrm>
            <a:off x="13807440" y="2240280"/>
            <a:ext cx="3383280" cy="3321253"/>
          </a:xfrm>
          <a:prstGeom prst="rect">
            <a:avLst/>
          </a:prstGeom>
        </p:spPr>
      </p:pic>
      <p:sp>
        <p:nvSpPr>
          <p:cNvPr id="11" name="TextBox 10"/>
          <p:cNvSpPr txBox="1"/>
          <p:nvPr/>
        </p:nvSpPr>
        <p:spPr>
          <a:xfrm>
            <a:off x="13716000" y="6126480"/>
            <a:ext cx="3703320" cy="2194560"/>
          </a:xfrm>
          <a:prstGeom prst="rect">
            <a:avLst/>
          </a:prstGeom>
          <a:noFill/>
        </p:spPr>
        <p:txBody>
          <a:bodyPr wrap="square" lIns="0" rIns="0" tIns="0" bIns="0">
            <a:spAutoFit/>
          </a:bodyPr>
          <a:lstStyle/>
          <a:p>
            <a:pPr>
              <a:lnSpc>
                <a:spcPts val="3600"/>
              </a:lnSpc>
              <a:spcBef>
                <a:spcPts val="0"/>
              </a:spcBef>
              <a:spcAft>
                <a:spcPts val="0"/>
              </a:spcAft>
              <a:defRPr sz="2900" b="0">
                <a:solidFill>
                  <a:srgbClr val="FFFFFF"/>
                </a:solidFill>
                <a:latin typeface="Montserrat"/>
              </a:defRPr>
            </a:pPr>
            <a:r>
              <a:t>Passer d’une fonction qui produit et diffuse l’information à une fonction d’influence.</a:t>
            </a:r>
          </a:p>
        </p:txBody>
      </p:sp>
      <p:sp>
        <p:nvSpPr>
          <p:cNvPr id="12" name="TextBox 11"/>
          <p:cNvSpPr txBox="1"/>
          <p:nvPr/>
        </p:nvSpPr>
        <p:spPr>
          <a:xfrm>
            <a:off x="886968" y="8375904"/>
            <a:ext cx="11612880" cy="502920"/>
          </a:xfrm>
          <a:prstGeom prst="rect">
            <a:avLst/>
          </a:prstGeom>
          <a:noFill/>
        </p:spPr>
        <p:txBody>
          <a:bodyPr wrap="square" lIns="0" rIns="0" tIns="0" bIns="0">
            <a:spAutoFit/>
          </a:bodyPr>
          <a:lstStyle/>
          <a:p>
            <a:pPr>
              <a:lnSpc>
                <a:spcPts val="3690"/>
              </a:lnSpc>
              <a:spcBef>
                <a:spcPts val="0"/>
              </a:spcBef>
              <a:spcAft>
                <a:spcPts val="0"/>
              </a:spcAft>
              <a:defRPr sz="3000" b="0">
                <a:solidFill>
                  <a:srgbClr val="FFFFFF"/>
                </a:solidFill>
                <a:latin typeface="Montserrat"/>
              </a:defRPr>
            </a:pPr>
            <a:r>
              <a:t>Au service de Leyton 2030.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3.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01 / NOTRE ENJEU</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Passer de la production et de la diffusion</a:t>
            </a:r>
          </a:p>
          <a:p>
            <a:pPr>
              <a:lnSpc>
                <a:spcPts val="5300"/>
              </a:lnSpc>
              <a:spcBef>
                <a:spcPts val="0"/>
              </a:spcBef>
              <a:spcAft>
                <a:spcPts val="0"/>
              </a:spcAft>
              <a:defRPr sz="4600" b="0">
                <a:solidFill>
                  <a:srgbClr val="002C49"/>
                </a:solidFill>
                <a:latin typeface="Nohemi"/>
              </a:defRPr>
            </a:pPr>
            <a:r>
              <a:t>à une fonction d’influence.</a:t>
            </a:r>
          </a:p>
        </p:txBody>
      </p:sp>
      <p:sp>
        <p:nvSpPr>
          <p:cNvPr id="5" name="Rectangle 4"/>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6" name="TextBox 5"/>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7" name="TextBox 6"/>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02</a:t>
            </a:r>
          </a:p>
        </p:txBody>
      </p:sp>
      <p:sp>
        <p:nvSpPr>
          <p:cNvPr id="8" name="TextBox 7"/>
          <p:cNvSpPr txBox="1"/>
          <p:nvPr/>
        </p:nvSpPr>
        <p:spPr>
          <a:xfrm>
            <a:off x="868680" y="2971800"/>
            <a:ext cx="16276320" cy="969264"/>
          </a:xfrm>
          <a:prstGeom prst="rect">
            <a:avLst/>
          </a:prstGeom>
          <a:noFill/>
        </p:spPr>
        <p:txBody>
          <a:bodyPr wrap="square" lIns="0" rIns="0" tIns="0" bIns="0">
            <a:spAutoFit/>
          </a:bodyPr>
          <a:lstStyle/>
          <a:p>
            <a:pPr>
              <a:lnSpc>
                <a:spcPts val="3400"/>
              </a:lnSpc>
              <a:spcBef>
                <a:spcPts val="0"/>
              </a:spcBef>
              <a:spcAft>
                <a:spcPts val="0"/>
              </a:spcAft>
              <a:defRPr sz="2800" b="0">
                <a:solidFill>
                  <a:srgbClr val="526777"/>
                </a:solidFill>
                <a:latin typeface="Montserrat"/>
              </a:defRPr>
            </a:pPr>
            <a:r>
              <a:t>Partir de l’effet recherché auprès des publics, puis construire</a:t>
            </a:r>
          </a:p>
          <a:p>
            <a:pPr>
              <a:lnSpc>
                <a:spcPts val="3400"/>
              </a:lnSpc>
              <a:spcBef>
                <a:spcPts val="0"/>
              </a:spcBef>
              <a:spcAft>
                <a:spcPts val="0"/>
              </a:spcAft>
              <a:defRPr sz="2800" b="0">
                <a:solidFill>
                  <a:srgbClr val="526777"/>
                </a:solidFill>
                <a:latin typeface="Montserrat"/>
              </a:defRPr>
            </a:pPr>
            <a:r>
              <a:t>les messages, les preuves, les relais et les dispositifs.</a:t>
            </a:r>
          </a:p>
        </p:txBody>
      </p:sp>
      <p:sp>
        <p:nvSpPr>
          <p:cNvPr id="9" name="TextBox 8"/>
          <p:cNvSpPr txBox="1"/>
          <p:nvPr/>
        </p:nvSpPr>
        <p:spPr>
          <a:xfrm>
            <a:off x="868680" y="4754880"/>
            <a:ext cx="5257800" cy="640080"/>
          </a:xfrm>
          <a:prstGeom prst="rect">
            <a:avLst/>
          </a:prstGeom>
          <a:noFill/>
        </p:spPr>
        <p:txBody>
          <a:bodyPr wrap="square" lIns="0" rIns="0" tIns="0" bIns="0">
            <a:spAutoFit/>
          </a:bodyPr>
          <a:lstStyle/>
          <a:p>
            <a:pPr>
              <a:lnSpc>
                <a:spcPts val="4551"/>
              </a:lnSpc>
              <a:spcBef>
                <a:spcPts val="0"/>
              </a:spcBef>
              <a:spcAft>
                <a:spcPts val="0"/>
              </a:spcAft>
              <a:defRPr sz="3700" b="1">
                <a:solidFill>
                  <a:srgbClr val="FF6633"/>
                </a:solidFill>
                <a:latin typeface="Nohemi"/>
              </a:defRPr>
            </a:pPr>
            <a:r>
              <a:t>CHANGE</a:t>
            </a:r>
          </a:p>
        </p:txBody>
      </p:sp>
      <p:sp>
        <p:nvSpPr>
          <p:cNvPr id="10" name="Rectangle 9"/>
          <p:cNvSpPr/>
          <p:nvPr/>
        </p:nvSpPr>
        <p:spPr>
          <a:xfrm>
            <a:off x="868680" y="5650992"/>
            <a:ext cx="4983480" cy="10972"/>
          </a:xfrm>
          <a:prstGeom prst="rect">
            <a:avLst/>
          </a:prstGeom>
          <a:solidFill>
            <a:srgbClr val="D9E2E7"/>
          </a:solidFill>
          <a:ln>
            <a:noFill/>
          </a:ln>
        </p:spPr>
        <p:txBody>
          <a:bodyPr rtlCol="0" anchor="ctr"/>
          <a:lstStyle/>
          <a:p>
            <a:pPr algn="ctr"/>
          </a:p>
        </p:txBody>
      </p:sp>
      <p:sp>
        <p:nvSpPr>
          <p:cNvPr id="11" name="TextBox 10"/>
          <p:cNvSpPr txBox="1"/>
          <p:nvPr/>
        </p:nvSpPr>
        <p:spPr>
          <a:xfrm>
            <a:off x="868680" y="5989320"/>
            <a:ext cx="4983480" cy="1737360"/>
          </a:xfrm>
          <a:prstGeom prst="rect">
            <a:avLst/>
          </a:prstGeom>
          <a:noFill/>
        </p:spPr>
        <p:txBody>
          <a:bodyPr wrap="square" lIns="0" rIns="0" tIns="0" bIns="0">
            <a:spAutoFit/>
          </a:bodyPr>
          <a:lstStyle/>
          <a:p>
            <a:pPr>
              <a:lnSpc>
                <a:spcPts val="3500"/>
              </a:lnSpc>
              <a:spcBef>
                <a:spcPts val="0"/>
              </a:spcBef>
              <a:spcAft>
                <a:spcPts val="0"/>
              </a:spcAft>
              <a:defRPr sz="2800" b="0">
                <a:solidFill>
                  <a:srgbClr val="002C49"/>
                </a:solidFill>
                <a:latin typeface="Montserrat"/>
              </a:defRPr>
            </a:pPr>
            <a:r>
              <a:t>Faire comprendre et adopter</a:t>
            </a:r>
          </a:p>
          <a:p>
            <a:pPr>
              <a:lnSpc>
                <a:spcPts val="3500"/>
              </a:lnSpc>
              <a:spcBef>
                <a:spcPts val="0"/>
              </a:spcBef>
              <a:spcAft>
                <a:spcPts val="0"/>
              </a:spcAft>
              <a:defRPr sz="2800" b="0">
                <a:solidFill>
                  <a:srgbClr val="002C49"/>
                </a:solidFill>
                <a:latin typeface="Montserrat"/>
              </a:defRPr>
            </a:pPr>
            <a:r>
              <a:t>les transformations.</a:t>
            </a:r>
          </a:p>
        </p:txBody>
      </p:sp>
      <p:sp>
        <p:nvSpPr>
          <p:cNvPr id="12" name="TextBox 11"/>
          <p:cNvSpPr txBox="1"/>
          <p:nvPr/>
        </p:nvSpPr>
        <p:spPr>
          <a:xfrm>
            <a:off x="6446520" y="4754880"/>
            <a:ext cx="5257800" cy="640080"/>
          </a:xfrm>
          <a:prstGeom prst="rect">
            <a:avLst/>
          </a:prstGeom>
          <a:noFill/>
        </p:spPr>
        <p:txBody>
          <a:bodyPr wrap="square" lIns="0" rIns="0" tIns="0" bIns="0">
            <a:spAutoFit/>
          </a:bodyPr>
          <a:lstStyle/>
          <a:p>
            <a:pPr>
              <a:lnSpc>
                <a:spcPts val="4551"/>
              </a:lnSpc>
              <a:spcBef>
                <a:spcPts val="0"/>
              </a:spcBef>
              <a:spcAft>
                <a:spcPts val="0"/>
              </a:spcAft>
              <a:defRPr sz="3700" b="1">
                <a:solidFill>
                  <a:srgbClr val="FF6633"/>
                </a:solidFill>
                <a:latin typeface="Nohemi"/>
              </a:defRPr>
            </a:pPr>
            <a:r>
              <a:t>BUSINESS</a:t>
            </a:r>
          </a:p>
        </p:txBody>
      </p:sp>
      <p:sp>
        <p:nvSpPr>
          <p:cNvPr id="13" name="Rectangle 12"/>
          <p:cNvSpPr/>
          <p:nvPr/>
        </p:nvSpPr>
        <p:spPr>
          <a:xfrm>
            <a:off x="6446520" y="5650992"/>
            <a:ext cx="4983480" cy="10972"/>
          </a:xfrm>
          <a:prstGeom prst="rect">
            <a:avLst/>
          </a:prstGeom>
          <a:solidFill>
            <a:srgbClr val="D9E2E7"/>
          </a:solidFill>
          <a:ln>
            <a:noFill/>
          </a:ln>
        </p:spPr>
        <p:txBody>
          <a:bodyPr rtlCol="0" anchor="ctr"/>
          <a:lstStyle/>
          <a:p>
            <a:pPr algn="ctr"/>
          </a:p>
        </p:txBody>
      </p:sp>
      <p:sp>
        <p:nvSpPr>
          <p:cNvPr id="14" name="TextBox 13"/>
          <p:cNvSpPr txBox="1"/>
          <p:nvPr/>
        </p:nvSpPr>
        <p:spPr>
          <a:xfrm>
            <a:off x="6446520" y="5989320"/>
            <a:ext cx="4983480" cy="1737360"/>
          </a:xfrm>
          <a:prstGeom prst="rect">
            <a:avLst/>
          </a:prstGeom>
          <a:noFill/>
        </p:spPr>
        <p:txBody>
          <a:bodyPr wrap="square" lIns="0" rIns="0" tIns="0" bIns="0">
            <a:spAutoFit/>
          </a:bodyPr>
          <a:lstStyle/>
          <a:p>
            <a:pPr>
              <a:lnSpc>
                <a:spcPts val="3500"/>
              </a:lnSpc>
              <a:spcBef>
                <a:spcPts val="0"/>
              </a:spcBef>
              <a:spcAft>
                <a:spcPts val="0"/>
              </a:spcAft>
              <a:defRPr sz="2800" b="0">
                <a:solidFill>
                  <a:srgbClr val="002C49"/>
                </a:solidFill>
                <a:latin typeface="Montserrat"/>
              </a:defRPr>
            </a:pPr>
            <a:r>
              <a:t>Renforcer la preuve, l’expertise</a:t>
            </a:r>
          </a:p>
          <a:p>
            <a:pPr>
              <a:lnSpc>
                <a:spcPts val="3500"/>
              </a:lnSpc>
              <a:spcBef>
                <a:spcPts val="0"/>
              </a:spcBef>
              <a:spcAft>
                <a:spcPts val="0"/>
              </a:spcAft>
              <a:defRPr sz="2800" b="0">
                <a:solidFill>
                  <a:srgbClr val="002C49"/>
                </a:solidFill>
                <a:latin typeface="Montserrat"/>
              </a:defRPr>
            </a:pPr>
            <a:r>
              <a:t>et la crédibilité.</a:t>
            </a:r>
          </a:p>
        </p:txBody>
      </p:sp>
      <p:sp>
        <p:nvSpPr>
          <p:cNvPr id="15" name="TextBox 14"/>
          <p:cNvSpPr txBox="1"/>
          <p:nvPr/>
        </p:nvSpPr>
        <p:spPr>
          <a:xfrm>
            <a:off x="12024359" y="4754880"/>
            <a:ext cx="5257800" cy="640080"/>
          </a:xfrm>
          <a:prstGeom prst="rect">
            <a:avLst/>
          </a:prstGeom>
          <a:noFill/>
        </p:spPr>
        <p:txBody>
          <a:bodyPr wrap="square" lIns="0" rIns="0" tIns="0" bIns="0">
            <a:spAutoFit/>
          </a:bodyPr>
          <a:lstStyle/>
          <a:p>
            <a:pPr>
              <a:lnSpc>
                <a:spcPts val="4551"/>
              </a:lnSpc>
              <a:spcBef>
                <a:spcPts val="0"/>
              </a:spcBef>
              <a:spcAft>
                <a:spcPts val="0"/>
              </a:spcAft>
              <a:defRPr sz="3700" b="1">
                <a:solidFill>
                  <a:srgbClr val="FF6633"/>
                </a:solidFill>
                <a:latin typeface="Nohemi"/>
              </a:defRPr>
            </a:pPr>
            <a:r>
              <a:t>PEOPLE</a:t>
            </a:r>
          </a:p>
        </p:txBody>
      </p:sp>
      <p:sp>
        <p:nvSpPr>
          <p:cNvPr id="16" name="Rectangle 15"/>
          <p:cNvSpPr/>
          <p:nvPr/>
        </p:nvSpPr>
        <p:spPr>
          <a:xfrm>
            <a:off x="12024359" y="5650992"/>
            <a:ext cx="4983480" cy="10972"/>
          </a:xfrm>
          <a:prstGeom prst="rect">
            <a:avLst/>
          </a:prstGeom>
          <a:solidFill>
            <a:srgbClr val="D9E2E7"/>
          </a:solidFill>
          <a:ln>
            <a:noFill/>
          </a:ln>
        </p:spPr>
        <p:txBody>
          <a:bodyPr rtlCol="0" anchor="ctr"/>
          <a:lstStyle/>
          <a:p>
            <a:pPr algn="ctr"/>
          </a:p>
        </p:txBody>
      </p:sp>
      <p:sp>
        <p:nvSpPr>
          <p:cNvPr id="17" name="TextBox 16"/>
          <p:cNvSpPr txBox="1"/>
          <p:nvPr/>
        </p:nvSpPr>
        <p:spPr>
          <a:xfrm>
            <a:off x="12024359" y="5989320"/>
            <a:ext cx="4983480" cy="1737360"/>
          </a:xfrm>
          <a:prstGeom prst="rect">
            <a:avLst/>
          </a:prstGeom>
          <a:noFill/>
        </p:spPr>
        <p:txBody>
          <a:bodyPr wrap="square" lIns="0" rIns="0" tIns="0" bIns="0">
            <a:spAutoFit/>
          </a:bodyPr>
          <a:lstStyle/>
          <a:p>
            <a:pPr>
              <a:lnSpc>
                <a:spcPts val="3500"/>
              </a:lnSpc>
              <a:spcBef>
                <a:spcPts val="0"/>
              </a:spcBef>
              <a:spcAft>
                <a:spcPts val="0"/>
              </a:spcAft>
              <a:defRPr sz="2800" b="0">
                <a:solidFill>
                  <a:srgbClr val="002C49"/>
                </a:solidFill>
                <a:latin typeface="Montserrat"/>
              </a:defRPr>
            </a:pPr>
            <a:r>
              <a:t>Renforcer l’information, l’engagement,</a:t>
            </a:r>
          </a:p>
          <a:p>
            <a:pPr>
              <a:lnSpc>
                <a:spcPts val="3500"/>
              </a:lnSpc>
              <a:spcBef>
                <a:spcPts val="0"/>
              </a:spcBef>
              <a:spcAft>
                <a:spcPts val="0"/>
              </a:spcAft>
              <a:defRPr sz="2800" b="0">
                <a:solidFill>
                  <a:srgbClr val="002C49"/>
                </a:solidFill>
                <a:latin typeface="Montserrat"/>
              </a:defRPr>
            </a:pPr>
            <a:r>
              <a:t>la culture et le collectif.</a:t>
            </a:r>
          </a:p>
        </p:txBody>
      </p:sp>
      <p:sp>
        <p:nvSpPr>
          <p:cNvPr id="18" name="TextBox 17"/>
          <p:cNvSpPr txBox="1"/>
          <p:nvPr/>
        </p:nvSpPr>
        <p:spPr>
          <a:xfrm>
            <a:off x="868680" y="8641080"/>
            <a:ext cx="16459200" cy="640080"/>
          </a:xfrm>
          <a:prstGeom prst="rect">
            <a:avLst/>
          </a:prstGeom>
          <a:noFill/>
        </p:spPr>
        <p:txBody>
          <a:bodyPr wrap="square" lIns="0" rIns="0" tIns="0" bIns="0">
            <a:spAutoFit/>
          </a:bodyPr>
          <a:lstStyle/>
          <a:p>
            <a:pPr>
              <a:lnSpc>
                <a:spcPts val="3936"/>
              </a:lnSpc>
              <a:spcBef>
                <a:spcPts val="0"/>
              </a:spcBef>
              <a:spcAft>
                <a:spcPts val="0"/>
              </a:spcAft>
              <a:defRPr sz="3200" b="1">
                <a:solidFill>
                  <a:srgbClr val="002C49"/>
                </a:solidFill>
                <a:latin typeface="Montserrat"/>
              </a:defRPr>
            </a:pPr>
            <a:r>
              <a:t>INFORMER  •  INFLUENCER  •  ACCOMPAGNER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3.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02 / LEYTON 2030</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Ce que Leyton 2030 demande à la Communication.</a:t>
            </a:r>
          </a:p>
        </p:txBody>
      </p:sp>
      <p:sp>
        <p:nvSpPr>
          <p:cNvPr id="5" name="TextBox 4"/>
          <p:cNvSpPr txBox="1"/>
          <p:nvPr/>
        </p:nvSpPr>
        <p:spPr>
          <a:xfrm>
            <a:off x="868680" y="2742285"/>
            <a:ext cx="16504920" cy="54864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Quatre priorités qui se renforcent ; un même portefeuille peut en servir plusieurs.</a:t>
            </a:r>
          </a:p>
        </p:txBody>
      </p:sp>
      <p:sp>
        <p:nvSpPr>
          <p:cNvPr id="6" name="Rectangle 5"/>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7" name="TextBox 6"/>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8" name="TextBox 7"/>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03</a:t>
            </a:r>
          </a:p>
        </p:txBody>
      </p:sp>
      <p:sp>
        <p:nvSpPr>
          <p:cNvPr id="9" name="TextBox 8"/>
          <p:cNvSpPr txBox="1"/>
          <p:nvPr/>
        </p:nvSpPr>
        <p:spPr>
          <a:xfrm>
            <a:off x="914400" y="3566160"/>
            <a:ext cx="731520" cy="594360"/>
          </a:xfrm>
          <a:prstGeom prst="rect">
            <a:avLst/>
          </a:prstGeom>
          <a:noFill/>
        </p:spPr>
        <p:txBody>
          <a:bodyPr wrap="square" lIns="0" rIns="0" tIns="0" bIns="0">
            <a:spAutoFit/>
          </a:bodyPr>
          <a:lstStyle/>
          <a:p>
            <a:pPr>
              <a:lnSpc>
                <a:spcPts val="4428"/>
              </a:lnSpc>
              <a:spcBef>
                <a:spcPts val="0"/>
              </a:spcBef>
              <a:spcAft>
                <a:spcPts val="0"/>
              </a:spcAft>
              <a:defRPr sz="3600" b="1">
                <a:solidFill>
                  <a:srgbClr val="FF6633"/>
                </a:solidFill>
                <a:latin typeface="Nohemi"/>
              </a:defRPr>
            </a:pPr>
            <a:r>
              <a:t>01</a:t>
            </a:r>
          </a:p>
        </p:txBody>
      </p:sp>
      <p:sp>
        <p:nvSpPr>
          <p:cNvPr id="10" name="TextBox 9"/>
          <p:cNvSpPr txBox="1"/>
          <p:nvPr/>
        </p:nvSpPr>
        <p:spPr>
          <a:xfrm>
            <a:off x="1965960" y="3611879"/>
            <a:ext cx="6903720" cy="987552"/>
          </a:xfrm>
          <a:prstGeom prst="rect">
            <a:avLst/>
          </a:prstGeom>
          <a:noFill/>
        </p:spPr>
        <p:txBody>
          <a:bodyPr wrap="square" lIns="0" rIns="0" tIns="0" bIns="0">
            <a:spAutoFit/>
          </a:bodyPr>
          <a:lstStyle/>
          <a:p>
            <a:pPr>
              <a:lnSpc>
                <a:spcPts val="3400"/>
              </a:lnSpc>
              <a:spcBef>
                <a:spcPts val="0"/>
              </a:spcBef>
              <a:spcAft>
                <a:spcPts val="0"/>
              </a:spcAft>
              <a:defRPr sz="3000" b="1">
                <a:solidFill>
                  <a:srgbClr val="002C49"/>
                </a:solidFill>
                <a:latin typeface="Montserrat"/>
              </a:defRPr>
            </a:pPr>
            <a:r>
              <a:t>Discipline financière</a:t>
            </a:r>
          </a:p>
          <a:p>
            <a:pPr>
              <a:lnSpc>
                <a:spcPts val="3400"/>
              </a:lnSpc>
              <a:spcBef>
                <a:spcPts val="0"/>
              </a:spcBef>
              <a:spcAft>
                <a:spcPts val="0"/>
              </a:spcAft>
              <a:defRPr sz="3000" b="1">
                <a:solidFill>
                  <a:srgbClr val="002C49"/>
                </a:solidFill>
                <a:latin typeface="Montserrat"/>
              </a:defRPr>
            </a:pPr>
            <a:r>
              <a:t>&amp; performance</a:t>
            </a:r>
          </a:p>
        </p:txBody>
      </p:sp>
      <p:sp>
        <p:nvSpPr>
          <p:cNvPr id="11" name="TextBox 10"/>
          <p:cNvSpPr txBox="1"/>
          <p:nvPr/>
        </p:nvSpPr>
        <p:spPr>
          <a:xfrm>
            <a:off x="9509760" y="3630168"/>
            <a:ext cx="7315200" cy="987552"/>
          </a:xfrm>
          <a:prstGeom prst="rect">
            <a:avLst/>
          </a:prstGeom>
          <a:noFill/>
        </p:spPr>
        <p:txBody>
          <a:bodyPr wrap="square" lIns="0" rIns="0" tIns="0" bIns="0">
            <a:spAutoFit/>
          </a:bodyPr>
          <a:lstStyle/>
          <a:p>
            <a:pPr>
              <a:lnSpc>
                <a:spcPts val="3400"/>
              </a:lnSpc>
              <a:spcBef>
                <a:spcPts val="0"/>
              </a:spcBef>
              <a:spcAft>
                <a:spcPts val="0"/>
              </a:spcAft>
              <a:defRPr sz="2800" b="0">
                <a:solidFill>
                  <a:srgbClr val="526777"/>
                </a:solidFill>
                <a:latin typeface="Montserrat"/>
              </a:defRPr>
            </a:pPr>
            <a:r>
              <a:t>Investir avec ambition, mais</a:t>
            </a:r>
          </a:p>
          <a:p>
            <a:pPr>
              <a:lnSpc>
                <a:spcPts val="3400"/>
              </a:lnSpc>
              <a:spcBef>
                <a:spcPts val="0"/>
              </a:spcBef>
              <a:spcAft>
                <a:spcPts val="0"/>
              </a:spcAft>
              <a:defRPr sz="2800" b="0">
                <a:solidFill>
                  <a:srgbClr val="526777"/>
                </a:solidFill>
                <a:latin typeface="Montserrat"/>
              </a:defRPr>
            </a:pPr>
            <a:r>
              <a:t>avec davantage de rigueur.</a:t>
            </a:r>
          </a:p>
        </p:txBody>
      </p:sp>
      <p:sp>
        <p:nvSpPr>
          <p:cNvPr id="12" name="Rectangle 11"/>
          <p:cNvSpPr/>
          <p:nvPr/>
        </p:nvSpPr>
        <p:spPr>
          <a:xfrm>
            <a:off x="1965960" y="4681728"/>
            <a:ext cx="15041880" cy="10972"/>
          </a:xfrm>
          <a:prstGeom prst="rect">
            <a:avLst/>
          </a:prstGeom>
          <a:solidFill>
            <a:srgbClr val="D9E2E7"/>
          </a:solidFill>
          <a:ln>
            <a:noFill/>
          </a:ln>
        </p:spPr>
        <p:txBody>
          <a:bodyPr rtlCol="0" anchor="ctr"/>
          <a:lstStyle/>
          <a:p>
            <a:pPr algn="ctr"/>
          </a:p>
        </p:txBody>
      </p:sp>
      <p:sp>
        <p:nvSpPr>
          <p:cNvPr id="13" name="TextBox 12"/>
          <p:cNvSpPr txBox="1"/>
          <p:nvPr/>
        </p:nvSpPr>
        <p:spPr>
          <a:xfrm>
            <a:off x="914400" y="4818888"/>
            <a:ext cx="731520" cy="594360"/>
          </a:xfrm>
          <a:prstGeom prst="rect">
            <a:avLst/>
          </a:prstGeom>
          <a:noFill/>
        </p:spPr>
        <p:txBody>
          <a:bodyPr wrap="square" lIns="0" rIns="0" tIns="0" bIns="0">
            <a:spAutoFit/>
          </a:bodyPr>
          <a:lstStyle/>
          <a:p>
            <a:pPr>
              <a:lnSpc>
                <a:spcPts val="4428"/>
              </a:lnSpc>
              <a:spcBef>
                <a:spcPts val="0"/>
              </a:spcBef>
              <a:spcAft>
                <a:spcPts val="0"/>
              </a:spcAft>
              <a:defRPr sz="3600" b="1">
                <a:solidFill>
                  <a:srgbClr val="FF6633"/>
                </a:solidFill>
                <a:latin typeface="Nohemi"/>
              </a:defRPr>
            </a:pPr>
            <a:r>
              <a:t>02</a:t>
            </a:r>
          </a:p>
        </p:txBody>
      </p:sp>
      <p:sp>
        <p:nvSpPr>
          <p:cNvPr id="14" name="TextBox 13"/>
          <p:cNvSpPr txBox="1"/>
          <p:nvPr/>
        </p:nvSpPr>
        <p:spPr>
          <a:xfrm>
            <a:off x="1965960" y="4864607"/>
            <a:ext cx="6903720" cy="987552"/>
          </a:xfrm>
          <a:prstGeom prst="rect">
            <a:avLst/>
          </a:prstGeom>
          <a:noFill/>
        </p:spPr>
        <p:txBody>
          <a:bodyPr wrap="square" lIns="0" rIns="0" tIns="0" bIns="0">
            <a:spAutoFit/>
          </a:bodyPr>
          <a:lstStyle/>
          <a:p>
            <a:pPr>
              <a:lnSpc>
                <a:spcPts val="3400"/>
              </a:lnSpc>
              <a:spcBef>
                <a:spcPts val="0"/>
              </a:spcBef>
              <a:spcAft>
                <a:spcPts val="0"/>
              </a:spcAft>
              <a:defRPr sz="3000" b="1">
                <a:solidFill>
                  <a:srgbClr val="002C49"/>
                </a:solidFill>
                <a:latin typeface="Montserrat"/>
              </a:defRPr>
            </a:pPr>
            <a:r>
              <a:t>Montée en gamme</a:t>
            </a:r>
          </a:p>
          <a:p>
            <a:pPr>
              <a:lnSpc>
                <a:spcPts val="3400"/>
              </a:lnSpc>
              <a:spcBef>
                <a:spcPts val="0"/>
              </a:spcBef>
              <a:spcAft>
                <a:spcPts val="0"/>
              </a:spcAft>
              <a:defRPr sz="3000" b="1">
                <a:solidFill>
                  <a:srgbClr val="002C49"/>
                </a:solidFill>
                <a:latin typeface="Montserrat"/>
              </a:defRPr>
            </a:pPr>
            <a:r>
              <a:t>&amp; leadership marché</a:t>
            </a:r>
          </a:p>
        </p:txBody>
      </p:sp>
      <p:sp>
        <p:nvSpPr>
          <p:cNvPr id="15" name="TextBox 14"/>
          <p:cNvSpPr txBox="1"/>
          <p:nvPr/>
        </p:nvSpPr>
        <p:spPr>
          <a:xfrm>
            <a:off x="9509760" y="4882896"/>
            <a:ext cx="7315200" cy="987552"/>
          </a:xfrm>
          <a:prstGeom prst="rect">
            <a:avLst/>
          </a:prstGeom>
          <a:noFill/>
        </p:spPr>
        <p:txBody>
          <a:bodyPr wrap="square" lIns="0" rIns="0" tIns="0" bIns="0">
            <a:spAutoFit/>
          </a:bodyPr>
          <a:lstStyle/>
          <a:p>
            <a:pPr>
              <a:lnSpc>
                <a:spcPts val="3400"/>
              </a:lnSpc>
              <a:spcBef>
                <a:spcPts val="0"/>
              </a:spcBef>
              <a:spcAft>
                <a:spcPts val="0"/>
              </a:spcAft>
              <a:defRPr sz="2800" b="0">
                <a:solidFill>
                  <a:srgbClr val="526777"/>
                </a:solidFill>
                <a:latin typeface="Montserrat"/>
              </a:defRPr>
            </a:pPr>
            <a:r>
              <a:t>Des clients plus stratégiques,</a:t>
            </a:r>
          </a:p>
          <a:p>
            <a:pPr>
              <a:lnSpc>
                <a:spcPts val="3400"/>
              </a:lnSpc>
              <a:spcBef>
                <a:spcPts val="0"/>
              </a:spcBef>
              <a:spcAft>
                <a:spcPts val="0"/>
              </a:spcAft>
              <a:defRPr sz="2800" b="0">
                <a:solidFill>
                  <a:srgbClr val="526777"/>
                </a:solidFill>
                <a:latin typeface="Montserrat"/>
              </a:defRPr>
            </a:pPr>
            <a:r>
              <a:t>des relations plus durables.</a:t>
            </a:r>
          </a:p>
        </p:txBody>
      </p:sp>
      <p:sp>
        <p:nvSpPr>
          <p:cNvPr id="16" name="Rectangle 15"/>
          <p:cNvSpPr/>
          <p:nvPr/>
        </p:nvSpPr>
        <p:spPr>
          <a:xfrm>
            <a:off x="1965960" y="5934455"/>
            <a:ext cx="15041880" cy="10972"/>
          </a:xfrm>
          <a:prstGeom prst="rect">
            <a:avLst/>
          </a:prstGeom>
          <a:solidFill>
            <a:srgbClr val="D9E2E7"/>
          </a:solidFill>
          <a:ln>
            <a:noFill/>
          </a:ln>
        </p:spPr>
        <p:txBody>
          <a:bodyPr rtlCol="0" anchor="ctr"/>
          <a:lstStyle/>
          <a:p>
            <a:pPr algn="ctr"/>
          </a:p>
        </p:txBody>
      </p:sp>
      <p:sp>
        <p:nvSpPr>
          <p:cNvPr id="17" name="TextBox 16"/>
          <p:cNvSpPr txBox="1"/>
          <p:nvPr/>
        </p:nvSpPr>
        <p:spPr>
          <a:xfrm>
            <a:off x="914400" y="6071616"/>
            <a:ext cx="731520" cy="594360"/>
          </a:xfrm>
          <a:prstGeom prst="rect">
            <a:avLst/>
          </a:prstGeom>
          <a:noFill/>
        </p:spPr>
        <p:txBody>
          <a:bodyPr wrap="square" lIns="0" rIns="0" tIns="0" bIns="0">
            <a:spAutoFit/>
          </a:bodyPr>
          <a:lstStyle/>
          <a:p>
            <a:pPr>
              <a:lnSpc>
                <a:spcPts val="4428"/>
              </a:lnSpc>
              <a:spcBef>
                <a:spcPts val="0"/>
              </a:spcBef>
              <a:spcAft>
                <a:spcPts val="0"/>
              </a:spcAft>
              <a:defRPr sz="3600" b="1">
                <a:solidFill>
                  <a:srgbClr val="FF6633"/>
                </a:solidFill>
                <a:latin typeface="Nohemi"/>
              </a:defRPr>
            </a:pPr>
            <a:r>
              <a:t>03</a:t>
            </a:r>
          </a:p>
        </p:txBody>
      </p:sp>
      <p:sp>
        <p:nvSpPr>
          <p:cNvPr id="18" name="TextBox 17"/>
          <p:cNvSpPr txBox="1"/>
          <p:nvPr/>
        </p:nvSpPr>
        <p:spPr>
          <a:xfrm>
            <a:off x="1965960" y="6117336"/>
            <a:ext cx="6903720" cy="987552"/>
          </a:xfrm>
          <a:prstGeom prst="rect">
            <a:avLst/>
          </a:prstGeom>
          <a:noFill/>
        </p:spPr>
        <p:txBody>
          <a:bodyPr wrap="square" lIns="0" rIns="0" tIns="0" bIns="0">
            <a:spAutoFit/>
          </a:bodyPr>
          <a:lstStyle/>
          <a:p>
            <a:pPr>
              <a:lnSpc>
                <a:spcPts val="3400"/>
              </a:lnSpc>
              <a:spcBef>
                <a:spcPts val="0"/>
              </a:spcBef>
              <a:spcAft>
                <a:spcPts val="0"/>
              </a:spcAft>
              <a:defRPr sz="3000" b="1">
                <a:solidFill>
                  <a:srgbClr val="002C49"/>
                </a:solidFill>
                <a:latin typeface="Montserrat"/>
              </a:defRPr>
            </a:pPr>
            <a:r>
              <a:t>Digital, IA &amp; outils</a:t>
            </a:r>
          </a:p>
        </p:txBody>
      </p:sp>
      <p:sp>
        <p:nvSpPr>
          <p:cNvPr id="19" name="TextBox 18"/>
          <p:cNvSpPr txBox="1"/>
          <p:nvPr/>
        </p:nvSpPr>
        <p:spPr>
          <a:xfrm>
            <a:off x="9509760" y="6135624"/>
            <a:ext cx="7315200" cy="987552"/>
          </a:xfrm>
          <a:prstGeom prst="rect">
            <a:avLst/>
          </a:prstGeom>
          <a:noFill/>
        </p:spPr>
        <p:txBody>
          <a:bodyPr wrap="square" lIns="0" rIns="0" tIns="0" bIns="0">
            <a:spAutoFit/>
          </a:bodyPr>
          <a:lstStyle/>
          <a:p>
            <a:pPr>
              <a:lnSpc>
                <a:spcPts val="3400"/>
              </a:lnSpc>
              <a:spcBef>
                <a:spcPts val="0"/>
              </a:spcBef>
              <a:spcAft>
                <a:spcPts val="0"/>
              </a:spcAft>
              <a:defRPr sz="2800" b="0">
                <a:solidFill>
                  <a:srgbClr val="526777"/>
                </a:solidFill>
                <a:latin typeface="Montserrat"/>
              </a:defRPr>
            </a:pPr>
            <a:r>
              <a:t>La technologie, accélérateur</a:t>
            </a:r>
          </a:p>
          <a:p>
            <a:pPr>
              <a:lnSpc>
                <a:spcPts val="3400"/>
              </a:lnSpc>
              <a:spcBef>
                <a:spcPts val="0"/>
              </a:spcBef>
              <a:spcAft>
                <a:spcPts val="0"/>
              </a:spcAft>
              <a:defRPr sz="2800" b="0">
                <a:solidFill>
                  <a:srgbClr val="526777"/>
                </a:solidFill>
                <a:latin typeface="Montserrat"/>
              </a:defRPr>
            </a:pPr>
            <a:r>
              <a:t>de performance pour tous.</a:t>
            </a:r>
          </a:p>
        </p:txBody>
      </p:sp>
      <p:sp>
        <p:nvSpPr>
          <p:cNvPr id="20" name="Rectangle 19"/>
          <p:cNvSpPr/>
          <p:nvPr/>
        </p:nvSpPr>
        <p:spPr>
          <a:xfrm>
            <a:off x="1965960" y="7187184"/>
            <a:ext cx="15041880" cy="10972"/>
          </a:xfrm>
          <a:prstGeom prst="rect">
            <a:avLst/>
          </a:prstGeom>
          <a:solidFill>
            <a:srgbClr val="D9E2E7"/>
          </a:solidFill>
          <a:ln>
            <a:noFill/>
          </a:ln>
        </p:spPr>
        <p:txBody>
          <a:bodyPr rtlCol="0" anchor="ctr"/>
          <a:lstStyle/>
          <a:p>
            <a:pPr algn="ctr"/>
          </a:p>
        </p:txBody>
      </p:sp>
      <p:sp>
        <p:nvSpPr>
          <p:cNvPr id="21" name="TextBox 20"/>
          <p:cNvSpPr txBox="1"/>
          <p:nvPr/>
        </p:nvSpPr>
        <p:spPr>
          <a:xfrm>
            <a:off x="914400" y="7324344"/>
            <a:ext cx="731520" cy="594360"/>
          </a:xfrm>
          <a:prstGeom prst="rect">
            <a:avLst/>
          </a:prstGeom>
          <a:noFill/>
        </p:spPr>
        <p:txBody>
          <a:bodyPr wrap="square" lIns="0" rIns="0" tIns="0" bIns="0">
            <a:spAutoFit/>
          </a:bodyPr>
          <a:lstStyle/>
          <a:p>
            <a:pPr>
              <a:lnSpc>
                <a:spcPts val="4428"/>
              </a:lnSpc>
              <a:spcBef>
                <a:spcPts val="0"/>
              </a:spcBef>
              <a:spcAft>
                <a:spcPts val="0"/>
              </a:spcAft>
              <a:defRPr sz="3600" b="1">
                <a:solidFill>
                  <a:srgbClr val="FF6633"/>
                </a:solidFill>
                <a:latin typeface="Nohemi"/>
              </a:defRPr>
            </a:pPr>
            <a:r>
              <a:t>04</a:t>
            </a:r>
          </a:p>
        </p:txBody>
      </p:sp>
      <p:sp>
        <p:nvSpPr>
          <p:cNvPr id="22" name="TextBox 21"/>
          <p:cNvSpPr txBox="1"/>
          <p:nvPr/>
        </p:nvSpPr>
        <p:spPr>
          <a:xfrm>
            <a:off x="1965960" y="7370064"/>
            <a:ext cx="6903720" cy="987552"/>
          </a:xfrm>
          <a:prstGeom prst="rect">
            <a:avLst/>
          </a:prstGeom>
          <a:noFill/>
        </p:spPr>
        <p:txBody>
          <a:bodyPr wrap="square" lIns="0" rIns="0" tIns="0" bIns="0">
            <a:spAutoFit/>
          </a:bodyPr>
          <a:lstStyle/>
          <a:p>
            <a:pPr>
              <a:lnSpc>
                <a:spcPts val="3400"/>
              </a:lnSpc>
              <a:spcBef>
                <a:spcPts val="0"/>
              </a:spcBef>
              <a:spcAft>
                <a:spcPts val="0"/>
              </a:spcAft>
              <a:defRPr sz="3000" b="1">
                <a:solidFill>
                  <a:srgbClr val="002C49"/>
                </a:solidFill>
                <a:latin typeface="Montserrat"/>
              </a:defRPr>
            </a:pPr>
            <a:r>
              <a:t>Culture, équipes</a:t>
            </a:r>
          </a:p>
          <a:p>
            <a:pPr>
              <a:lnSpc>
                <a:spcPts val="3400"/>
              </a:lnSpc>
              <a:spcBef>
                <a:spcPts val="0"/>
              </a:spcBef>
              <a:spcAft>
                <a:spcPts val="0"/>
              </a:spcAft>
              <a:defRPr sz="3000" b="1">
                <a:solidFill>
                  <a:srgbClr val="002C49"/>
                </a:solidFill>
                <a:latin typeface="Montserrat"/>
              </a:defRPr>
            </a:pPr>
            <a:r>
              <a:t>&amp; collectif</a:t>
            </a:r>
          </a:p>
        </p:txBody>
      </p:sp>
      <p:sp>
        <p:nvSpPr>
          <p:cNvPr id="23" name="TextBox 22"/>
          <p:cNvSpPr txBox="1"/>
          <p:nvPr/>
        </p:nvSpPr>
        <p:spPr>
          <a:xfrm>
            <a:off x="9509760" y="7388352"/>
            <a:ext cx="7315200" cy="987552"/>
          </a:xfrm>
          <a:prstGeom prst="rect">
            <a:avLst/>
          </a:prstGeom>
          <a:noFill/>
        </p:spPr>
        <p:txBody>
          <a:bodyPr wrap="square" lIns="0" rIns="0" tIns="0" bIns="0">
            <a:spAutoFit/>
          </a:bodyPr>
          <a:lstStyle/>
          <a:p>
            <a:pPr>
              <a:lnSpc>
                <a:spcPts val="3400"/>
              </a:lnSpc>
              <a:spcBef>
                <a:spcPts val="0"/>
              </a:spcBef>
              <a:spcAft>
                <a:spcPts val="0"/>
              </a:spcAft>
              <a:defRPr sz="2800" b="0">
                <a:solidFill>
                  <a:srgbClr val="526777"/>
                </a:solidFill>
                <a:latin typeface="Montserrat"/>
              </a:defRPr>
            </a:pPr>
            <a:r>
              <a:t>Le collectif au service</a:t>
            </a:r>
          </a:p>
          <a:p>
            <a:pPr>
              <a:lnSpc>
                <a:spcPts val="3400"/>
              </a:lnSpc>
              <a:spcBef>
                <a:spcPts val="0"/>
              </a:spcBef>
              <a:spcAft>
                <a:spcPts val="0"/>
              </a:spcAft>
              <a:defRPr sz="2800" b="0">
                <a:solidFill>
                  <a:srgbClr val="526777"/>
                </a:solidFill>
                <a:latin typeface="Montserrat"/>
              </a:defRPr>
            </a:pPr>
            <a:r>
              <a:t>de la performance.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3.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02 / CONTRIBUTION STRATÉGIQUE</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Quatre priorités × trois piliers Communication.</a:t>
            </a:r>
          </a:p>
        </p:txBody>
      </p:sp>
      <p:sp>
        <p:nvSpPr>
          <p:cNvPr id="5" name="TextBox 4"/>
          <p:cNvSpPr txBox="1"/>
          <p:nvPr/>
        </p:nvSpPr>
        <p:spPr>
          <a:xfrm>
            <a:off x="868680" y="2742285"/>
            <a:ext cx="16504920" cy="54864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Les contributions attendues qui ont guidé la construction du portefeuille.</a:t>
            </a:r>
          </a:p>
        </p:txBody>
      </p:sp>
      <p:sp>
        <p:nvSpPr>
          <p:cNvPr id="6" name="Rectangle 5"/>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7" name="TextBox 6"/>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8" name="TextBox 7"/>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04</a:t>
            </a:r>
          </a:p>
        </p:txBody>
      </p:sp>
      <p:sp>
        <p:nvSpPr>
          <p:cNvPr id="9" name="TextBox 8"/>
          <p:cNvSpPr txBox="1"/>
          <p:nvPr/>
        </p:nvSpPr>
        <p:spPr>
          <a:xfrm>
            <a:off x="960120" y="3438144"/>
            <a:ext cx="3794760" cy="393192"/>
          </a:xfrm>
          <a:prstGeom prst="rect">
            <a:avLst/>
          </a:prstGeom>
          <a:noFill/>
        </p:spPr>
        <p:txBody>
          <a:bodyPr wrap="square" lIns="0" rIns="0" tIns="0" bIns="0">
            <a:spAutoFit/>
          </a:bodyPr>
          <a:lstStyle/>
          <a:p>
            <a:pPr>
              <a:lnSpc>
                <a:spcPts val="2952"/>
              </a:lnSpc>
              <a:spcBef>
                <a:spcPts val="0"/>
              </a:spcBef>
              <a:spcAft>
                <a:spcPts val="0"/>
              </a:spcAft>
              <a:defRPr sz="2400" b="1">
                <a:solidFill>
                  <a:srgbClr val="002C49"/>
                </a:solidFill>
                <a:latin typeface="Montserrat"/>
              </a:defRPr>
            </a:pPr>
            <a:r>
              <a:t>LEYTON 2030</a:t>
            </a:r>
          </a:p>
        </p:txBody>
      </p:sp>
      <p:sp>
        <p:nvSpPr>
          <p:cNvPr id="10" name="TextBox 9"/>
          <p:cNvSpPr txBox="1"/>
          <p:nvPr/>
        </p:nvSpPr>
        <p:spPr>
          <a:xfrm>
            <a:off x="5257800" y="3438144"/>
            <a:ext cx="3611880" cy="393192"/>
          </a:xfrm>
          <a:prstGeom prst="rect">
            <a:avLst/>
          </a:prstGeom>
          <a:noFill/>
        </p:spPr>
        <p:txBody>
          <a:bodyPr wrap="square" lIns="0" rIns="0" tIns="0" bIns="0">
            <a:spAutoFit/>
          </a:bodyPr>
          <a:lstStyle/>
          <a:p>
            <a:pPr>
              <a:lnSpc>
                <a:spcPts val="2952"/>
              </a:lnSpc>
              <a:spcBef>
                <a:spcPts val="0"/>
              </a:spcBef>
              <a:spcAft>
                <a:spcPts val="0"/>
              </a:spcAft>
              <a:defRPr sz="2400" b="1">
                <a:solidFill>
                  <a:srgbClr val="002C49"/>
                </a:solidFill>
                <a:latin typeface="Montserrat"/>
              </a:defRPr>
            </a:pPr>
            <a:r>
              <a:t>CHANGE</a:t>
            </a:r>
          </a:p>
        </p:txBody>
      </p:sp>
      <p:sp>
        <p:nvSpPr>
          <p:cNvPr id="11" name="TextBox 10"/>
          <p:cNvSpPr txBox="1"/>
          <p:nvPr/>
        </p:nvSpPr>
        <p:spPr>
          <a:xfrm>
            <a:off x="9372600" y="3438144"/>
            <a:ext cx="3611880" cy="393192"/>
          </a:xfrm>
          <a:prstGeom prst="rect">
            <a:avLst/>
          </a:prstGeom>
          <a:noFill/>
        </p:spPr>
        <p:txBody>
          <a:bodyPr wrap="square" lIns="0" rIns="0" tIns="0" bIns="0">
            <a:spAutoFit/>
          </a:bodyPr>
          <a:lstStyle/>
          <a:p>
            <a:pPr>
              <a:lnSpc>
                <a:spcPts val="2952"/>
              </a:lnSpc>
              <a:spcBef>
                <a:spcPts val="0"/>
              </a:spcBef>
              <a:spcAft>
                <a:spcPts val="0"/>
              </a:spcAft>
              <a:defRPr sz="2400" b="1">
                <a:solidFill>
                  <a:srgbClr val="002C49"/>
                </a:solidFill>
                <a:latin typeface="Montserrat"/>
              </a:defRPr>
            </a:pPr>
            <a:r>
              <a:t>BUSINESS</a:t>
            </a:r>
          </a:p>
        </p:txBody>
      </p:sp>
      <p:sp>
        <p:nvSpPr>
          <p:cNvPr id="12" name="TextBox 11"/>
          <p:cNvSpPr txBox="1"/>
          <p:nvPr/>
        </p:nvSpPr>
        <p:spPr>
          <a:xfrm>
            <a:off x="13487400" y="3438144"/>
            <a:ext cx="3840480" cy="393192"/>
          </a:xfrm>
          <a:prstGeom prst="rect">
            <a:avLst/>
          </a:prstGeom>
          <a:noFill/>
        </p:spPr>
        <p:txBody>
          <a:bodyPr wrap="square" lIns="0" rIns="0" tIns="0" bIns="0">
            <a:spAutoFit/>
          </a:bodyPr>
          <a:lstStyle/>
          <a:p>
            <a:pPr>
              <a:lnSpc>
                <a:spcPts val="2952"/>
              </a:lnSpc>
              <a:spcBef>
                <a:spcPts val="0"/>
              </a:spcBef>
              <a:spcAft>
                <a:spcPts val="0"/>
              </a:spcAft>
              <a:defRPr sz="2400" b="1">
                <a:solidFill>
                  <a:srgbClr val="002C49"/>
                </a:solidFill>
                <a:latin typeface="Montserrat"/>
              </a:defRPr>
            </a:pPr>
            <a:r>
              <a:t>PEOPLE</a:t>
            </a:r>
          </a:p>
        </p:txBody>
      </p:sp>
      <p:sp>
        <p:nvSpPr>
          <p:cNvPr id="13" name="Rectangle 12"/>
          <p:cNvSpPr/>
          <p:nvPr/>
        </p:nvSpPr>
        <p:spPr>
          <a:xfrm>
            <a:off x="822960" y="3977639"/>
            <a:ext cx="16642080" cy="10972"/>
          </a:xfrm>
          <a:prstGeom prst="rect">
            <a:avLst/>
          </a:prstGeom>
          <a:solidFill>
            <a:srgbClr val="002C49"/>
          </a:solidFill>
          <a:ln>
            <a:noFill/>
          </a:ln>
        </p:spPr>
        <p:txBody>
          <a:bodyPr rtlCol="0" anchor="ctr"/>
          <a:lstStyle/>
          <a:p>
            <a:pPr algn="ctr"/>
          </a:p>
        </p:txBody>
      </p:sp>
      <p:sp>
        <p:nvSpPr>
          <p:cNvPr id="14" name="TextBox 13"/>
          <p:cNvSpPr txBox="1"/>
          <p:nvPr/>
        </p:nvSpPr>
        <p:spPr>
          <a:xfrm>
            <a:off x="960120" y="4206240"/>
            <a:ext cx="3794760" cy="950976"/>
          </a:xfrm>
          <a:prstGeom prst="rect">
            <a:avLst/>
          </a:prstGeom>
          <a:noFill/>
        </p:spPr>
        <p:txBody>
          <a:bodyPr wrap="square" lIns="0" rIns="0" tIns="0" bIns="0">
            <a:spAutoFit/>
          </a:bodyPr>
          <a:lstStyle/>
          <a:p>
            <a:pPr>
              <a:lnSpc>
                <a:spcPts val="2550"/>
              </a:lnSpc>
              <a:spcBef>
                <a:spcPts val="0"/>
              </a:spcBef>
              <a:spcAft>
                <a:spcPts val="0"/>
              </a:spcAft>
              <a:defRPr sz="2400" b="1">
                <a:solidFill>
                  <a:srgbClr val="002C49"/>
                </a:solidFill>
                <a:latin typeface="Montserrat"/>
              </a:defRPr>
            </a:pPr>
            <a:r>
              <a:t>Discipline financière</a:t>
            </a:r>
          </a:p>
          <a:p>
            <a:pPr>
              <a:lnSpc>
                <a:spcPts val="2550"/>
              </a:lnSpc>
              <a:spcBef>
                <a:spcPts val="0"/>
              </a:spcBef>
              <a:spcAft>
                <a:spcPts val="0"/>
              </a:spcAft>
              <a:defRPr sz="2400" b="1">
                <a:solidFill>
                  <a:srgbClr val="002C49"/>
                </a:solidFill>
                <a:latin typeface="Montserrat"/>
              </a:defRPr>
            </a:pPr>
            <a:r>
              <a:t>&amp; performance</a:t>
            </a:r>
          </a:p>
        </p:txBody>
      </p:sp>
      <p:sp>
        <p:nvSpPr>
          <p:cNvPr id="15" name="TextBox 14"/>
          <p:cNvSpPr txBox="1"/>
          <p:nvPr/>
        </p:nvSpPr>
        <p:spPr>
          <a:xfrm>
            <a:off x="5257800" y="4206240"/>
            <a:ext cx="3611880" cy="950976"/>
          </a:xfrm>
          <a:prstGeom prst="rect">
            <a:avLst/>
          </a:prstGeom>
          <a:noFill/>
        </p:spPr>
        <p:txBody>
          <a:bodyPr wrap="square" lIns="0" rIns="0" tIns="0" bIns="0">
            <a:spAutoFit/>
          </a:bodyPr>
          <a:lstStyle/>
          <a:p>
            <a:pPr>
              <a:lnSpc>
                <a:spcPts val="2550"/>
              </a:lnSpc>
              <a:spcBef>
                <a:spcPts val="0"/>
              </a:spcBef>
              <a:spcAft>
                <a:spcPts val="0"/>
              </a:spcAft>
              <a:defRPr sz="2400" b="0">
                <a:solidFill>
                  <a:srgbClr val="526777"/>
                </a:solidFill>
                <a:latin typeface="Montserrat"/>
              </a:defRPr>
            </a:pPr>
            <a:r>
              <a:t>Rendre la performance</a:t>
            </a:r>
          </a:p>
          <a:p>
            <a:pPr>
              <a:lnSpc>
                <a:spcPts val="2550"/>
              </a:lnSpc>
              <a:spcBef>
                <a:spcPts val="0"/>
              </a:spcBef>
              <a:spcAft>
                <a:spcPts val="0"/>
              </a:spcAft>
              <a:defRPr sz="2400" b="0">
                <a:solidFill>
                  <a:srgbClr val="526777"/>
                </a:solidFill>
                <a:latin typeface="Montserrat"/>
              </a:defRPr>
            </a:pPr>
            <a:r>
              <a:t>lisible ; faire connaître</a:t>
            </a:r>
          </a:p>
          <a:p>
            <a:pPr>
              <a:lnSpc>
                <a:spcPts val="2550"/>
              </a:lnSpc>
              <a:spcBef>
                <a:spcPts val="0"/>
              </a:spcBef>
              <a:spcAft>
                <a:spcPts val="0"/>
              </a:spcAft>
              <a:defRPr sz="2400" b="0">
                <a:solidFill>
                  <a:srgbClr val="526777"/>
                </a:solidFill>
                <a:latin typeface="Montserrat"/>
              </a:defRPr>
            </a:pPr>
            <a:r>
              <a:t>les offres.</a:t>
            </a:r>
          </a:p>
        </p:txBody>
      </p:sp>
      <p:sp>
        <p:nvSpPr>
          <p:cNvPr id="16" name="TextBox 15"/>
          <p:cNvSpPr txBox="1"/>
          <p:nvPr/>
        </p:nvSpPr>
        <p:spPr>
          <a:xfrm>
            <a:off x="9372600" y="4206240"/>
            <a:ext cx="3611880" cy="950976"/>
          </a:xfrm>
          <a:prstGeom prst="rect">
            <a:avLst/>
          </a:prstGeom>
          <a:noFill/>
        </p:spPr>
        <p:txBody>
          <a:bodyPr wrap="square" lIns="0" rIns="0" tIns="0" bIns="0">
            <a:spAutoFit/>
          </a:bodyPr>
          <a:lstStyle/>
          <a:p>
            <a:pPr>
              <a:lnSpc>
                <a:spcPts val="2550"/>
              </a:lnSpc>
              <a:spcBef>
                <a:spcPts val="0"/>
              </a:spcBef>
              <a:spcAft>
                <a:spcPts val="0"/>
              </a:spcAft>
              <a:defRPr sz="2400" b="0">
                <a:solidFill>
                  <a:srgbClr val="526777"/>
                </a:solidFill>
                <a:latin typeface="Montserrat"/>
              </a:defRPr>
            </a:pPr>
            <a:r>
              <a:t>Rendre visibles</a:t>
            </a:r>
          </a:p>
          <a:p>
            <a:pPr>
              <a:lnSpc>
                <a:spcPts val="2550"/>
              </a:lnSpc>
              <a:spcBef>
                <a:spcPts val="0"/>
              </a:spcBef>
              <a:spcAft>
                <a:spcPts val="0"/>
              </a:spcAft>
              <a:defRPr sz="2400" b="0">
                <a:solidFill>
                  <a:srgbClr val="526777"/>
                </a:solidFill>
                <a:latin typeface="Montserrat"/>
              </a:defRPr>
            </a:pPr>
            <a:r>
              <a:t>la valeur créée</a:t>
            </a:r>
          </a:p>
          <a:p>
            <a:pPr>
              <a:lnSpc>
                <a:spcPts val="2550"/>
              </a:lnSpc>
              <a:spcBef>
                <a:spcPts val="0"/>
              </a:spcBef>
              <a:spcAft>
                <a:spcPts val="0"/>
              </a:spcAft>
              <a:defRPr sz="2400" b="0">
                <a:solidFill>
                  <a:srgbClr val="526777"/>
                </a:solidFill>
                <a:latin typeface="Montserrat"/>
              </a:defRPr>
            </a:pPr>
            <a:r>
              <a:t>et les performances.</a:t>
            </a:r>
          </a:p>
        </p:txBody>
      </p:sp>
      <p:sp>
        <p:nvSpPr>
          <p:cNvPr id="17" name="TextBox 16"/>
          <p:cNvSpPr txBox="1"/>
          <p:nvPr/>
        </p:nvSpPr>
        <p:spPr>
          <a:xfrm>
            <a:off x="13487400" y="4206240"/>
            <a:ext cx="3840480" cy="950976"/>
          </a:xfrm>
          <a:prstGeom prst="rect">
            <a:avLst/>
          </a:prstGeom>
          <a:noFill/>
        </p:spPr>
        <p:txBody>
          <a:bodyPr wrap="square" lIns="0" rIns="0" tIns="0" bIns="0">
            <a:spAutoFit/>
          </a:bodyPr>
          <a:lstStyle/>
          <a:p>
            <a:pPr>
              <a:lnSpc>
                <a:spcPts val="2550"/>
              </a:lnSpc>
              <a:spcBef>
                <a:spcPts val="0"/>
              </a:spcBef>
              <a:spcAft>
                <a:spcPts val="0"/>
              </a:spcAft>
              <a:defRPr sz="2400" b="0">
                <a:solidFill>
                  <a:srgbClr val="526777"/>
                </a:solidFill>
                <a:latin typeface="Montserrat"/>
              </a:defRPr>
            </a:pPr>
            <a:r>
              <a:t>Partager les résultats</a:t>
            </a:r>
          </a:p>
          <a:p>
            <a:pPr>
              <a:lnSpc>
                <a:spcPts val="2550"/>
              </a:lnSpc>
              <a:spcBef>
                <a:spcPts val="0"/>
              </a:spcBef>
              <a:spcAft>
                <a:spcPts val="0"/>
              </a:spcAft>
              <a:defRPr sz="2400" b="0">
                <a:solidFill>
                  <a:srgbClr val="526777"/>
                </a:solidFill>
                <a:latin typeface="Montserrat"/>
              </a:defRPr>
            </a:pPr>
            <a:r>
              <a:t>validés et les repères</a:t>
            </a:r>
          </a:p>
          <a:p>
            <a:pPr>
              <a:lnSpc>
                <a:spcPts val="2550"/>
              </a:lnSpc>
              <a:spcBef>
                <a:spcPts val="0"/>
              </a:spcBef>
              <a:spcAft>
                <a:spcPts val="0"/>
              </a:spcAft>
              <a:defRPr sz="2400" b="0">
                <a:solidFill>
                  <a:srgbClr val="526777"/>
                </a:solidFill>
                <a:latin typeface="Montserrat"/>
              </a:defRPr>
            </a:pPr>
            <a:r>
              <a:t>collectifs.</a:t>
            </a:r>
          </a:p>
        </p:txBody>
      </p:sp>
      <p:sp>
        <p:nvSpPr>
          <p:cNvPr id="18" name="Rectangle 17"/>
          <p:cNvSpPr/>
          <p:nvPr/>
        </p:nvSpPr>
        <p:spPr>
          <a:xfrm>
            <a:off x="822960" y="5202936"/>
            <a:ext cx="16642080" cy="10972"/>
          </a:xfrm>
          <a:prstGeom prst="rect">
            <a:avLst/>
          </a:prstGeom>
          <a:solidFill>
            <a:srgbClr val="D9E2E7"/>
          </a:solidFill>
          <a:ln>
            <a:noFill/>
          </a:ln>
        </p:spPr>
        <p:txBody>
          <a:bodyPr rtlCol="0" anchor="ctr"/>
          <a:lstStyle/>
          <a:p>
            <a:pPr algn="ctr"/>
          </a:p>
        </p:txBody>
      </p:sp>
      <p:sp>
        <p:nvSpPr>
          <p:cNvPr id="19" name="TextBox 18"/>
          <p:cNvSpPr txBox="1"/>
          <p:nvPr/>
        </p:nvSpPr>
        <p:spPr>
          <a:xfrm>
            <a:off x="960120" y="5285231"/>
            <a:ext cx="3794760" cy="950976"/>
          </a:xfrm>
          <a:prstGeom prst="rect">
            <a:avLst/>
          </a:prstGeom>
          <a:noFill/>
        </p:spPr>
        <p:txBody>
          <a:bodyPr wrap="square" lIns="0" rIns="0" tIns="0" bIns="0">
            <a:spAutoFit/>
          </a:bodyPr>
          <a:lstStyle/>
          <a:p>
            <a:pPr>
              <a:lnSpc>
                <a:spcPts val="2550"/>
              </a:lnSpc>
              <a:spcBef>
                <a:spcPts val="0"/>
              </a:spcBef>
              <a:spcAft>
                <a:spcPts val="0"/>
              </a:spcAft>
              <a:defRPr sz="2400" b="1">
                <a:solidFill>
                  <a:srgbClr val="002C49"/>
                </a:solidFill>
                <a:latin typeface="Montserrat"/>
              </a:defRPr>
            </a:pPr>
            <a:r>
              <a:t>Montée en gamme</a:t>
            </a:r>
          </a:p>
          <a:p>
            <a:pPr>
              <a:lnSpc>
                <a:spcPts val="2550"/>
              </a:lnSpc>
              <a:spcBef>
                <a:spcPts val="0"/>
              </a:spcBef>
              <a:spcAft>
                <a:spcPts val="0"/>
              </a:spcAft>
              <a:defRPr sz="2400" b="1">
                <a:solidFill>
                  <a:srgbClr val="002C49"/>
                </a:solidFill>
                <a:latin typeface="Montserrat"/>
              </a:defRPr>
            </a:pPr>
            <a:r>
              <a:t>&amp; leadership marché</a:t>
            </a:r>
          </a:p>
        </p:txBody>
      </p:sp>
      <p:sp>
        <p:nvSpPr>
          <p:cNvPr id="20" name="TextBox 19"/>
          <p:cNvSpPr txBox="1"/>
          <p:nvPr/>
        </p:nvSpPr>
        <p:spPr>
          <a:xfrm>
            <a:off x="5257800" y="5285231"/>
            <a:ext cx="3611880" cy="950976"/>
          </a:xfrm>
          <a:prstGeom prst="rect">
            <a:avLst/>
          </a:prstGeom>
          <a:noFill/>
        </p:spPr>
        <p:txBody>
          <a:bodyPr wrap="square" lIns="0" rIns="0" tIns="0" bIns="0">
            <a:spAutoFit/>
          </a:bodyPr>
          <a:lstStyle/>
          <a:p>
            <a:pPr>
              <a:lnSpc>
                <a:spcPts val="2550"/>
              </a:lnSpc>
              <a:spcBef>
                <a:spcPts val="0"/>
              </a:spcBef>
              <a:spcAft>
                <a:spcPts val="0"/>
              </a:spcAft>
              <a:defRPr sz="2400" b="0">
                <a:solidFill>
                  <a:srgbClr val="526777"/>
                </a:solidFill>
                <a:latin typeface="Montserrat"/>
              </a:defRPr>
            </a:pPr>
            <a:r>
              <a:t>Faciliter la mobilisation</a:t>
            </a:r>
          </a:p>
          <a:p>
            <a:pPr>
              <a:lnSpc>
                <a:spcPts val="2550"/>
              </a:lnSpc>
              <a:spcBef>
                <a:spcPts val="0"/>
              </a:spcBef>
              <a:spcAft>
                <a:spcPts val="0"/>
              </a:spcAft>
              <a:defRPr sz="2400" b="0">
                <a:solidFill>
                  <a:srgbClr val="526777"/>
                </a:solidFill>
                <a:latin typeface="Montserrat"/>
              </a:defRPr>
            </a:pPr>
            <a:r>
              <a:t>des offres et</a:t>
            </a:r>
          </a:p>
          <a:p>
            <a:pPr>
              <a:lnSpc>
                <a:spcPts val="2550"/>
              </a:lnSpc>
              <a:spcBef>
                <a:spcPts val="0"/>
              </a:spcBef>
              <a:spcAft>
                <a:spcPts val="0"/>
              </a:spcAft>
              <a:defRPr sz="2400" b="0">
                <a:solidFill>
                  <a:srgbClr val="526777"/>
                </a:solidFill>
                <a:latin typeface="Montserrat"/>
              </a:defRPr>
            </a:pPr>
            <a:r>
              <a:t>des expertises.</a:t>
            </a:r>
          </a:p>
        </p:txBody>
      </p:sp>
      <p:sp>
        <p:nvSpPr>
          <p:cNvPr id="21" name="TextBox 20"/>
          <p:cNvSpPr txBox="1"/>
          <p:nvPr/>
        </p:nvSpPr>
        <p:spPr>
          <a:xfrm>
            <a:off x="9372600" y="5285231"/>
            <a:ext cx="3611880" cy="950976"/>
          </a:xfrm>
          <a:prstGeom prst="rect">
            <a:avLst/>
          </a:prstGeom>
          <a:noFill/>
        </p:spPr>
        <p:txBody>
          <a:bodyPr wrap="square" lIns="0" rIns="0" tIns="0" bIns="0">
            <a:spAutoFit/>
          </a:bodyPr>
          <a:lstStyle/>
          <a:p>
            <a:pPr>
              <a:lnSpc>
                <a:spcPts val="2550"/>
              </a:lnSpc>
              <a:spcBef>
                <a:spcPts val="0"/>
              </a:spcBef>
              <a:spcAft>
                <a:spcPts val="0"/>
              </a:spcAft>
              <a:defRPr sz="2400" b="0">
                <a:solidFill>
                  <a:srgbClr val="526777"/>
                </a:solidFill>
                <a:latin typeface="Montserrat"/>
              </a:defRPr>
            </a:pPr>
            <a:r>
              <a:t>Renforcer les preuves</a:t>
            </a:r>
          </a:p>
          <a:p>
            <a:pPr>
              <a:lnSpc>
                <a:spcPts val="2550"/>
              </a:lnSpc>
              <a:spcBef>
                <a:spcPts val="0"/>
              </a:spcBef>
              <a:spcAft>
                <a:spcPts val="0"/>
              </a:spcAft>
              <a:defRPr sz="2400" b="0">
                <a:solidFill>
                  <a:srgbClr val="526777"/>
                </a:solidFill>
                <a:latin typeface="Montserrat"/>
              </a:defRPr>
            </a:pPr>
            <a:r>
              <a:t>clients, l’expertise</a:t>
            </a:r>
          </a:p>
          <a:p>
            <a:pPr>
              <a:lnSpc>
                <a:spcPts val="2550"/>
              </a:lnSpc>
              <a:spcBef>
                <a:spcPts val="0"/>
              </a:spcBef>
              <a:spcAft>
                <a:spcPts val="0"/>
              </a:spcAft>
              <a:defRPr sz="2400" b="0">
                <a:solidFill>
                  <a:srgbClr val="526777"/>
                </a:solidFill>
                <a:latin typeface="Montserrat"/>
              </a:defRPr>
            </a:pPr>
            <a:r>
              <a:t>et la crédibilité.</a:t>
            </a:r>
          </a:p>
        </p:txBody>
      </p:sp>
      <p:sp>
        <p:nvSpPr>
          <p:cNvPr id="22" name="TextBox 21"/>
          <p:cNvSpPr txBox="1"/>
          <p:nvPr/>
        </p:nvSpPr>
        <p:spPr>
          <a:xfrm>
            <a:off x="13487400" y="5285231"/>
            <a:ext cx="3840480" cy="950976"/>
          </a:xfrm>
          <a:prstGeom prst="rect">
            <a:avLst/>
          </a:prstGeom>
          <a:noFill/>
        </p:spPr>
        <p:txBody>
          <a:bodyPr wrap="square" lIns="0" rIns="0" tIns="0" bIns="0">
            <a:spAutoFit/>
          </a:bodyPr>
          <a:lstStyle/>
          <a:p>
            <a:pPr>
              <a:lnSpc>
                <a:spcPts val="2550"/>
              </a:lnSpc>
              <a:spcBef>
                <a:spcPts val="0"/>
              </a:spcBef>
              <a:spcAft>
                <a:spcPts val="0"/>
              </a:spcAft>
              <a:defRPr sz="2400" b="0">
                <a:solidFill>
                  <a:srgbClr val="526777"/>
                </a:solidFill>
                <a:latin typeface="Montserrat"/>
              </a:defRPr>
            </a:pPr>
            <a:r>
              <a:t>Valoriser les expertises</a:t>
            </a:r>
          </a:p>
          <a:p>
            <a:pPr>
              <a:lnSpc>
                <a:spcPts val="2550"/>
              </a:lnSpc>
              <a:spcBef>
                <a:spcPts val="0"/>
              </a:spcBef>
              <a:spcAft>
                <a:spcPts val="0"/>
              </a:spcAft>
              <a:defRPr sz="2400" b="0">
                <a:solidFill>
                  <a:srgbClr val="526777"/>
                </a:solidFill>
                <a:latin typeface="Montserrat"/>
              </a:defRPr>
            </a:pPr>
            <a:r>
              <a:t>et les collaborations</a:t>
            </a:r>
          </a:p>
          <a:p>
            <a:pPr>
              <a:lnSpc>
                <a:spcPts val="2550"/>
              </a:lnSpc>
              <a:spcBef>
                <a:spcPts val="0"/>
              </a:spcBef>
              <a:spcAft>
                <a:spcPts val="0"/>
              </a:spcAft>
              <a:defRPr sz="2400" b="0">
                <a:solidFill>
                  <a:srgbClr val="526777"/>
                </a:solidFill>
                <a:latin typeface="Montserrat"/>
              </a:defRPr>
            </a:pPr>
            <a:r>
              <a:t>transverses.</a:t>
            </a:r>
          </a:p>
        </p:txBody>
      </p:sp>
      <p:sp>
        <p:nvSpPr>
          <p:cNvPr id="23" name="Rectangle 22"/>
          <p:cNvSpPr/>
          <p:nvPr/>
        </p:nvSpPr>
        <p:spPr>
          <a:xfrm>
            <a:off x="822960" y="6281927"/>
            <a:ext cx="16642080" cy="10972"/>
          </a:xfrm>
          <a:prstGeom prst="rect">
            <a:avLst/>
          </a:prstGeom>
          <a:solidFill>
            <a:srgbClr val="D9E2E7"/>
          </a:solidFill>
          <a:ln>
            <a:noFill/>
          </a:ln>
        </p:spPr>
        <p:txBody>
          <a:bodyPr rtlCol="0" anchor="ctr"/>
          <a:lstStyle/>
          <a:p>
            <a:pPr algn="ctr"/>
          </a:p>
        </p:txBody>
      </p:sp>
      <p:sp>
        <p:nvSpPr>
          <p:cNvPr id="24" name="TextBox 23"/>
          <p:cNvSpPr txBox="1"/>
          <p:nvPr/>
        </p:nvSpPr>
        <p:spPr>
          <a:xfrm>
            <a:off x="960120" y="6364223"/>
            <a:ext cx="3794760" cy="950976"/>
          </a:xfrm>
          <a:prstGeom prst="rect">
            <a:avLst/>
          </a:prstGeom>
          <a:noFill/>
        </p:spPr>
        <p:txBody>
          <a:bodyPr wrap="square" lIns="0" rIns="0" tIns="0" bIns="0">
            <a:spAutoFit/>
          </a:bodyPr>
          <a:lstStyle/>
          <a:p>
            <a:pPr>
              <a:lnSpc>
                <a:spcPts val="2550"/>
              </a:lnSpc>
              <a:spcBef>
                <a:spcPts val="0"/>
              </a:spcBef>
              <a:spcAft>
                <a:spcPts val="0"/>
              </a:spcAft>
              <a:defRPr sz="2400" b="1">
                <a:solidFill>
                  <a:srgbClr val="002C49"/>
                </a:solidFill>
                <a:latin typeface="Montserrat"/>
              </a:defRPr>
            </a:pPr>
            <a:r>
              <a:t>Digital, IA</a:t>
            </a:r>
          </a:p>
          <a:p>
            <a:pPr>
              <a:lnSpc>
                <a:spcPts val="2550"/>
              </a:lnSpc>
              <a:spcBef>
                <a:spcPts val="0"/>
              </a:spcBef>
              <a:spcAft>
                <a:spcPts val="0"/>
              </a:spcAft>
              <a:defRPr sz="2400" b="1">
                <a:solidFill>
                  <a:srgbClr val="002C49"/>
                </a:solidFill>
                <a:latin typeface="Montserrat"/>
              </a:defRPr>
            </a:pPr>
            <a:r>
              <a:t>&amp; outils</a:t>
            </a:r>
          </a:p>
        </p:txBody>
      </p:sp>
      <p:sp>
        <p:nvSpPr>
          <p:cNvPr id="25" name="TextBox 24"/>
          <p:cNvSpPr txBox="1"/>
          <p:nvPr/>
        </p:nvSpPr>
        <p:spPr>
          <a:xfrm>
            <a:off x="5257800" y="6364223"/>
            <a:ext cx="3611880" cy="950976"/>
          </a:xfrm>
          <a:prstGeom prst="rect">
            <a:avLst/>
          </a:prstGeom>
          <a:noFill/>
        </p:spPr>
        <p:txBody>
          <a:bodyPr wrap="square" lIns="0" rIns="0" tIns="0" bIns="0">
            <a:spAutoFit/>
          </a:bodyPr>
          <a:lstStyle/>
          <a:p>
            <a:pPr>
              <a:lnSpc>
                <a:spcPts val="2550"/>
              </a:lnSpc>
              <a:spcBef>
                <a:spcPts val="0"/>
              </a:spcBef>
              <a:spcAft>
                <a:spcPts val="0"/>
              </a:spcAft>
              <a:defRPr sz="2400" b="0">
                <a:solidFill>
                  <a:srgbClr val="526777"/>
                </a:solidFill>
                <a:latin typeface="Montserrat"/>
              </a:defRPr>
            </a:pPr>
            <a:r>
              <a:t>Comprendre, rassurer,</a:t>
            </a:r>
          </a:p>
          <a:p>
            <a:pPr>
              <a:lnSpc>
                <a:spcPts val="2550"/>
              </a:lnSpc>
              <a:spcBef>
                <a:spcPts val="0"/>
              </a:spcBef>
              <a:spcAft>
                <a:spcPts val="0"/>
              </a:spcAft>
              <a:defRPr sz="2400" b="0">
                <a:solidFill>
                  <a:srgbClr val="526777"/>
                </a:solidFill>
                <a:latin typeface="Montserrat"/>
              </a:defRPr>
            </a:pPr>
            <a:r>
              <a:t>accompagner</a:t>
            </a:r>
          </a:p>
          <a:p>
            <a:pPr>
              <a:lnSpc>
                <a:spcPts val="2550"/>
              </a:lnSpc>
              <a:spcBef>
                <a:spcPts val="0"/>
              </a:spcBef>
              <a:spcAft>
                <a:spcPts val="0"/>
              </a:spcAft>
              <a:defRPr sz="2400" b="0">
                <a:solidFill>
                  <a:srgbClr val="526777"/>
                </a:solidFill>
                <a:latin typeface="Montserrat"/>
              </a:defRPr>
            </a:pPr>
            <a:r>
              <a:t>les usages.</a:t>
            </a:r>
          </a:p>
        </p:txBody>
      </p:sp>
      <p:sp>
        <p:nvSpPr>
          <p:cNvPr id="26" name="TextBox 25"/>
          <p:cNvSpPr txBox="1"/>
          <p:nvPr/>
        </p:nvSpPr>
        <p:spPr>
          <a:xfrm>
            <a:off x="9372600" y="6364223"/>
            <a:ext cx="3611880" cy="950976"/>
          </a:xfrm>
          <a:prstGeom prst="rect">
            <a:avLst/>
          </a:prstGeom>
          <a:noFill/>
        </p:spPr>
        <p:txBody>
          <a:bodyPr wrap="square" lIns="0" rIns="0" tIns="0" bIns="0">
            <a:spAutoFit/>
          </a:bodyPr>
          <a:lstStyle/>
          <a:p>
            <a:pPr>
              <a:lnSpc>
                <a:spcPts val="2550"/>
              </a:lnSpc>
              <a:spcBef>
                <a:spcPts val="0"/>
              </a:spcBef>
              <a:spcAft>
                <a:spcPts val="0"/>
              </a:spcAft>
              <a:defRPr sz="2400" b="0">
                <a:solidFill>
                  <a:srgbClr val="526777"/>
                </a:solidFill>
                <a:latin typeface="Montserrat"/>
              </a:defRPr>
            </a:pPr>
            <a:r>
              <a:t>Montrer la valeur</a:t>
            </a:r>
          </a:p>
          <a:p>
            <a:pPr>
              <a:lnSpc>
                <a:spcPts val="2550"/>
              </a:lnSpc>
              <a:spcBef>
                <a:spcPts val="0"/>
              </a:spcBef>
              <a:spcAft>
                <a:spcPts val="0"/>
              </a:spcAft>
              <a:defRPr sz="2400" b="0">
                <a:solidFill>
                  <a:srgbClr val="526777"/>
                </a:solidFill>
                <a:latin typeface="Montserrat"/>
              </a:defRPr>
            </a:pPr>
            <a:r>
              <a:t>des outils pour</a:t>
            </a:r>
          </a:p>
          <a:p>
            <a:pPr>
              <a:lnSpc>
                <a:spcPts val="2550"/>
              </a:lnSpc>
              <a:spcBef>
                <a:spcPts val="0"/>
              </a:spcBef>
              <a:spcAft>
                <a:spcPts val="0"/>
              </a:spcAft>
              <a:defRPr sz="2400" b="0">
                <a:solidFill>
                  <a:srgbClr val="526777"/>
                </a:solidFill>
                <a:latin typeface="Montserrat"/>
              </a:defRPr>
            </a:pPr>
            <a:r>
              <a:t>l’expérience client.</a:t>
            </a:r>
          </a:p>
        </p:txBody>
      </p:sp>
      <p:sp>
        <p:nvSpPr>
          <p:cNvPr id="27" name="TextBox 26"/>
          <p:cNvSpPr txBox="1"/>
          <p:nvPr/>
        </p:nvSpPr>
        <p:spPr>
          <a:xfrm>
            <a:off x="13487400" y="6364223"/>
            <a:ext cx="3840480" cy="950976"/>
          </a:xfrm>
          <a:prstGeom prst="rect">
            <a:avLst/>
          </a:prstGeom>
          <a:noFill/>
        </p:spPr>
        <p:txBody>
          <a:bodyPr wrap="square" lIns="0" rIns="0" tIns="0" bIns="0">
            <a:spAutoFit/>
          </a:bodyPr>
          <a:lstStyle/>
          <a:p>
            <a:pPr>
              <a:lnSpc>
                <a:spcPts val="2550"/>
              </a:lnSpc>
              <a:spcBef>
                <a:spcPts val="0"/>
              </a:spcBef>
              <a:spcAft>
                <a:spcPts val="0"/>
              </a:spcAft>
              <a:defRPr sz="2400" b="0">
                <a:solidFill>
                  <a:srgbClr val="526777"/>
                </a:solidFill>
                <a:latin typeface="Montserrat"/>
              </a:defRPr>
            </a:pPr>
            <a:r>
              <a:t>Faciliter l’accès</a:t>
            </a:r>
          </a:p>
          <a:p>
            <a:pPr>
              <a:lnSpc>
                <a:spcPts val="2550"/>
              </a:lnSpc>
              <a:spcBef>
                <a:spcPts val="0"/>
              </a:spcBef>
              <a:spcAft>
                <a:spcPts val="0"/>
              </a:spcAft>
              <a:defRPr sz="2400" b="0">
                <a:solidFill>
                  <a:srgbClr val="526777"/>
                </a:solidFill>
                <a:latin typeface="Montserrat"/>
              </a:defRPr>
            </a:pPr>
            <a:r>
              <a:t>aux ressources</a:t>
            </a:r>
          </a:p>
          <a:p>
            <a:pPr>
              <a:lnSpc>
                <a:spcPts val="2550"/>
              </a:lnSpc>
              <a:spcBef>
                <a:spcPts val="0"/>
              </a:spcBef>
              <a:spcAft>
                <a:spcPts val="0"/>
              </a:spcAft>
              <a:defRPr sz="2400" b="0">
                <a:solidFill>
                  <a:srgbClr val="526777"/>
                </a:solidFill>
                <a:latin typeface="Montserrat"/>
              </a:defRPr>
            </a:pPr>
            <a:r>
              <a:t>et aux outils.</a:t>
            </a:r>
          </a:p>
        </p:txBody>
      </p:sp>
      <p:sp>
        <p:nvSpPr>
          <p:cNvPr id="28" name="Rectangle 27"/>
          <p:cNvSpPr/>
          <p:nvPr/>
        </p:nvSpPr>
        <p:spPr>
          <a:xfrm>
            <a:off x="822960" y="7360919"/>
            <a:ext cx="16642080" cy="10972"/>
          </a:xfrm>
          <a:prstGeom prst="rect">
            <a:avLst/>
          </a:prstGeom>
          <a:solidFill>
            <a:srgbClr val="D9E2E7"/>
          </a:solidFill>
          <a:ln>
            <a:noFill/>
          </a:ln>
        </p:spPr>
        <p:txBody>
          <a:bodyPr rtlCol="0" anchor="ctr"/>
          <a:lstStyle/>
          <a:p>
            <a:pPr algn="ctr"/>
          </a:p>
        </p:txBody>
      </p:sp>
      <p:sp>
        <p:nvSpPr>
          <p:cNvPr id="29" name="TextBox 28"/>
          <p:cNvSpPr txBox="1"/>
          <p:nvPr/>
        </p:nvSpPr>
        <p:spPr>
          <a:xfrm>
            <a:off x="960120" y="7443216"/>
            <a:ext cx="3794760" cy="950976"/>
          </a:xfrm>
          <a:prstGeom prst="rect">
            <a:avLst/>
          </a:prstGeom>
          <a:noFill/>
        </p:spPr>
        <p:txBody>
          <a:bodyPr wrap="square" lIns="0" rIns="0" tIns="0" bIns="0">
            <a:spAutoFit/>
          </a:bodyPr>
          <a:lstStyle/>
          <a:p>
            <a:pPr>
              <a:lnSpc>
                <a:spcPts val="2550"/>
              </a:lnSpc>
              <a:spcBef>
                <a:spcPts val="0"/>
              </a:spcBef>
              <a:spcAft>
                <a:spcPts val="0"/>
              </a:spcAft>
              <a:defRPr sz="2400" b="1">
                <a:solidFill>
                  <a:srgbClr val="002C49"/>
                </a:solidFill>
                <a:latin typeface="Montserrat"/>
              </a:defRPr>
            </a:pPr>
            <a:r>
              <a:t>Culture, équipes</a:t>
            </a:r>
          </a:p>
          <a:p>
            <a:pPr>
              <a:lnSpc>
                <a:spcPts val="2550"/>
              </a:lnSpc>
              <a:spcBef>
                <a:spcPts val="0"/>
              </a:spcBef>
              <a:spcAft>
                <a:spcPts val="0"/>
              </a:spcAft>
              <a:defRPr sz="2400" b="1">
                <a:solidFill>
                  <a:srgbClr val="002C49"/>
                </a:solidFill>
                <a:latin typeface="Montserrat"/>
              </a:defRPr>
            </a:pPr>
            <a:r>
              <a:t>&amp; collectif</a:t>
            </a:r>
          </a:p>
        </p:txBody>
      </p:sp>
      <p:sp>
        <p:nvSpPr>
          <p:cNvPr id="30" name="TextBox 29"/>
          <p:cNvSpPr txBox="1"/>
          <p:nvPr/>
        </p:nvSpPr>
        <p:spPr>
          <a:xfrm>
            <a:off x="5257800" y="7443216"/>
            <a:ext cx="3611880" cy="950976"/>
          </a:xfrm>
          <a:prstGeom prst="rect">
            <a:avLst/>
          </a:prstGeom>
          <a:noFill/>
        </p:spPr>
        <p:txBody>
          <a:bodyPr wrap="square" lIns="0" rIns="0" tIns="0" bIns="0">
            <a:spAutoFit/>
          </a:bodyPr>
          <a:lstStyle/>
          <a:p>
            <a:pPr>
              <a:lnSpc>
                <a:spcPts val="2550"/>
              </a:lnSpc>
              <a:spcBef>
                <a:spcPts val="0"/>
              </a:spcBef>
              <a:spcAft>
                <a:spcPts val="0"/>
              </a:spcAft>
              <a:defRPr sz="2400" b="0">
                <a:solidFill>
                  <a:srgbClr val="526777"/>
                </a:solidFill>
                <a:latin typeface="Montserrat"/>
              </a:defRPr>
            </a:pPr>
            <a:r>
              <a:t>Accompagner les</a:t>
            </a:r>
          </a:p>
          <a:p>
            <a:pPr>
              <a:lnSpc>
                <a:spcPts val="2550"/>
              </a:lnSpc>
              <a:spcBef>
                <a:spcPts val="0"/>
              </a:spcBef>
              <a:spcAft>
                <a:spcPts val="0"/>
              </a:spcAft>
              <a:defRPr sz="2400" b="0">
                <a:solidFill>
                  <a:srgbClr val="526777"/>
                </a:solidFill>
                <a:latin typeface="Montserrat"/>
              </a:defRPr>
            </a:pPr>
            <a:r>
              <a:t>transformations avec</a:t>
            </a:r>
          </a:p>
          <a:p>
            <a:pPr>
              <a:lnSpc>
                <a:spcPts val="2550"/>
              </a:lnSpc>
              <a:spcBef>
                <a:spcPts val="0"/>
              </a:spcBef>
              <a:spcAft>
                <a:spcPts val="0"/>
              </a:spcAft>
              <a:defRPr sz="2400" b="0">
                <a:solidFill>
                  <a:srgbClr val="526777"/>
                </a:solidFill>
                <a:latin typeface="Montserrat"/>
              </a:defRPr>
            </a:pPr>
            <a:r>
              <a:t>du sens et des relais.</a:t>
            </a:r>
          </a:p>
        </p:txBody>
      </p:sp>
      <p:sp>
        <p:nvSpPr>
          <p:cNvPr id="31" name="TextBox 30"/>
          <p:cNvSpPr txBox="1"/>
          <p:nvPr/>
        </p:nvSpPr>
        <p:spPr>
          <a:xfrm>
            <a:off x="9372600" y="7443216"/>
            <a:ext cx="3611880" cy="950976"/>
          </a:xfrm>
          <a:prstGeom prst="rect">
            <a:avLst/>
          </a:prstGeom>
          <a:noFill/>
        </p:spPr>
        <p:txBody>
          <a:bodyPr wrap="square" lIns="0" rIns="0" tIns="0" bIns="0">
            <a:spAutoFit/>
          </a:bodyPr>
          <a:lstStyle/>
          <a:p>
            <a:pPr>
              <a:lnSpc>
                <a:spcPts val="2550"/>
              </a:lnSpc>
              <a:spcBef>
                <a:spcPts val="0"/>
              </a:spcBef>
              <a:spcAft>
                <a:spcPts val="0"/>
              </a:spcAft>
              <a:defRPr sz="2400" b="0">
                <a:solidFill>
                  <a:srgbClr val="526777"/>
                </a:solidFill>
                <a:latin typeface="Montserrat"/>
              </a:defRPr>
            </a:pPr>
            <a:r>
              <a:t>—</a:t>
            </a:r>
          </a:p>
        </p:txBody>
      </p:sp>
      <p:sp>
        <p:nvSpPr>
          <p:cNvPr id="32" name="TextBox 31"/>
          <p:cNvSpPr txBox="1"/>
          <p:nvPr/>
        </p:nvSpPr>
        <p:spPr>
          <a:xfrm>
            <a:off x="13487400" y="7443216"/>
            <a:ext cx="3840480" cy="950976"/>
          </a:xfrm>
          <a:prstGeom prst="rect">
            <a:avLst/>
          </a:prstGeom>
          <a:noFill/>
        </p:spPr>
        <p:txBody>
          <a:bodyPr wrap="square" lIns="0" rIns="0" tIns="0" bIns="0">
            <a:spAutoFit/>
          </a:bodyPr>
          <a:lstStyle/>
          <a:p>
            <a:pPr>
              <a:lnSpc>
                <a:spcPts val="2550"/>
              </a:lnSpc>
              <a:spcBef>
                <a:spcPts val="0"/>
              </a:spcBef>
              <a:spcAft>
                <a:spcPts val="0"/>
              </a:spcAft>
              <a:defRPr sz="2400" b="0">
                <a:solidFill>
                  <a:srgbClr val="526777"/>
                </a:solidFill>
                <a:latin typeface="Montserrat"/>
              </a:defRPr>
            </a:pPr>
            <a:r>
              <a:t>Renforcer l’information,</a:t>
            </a:r>
          </a:p>
          <a:p>
            <a:pPr>
              <a:lnSpc>
                <a:spcPts val="2550"/>
              </a:lnSpc>
              <a:spcBef>
                <a:spcPts val="0"/>
              </a:spcBef>
              <a:spcAft>
                <a:spcPts val="0"/>
              </a:spcAft>
              <a:defRPr sz="2400" b="0">
                <a:solidFill>
                  <a:srgbClr val="526777"/>
                </a:solidFill>
                <a:latin typeface="Montserrat"/>
              </a:defRPr>
            </a:pPr>
            <a:r>
              <a:t>l’engagement et</a:t>
            </a:r>
          </a:p>
          <a:p>
            <a:pPr>
              <a:lnSpc>
                <a:spcPts val="2550"/>
              </a:lnSpc>
              <a:spcBef>
                <a:spcPts val="0"/>
              </a:spcBef>
              <a:spcAft>
                <a:spcPts val="0"/>
              </a:spcAft>
              <a:defRPr sz="2400" b="0">
                <a:solidFill>
                  <a:srgbClr val="526777"/>
                </a:solidFill>
                <a:latin typeface="Montserrat"/>
              </a:defRPr>
            </a:pPr>
            <a:r>
              <a:t>la culture partagée.</a:t>
            </a:r>
          </a:p>
        </p:txBody>
      </p:sp>
      <p:sp>
        <p:nvSpPr>
          <p:cNvPr id="33" name="Rectangle 32"/>
          <p:cNvSpPr/>
          <p:nvPr/>
        </p:nvSpPr>
        <p:spPr>
          <a:xfrm>
            <a:off x="822960" y="8823960"/>
            <a:ext cx="16642080" cy="10972"/>
          </a:xfrm>
          <a:prstGeom prst="rect">
            <a:avLst/>
          </a:prstGeom>
          <a:solidFill>
            <a:srgbClr val="D9E2E7"/>
          </a:solidFill>
          <a:ln>
            <a:noFill/>
          </a:ln>
        </p:spPr>
        <p:txBody>
          <a:bodyPr rtlCol="0" anchor="ctr"/>
          <a:lstStyle/>
          <a:p>
            <a:pPr algn="ctr"/>
          </a:p>
        </p:txBody>
      </p:sp>
      <p:sp>
        <p:nvSpPr>
          <p:cNvPr id="34" name="TextBox 33"/>
          <p:cNvSpPr txBox="1"/>
          <p:nvPr/>
        </p:nvSpPr>
        <p:spPr>
          <a:xfrm>
            <a:off x="868680" y="9025128"/>
            <a:ext cx="16486632" cy="768096"/>
          </a:xfrm>
          <a:prstGeom prst="rect">
            <a:avLst/>
          </a:prstGeom>
          <a:noFill/>
        </p:spPr>
        <p:txBody>
          <a:bodyPr wrap="square" lIns="0" rIns="0" tIns="0" bIns="0">
            <a:spAutoFit/>
          </a:bodyPr>
          <a:lstStyle/>
          <a:p>
            <a:pPr>
              <a:lnSpc>
                <a:spcPts val="2800"/>
              </a:lnSpc>
              <a:spcBef>
                <a:spcPts val="0"/>
              </a:spcBef>
              <a:spcAft>
                <a:spcPts val="0"/>
              </a:spcAft>
              <a:defRPr sz="2400" b="1">
                <a:solidFill>
                  <a:srgbClr val="002C49"/>
                </a:solidFill>
                <a:latin typeface="Montserrat"/>
              </a:defRPr>
            </a:pPr>
            <a:r>
              <a:t>Cette matrice explique les contributions ; le portefeuille précise les projets et la roadmap les situe.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3.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03 / PORTEFEUILLE ET CAPACITÉ</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Un portefeuille à hiérarchiser dans notre capacité réelle.</a:t>
            </a:r>
          </a:p>
        </p:txBody>
      </p:sp>
      <p:sp>
        <p:nvSpPr>
          <p:cNvPr id="5" name="TextBox 4"/>
          <p:cNvSpPr txBox="1"/>
          <p:nvPr/>
        </p:nvSpPr>
        <p:spPr>
          <a:xfrm>
            <a:off x="868680" y="2742285"/>
            <a:ext cx="16504920" cy="54864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Proposition de hiérarchisation — arbitrages à valider.</a:t>
            </a:r>
          </a:p>
        </p:txBody>
      </p:sp>
      <p:sp>
        <p:nvSpPr>
          <p:cNvPr id="6" name="Rectangle 5"/>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7" name="TextBox 6"/>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8" name="TextBox 7"/>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05</a:t>
            </a:r>
          </a:p>
        </p:txBody>
      </p:sp>
      <p:sp>
        <p:nvSpPr>
          <p:cNvPr id="9" name="Rectangle 8"/>
          <p:cNvSpPr/>
          <p:nvPr/>
        </p:nvSpPr>
        <p:spPr>
          <a:xfrm>
            <a:off x="822960" y="3429000"/>
            <a:ext cx="9784080" cy="4901184"/>
          </a:xfrm>
          <a:prstGeom prst="rect">
            <a:avLst/>
          </a:prstGeom>
          <a:solidFill>
            <a:srgbClr val="F7F7F3"/>
          </a:solidFill>
          <a:ln>
            <a:noFill/>
          </a:ln>
        </p:spPr>
        <p:txBody>
          <a:bodyPr rtlCol="0" anchor="ctr"/>
          <a:lstStyle/>
          <a:p>
            <a:pPr algn="ctr"/>
          </a:p>
        </p:txBody>
      </p:sp>
      <p:sp>
        <p:nvSpPr>
          <p:cNvPr id="10" name="TextBox 9"/>
          <p:cNvSpPr txBox="1"/>
          <p:nvPr/>
        </p:nvSpPr>
        <p:spPr>
          <a:xfrm>
            <a:off x="1143000" y="3730752"/>
            <a:ext cx="9144000" cy="594360"/>
          </a:xfrm>
          <a:prstGeom prst="rect">
            <a:avLst/>
          </a:prstGeom>
          <a:noFill/>
        </p:spPr>
        <p:txBody>
          <a:bodyPr wrap="square" lIns="0" rIns="0" tIns="0" bIns="0">
            <a:spAutoFit/>
          </a:bodyPr>
          <a:lstStyle/>
          <a:p>
            <a:pPr>
              <a:lnSpc>
                <a:spcPts val="3690"/>
              </a:lnSpc>
              <a:spcBef>
                <a:spcPts val="0"/>
              </a:spcBef>
              <a:spcAft>
                <a:spcPts val="0"/>
              </a:spcAft>
              <a:defRPr sz="3000" b="1">
                <a:solidFill>
                  <a:srgbClr val="002C49"/>
                </a:solidFill>
                <a:latin typeface="Montserrat"/>
              </a:defRPr>
            </a:pPr>
            <a:r>
              <a:t>CONSTRUIRE / STRUCTURER</a:t>
            </a:r>
          </a:p>
        </p:txBody>
      </p:sp>
      <p:sp>
        <p:nvSpPr>
          <p:cNvPr id="11" name="TextBox 10"/>
          <p:cNvSpPr txBox="1"/>
          <p:nvPr/>
        </p:nvSpPr>
        <p:spPr>
          <a:xfrm>
            <a:off x="1143000" y="4315968"/>
            <a:ext cx="9144000" cy="310896"/>
          </a:xfrm>
          <a:prstGeom prst="rect">
            <a:avLst/>
          </a:prstGeom>
          <a:noFill/>
        </p:spPr>
        <p:txBody>
          <a:bodyPr wrap="square" lIns="0" rIns="0" tIns="0" bIns="0">
            <a:spAutoFit/>
          </a:bodyPr>
          <a:lstStyle/>
          <a:p>
            <a:pPr>
              <a:lnSpc>
                <a:spcPts val="1968"/>
              </a:lnSpc>
              <a:spcBef>
                <a:spcPts val="0"/>
              </a:spcBef>
              <a:spcAft>
                <a:spcPts val="0"/>
              </a:spcAft>
              <a:defRPr sz="1600" b="1">
                <a:solidFill>
                  <a:srgbClr val="526777"/>
                </a:solidFill>
                <a:latin typeface="Montserrat"/>
              </a:defRPr>
            </a:pPr>
            <a:r>
              <a:t>STATUTS PROPOSÉS : NEW / BUILD • SCALE / TRANSFORM</a:t>
            </a:r>
          </a:p>
        </p:txBody>
      </p:sp>
      <p:sp>
        <p:nvSpPr>
          <p:cNvPr id="12" name="TextBox 11"/>
          <p:cNvSpPr txBox="1"/>
          <p:nvPr/>
        </p:nvSpPr>
        <p:spPr>
          <a:xfrm>
            <a:off x="1143000" y="4828032"/>
            <a:ext cx="6675120" cy="502920"/>
          </a:xfrm>
          <a:prstGeom prst="rect">
            <a:avLst/>
          </a:prstGeom>
          <a:noFill/>
        </p:spPr>
        <p:txBody>
          <a:bodyPr wrap="square" lIns="0" rIns="0" tIns="0" bIns="0">
            <a:spAutoFit/>
          </a:bodyPr>
          <a:lstStyle/>
          <a:p>
            <a:pPr>
              <a:lnSpc>
                <a:spcPts val="3000"/>
              </a:lnSpc>
              <a:spcBef>
                <a:spcPts val="0"/>
              </a:spcBef>
              <a:spcAft>
                <a:spcPts val="0"/>
              </a:spcAft>
              <a:defRPr sz="2500" b="0">
                <a:solidFill>
                  <a:srgbClr val="002C49"/>
                </a:solidFill>
                <a:latin typeface="Montserrat"/>
              </a:defRPr>
            </a:pPr>
            <a:r>
              <a:t>Adoption de l’IA</a:t>
            </a:r>
          </a:p>
        </p:txBody>
      </p:sp>
      <p:sp>
        <p:nvSpPr>
          <p:cNvPr id="13" name="Rectangle 12"/>
          <p:cNvSpPr/>
          <p:nvPr/>
        </p:nvSpPr>
        <p:spPr>
          <a:xfrm>
            <a:off x="8842248" y="4864608"/>
            <a:ext cx="1371600" cy="393192"/>
          </a:xfrm>
          <a:prstGeom prst="rect">
            <a:avLst/>
          </a:prstGeom>
          <a:solidFill>
            <a:srgbClr val="EAF0F3"/>
          </a:solidFill>
          <a:ln>
            <a:noFill/>
          </a:ln>
        </p:spPr>
        <p:txBody>
          <a:bodyPr rtlCol="0" anchor="ctr"/>
          <a:lstStyle/>
          <a:p>
            <a:pPr algn="ctr"/>
          </a:p>
        </p:txBody>
      </p:sp>
      <p:sp>
        <p:nvSpPr>
          <p:cNvPr id="14" name="TextBox 13"/>
          <p:cNvSpPr txBox="1"/>
          <p:nvPr/>
        </p:nvSpPr>
        <p:spPr>
          <a:xfrm>
            <a:off x="8961120" y="4946904"/>
            <a:ext cx="1133856" cy="237744"/>
          </a:xfrm>
          <a:prstGeom prst="rect">
            <a:avLst/>
          </a:prstGeom>
          <a:noFill/>
        </p:spPr>
        <p:txBody>
          <a:bodyPr wrap="square" lIns="0" rIns="0" tIns="0" bIns="0">
            <a:spAutoFit/>
          </a:bodyPr>
          <a:lstStyle/>
          <a:p>
            <a:pPr>
              <a:lnSpc>
                <a:spcPts val="1722"/>
              </a:lnSpc>
              <a:spcBef>
                <a:spcPts val="0"/>
              </a:spcBef>
              <a:spcAft>
                <a:spcPts val="0"/>
              </a:spcAft>
              <a:defRPr sz="1400" b="1">
                <a:solidFill>
                  <a:srgbClr val="002C49"/>
                </a:solidFill>
                <a:latin typeface="Montserrat"/>
              </a:defRPr>
            </a:pPr>
            <a:r>
              <a:t>SCALE</a:t>
            </a:r>
          </a:p>
        </p:txBody>
      </p:sp>
      <p:sp>
        <p:nvSpPr>
          <p:cNvPr id="15" name="TextBox 14"/>
          <p:cNvSpPr txBox="1"/>
          <p:nvPr/>
        </p:nvSpPr>
        <p:spPr>
          <a:xfrm>
            <a:off x="1143000" y="5303520"/>
            <a:ext cx="6675120" cy="502920"/>
          </a:xfrm>
          <a:prstGeom prst="rect">
            <a:avLst/>
          </a:prstGeom>
          <a:noFill/>
        </p:spPr>
        <p:txBody>
          <a:bodyPr wrap="square" lIns="0" rIns="0" tIns="0" bIns="0">
            <a:spAutoFit/>
          </a:bodyPr>
          <a:lstStyle/>
          <a:p>
            <a:pPr>
              <a:lnSpc>
                <a:spcPts val="3000"/>
              </a:lnSpc>
              <a:spcBef>
                <a:spcPts val="0"/>
              </a:spcBef>
              <a:spcAft>
                <a:spcPts val="0"/>
              </a:spcAft>
              <a:defRPr sz="2500" b="0">
                <a:solidFill>
                  <a:srgbClr val="002C49"/>
                </a:solidFill>
                <a:latin typeface="Montserrat"/>
              </a:defRPr>
            </a:pPr>
            <a:r>
              <a:t>Toolbox Leyton / adoption des outils</a:t>
            </a:r>
          </a:p>
        </p:txBody>
      </p:sp>
      <p:sp>
        <p:nvSpPr>
          <p:cNvPr id="16" name="Rectangle 15"/>
          <p:cNvSpPr/>
          <p:nvPr/>
        </p:nvSpPr>
        <p:spPr>
          <a:xfrm>
            <a:off x="8842248" y="5340096"/>
            <a:ext cx="1371600" cy="393192"/>
          </a:xfrm>
          <a:prstGeom prst="rect">
            <a:avLst/>
          </a:prstGeom>
          <a:solidFill>
            <a:srgbClr val="EAF0F3"/>
          </a:solidFill>
          <a:ln>
            <a:noFill/>
          </a:ln>
        </p:spPr>
        <p:txBody>
          <a:bodyPr rtlCol="0" anchor="ctr"/>
          <a:lstStyle/>
          <a:p>
            <a:pPr algn="ctr"/>
          </a:p>
        </p:txBody>
      </p:sp>
      <p:sp>
        <p:nvSpPr>
          <p:cNvPr id="17" name="TextBox 16"/>
          <p:cNvSpPr txBox="1"/>
          <p:nvPr/>
        </p:nvSpPr>
        <p:spPr>
          <a:xfrm>
            <a:off x="8961120" y="5422392"/>
            <a:ext cx="1133856" cy="237744"/>
          </a:xfrm>
          <a:prstGeom prst="rect">
            <a:avLst/>
          </a:prstGeom>
          <a:noFill/>
        </p:spPr>
        <p:txBody>
          <a:bodyPr wrap="square" lIns="0" rIns="0" tIns="0" bIns="0">
            <a:spAutoFit/>
          </a:bodyPr>
          <a:lstStyle/>
          <a:p>
            <a:pPr>
              <a:lnSpc>
                <a:spcPts val="1722"/>
              </a:lnSpc>
              <a:spcBef>
                <a:spcPts val="0"/>
              </a:spcBef>
              <a:spcAft>
                <a:spcPts val="0"/>
              </a:spcAft>
              <a:defRPr sz="1400" b="1">
                <a:solidFill>
                  <a:srgbClr val="002C49"/>
                </a:solidFill>
                <a:latin typeface="Montserrat"/>
              </a:defRPr>
            </a:pPr>
            <a:r>
              <a:t>SCALE</a:t>
            </a:r>
          </a:p>
        </p:txBody>
      </p:sp>
      <p:sp>
        <p:nvSpPr>
          <p:cNvPr id="18" name="TextBox 17"/>
          <p:cNvSpPr txBox="1"/>
          <p:nvPr/>
        </p:nvSpPr>
        <p:spPr>
          <a:xfrm>
            <a:off x="1143000" y="5779008"/>
            <a:ext cx="6675120" cy="502920"/>
          </a:xfrm>
          <a:prstGeom prst="rect">
            <a:avLst/>
          </a:prstGeom>
          <a:noFill/>
        </p:spPr>
        <p:txBody>
          <a:bodyPr wrap="square" lIns="0" rIns="0" tIns="0" bIns="0">
            <a:spAutoFit/>
          </a:bodyPr>
          <a:lstStyle/>
          <a:p>
            <a:pPr>
              <a:lnSpc>
                <a:spcPts val="3000"/>
              </a:lnSpc>
              <a:spcBef>
                <a:spcPts val="0"/>
              </a:spcBef>
              <a:spcAft>
                <a:spcPts val="0"/>
              </a:spcAft>
              <a:defRPr sz="2500" b="0">
                <a:solidFill>
                  <a:srgbClr val="002C49"/>
                </a:solidFill>
                <a:latin typeface="Montserrat"/>
              </a:defRPr>
            </a:pPr>
            <a:r>
              <a:t>Kit Business Partner par pôle</a:t>
            </a:r>
          </a:p>
        </p:txBody>
      </p:sp>
      <p:sp>
        <p:nvSpPr>
          <p:cNvPr id="19" name="Rectangle 18"/>
          <p:cNvSpPr/>
          <p:nvPr/>
        </p:nvSpPr>
        <p:spPr>
          <a:xfrm>
            <a:off x="8842248" y="5815584"/>
            <a:ext cx="1371600" cy="393192"/>
          </a:xfrm>
          <a:prstGeom prst="rect">
            <a:avLst/>
          </a:prstGeom>
          <a:solidFill>
            <a:srgbClr val="EAF0F3"/>
          </a:solidFill>
          <a:ln>
            <a:noFill/>
          </a:ln>
        </p:spPr>
        <p:txBody>
          <a:bodyPr rtlCol="0" anchor="ctr"/>
          <a:lstStyle/>
          <a:p>
            <a:pPr algn="ctr"/>
          </a:p>
        </p:txBody>
      </p:sp>
      <p:sp>
        <p:nvSpPr>
          <p:cNvPr id="20" name="TextBox 19"/>
          <p:cNvSpPr txBox="1"/>
          <p:nvPr/>
        </p:nvSpPr>
        <p:spPr>
          <a:xfrm>
            <a:off x="8961120" y="5897880"/>
            <a:ext cx="1133856" cy="237744"/>
          </a:xfrm>
          <a:prstGeom prst="rect">
            <a:avLst/>
          </a:prstGeom>
          <a:noFill/>
        </p:spPr>
        <p:txBody>
          <a:bodyPr wrap="square" lIns="0" rIns="0" tIns="0" bIns="0">
            <a:spAutoFit/>
          </a:bodyPr>
          <a:lstStyle/>
          <a:p>
            <a:pPr>
              <a:lnSpc>
                <a:spcPts val="1722"/>
              </a:lnSpc>
              <a:spcBef>
                <a:spcPts val="0"/>
              </a:spcBef>
              <a:spcAft>
                <a:spcPts val="0"/>
              </a:spcAft>
              <a:defRPr sz="1400" b="1">
                <a:solidFill>
                  <a:srgbClr val="002C49"/>
                </a:solidFill>
                <a:latin typeface="Montserrat"/>
              </a:defRPr>
            </a:pPr>
            <a:r>
              <a:t>BUILD</a:t>
            </a:r>
          </a:p>
        </p:txBody>
      </p:sp>
      <p:sp>
        <p:nvSpPr>
          <p:cNvPr id="21" name="TextBox 20"/>
          <p:cNvSpPr txBox="1"/>
          <p:nvPr/>
        </p:nvSpPr>
        <p:spPr>
          <a:xfrm>
            <a:off x="1143000" y="6254496"/>
            <a:ext cx="6675120" cy="502920"/>
          </a:xfrm>
          <a:prstGeom prst="rect">
            <a:avLst/>
          </a:prstGeom>
          <a:noFill/>
        </p:spPr>
        <p:txBody>
          <a:bodyPr wrap="square" lIns="0" rIns="0" tIns="0" bIns="0">
            <a:spAutoFit/>
          </a:bodyPr>
          <a:lstStyle/>
          <a:p>
            <a:pPr>
              <a:lnSpc>
                <a:spcPts val="3000"/>
              </a:lnSpc>
              <a:spcBef>
                <a:spcPts val="0"/>
              </a:spcBef>
              <a:spcAft>
                <a:spcPts val="0"/>
              </a:spcAft>
              <a:defRPr sz="2500" b="0">
                <a:solidFill>
                  <a:srgbClr val="002C49"/>
                </a:solidFill>
                <a:latin typeface="Montserrat"/>
              </a:defRPr>
            </a:pPr>
            <a:r>
              <a:t>Valorisation du cross-sell</a:t>
            </a:r>
          </a:p>
        </p:txBody>
      </p:sp>
      <p:sp>
        <p:nvSpPr>
          <p:cNvPr id="22" name="Rectangle 21"/>
          <p:cNvSpPr/>
          <p:nvPr/>
        </p:nvSpPr>
        <p:spPr>
          <a:xfrm>
            <a:off x="8842248" y="6291072"/>
            <a:ext cx="1371600" cy="393192"/>
          </a:xfrm>
          <a:prstGeom prst="rect">
            <a:avLst/>
          </a:prstGeom>
          <a:solidFill>
            <a:srgbClr val="EAF0F3"/>
          </a:solidFill>
          <a:ln>
            <a:noFill/>
          </a:ln>
        </p:spPr>
        <p:txBody>
          <a:bodyPr rtlCol="0" anchor="ctr"/>
          <a:lstStyle/>
          <a:p>
            <a:pPr algn="ctr"/>
          </a:p>
        </p:txBody>
      </p:sp>
      <p:sp>
        <p:nvSpPr>
          <p:cNvPr id="23" name="TextBox 22"/>
          <p:cNvSpPr txBox="1"/>
          <p:nvPr/>
        </p:nvSpPr>
        <p:spPr>
          <a:xfrm>
            <a:off x="8961120" y="6373368"/>
            <a:ext cx="1133856" cy="237744"/>
          </a:xfrm>
          <a:prstGeom prst="rect">
            <a:avLst/>
          </a:prstGeom>
          <a:noFill/>
        </p:spPr>
        <p:txBody>
          <a:bodyPr wrap="square" lIns="0" rIns="0" tIns="0" bIns="0">
            <a:spAutoFit/>
          </a:bodyPr>
          <a:lstStyle/>
          <a:p>
            <a:pPr>
              <a:lnSpc>
                <a:spcPts val="1722"/>
              </a:lnSpc>
              <a:spcBef>
                <a:spcPts val="0"/>
              </a:spcBef>
              <a:spcAft>
                <a:spcPts val="0"/>
              </a:spcAft>
              <a:defRPr sz="1400" b="1">
                <a:solidFill>
                  <a:srgbClr val="002C49"/>
                </a:solidFill>
                <a:latin typeface="Montserrat"/>
              </a:defRPr>
            </a:pPr>
            <a:r>
              <a:t>SCALE</a:t>
            </a:r>
          </a:p>
        </p:txBody>
      </p:sp>
      <p:sp>
        <p:nvSpPr>
          <p:cNvPr id="24" name="TextBox 23"/>
          <p:cNvSpPr txBox="1"/>
          <p:nvPr/>
        </p:nvSpPr>
        <p:spPr>
          <a:xfrm>
            <a:off x="1143000" y="6729984"/>
            <a:ext cx="6675120" cy="502920"/>
          </a:xfrm>
          <a:prstGeom prst="rect">
            <a:avLst/>
          </a:prstGeom>
          <a:noFill/>
        </p:spPr>
        <p:txBody>
          <a:bodyPr wrap="square" lIns="0" rIns="0" tIns="0" bIns="0">
            <a:spAutoFit/>
          </a:bodyPr>
          <a:lstStyle/>
          <a:p>
            <a:pPr>
              <a:lnSpc>
                <a:spcPts val="3000"/>
              </a:lnSpc>
              <a:spcBef>
                <a:spcPts val="0"/>
              </a:spcBef>
              <a:spcAft>
                <a:spcPts val="0"/>
              </a:spcAft>
              <a:defRPr sz="2500" b="0">
                <a:solidFill>
                  <a:srgbClr val="002C49"/>
                </a:solidFill>
                <a:latin typeface="Montserrat"/>
              </a:defRPr>
            </a:pPr>
            <a:r>
              <a:t>Témoignages clients premium</a:t>
            </a:r>
          </a:p>
        </p:txBody>
      </p:sp>
      <p:sp>
        <p:nvSpPr>
          <p:cNvPr id="25" name="Rectangle 24"/>
          <p:cNvSpPr/>
          <p:nvPr/>
        </p:nvSpPr>
        <p:spPr>
          <a:xfrm>
            <a:off x="8842248" y="6766560"/>
            <a:ext cx="1371600" cy="393192"/>
          </a:xfrm>
          <a:prstGeom prst="rect">
            <a:avLst/>
          </a:prstGeom>
          <a:solidFill>
            <a:srgbClr val="EAF0F3"/>
          </a:solidFill>
          <a:ln>
            <a:noFill/>
          </a:ln>
        </p:spPr>
        <p:txBody>
          <a:bodyPr rtlCol="0" anchor="ctr"/>
          <a:lstStyle/>
          <a:p>
            <a:pPr algn="ctr"/>
          </a:p>
        </p:txBody>
      </p:sp>
      <p:sp>
        <p:nvSpPr>
          <p:cNvPr id="26" name="TextBox 25"/>
          <p:cNvSpPr txBox="1"/>
          <p:nvPr/>
        </p:nvSpPr>
        <p:spPr>
          <a:xfrm>
            <a:off x="8961120" y="6848856"/>
            <a:ext cx="1133856" cy="237744"/>
          </a:xfrm>
          <a:prstGeom prst="rect">
            <a:avLst/>
          </a:prstGeom>
          <a:noFill/>
        </p:spPr>
        <p:txBody>
          <a:bodyPr wrap="square" lIns="0" rIns="0" tIns="0" bIns="0">
            <a:spAutoFit/>
          </a:bodyPr>
          <a:lstStyle/>
          <a:p>
            <a:pPr>
              <a:lnSpc>
                <a:spcPts val="1722"/>
              </a:lnSpc>
              <a:spcBef>
                <a:spcPts val="0"/>
              </a:spcBef>
              <a:spcAft>
                <a:spcPts val="0"/>
              </a:spcAft>
              <a:defRPr sz="1400" b="1">
                <a:solidFill>
                  <a:srgbClr val="002C49"/>
                </a:solidFill>
                <a:latin typeface="Montserrat"/>
              </a:defRPr>
            </a:pPr>
            <a:r>
              <a:t>SCALE</a:t>
            </a:r>
          </a:p>
        </p:txBody>
      </p:sp>
      <p:sp>
        <p:nvSpPr>
          <p:cNvPr id="27" name="TextBox 26"/>
          <p:cNvSpPr txBox="1"/>
          <p:nvPr/>
        </p:nvSpPr>
        <p:spPr>
          <a:xfrm>
            <a:off x="1143000" y="7205472"/>
            <a:ext cx="6675120" cy="502920"/>
          </a:xfrm>
          <a:prstGeom prst="rect">
            <a:avLst/>
          </a:prstGeom>
          <a:noFill/>
        </p:spPr>
        <p:txBody>
          <a:bodyPr wrap="square" lIns="0" rIns="0" tIns="0" bIns="0">
            <a:spAutoFit/>
          </a:bodyPr>
          <a:lstStyle/>
          <a:p>
            <a:pPr>
              <a:lnSpc>
                <a:spcPts val="3000"/>
              </a:lnSpc>
              <a:spcBef>
                <a:spcPts val="0"/>
              </a:spcBef>
              <a:spcAft>
                <a:spcPts val="0"/>
              </a:spcAft>
              <a:defRPr sz="2500" b="0">
                <a:solidFill>
                  <a:srgbClr val="002C49"/>
                </a:solidFill>
                <a:latin typeface="Montserrat"/>
              </a:defRPr>
            </a:pPr>
            <a:r>
              <a:t>Déploiement Neoscreen agences</a:t>
            </a:r>
          </a:p>
        </p:txBody>
      </p:sp>
      <p:sp>
        <p:nvSpPr>
          <p:cNvPr id="28" name="Rectangle 27"/>
          <p:cNvSpPr/>
          <p:nvPr/>
        </p:nvSpPr>
        <p:spPr>
          <a:xfrm>
            <a:off x="8842248" y="7242048"/>
            <a:ext cx="1371600" cy="393192"/>
          </a:xfrm>
          <a:prstGeom prst="rect">
            <a:avLst/>
          </a:prstGeom>
          <a:solidFill>
            <a:srgbClr val="EAF0F3"/>
          </a:solidFill>
          <a:ln>
            <a:noFill/>
          </a:ln>
        </p:spPr>
        <p:txBody>
          <a:bodyPr rtlCol="0" anchor="ctr"/>
          <a:lstStyle/>
          <a:p>
            <a:pPr algn="ctr"/>
          </a:p>
        </p:txBody>
      </p:sp>
      <p:sp>
        <p:nvSpPr>
          <p:cNvPr id="29" name="TextBox 28"/>
          <p:cNvSpPr txBox="1"/>
          <p:nvPr/>
        </p:nvSpPr>
        <p:spPr>
          <a:xfrm>
            <a:off x="8961120" y="7324344"/>
            <a:ext cx="1133856" cy="237744"/>
          </a:xfrm>
          <a:prstGeom prst="rect">
            <a:avLst/>
          </a:prstGeom>
          <a:noFill/>
        </p:spPr>
        <p:txBody>
          <a:bodyPr wrap="square" lIns="0" rIns="0" tIns="0" bIns="0">
            <a:spAutoFit/>
          </a:bodyPr>
          <a:lstStyle/>
          <a:p>
            <a:pPr>
              <a:lnSpc>
                <a:spcPts val="1722"/>
              </a:lnSpc>
              <a:spcBef>
                <a:spcPts val="0"/>
              </a:spcBef>
              <a:spcAft>
                <a:spcPts val="0"/>
              </a:spcAft>
              <a:defRPr sz="1400" b="1">
                <a:solidFill>
                  <a:srgbClr val="002C49"/>
                </a:solidFill>
                <a:latin typeface="Montserrat"/>
              </a:defRPr>
            </a:pPr>
            <a:r>
              <a:t>BUILD</a:t>
            </a:r>
          </a:p>
        </p:txBody>
      </p:sp>
      <p:sp>
        <p:nvSpPr>
          <p:cNvPr id="30" name="TextBox 29"/>
          <p:cNvSpPr txBox="1"/>
          <p:nvPr/>
        </p:nvSpPr>
        <p:spPr>
          <a:xfrm>
            <a:off x="11201400" y="3611880"/>
            <a:ext cx="6080760" cy="594360"/>
          </a:xfrm>
          <a:prstGeom prst="rect">
            <a:avLst/>
          </a:prstGeom>
          <a:noFill/>
        </p:spPr>
        <p:txBody>
          <a:bodyPr wrap="square" lIns="0" rIns="0" tIns="0" bIns="0">
            <a:spAutoFit/>
          </a:bodyPr>
          <a:lstStyle/>
          <a:p>
            <a:pPr>
              <a:lnSpc>
                <a:spcPts val="3690"/>
              </a:lnSpc>
              <a:spcBef>
                <a:spcPts val="0"/>
              </a:spcBef>
              <a:spcAft>
                <a:spcPts val="0"/>
              </a:spcAft>
              <a:defRPr sz="3000" b="1">
                <a:solidFill>
                  <a:srgbClr val="002C49"/>
                </a:solidFill>
                <a:latin typeface="Montserrat"/>
              </a:defRPr>
            </a:pPr>
            <a:r>
              <a:t>PRÉSERVER LE SOCLE</a:t>
            </a:r>
          </a:p>
        </p:txBody>
      </p:sp>
      <p:sp>
        <p:nvSpPr>
          <p:cNvPr id="31" name="Rectangle 30"/>
          <p:cNvSpPr/>
          <p:nvPr/>
        </p:nvSpPr>
        <p:spPr>
          <a:xfrm>
            <a:off x="11201400" y="4242816"/>
            <a:ext cx="2971800" cy="393192"/>
          </a:xfrm>
          <a:prstGeom prst="rect">
            <a:avLst/>
          </a:prstGeom>
          <a:solidFill>
            <a:srgbClr val="EAF0F3"/>
          </a:solidFill>
          <a:ln>
            <a:noFill/>
          </a:ln>
        </p:spPr>
        <p:txBody>
          <a:bodyPr rtlCol="0" anchor="ctr"/>
          <a:lstStyle/>
          <a:p>
            <a:pPr algn="ctr"/>
          </a:p>
        </p:txBody>
      </p:sp>
      <p:sp>
        <p:nvSpPr>
          <p:cNvPr id="32" name="TextBox 31"/>
          <p:cNvSpPr txBox="1"/>
          <p:nvPr/>
        </p:nvSpPr>
        <p:spPr>
          <a:xfrm>
            <a:off x="11320272" y="4325112"/>
            <a:ext cx="2734056" cy="237744"/>
          </a:xfrm>
          <a:prstGeom prst="rect">
            <a:avLst/>
          </a:prstGeom>
          <a:noFill/>
        </p:spPr>
        <p:txBody>
          <a:bodyPr wrap="square" lIns="0" rIns="0" tIns="0" bIns="0">
            <a:spAutoFit/>
          </a:bodyPr>
          <a:lstStyle/>
          <a:p>
            <a:pPr>
              <a:lnSpc>
                <a:spcPts val="1722"/>
              </a:lnSpc>
              <a:spcBef>
                <a:spcPts val="0"/>
              </a:spcBef>
              <a:spcAft>
                <a:spcPts val="0"/>
              </a:spcAft>
              <a:defRPr sz="1400" b="1">
                <a:solidFill>
                  <a:srgbClr val="002C49"/>
                </a:solidFill>
                <a:latin typeface="Montserrat"/>
              </a:defRPr>
            </a:pPr>
            <a:r>
              <a:t>RUN / MAINTAIN</a:t>
            </a:r>
          </a:p>
        </p:txBody>
      </p:sp>
      <p:sp>
        <p:nvSpPr>
          <p:cNvPr id="33" name="TextBox 32"/>
          <p:cNvSpPr txBox="1"/>
          <p:nvPr/>
        </p:nvSpPr>
        <p:spPr>
          <a:xfrm>
            <a:off x="11201400" y="4818888"/>
            <a:ext cx="5989320" cy="1463040"/>
          </a:xfrm>
          <a:prstGeom prst="rect">
            <a:avLst/>
          </a:prstGeom>
          <a:noFill/>
        </p:spPr>
        <p:txBody>
          <a:bodyPr wrap="square" lIns="0" rIns="0" tIns="0" bIns="0">
            <a:spAutoFit/>
          </a:bodyPr>
          <a:lstStyle/>
          <a:p>
            <a:pPr>
              <a:lnSpc>
                <a:spcPts val="3500"/>
              </a:lnSpc>
              <a:spcBef>
                <a:spcPts val="0"/>
              </a:spcBef>
              <a:spcAft>
                <a:spcPts val="0"/>
              </a:spcAft>
              <a:defRPr sz="2700" b="0">
                <a:solidFill>
                  <a:srgbClr val="526777"/>
                </a:solidFill>
                <a:latin typeface="Montserrat"/>
              </a:defRPr>
            </a:pPr>
            <a:r>
              <a:t>Rituels, programmes récurrents</a:t>
            </a:r>
          </a:p>
          <a:p>
            <a:pPr>
              <a:lnSpc>
                <a:spcPts val="3500"/>
              </a:lnSpc>
              <a:spcBef>
                <a:spcPts val="0"/>
              </a:spcBef>
              <a:spcAft>
                <a:spcPts val="0"/>
              </a:spcAft>
              <a:defRPr sz="2700" b="0">
                <a:solidFill>
                  <a:srgbClr val="526777"/>
                </a:solidFill>
                <a:latin typeface="Montserrat"/>
              </a:defRPr>
            </a:pPr>
            <a:r>
              <a:t>et alimentation des canaux</a:t>
            </a:r>
          </a:p>
          <a:p>
            <a:pPr>
              <a:lnSpc>
                <a:spcPts val="3500"/>
              </a:lnSpc>
              <a:spcBef>
                <a:spcPts val="0"/>
              </a:spcBef>
              <a:spcAft>
                <a:spcPts val="0"/>
              </a:spcAft>
              <a:defRPr sz="2700" b="0">
                <a:solidFill>
                  <a:srgbClr val="526777"/>
                </a:solidFill>
                <a:latin typeface="Montserrat"/>
              </a:defRPr>
            </a:pPr>
            <a:r>
              <a:t>disponibles.</a:t>
            </a:r>
          </a:p>
        </p:txBody>
      </p:sp>
      <p:sp>
        <p:nvSpPr>
          <p:cNvPr id="34" name="Rectangle 33"/>
          <p:cNvSpPr/>
          <p:nvPr/>
        </p:nvSpPr>
        <p:spPr>
          <a:xfrm>
            <a:off x="11201400" y="6309360"/>
            <a:ext cx="6080760" cy="10972"/>
          </a:xfrm>
          <a:prstGeom prst="rect">
            <a:avLst/>
          </a:prstGeom>
          <a:solidFill>
            <a:srgbClr val="D9E2E7"/>
          </a:solidFill>
          <a:ln>
            <a:noFill/>
          </a:ln>
        </p:spPr>
        <p:txBody>
          <a:bodyPr rtlCol="0" anchor="ctr"/>
          <a:lstStyle/>
          <a:p>
            <a:pPr algn="ctr"/>
          </a:p>
        </p:txBody>
      </p:sp>
      <p:sp>
        <p:nvSpPr>
          <p:cNvPr id="35" name="TextBox 34"/>
          <p:cNvSpPr txBox="1"/>
          <p:nvPr/>
        </p:nvSpPr>
        <p:spPr>
          <a:xfrm>
            <a:off x="11201400" y="6583680"/>
            <a:ext cx="6080760" cy="594360"/>
          </a:xfrm>
          <a:prstGeom prst="rect">
            <a:avLst/>
          </a:prstGeom>
          <a:noFill/>
        </p:spPr>
        <p:txBody>
          <a:bodyPr wrap="square" lIns="0" rIns="0" tIns="0" bIns="0">
            <a:spAutoFit/>
          </a:bodyPr>
          <a:lstStyle/>
          <a:p>
            <a:pPr>
              <a:lnSpc>
                <a:spcPts val="3567"/>
              </a:lnSpc>
              <a:spcBef>
                <a:spcPts val="0"/>
              </a:spcBef>
              <a:spcAft>
                <a:spcPts val="0"/>
              </a:spcAft>
              <a:defRPr sz="2900" b="1">
                <a:solidFill>
                  <a:srgbClr val="FF6633"/>
                </a:solidFill>
                <a:latin typeface="Montserrat"/>
              </a:defRPr>
            </a:pPr>
            <a:r>
              <a:t>ACTIVER / CONFIRMER</a:t>
            </a:r>
          </a:p>
        </p:txBody>
      </p:sp>
      <p:sp>
        <p:nvSpPr>
          <p:cNvPr id="36" name="Rectangle 35"/>
          <p:cNvSpPr/>
          <p:nvPr/>
        </p:nvSpPr>
        <p:spPr>
          <a:xfrm>
            <a:off x="11201400" y="7260336"/>
            <a:ext cx="3566160" cy="393192"/>
          </a:xfrm>
          <a:prstGeom prst="rect">
            <a:avLst/>
          </a:prstGeom>
          <a:solidFill>
            <a:srgbClr val="EAF0F3"/>
          </a:solidFill>
          <a:ln>
            <a:noFill/>
          </a:ln>
        </p:spPr>
        <p:txBody>
          <a:bodyPr rtlCol="0" anchor="ctr"/>
          <a:lstStyle/>
          <a:p>
            <a:pPr algn="ctr"/>
          </a:p>
        </p:txBody>
      </p:sp>
      <p:sp>
        <p:nvSpPr>
          <p:cNvPr id="37" name="TextBox 36"/>
          <p:cNvSpPr txBox="1"/>
          <p:nvPr/>
        </p:nvSpPr>
        <p:spPr>
          <a:xfrm>
            <a:off x="11320272" y="7342632"/>
            <a:ext cx="3328415" cy="237744"/>
          </a:xfrm>
          <a:prstGeom prst="rect">
            <a:avLst/>
          </a:prstGeom>
          <a:noFill/>
        </p:spPr>
        <p:txBody>
          <a:bodyPr wrap="square" lIns="0" rIns="0" tIns="0" bIns="0">
            <a:spAutoFit/>
          </a:bodyPr>
          <a:lstStyle/>
          <a:p>
            <a:pPr>
              <a:lnSpc>
                <a:spcPts val="1722"/>
              </a:lnSpc>
              <a:spcBef>
                <a:spcPts val="0"/>
              </a:spcBef>
              <a:spcAft>
                <a:spcPts val="0"/>
              </a:spcAft>
              <a:defRPr sz="1400" b="1">
                <a:solidFill>
                  <a:srgbClr val="002C49"/>
                </a:solidFill>
                <a:latin typeface="Montserrat"/>
              </a:defRPr>
            </a:pPr>
            <a:r>
              <a:t>CONDITIONAL / TBD</a:t>
            </a:r>
          </a:p>
        </p:txBody>
      </p:sp>
      <p:sp>
        <p:nvSpPr>
          <p:cNvPr id="38" name="TextBox 37"/>
          <p:cNvSpPr txBox="1"/>
          <p:nvPr/>
        </p:nvSpPr>
        <p:spPr>
          <a:xfrm>
            <a:off x="11201400" y="7781544"/>
            <a:ext cx="6035040" cy="896112"/>
          </a:xfrm>
          <a:prstGeom prst="rect">
            <a:avLst/>
          </a:prstGeom>
          <a:noFill/>
        </p:spPr>
        <p:txBody>
          <a:bodyPr wrap="square" lIns="0" rIns="0" tIns="0" bIns="0">
            <a:spAutoFit/>
          </a:bodyPr>
          <a:lstStyle/>
          <a:p>
            <a:pPr>
              <a:lnSpc>
                <a:spcPts val="3100"/>
              </a:lnSpc>
              <a:spcBef>
                <a:spcPts val="0"/>
              </a:spcBef>
              <a:spcAft>
                <a:spcPts val="0"/>
              </a:spcAft>
              <a:defRPr sz="2500" b="0">
                <a:solidFill>
                  <a:srgbClr val="526777"/>
                </a:solidFill>
                <a:latin typeface="Montserrat"/>
              </a:defRPr>
            </a:pPr>
            <a:r>
              <a:t>Lancements et opportunités ;</a:t>
            </a:r>
          </a:p>
          <a:p>
            <a:pPr>
              <a:lnSpc>
                <a:spcPts val="3100"/>
              </a:lnSpc>
              <a:spcBef>
                <a:spcPts val="0"/>
              </a:spcBef>
              <a:spcAft>
                <a:spcPts val="0"/>
              </a:spcAft>
              <a:defRPr sz="2500" b="0">
                <a:solidFill>
                  <a:srgbClr val="526777"/>
                </a:solidFill>
                <a:latin typeface="Montserrat"/>
              </a:defRPr>
            </a:pPr>
            <a:r>
              <a:t>cadrage Workelo ; plannings TBD.</a:t>
            </a:r>
          </a:p>
        </p:txBody>
      </p:sp>
      <p:sp>
        <p:nvSpPr>
          <p:cNvPr id="39" name="TextBox 38"/>
          <p:cNvSpPr txBox="1"/>
          <p:nvPr/>
        </p:nvSpPr>
        <p:spPr>
          <a:xfrm>
            <a:off x="868680" y="8759952"/>
            <a:ext cx="16550640" cy="832104"/>
          </a:xfrm>
          <a:prstGeom prst="rect">
            <a:avLst/>
          </a:prstGeom>
          <a:noFill/>
        </p:spPr>
        <p:txBody>
          <a:bodyPr wrap="square" lIns="0" rIns="0" tIns="0" bIns="0">
            <a:spAutoFit/>
          </a:bodyPr>
          <a:lstStyle/>
          <a:p>
            <a:pPr>
              <a:lnSpc>
                <a:spcPts val="2800"/>
              </a:lnSpc>
              <a:spcBef>
                <a:spcPts val="0"/>
              </a:spcBef>
              <a:spcAft>
                <a:spcPts val="0"/>
              </a:spcAft>
              <a:defRPr sz="2400" b="1">
                <a:solidFill>
                  <a:srgbClr val="002C49"/>
                </a:solidFill>
                <a:latin typeface="Montserrat"/>
              </a:defRPr>
            </a:pPr>
            <a:r>
              <a:t>Grands programmes / campagnes • Projets de transformation • Rituels • Canaux / run</a:t>
            </a:r>
          </a:p>
          <a:p>
            <a:pPr>
              <a:lnSpc>
                <a:spcPts val="2800"/>
              </a:lnSpc>
              <a:spcBef>
                <a:spcPts val="0"/>
              </a:spcBef>
              <a:spcAft>
                <a:spcPts val="0"/>
              </a:spcAft>
              <a:defRPr sz="2400" b="1">
                <a:solidFill>
                  <a:srgbClr val="002C49"/>
                </a:solidFill>
                <a:latin typeface="Montserrat"/>
              </a:defRPr>
            </a:pPr>
            <a:r>
              <a:t>Distinguer la nature du dispositif, sa priorité et son calendrier.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3.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04 / CHANGE</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Adoption de l’IA</a:t>
            </a:r>
          </a:p>
        </p:txBody>
      </p:sp>
      <p:sp>
        <p:nvSpPr>
          <p:cNvPr id="5" name="TextBox 4"/>
          <p:cNvSpPr txBox="1"/>
          <p:nvPr/>
        </p:nvSpPr>
        <p:spPr>
          <a:xfrm>
            <a:off x="868680" y="2742285"/>
            <a:ext cx="16504920" cy="54864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Un parcours collaborateur complet ; Zoom IA est un temps fort, pas le dispositif entier.</a:t>
            </a:r>
          </a:p>
        </p:txBody>
      </p:sp>
      <p:sp>
        <p:nvSpPr>
          <p:cNvPr id="6" name="Rectangle 5"/>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7" name="TextBox 6"/>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8" name="TextBox 7"/>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06</a:t>
            </a:r>
          </a:p>
        </p:txBody>
      </p:sp>
      <p:sp>
        <p:nvSpPr>
          <p:cNvPr id="9" name="TextBox 8"/>
          <p:cNvSpPr txBox="1"/>
          <p:nvPr/>
        </p:nvSpPr>
        <p:spPr>
          <a:xfrm>
            <a:off x="868680" y="3657600"/>
            <a:ext cx="3063240" cy="667512"/>
          </a:xfrm>
          <a:prstGeom prst="rect">
            <a:avLst/>
          </a:prstGeom>
          <a:noFill/>
        </p:spPr>
        <p:txBody>
          <a:bodyPr wrap="square" lIns="0" rIns="0" tIns="0" bIns="0">
            <a:spAutoFit/>
          </a:bodyPr>
          <a:lstStyle/>
          <a:p>
            <a:pPr>
              <a:lnSpc>
                <a:spcPts val="5412"/>
              </a:lnSpc>
              <a:spcBef>
                <a:spcPts val="0"/>
              </a:spcBef>
              <a:spcAft>
                <a:spcPts val="0"/>
              </a:spcAft>
              <a:defRPr sz="4400" b="1">
                <a:solidFill>
                  <a:srgbClr val="FF6633"/>
                </a:solidFill>
                <a:latin typeface="Nohemi"/>
              </a:defRPr>
            </a:pPr>
            <a:r>
              <a:t>01</a:t>
            </a:r>
          </a:p>
        </p:txBody>
      </p:sp>
      <p:cxnSp>
        <p:nvCxnSpPr>
          <p:cNvPr id="10" name="Connector 9"/>
          <p:cNvCxnSpPr/>
          <p:nvPr/>
        </p:nvCxnSpPr>
        <p:spPr>
          <a:xfrm>
            <a:off x="1600200" y="4023360"/>
            <a:ext cx="2322576" cy="0"/>
          </a:xfrm>
          <a:prstGeom prst="line">
            <a:avLst/>
          </a:prstGeom>
          <a:ln w="25400">
            <a:solidFill>
              <a:srgbClr val="D9E2E7"/>
            </a:solidFill>
          </a:ln>
        </p:spPr>
      </p:cxnSp>
      <p:sp>
        <p:nvSpPr>
          <p:cNvPr id="11" name="TextBox 10"/>
          <p:cNvSpPr txBox="1"/>
          <p:nvPr/>
        </p:nvSpPr>
        <p:spPr>
          <a:xfrm>
            <a:off x="868680" y="4718304"/>
            <a:ext cx="3054096" cy="886968"/>
          </a:xfrm>
          <a:prstGeom prst="rect">
            <a:avLst/>
          </a:prstGeom>
          <a:noFill/>
        </p:spPr>
        <p:txBody>
          <a:bodyPr wrap="square" lIns="0" rIns="0" tIns="0" bIns="0">
            <a:spAutoFit/>
          </a:bodyPr>
          <a:lstStyle/>
          <a:p>
            <a:pPr>
              <a:lnSpc>
                <a:spcPts val="3000"/>
              </a:lnSpc>
              <a:spcBef>
                <a:spcPts val="0"/>
              </a:spcBef>
              <a:spcAft>
                <a:spcPts val="0"/>
              </a:spcAft>
              <a:defRPr sz="2500" b="1">
                <a:solidFill>
                  <a:srgbClr val="002C49"/>
                </a:solidFill>
                <a:latin typeface="Montserrat"/>
              </a:defRPr>
            </a:pPr>
            <a:r>
              <a:t>COMPRENDRE</a:t>
            </a:r>
          </a:p>
        </p:txBody>
      </p:sp>
      <p:sp>
        <p:nvSpPr>
          <p:cNvPr id="12" name="TextBox 11"/>
          <p:cNvSpPr txBox="1"/>
          <p:nvPr/>
        </p:nvSpPr>
        <p:spPr>
          <a:xfrm>
            <a:off x="868680" y="5943600"/>
            <a:ext cx="3054096" cy="960120"/>
          </a:xfrm>
          <a:prstGeom prst="rect">
            <a:avLst/>
          </a:prstGeom>
          <a:noFill/>
        </p:spPr>
        <p:txBody>
          <a:bodyPr wrap="square" lIns="0" rIns="0" tIns="0" bIns="0">
            <a:spAutoFit/>
          </a:bodyPr>
          <a:lstStyle/>
          <a:p>
            <a:pPr>
              <a:lnSpc>
                <a:spcPts val="3400"/>
              </a:lnSpc>
              <a:spcBef>
                <a:spcPts val="0"/>
              </a:spcBef>
              <a:spcAft>
                <a:spcPts val="0"/>
              </a:spcAft>
              <a:defRPr sz="2800" b="0">
                <a:solidFill>
                  <a:srgbClr val="002C49"/>
                </a:solidFill>
                <a:latin typeface="Montserrat"/>
              </a:defRPr>
            </a:pPr>
            <a:r>
              <a:t>Pourquoi</a:t>
            </a:r>
          </a:p>
          <a:p>
            <a:pPr>
              <a:lnSpc>
                <a:spcPts val="3400"/>
              </a:lnSpc>
              <a:spcBef>
                <a:spcPts val="0"/>
              </a:spcBef>
              <a:spcAft>
                <a:spcPts val="0"/>
              </a:spcAft>
              <a:defRPr sz="2800" b="0">
                <a:solidFill>
                  <a:srgbClr val="002C49"/>
                </a:solidFill>
                <a:latin typeface="Montserrat"/>
              </a:defRPr>
            </a:pPr>
            <a:r>
              <a:t>maintenant ?</a:t>
            </a:r>
          </a:p>
        </p:txBody>
      </p:sp>
      <p:sp>
        <p:nvSpPr>
          <p:cNvPr id="13" name="TextBox 12"/>
          <p:cNvSpPr txBox="1"/>
          <p:nvPr/>
        </p:nvSpPr>
        <p:spPr>
          <a:xfrm>
            <a:off x="868680" y="7315200"/>
            <a:ext cx="3054096" cy="91440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Message directeur</a:t>
            </a:r>
          </a:p>
          <a:p>
            <a:pPr>
              <a:lnSpc>
                <a:spcPts val="2900"/>
              </a:lnSpc>
              <a:spcBef>
                <a:spcPts val="0"/>
              </a:spcBef>
              <a:spcAft>
                <a:spcPts val="0"/>
              </a:spcAft>
              <a:defRPr sz="2400" b="0">
                <a:solidFill>
                  <a:srgbClr val="526777"/>
                </a:solidFill>
                <a:latin typeface="Montserrat"/>
              </a:defRPr>
            </a:pPr>
            <a:r>
              <a:t>Zoom IA</a:t>
            </a:r>
          </a:p>
        </p:txBody>
      </p:sp>
      <p:sp>
        <p:nvSpPr>
          <p:cNvPr id="14" name="TextBox 13"/>
          <p:cNvSpPr txBox="1"/>
          <p:nvPr/>
        </p:nvSpPr>
        <p:spPr>
          <a:xfrm>
            <a:off x="4224528" y="3657600"/>
            <a:ext cx="3063240" cy="667512"/>
          </a:xfrm>
          <a:prstGeom prst="rect">
            <a:avLst/>
          </a:prstGeom>
          <a:noFill/>
        </p:spPr>
        <p:txBody>
          <a:bodyPr wrap="square" lIns="0" rIns="0" tIns="0" bIns="0">
            <a:spAutoFit/>
          </a:bodyPr>
          <a:lstStyle/>
          <a:p>
            <a:pPr>
              <a:lnSpc>
                <a:spcPts val="5412"/>
              </a:lnSpc>
              <a:spcBef>
                <a:spcPts val="0"/>
              </a:spcBef>
              <a:spcAft>
                <a:spcPts val="0"/>
              </a:spcAft>
              <a:defRPr sz="4400" b="1">
                <a:solidFill>
                  <a:srgbClr val="FF6633"/>
                </a:solidFill>
                <a:latin typeface="Nohemi"/>
              </a:defRPr>
            </a:pPr>
            <a:r>
              <a:t>02</a:t>
            </a:r>
          </a:p>
        </p:txBody>
      </p:sp>
      <p:cxnSp>
        <p:nvCxnSpPr>
          <p:cNvPr id="15" name="Connector 14"/>
          <p:cNvCxnSpPr/>
          <p:nvPr/>
        </p:nvCxnSpPr>
        <p:spPr>
          <a:xfrm>
            <a:off x="4956048" y="4023360"/>
            <a:ext cx="2322576" cy="0"/>
          </a:xfrm>
          <a:prstGeom prst="line">
            <a:avLst/>
          </a:prstGeom>
          <a:ln w="25400">
            <a:solidFill>
              <a:srgbClr val="D9E2E7"/>
            </a:solidFill>
          </a:ln>
        </p:spPr>
      </p:cxnSp>
      <p:sp>
        <p:nvSpPr>
          <p:cNvPr id="16" name="TextBox 15"/>
          <p:cNvSpPr txBox="1"/>
          <p:nvPr/>
        </p:nvSpPr>
        <p:spPr>
          <a:xfrm>
            <a:off x="4224528" y="4718304"/>
            <a:ext cx="3054096" cy="886968"/>
          </a:xfrm>
          <a:prstGeom prst="rect">
            <a:avLst/>
          </a:prstGeom>
          <a:noFill/>
        </p:spPr>
        <p:txBody>
          <a:bodyPr wrap="square" lIns="0" rIns="0" tIns="0" bIns="0">
            <a:spAutoFit/>
          </a:bodyPr>
          <a:lstStyle/>
          <a:p>
            <a:pPr>
              <a:lnSpc>
                <a:spcPts val="3000"/>
              </a:lnSpc>
              <a:spcBef>
                <a:spcPts val="0"/>
              </a:spcBef>
              <a:spcAft>
                <a:spcPts val="0"/>
              </a:spcAft>
              <a:defRPr sz="2500" b="1">
                <a:solidFill>
                  <a:srgbClr val="002C49"/>
                </a:solidFill>
                <a:latin typeface="Montserrat"/>
              </a:defRPr>
            </a:pPr>
            <a:r>
              <a:t>RASSURER</a:t>
            </a:r>
          </a:p>
          <a:p>
            <a:pPr>
              <a:lnSpc>
                <a:spcPts val="3000"/>
              </a:lnSpc>
              <a:spcBef>
                <a:spcPts val="0"/>
              </a:spcBef>
              <a:spcAft>
                <a:spcPts val="0"/>
              </a:spcAft>
              <a:defRPr sz="2500" b="1">
                <a:solidFill>
                  <a:srgbClr val="002C49"/>
                </a:solidFill>
                <a:latin typeface="Montserrat"/>
              </a:defRPr>
            </a:pPr>
            <a:r>
              <a:t>&amp; IMPLIQUER</a:t>
            </a:r>
          </a:p>
        </p:txBody>
      </p:sp>
      <p:sp>
        <p:nvSpPr>
          <p:cNvPr id="17" name="TextBox 16"/>
          <p:cNvSpPr txBox="1"/>
          <p:nvPr/>
        </p:nvSpPr>
        <p:spPr>
          <a:xfrm>
            <a:off x="4224528" y="5943600"/>
            <a:ext cx="3054096" cy="960120"/>
          </a:xfrm>
          <a:prstGeom prst="rect">
            <a:avLst/>
          </a:prstGeom>
          <a:noFill/>
        </p:spPr>
        <p:txBody>
          <a:bodyPr wrap="square" lIns="0" rIns="0" tIns="0" bIns="0">
            <a:spAutoFit/>
          </a:bodyPr>
          <a:lstStyle/>
          <a:p>
            <a:pPr>
              <a:lnSpc>
                <a:spcPts val="3400"/>
              </a:lnSpc>
              <a:spcBef>
                <a:spcPts val="0"/>
              </a:spcBef>
              <a:spcAft>
                <a:spcPts val="0"/>
              </a:spcAft>
              <a:defRPr sz="2800" b="0">
                <a:solidFill>
                  <a:srgbClr val="002C49"/>
                </a:solidFill>
                <a:latin typeface="Montserrat"/>
              </a:defRPr>
            </a:pPr>
            <a:r>
              <a:t>Quelle place</a:t>
            </a:r>
          </a:p>
          <a:p>
            <a:pPr>
              <a:lnSpc>
                <a:spcPts val="3400"/>
              </a:lnSpc>
              <a:spcBef>
                <a:spcPts val="0"/>
              </a:spcBef>
              <a:spcAft>
                <a:spcPts val="0"/>
              </a:spcAft>
              <a:defRPr sz="2800" b="0">
                <a:solidFill>
                  <a:srgbClr val="002C49"/>
                </a:solidFill>
                <a:latin typeface="Montserrat"/>
              </a:defRPr>
            </a:pPr>
            <a:r>
              <a:t>pour moi ?</a:t>
            </a:r>
          </a:p>
        </p:txBody>
      </p:sp>
      <p:sp>
        <p:nvSpPr>
          <p:cNvPr id="18" name="TextBox 17"/>
          <p:cNvSpPr txBox="1"/>
          <p:nvPr/>
        </p:nvSpPr>
        <p:spPr>
          <a:xfrm>
            <a:off x="4224528" y="7315200"/>
            <a:ext cx="3054096" cy="91440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Dialogue</a:t>
            </a:r>
          </a:p>
          <a:p>
            <a:pPr>
              <a:lnSpc>
                <a:spcPts val="2900"/>
              </a:lnSpc>
              <a:spcBef>
                <a:spcPts val="0"/>
              </a:spcBef>
              <a:spcAft>
                <a:spcPts val="0"/>
              </a:spcAft>
              <a:defRPr sz="2400" b="0">
                <a:solidFill>
                  <a:srgbClr val="526777"/>
                </a:solidFill>
                <a:latin typeface="Montserrat"/>
              </a:defRPr>
            </a:pPr>
            <a:r>
              <a:t>Cas métiers</a:t>
            </a:r>
          </a:p>
        </p:txBody>
      </p:sp>
      <p:sp>
        <p:nvSpPr>
          <p:cNvPr id="19" name="TextBox 18"/>
          <p:cNvSpPr txBox="1"/>
          <p:nvPr/>
        </p:nvSpPr>
        <p:spPr>
          <a:xfrm>
            <a:off x="7580375" y="3657600"/>
            <a:ext cx="3063240" cy="667512"/>
          </a:xfrm>
          <a:prstGeom prst="rect">
            <a:avLst/>
          </a:prstGeom>
          <a:noFill/>
        </p:spPr>
        <p:txBody>
          <a:bodyPr wrap="square" lIns="0" rIns="0" tIns="0" bIns="0">
            <a:spAutoFit/>
          </a:bodyPr>
          <a:lstStyle/>
          <a:p>
            <a:pPr>
              <a:lnSpc>
                <a:spcPts val="5412"/>
              </a:lnSpc>
              <a:spcBef>
                <a:spcPts val="0"/>
              </a:spcBef>
              <a:spcAft>
                <a:spcPts val="0"/>
              </a:spcAft>
              <a:defRPr sz="4400" b="1">
                <a:solidFill>
                  <a:srgbClr val="FF6633"/>
                </a:solidFill>
                <a:latin typeface="Nohemi"/>
              </a:defRPr>
            </a:pPr>
            <a:r>
              <a:t>03</a:t>
            </a:r>
          </a:p>
        </p:txBody>
      </p:sp>
      <p:cxnSp>
        <p:nvCxnSpPr>
          <p:cNvPr id="20" name="Connector 19"/>
          <p:cNvCxnSpPr/>
          <p:nvPr/>
        </p:nvCxnSpPr>
        <p:spPr>
          <a:xfrm>
            <a:off x="8311896" y="4023360"/>
            <a:ext cx="2322576" cy="0"/>
          </a:xfrm>
          <a:prstGeom prst="line">
            <a:avLst/>
          </a:prstGeom>
          <a:ln w="25400">
            <a:solidFill>
              <a:srgbClr val="D9E2E7"/>
            </a:solidFill>
          </a:ln>
        </p:spPr>
      </p:cxnSp>
      <p:sp>
        <p:nvSpPr>
          <p:cNvPr id="21" name="TextBox 20"/>
          <p:cNvSpPr txBox="1"/>
          <p:nvPr/>
        </p:nvSpPr>
        <p:spPr>
          <a:xfrm>
            <a:off x="7580375" y="4718304"/>
            <a:ext cx="3054096" cy="886968"/>
          </a:xfrm>
          <a:prstGeom prst="rect">
            <a:avLst/>
          </a:prstGeom>
          <a:noFill/>
        </p:spPr>
        <p:txBody>
          <a:bodyPr wrap="square" lIns="0" rIns="0" tIns="0" bIns="0">
            <a:spAutoFit/>
          </a:bodyPr>
          <a:lstStyle/>
          <a:p>
            <a:pPr>
              <a:lnSpc>
                <a:spcPts val="3000"/>
              </a:lnSpc>
              <a:spcBef>
                <a:spcPts val="0"/>
              </a:spcBef>
              <a:spcAft>
                <a:spcPts val="0"/>
              </a:spcAft>
              <a:defRPr sz="2500" b="1">
                <a:solidFill>
                  <a:srgbClr val="002C49"/>
                </a:solidFill>
                <a:latin typeface="Montserrat"/>
              </a:defRPr>
            </a:pPr>
            <a:r>
              <a:t>PROTÉGER</a:t>
            </a:r>
          </a:p>
        </p:txBody>
      </p:sp>
      <p:sp>
        <p:nvSpPr>
          <p:cNvPr id="22" name="TextBox 21"/>
          <p:cNvSpPr txBox="1"/>
          <p:nvPr/>
        </p:nvSpPr>
        <p:spPr>
          <a:xfrm>
            <a:off x="7580375" y="5943600"/>
            <a:ext cx="3054096" cy="960120"/>
          </a:xfrm>
          <a:prstGeom prst="rect">
            <a:avLst/>
          </a:prstGeom>
          <a:noFill/>
        </p:spPr>
        <p:txBody>
          <a:bodyPr wrap="square" lIns="0" rIns="0" tIns="0" bIns="0">
            <a:spAutoFit/>
          </a:bodyPr>
          <a:lstStyle/>
          <a:p>
            <a:pPr>
              <a:lnSpc>
                <a:spcPts val="3400"/>
              </a:lnSpc>
              <a:spcBef>
                <a:spcPts val="0"/>
              </a:spcBef>
              <a:spcAft>
                <a:spcPts val="0"/>
              </a:spcAft>
              <a:defRPr sz="2800" b="0">
                <a:solidFill>
                  <a:srgbClr val="002C49"/>
                </a:solidFill>
                <a:latin typeface="Montserrat"/>
              </a:defRPr>
            </a:pPr>
            <a:r>
              <a:t>Quelles règles</a:t>
            </a:r>
          </a:p>
          <a:p>
            <a:pPr>
              <a:lnSpc>
                <a:spcPts val="3400"/>
              </a:lnSpc>
              <a:spcBef>
                <a:spcPts val="0"/>
              </a:spcBef>
              <a:spcAft>
                <a:spcPts val="0"/>
              </a:spcAft>
              <a:defRPr sz="2800" b="0">
                <a:solidFill>
                  <a:srgbClr val="002C49"/>
                </a:solidFill>
                <a:latin typeface="Montserrat"/>
              </a:defRPr>
            </a:pPr>
            <a:r>
              <a:t>pour agir ?</a:t>
            </a:r>
          </a:p>
        </p:txBody>
      </p:sp>
      <p:sp>
        <p:nvSpPr>
          <p:cNvPr id="23" name="TextBox 22"/>
          <p:cNvSpPr txBox="1"/>
          <p:nvPr/>
        </p:nvSpPr>
        <p:spPr>
          <a:xfrm>
            <a:off x="7580375" y="7315200"/>
            <a:ext cx="3054096" cy="91440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Guide responsable</a:t>
            </a:r>
          </a:p>
          <a:p>
            <a:pPr>
              <a:lnSpc>
                <a:spcPts val="2900"/>
              </a:lnSpc>
              <a:spcBef>
                <a:spcPts val="0"/>
              </a:spcBef>
              <a:spcAft>
                <a:spcPts val="0"/>
              </a:spcAft>
              <a:defRPr sz="2400" b="0">
                <a:solidFill>
                  <a:srgbClr val="526777"/>
                </a:solidFill>
                <a:latin typeface="Montserrat"/>
              </a:defRPr>
            </a:pPr>
            <a:r>
              <a:t>Données clients</a:t>
            </a:r>
          </a:p>
        </p:txBody>
      </p:sp>
      <p:sp>
        <p:nvSpPr>
          <p:cNvPr id="24" name="TextBox 23"/>
          <p:cNvSpPr txBox="1"/>
          <p:nvPr/>
        </p:nvSpPr>
        <p:spPr>
          <a:xfrm>
            <a:off x="10936224" y="3657600"/>
            <a:ext cx="3063240" cy="667512"/>
          </a:xfrm>
          <a:prstGeom prst="rect">
            <a:avLst/>
          </a:prstGeom>
          <a:noFill/>
        </p:spPr>
        <p:txBody>
          <a:bodyPr wrap="square" lIns="0" rIns="0" tIns="0" bIns="0">
            <a:spAutoFit/>
          </a:bodyPr>
          <a:lstStyle/>
          <a:p>
            <a:pPr>
              <a:lnSpc>
                <a:spcPts val="5412"/>
              </a:lnSpc>
              <a:spcBef>
                <a:spcPts val="0"/>
              </a:spcBef>
              <a:spcAft>
                <a:spcPts val="0"/>
              </a:spcAft>
              <a:defRPr sz="4400" b="1">
                <a:solidFill>
                  <a:srgbClr val="FF6633"/>
                </a:solidFill>
                <a:latin typeface="Nohemi"/>
              </a:defRPr>
            </a:pPr>
            <a:r>
              <a:t>04</a:t>
            </a:r>
          </a:p>
        </p:txBody>
      </p:sp>
      <p:cxnSp>
        <p:nvCxnSpPr>
          <p:cNvPr id="25" name="Connector 24"/>
          <p:cNvCxnSpPr/>
          <p:nvPr/>
        </p:nvCxnSpPr>
        <p:spPr>
          <a:xfrm>
            <a:off x="11667744" y="4023360"/>
            <a:ext cx="2322575" cy="0"/>
          </a:xfrm>
          <a:prstGeom prst="line">
            <a:avLst/>
          </a:prstGeom>
          <a:ln w="25400">
            <a:solidFill>
              <a:srgbClr val="D9E2E7"/>
            </a:solidFill>
          </a:ln>
        </p:spPr>
      </p:cxnSp>
      <p:sp>
        <p:nvSpPr>
          <p:cNvPr id="26" name="TextBox 25"/>
          <p:cNvSpPr txBox="1"/>
          <p:nvPr/>
        </p:nvSpPr>
        <p:spPr>
          <a:xfrm>
            <a:off x="10936224" y="4718304"/>
            <a:ext cx="3054096" cy="886968"/>
          </a:xfrm>
          <a:prstGeom prst="rect">
            <a:avLst/>
          </a:prstGeom>
          <a:noFill/>
        </p:spPr>
        <p:txBody>
          <a:bodyPr wrap="square" lIns="0" rIns="0" tIns="0" bIns="0">
            <a:spAutoFit/>
          </a:bodyPr>
          <a:lstStyle/>
          <a:p>
            <a:pPr>
              <a:lnSpc>
                <a:spcPts val="3000"/>
              </a:lnSpc>
              <a:spcBef>
                <a:spcPts val="0"/>
              </a:spcBef>
              <a:spcAft>
                <a:spcPts val="0"/>
              </a:spcAft>
              <a:defRPr sz="2500" b="1">
                <a:solidFill>
                  <a:srgbClr val="002C49"/>
                </a:solidFill>
                <a:latin typeface="Montserrat"/>
              </a:defRPr>
            </a:pPr>
            <a:r>
              <a:t>MONTRER</a:t>
            </a:r>
          </a:p>
        </p:txBody>
      </p:sp>
      <p:sp>
        <p:nvSpPr>
          <p:cNvPr id="27" name="TextBox 26"/>
          <p:cNvSpPr txBox="1"/>
          <p:nvPr/>
        </p:nvSpPr>
        <p:spPr>
          <a:xfrm>
            <a:off x="10936224" y="5943600"/>
            <a:ext cx="3054096" cy="960120"/>
          </a:xfrm>
          <a:prstGeom prst="rect">
            <a:avLst/>
          </a:prstGeom>
          <a:noFill/>
        </p:spPr>
        <p:txBody>
          <a:bodyPr wrap="square" lIns="0" rIns="0" tIns="0" bIns="0">
            <a:spAutoFit/>
          </a:bodyPr>
          <a:lstStyle/>
          <a:p>
            <a:pPr>
              <a:lnSpc>
                <a:spcPts val="3400"/>
              </a:lnSpc>
              <a:spcBef>
                <a:spcPts val="0"/>
              </a:spcBef>
              <a:spcAft>
                <a:spcPts val="0"/>
              </a:spcAft>
              <a:defRPr sz="2800" b="0">
                <a:solidFill>
                  <a:srgbClr val="002C49"/>
                </a:solidFill>
                <a:latin typeface="Montserrat"/>
              </a:defRPr>
            </a:pPr>
            <a:r>
              <a:t>Quels usages</a:t>
            </a:r>
          </a:p>
          <a:p>
            <a:pPr>
              <a:lnSpc>
                <a:spcPts val="3400"/>
              </a:lnSpc>
              <a:spcBef>
                <a:spcPts val="0"/>
              </a:spcBef>
              <a:spcAft>
                <a:spcPts val="0"/>
              </a:spcAft>
              <a:defRPr sz="2800" b="0">
                <a:solidFill>
                  <a:srgbClr val="002C49"/>
                </a:solidFill>
                <a:latin typeface="Montserrat"/>
              </a:defRPr>
            </a:pPr>
            <a:r>
              <a:t>concrets ?</a:t>
            </a:r>
          </a:p>
        </p:txBody>
      </p:sp>
      <p:sp>
        <p:nvSpPr>
          <p:cNvPr id="28" name="TextBox 27"/>
          <p:cNvSpPr txBox="1"/>
          <p:nvPr/>
        </p:nvSpPr>
        <p:spPr>
          <a:xfrm>
            <a:off x="10936224" y="7315200"/>
            <a:ext cx="3054096" cy="91440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 1 problème →</a:t>
            </a:r>
          </a:p>
          <a:p>
            <a:pPr>
              <a:lnSpc>
                <a:spcPts val="2900"/>
              </a:lnSpc>
              <a:spcBef>
                <a:spcPts val="0"/>
              </a:spcBef>
              <a:spcAft>
                <a:spcPts val="0"/>
              </a:spcAft>
              <a:defRPr sz="2400" b="0">
                <a:solidFill>
                  <a:srgbClr val="526777"/>
                </a:solidFill>
                <a:latin typeface="Montserrat"/>
              </a:defRPr>
            </a:pPr>
            <a:r>
              <a:t>1 usage IA »</a:t>
            </a:r>
          </a:p>
        </p:txBody>
      </p:sp>
      <p:sp>
        <p:nvSpPr>
          <p:cNvPr id="29" name="TextBox 28"/>
          <p:cNvSpPr txBox="1"/>
          <p:nvPr/>
        </p:nvSpPr>
        <p:spPr>
          <a:xfrm>
            <a:off x="14292072" y="3657600"/>
            <a:ext cx="3063240" cy="667512"/>
          </a:xfrm>
          <a:prstGeom prst="rect">
            <a:avLst/>
          </a:prstGeom>
          <a:noFill/>
        </p:spPr>
        <p:txBody>
          <a:bodyPr wrap="square" lIns="0" rIns="0" tIns="0" bIns="0">
            <a:spAutoFit/>
          </a:bodyPr>
          <a:lstStyle/>
          <a:p>
            <a:pPr>
              <a:lnSpc>
                <a:spcPts val="5412"/>
              </a:lnSpc>
              <a:spcBef>
                <a:spcPts val="0"/>
              </a:spcBef>
              <a:spcAft>
                <a:spcPts val="0"/>
              </a:spcAft>
              <a:defRPr sz="4400" b="1">
                <a:solidFill>
                  <a:srgbClr val="FF6633"/>
                </a:solidFill>
                <a:latin typeface="Nohemi"/>
              </a:defRPr>
            </a:pPr>
            <a:r>
              <a:t>05</a:t>
            </a:r>
          </a:p>
        </p:txBody>
      </p:sp>
      <p:sp>
        <p:nvSpPr>
          <p:cNvPr id="30" name="TextBox 29"/>
          <p:cNvSpPr txBox="1"/>
          <p:nvPr/>
        </p:nvSpPr>
        <p:spPr>
          <a:xfrm>
            <a:off x="14292072" y="4718304"/>
            <a:ext cx="3054096" cy="886968"/>
          </a:xfrm>
          <a:prstGeom prst="rect">
            <a:avLst/>
          </a:prstGeom>
          <a:noFill/>
        </p:spPr>
        <p:txBody>
          <a:bodyPr wrap="square" lIns="0" rIns="0" tIns="0" bIns="0">
            <a:spAutoFit/>
          </a:bodyPr>
          <a:lstStyle/>
          <a:p>
            <a:pPr>
              <a:lnSpc>
                <a:spcPts val="3000"/>
              </a:lnSpc>
              <a:spcBef>
                <a:spcPts val="0"/>
              </a:spcBef>
              <a:spcAft>
                <a:spcPts val="0"/>
              </a:spcAft>
              <a:defRPr sz="2500" b="1">
                <a:solidFill>
                  <a:srgbClr val="002C49"/>
                </a:solidFill>
                <a:latin typeface="Montserrat"/>
              </a:defRPr>
            </a:pPr>
            <a:r>
              <a:t>AGIR</a:t>
            </a:r>
          </a:p>
        </p:txBody>
      </p:sp>
      <p:sp>
        <p:nvSpPr>
          <p:cNvPr id="31" name="TextBox 30"/>
          <p:cNvSpPr txBox="1"/>
          <p:nvPr/>
        </p:nvSpPr>
        <p:spPr>
          <a:xfrm>
            <a:off x="14292072" y="5943600"/>
            <a:ext cx="3054096" cy="960120"/>
          </a:xfrm>
          <a:prstGeom prst="rect">
            <a:avLst/>
          </a:prstGeom>
          <a:noFill/>
        </p:spPr>
        <p:txBody>
          <a:bodyPr wrap="square" lIns="0" rIns="0" tIns="0" bIns="0">
            <a:spAutoFit/>
          </a:bodyPr>
          <a:lstStyle/>
          <a:p>
            <a:pPr>
              <a:lnSpc>
                <a:spcPts val="3400"/>
              </a:lnSpc>
              <a:spcBef>
                <a:spcPts val="0"/>
              </a:spcBef>
              <a:spcAft>
                <a:spcPts val="0"/>
              </a:spcAft>
              <a:defRPr sz="2800" b="0">
                <a:solidFill>
                  <a:srgbClr val="002C49"/>
                </a:solidFill>
                <a:latin typeface="Montserrat"/>
              </a:defRPr>
            </a:pPr>
            <a:r>
              <a:t>Comment passer</a:t>
            </a:r>
          </a:p>
          <a:p>
            <a:pPr>
              <a:lnSpc>
                <a:spcPts val="3400"/>
              </a:lnSpc>
              <a:spcBef>
                <a:spcPts val="0"/>
              </a:spcBef>
              <a:spcAft>
                <a:spcPts val="0"/>
              </a:spcAft>
              <a:defRPr sz="2800" b="0">
                <a:solidFill>
                  <a:srgbClr val="002C49"/>
                </a:solidFill>
                <a:latin typeface="Montserrat"/>
              </a:defRPr>
            </a:pPr>
            <a:r>
              <a:t>à l’action ?</a:t>
            </a:r>
          </a:p>
        </p:txBody>
      </p:sp>
      <p:sp>
        <p:nvSpPr>
          <p:cNvPr id="32" name="TextBox 31"/>
          <p:cNvSpPr txBox="1"/>
          <p:nvPr/>
        </p:nvSpPr>
        <p:spPr>
          <a:xfrm>
            <a:off x="14292072" y="7315200"/>
            <a:ext cx="3054096" cy="91440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Formations, hub</a:t>
            </a:r>
          </a:p>
          <a:p>
            <a:pPr>
              <a:lnSpc>
                <a:spcPts val="2900"/>
              </a:lnSpc>
              <a:spcBef>
                <a:spcPts val="0"/>
              </a:spcBef>
              <a:spcAft>
                <a:spcPts val="0"/>
              </a:spcAft>
              <a:defRPr sz="2400" b="0">
                <a:solidFill>
                  <a:srgbClr val="526777"/>
                </a:solidFill>
                <a:latin typeface="Montserrat"/>
              </a:defRPr>
            </a:pPr>
            <a:r>
              <a:t>Challenge, pack métiers</a:t>
            </a:r>
          </a:p>
        </p:txBody>
      </p:sp>
      <p:sp>
        <p:nvSpPr>
          <p:cNvPr id="33" name="Rectangle 32"/>
          <p:cNvSpPr/>
          <p:nvPr/>
        </p:nvSpPr>
        <p:spPr>
          <a:xfrm>
            <a:off x="822960" y="8796528"/>
            <a:ext cx="16642080" cy="10972"/>
          </a:xfrm>
          <a:prstGeom prst="rect">
            <a:avLst/>
          </a:prstGeom>
          <a:solidFill>
            <a:srgbClr val="D9E2E7"/>
          </a:solidFill>
          <a:ln>
            <a:noFill/>
          </a:ln>
        </p:spPr>
        <p:txBody>
          <a:bodyPr rtlCol="0" anchor="ctr"/>
          <a:lstStyle/>
          <a:p>
            <a:pPr algn="ctr"/>
          </a:p>
        </p:txBody>
      </p:sp>
      <p:sp>
        <p:nvSpPr>
          <p:cNvPr id="34" name="TextBox 33"/>
          <p:cNvSpPr txBox="1"/>
          <p:nvPr/>
        </p:nvSpPr>
        <p:spPr>
          <a:xfrm>
            <a:off x="868680" y="8997696"/>
            <a:ext cx="16486632" cy="768096"/>
          </a:xfrm>
          <a:prstGeom prst="rect">
            <a:avLst/>
          </a:prstGeom>
          <a:noFill/>
        </p:spPr>
        <p:txBody>
          <a:bodyPr wrap="square" lIns="0" rIns="0" tIns="0" bIns="0">
            <a:spAutoFit/>
          </a:bodyPr>
          <a:lstStyle/>
          <a:p>
            <a:pPr>
              <a:lnSpc>
                <a:spcPts val="2800"/>
              </a:lnSpc>
              <a:spcBef>
                <a:spcPts val="0"/>
              </a:spcBef>
              <a:spcAft>
                <a:spcPts val="0"/>
              </a:spcAft>
              <a:defRPr sz="2400" b="1">
                <a:solidFill>
                  <a:srgbClr val="002C49"/>
                </a:solidFill>
                <a:latin typeface="Montserrat"/>
              </a:defRPr>
            </a:pPr>
            <a:r>
              <a:t>Direction = sens • DSI / Juridique = outils et cadre • RH = compétences • métiers = cas • Com = parcours.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3.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04 / CHANGE</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Toolbox Leyton / adoption des outils</a:t>
            </a:r>
          </a:p>
        </p:txBody>
      </p:sp>
      <p:sp>
        <p:nvSpPr>
          <p:cNvPr id="5" name="TextBox 4"/>
          <p:cNvSpPr txBox="1"/>
          <p:nvPr/>
        </p:nvSpPr>
        <p:spPr>
          <a:xfrm>
            <a:off x="868680" y="2742285"/>
            <a:ext cx="16504920" cy="54864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Faire connaître les outils, montrer leur utilité et accompagner leur utilisation.</a:t>
            </a:r>
          </a:p>
        </p:txBody>
      </p:sp>
      <p:sp>
        <p:nvSpPr>
          <p:cNvPr id="6" name="Rectangle 5"/>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7" name="TextBox 6"/>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8" name="TextBox 7"/>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07</a:t>
            </a:r>
          </a:p>
        </p:txBody>
      </p:sp>
      <p:sp>
        <p:nvSpPr>
          <p:cNvPr id="9" name="Rectangle 8"/>
          <p:cNvSpPr/>
          <p:nvPr/>
        </p:nvSpPr>
        <p:spPr>
          <a:xfrm>
            <a:off x="6583680" y="4251960"/>
            <a:ext cx="5074920" cy="2944368"/>
          </a:xfrm>
          <a:prstGeom prst="rect">
            <a:avLst/>
          </a:prstGeom>
          <a:solidFill>
            <a:srgbClr val="002C49"/>
          </a:solidFill>
          <a:ln>
            <a:noFill/>
          </a:ln>
        </p:spPr>
        <p:txBody>
          <a:bodyPr rtlCol="0" anchor="ctr"/>
          <a:lstStyle/>
          <a:p>
            <a:pPr algn="ctr"/>
          </a:p>
        </p:txBody>
      </p:sp>
      <p:sp>
        <p:nvSpPr>
          <p:cNvPr id="10" name="TextBox 9"/>
          <p:cNvSpPr txBox="1"/>
          <p:nvPr/>
        </p:nvSpPr>
        <p:spPr>
          <a:xfrm>
            <a:off x="6903720" y="4590288"/>
            <a:ext cx="4434840" cy="1097280"/>
          </a:xfrm>
          <a:prstGeom prst="rect">
            <a:avLst/>
          </a:prstGeom>
          <a:noFill/>
        </p:spPr>
        <p:txBody>
          <a:bodyPr wrap="square" lIns="0" rIns="0" tIns="0" bIns="0">
            <a:spAutoFit/>
          </a:bodyPr>
          <a:lstStyle/>
          <a:p>
            <a:pPr>
              <a:lnSpc>
                <a:spcPts val="4000"/>
              </a:lnSpc>
              <a:spcBef>
                <a:spcPts val="0"/>
              </a:spcBef>
              <a:spcAft>
                <a:spcPts val="0"/>
              </a:spcAft>
              <a:defRPr sz="3500" b="1">
                <a:solidFill>
                  <a:srgbClr val="FFFFFF"/>
                </a:solidFill>
                <a:latin typeface="Nohemi"/>
              </a:defRPr>
            </a:pPr>
            <a:r>
              <a:t>TOOLBOX</a:t>
            </a:r>
          </a:p>
          <a:p>
            <a:pPr>
              <a:lnSpc>
                <a:spcPts val="4000"/>
              </a:lnSpc>
              <a:spcBef>
                <a:spcPts val="0"/>
              </a:spcBef>
              <a:spcAft>
                <a:spcPts val="0"/>
              </a:spcAft>
              <a:defRPr sz="3500" b="1">
                <a:solidFill>
                  <a:srgbClr val="FFFFFF"/>
                </a:solidFill>
                <a:latin typeface="Nohemi"/>
              </a:defRPr>
            </a:pPr>
            <a:r>
              <a:t>LEYTON</a:t>
            </a:r>
          </a:p>
        </p:txBody>
      </p:sp>
      <p:sp>
        <p:nvSpPr>
          <p:cNvPr id="11" name="TextBox 10"/>
          <p:cNvSpPr txBox="1"/>
          <p:nvPr/>
        </p:nvSpPr>
        <p:spPr>
          <a:xfrm>
            <a:off x="6903720" y="6099048"/>
            <a:ext cx="4434840" cy="621792"/>
          </a:xfrm>
          <a:prstGeom prst="rect">
            <a:avLst/>
          </a:prstGeom>
          <a:noFill/>
        </p:spPr>
        <p:txBody>
          <a:bodyPr wrap="square" lIns="0" rIns="0" tIns="0" bIns="0">
            <a:spAutoFit/>
          </a:bodyPr>
          <a:lstStyle/>
          <a:p>
            <a:pPr>
              <a:lnSpc>
                <a:spcPts val="3075"/>
              </a:lnSpc>
              <a:spcBef>
                <a:spcPts val="0"/>
              </a:spcBef>
              <a:spcAft>
                <a:spcPts val="0"/>
              </a:spcAft>
              <a:defRPr sz="2500" b="0">
                <a:solidFill>
                  <a:srgbClr val="FFFFFF"/>
                </a:solidFill>
                <a:latin typeface="Montserrat"/>
              </a:defRPr>
            </a:pPr>
            <a:r>
              <a:t>Inventaire + hub central</a:t>
            </a:r>
          </a:p>
        </p:txBody>
      </p:sp>
      <p:sp>
        <p:nvSpPr>
          <p:cNvPr id="12" name="TextBox 11"/>
          <p:cNvSpPr txBox="1"/>
          <p:nvPr/>
        </p:nvSpPr>
        <p:spPr>
          <a:xfrm>
            <a:off x="868680" y="3730752"/>
            <a:ext cx="4663440" cy="548640"/>
          </a:xfrm>
          <a:prstGeom prst="rect">
            <a:avLst/>
          </a:prstGeom>
          <a:noFill/>
        </p:spPr>
        <p:txBody>
          <a:bodyPr wrap="square" lIns="0" rIns="0" tIns="0" bIns="0">
            <a:spAutoFit/>
          </a:bodyPr>
          <a:lstStyle/>
          <a:p>
            <a:pPr>
              <a:lnSpc>
                <a:spcPts val="2952"/>
              </a:lnSpc>
              <a:spcBef>
                <a:spcPts val="0"/>
              </a:spcBef>
              <a:spcAft>
                <a:spcPts val="0"/>
              </a:spcAft>
              <a:defRPr sz="2400" b="1">
                <a:solidFill>
                  <a:srgbClr val="002C49"/>
                </a:solidFill>
                <a:latin typeface="Montserrat"/>
              </a:defRPr>
            </a:pPr>
            <a:r>
              <a:t>FICHES STANDARDISÉES</a:t>
            </a:r>
          </a:p>
        </p:txBody>
      </p:sp>
      <p:sp>
        <p:nvSpPr>
          <p:cNvPr id="13" name="Rectangle 12"/>
          <p:cNvSpPr/>
          <p:nvPr/>
        </p:nvSpPr>
        <p:spPr>
          <a:xfrm>
            <a:off x="868680" y="4507992"/>
            <a:ext cx="4526280" cy="10972"/>
          </a:xfrm>
          <a:prstGeom prst="rect">
            <a:avLst/>
          </a:prstGeom>
          <a:solidFill>
            <a:srgbClr val="D9E2E7"/>
          </a:solidFill>
          <a:ln>
            <a:noFill/>
          </a:ln>
        </p:spPr>
        <p:txBody>
          <a:bodyPr rtlCol="0" anchor="ctr"/>
          <a:lstStyle/>
          <a:p>
            <a:pPr algn="ctr"/>
          </a:p>
        </p:txBody>
      </p:sp>
      <p:sp>
        <p:nvSpPr>
          <p:cNvPr id="14" name="TextBox 13"/>
          <p:cNvSpPr txBox="1"/>
          <p:nvPr/>
        </p:nvSpPr>
        <p:spPr>
          <a:xfrm>
            <a:off x="868680" y="4700016"/>
            <a:ext cx="4663440" cy="731520"/>
          </a:xfrm>
          <a:prstGeom prst="rect">
            <a:avLst/>
          </a:prstGeom>
          <a:noFill/>
        </p:spPr>
        <p:txBody>
          <a:bodyPr wrap="square" lIns="0" rIns="0" tIns="0" bIns="0">
            <a:spAutoFit/>
          </a:bodyPr>
          <a:lstStyle/>
          <a:p>
            <a:pPr>
              <a:lnSpc>
                <a:spcPts val="3198"/>
              </a:lnSpc>
              <a:spcBef>
                <a:spcPts val="0"/>
              </a:spcBef>
              <a:spcAft>
                <a:spcPts val="0"/>
              </a:spcAft>
              <a:defRPr sz="2600" b="0">
                <a:solidFill>
                  <a:srgbClr val="526777"/>
                </a:solidFill>
                <a:latin typeface="Montserrat"/>
              </a:defRPr>
            </a:pPr>
            <a:r>
              <a:t>Utilité, accès, contact</a:t>
            </a:r>
          </a:p>
        </p:txBody>
      </p:sp>
      <p:cxnSp>
        <p:nvCxnSpPr>
          <p:cNvPr id="15" name="Connector 14"/>
          <p:cNvCxnSpPr/>
          <p:nvPr/>
        </p:nvCxnSpPr>
        <p:spPr>
          <a:xfrm>
            <a:off x="5623560" y="4736592"/>
            <a:ext cx="914400" cy="384048"/>
          </a:xfrm>
          <a:prstGeom prst="line">
            <a:avLst/>
          </a:prstGeom>
          <a:ln w="19050">
            <a:solidFill>
              <a:srgbClr val="FF6633"/>
            </a:solidFill>
          </a:ln>
        </p:spPr>
      </p:cxnSp>
      <p:sp>
        <p:nvSpPr>
          <p:cNvPr id="16" name="TextBox 15"/>
          <p:cNvSpPr txBox="1"/>
          <p:nvPr/>
        </p:nvSpPr>
        <p:spPr>
          <a:xfrm>
            <a:off x="868680" y="6419088"/>
            <a:ext cx="4663440" cy="548640"/>
          </a:xfrm>
          <a:prstGeom prst="rect">
            <a:avLst/>
          </a:prstGeom>
          <a:noFill/>
        </p:spPr>
        <p:txBody>
          <a:bodyPr wrap="square" lIns="0" rIns="0" tIns="0" bIns="0">
            <a:spAutoFit/>
          </a:bodyPr>
          <a:lstStyle/>
          <a:p>
            <a:pPr>
              <a:lnSpc>
                <a:spcPts val="2952"/>
              </a:lnSpc>
              <a:spcBef>
                <a:spcPts val="0"/>
              </a:spcBef>
              <a:spcAft>
                <a:spcPts val="0"/>
              </a:spcAft>
              <a:defRPr sz="2400" b="1">
                <a:solidFill>
                  <a:srgbClr val="002C49"/>
                </a:solidFill>
                <a:latin typeface="Montserrat"/>
              </a:defRPr>
            </a:pPr>
            <a:r>
              <a:t>CAPSULES</a:t>
            </a:r>
          </a:p>
        </p:txBody>
      </p:sp>
      <p:sp>
        <p:nvSpPr>
          <p:cNvPr id="17" name="Rectangle 16"/>
          <p:cNvSpPr/>
          <p:nvPr/>
        </p:nvSpPr>
        <p:spPr>
          <a:xfrm>
            <a:off x="868680" y="7196327"/>
            <a:ext cx="4526280" cy="10972"/>
          </a:xfrm>
          <a:prstGeom prst="rect">
            <a:avLst/>
          </a:prstGeom>
          <a:solidFill>
            <a:srgbClr val="D9E2E7"/>
          </a:solidFill>
          <a:ln>
            <a:noFill/>
          </a:ln>
        </p:spPr>
        <p:txBody>
          <a:bodyPr rtlCol="0" anchor="ctr"/>
          <a:lstStyle/>
          <a:p>
            <a:pPr algn="ctr"/>
          </a:p>
        </p:txBody>
      </p:sp>
      <p:sp>
        <p:nvSpPr>
          <p:cNvPr id="18" name="TextBox 17"/>
          <p:cNvSpPr txBox="1"/>
          <p:nvPr/>
        </p:nvSpPr>
        <p:spPr>
          <a:xfrm>
            <a:off x="868680" y="7388352"/>
            <a:ext cx="4663440" cy="731520"/>
          </a:xfrm>
          <a:prstGeom prst="rect">
            <a:avLst/>
          </a:prstGeom>
          <a:noFill/>
        </p:spPr>
        <p:txBody>
          <a:bodyPr wrap="square" lIns="0" rIns="0" tIns="0" bIns="0">
            <a:spAutoFit/>
          </a:bodyPr>
          <a:lstStyle/>
          <a:p>
            <a:pPr>
              <a:lnSpc>
                <a:spcPts val="3198"/>
              </a:lnSpc>
              <a:spcBef>
                <a:spcPts val="0"/>
              </a:spcBef>
              <a:spcAft>
                <a:spcPts val="0"/>
              </a:spcAft>
              <a:defRPr sz="2600" b="0">
                <a:solidFill>
                  <a:srgbClr val="526777"/>
                </a:solidFill>
                <a:latin typeface="Montserrat"/>
              </a:defRPr>
            </a:pPr>
            <a:r>
              <a:t>Accompagner l’usage</a:t>
            </a:r>
          </a:p>
        </p:txBody>
      </p:sp>
      <p:cxnSp>
        <p:nvCxnSpPr>
          <p:cNvPr id="19" name="Connector 18"/>
          <p:cNvCxnSpPr/>
          <p:nvPr/>
        </p:nvCxnSpPr>
        <p:spPr>
          <a:xfrm flipV="1">
            <a:off x="5623560" y="6537960"/>
            <a:ext cx="914400" cy="886967"/>
          </a:xfrm>
          <a:prstGeom prst="line">
            <a:avLst/>
          </a:prstGeom>
          <a:ln w="19050">
            <a:solidFill>
              <a:srgbClr val="FF6633"/>
            </a:solidFill>
          </a:ln>
        </p:spPr>
      </p:cxnSp>
      <p:sp>
        <p:nvSpPr>
          <p:cNvPr id="20" name="TextBox 19"/>
          <p:cNvSpPr txBox="1"/>
          <p:nvPr/>
        </p:nvSpPr>
        <p:spPr>
          <a:xfrm>
            <a:off x="12819888" y="3730752"/>
            <a:ext cx="4663440" cy="548640"/>
          </a:xfrm>
          <a:prstGeom prst="rect">
            <a:avLst/>
          </a:prstGeom>
          <a:noFill/>
        </p:spPr>
        <p:txBody>
          <a:bodyPr wrap="square" lIns="0" rIns="0" tIns="0" bIns="0">
            <a:spAutoFit/>
          </a:bodyPr>
          <a:lstStyle/>
          <a:p>
            <a:pPr>
              <a:lnSpc>
                <a:spcPts val="2952"/>
              </a:lnSpc>
              <a:spcBef>
                <a:spcPts val="0"/>
              </a:spcBef>
              <a:spcAft>
                <a:spcPts val="0"/>
              </a:spcAft>
              <a:defRPr sz="2400" b="1">
                <a:solidFill>
                  <a:srgbClr val="002C49"/>
                </a:solidFill>
                <a:latin typeface="Montserrat"/>
              </a:defRPr>
            </a:pPr>
            <a:r>
              <a:t>CAS D’USAGE</a:t>
            </a:r>
          </a:p>
        </p:txBody>
      </p:sp>
      <p:sp>
        <p:nvSpPr>
          <p:cNvPr id="21" name="Rectangle 20"/>
          <p:cNvSpPr/>
          <p:nvPr/>
        </p:nvSpPr>
        <p:spPr>
          <a:xfrm>
            <a:off x="12819888" y="4507992"/>
            <a:ext cx="4526280" cy="10972"/>
          </a:xfrm>
          <a:prstGeom prst="rect">
            <a:avLst/>
          </a:prstGeom>
          <a:solidFill>
            <a:srgbClr val="D9E2E7"/>
          </a:solidFill>
          <a:ln>
            <a:noFill/>
          </a:ln>
        </p:spPr>
        <p:txBody>
          <a:bodyPr rtlCol="0" anchor="ctr"/>
          <a:lstStyle/>
          <a:p>
            <a:pPr algn="ctr"/>
          </a:p>
        </p:txBody>
      </p:sp>
      <p:sp>
        <p:nvSpPr>
          <p:cNvPr id="22" name="TextBox 21"/>
          <p:cNvSpPr txBox="1"/>
          <p:nvPr/>
        </p:nvSpPr>
        <p:spPr>
          <a:xfrm>
            <a:off x="12819888" y="4700016"/>
            <a:ext cx="4663440" cy="731520"/>
          </a:xfrm>
          <a:prstGeom prst="rect">
            <a:avLst/>
          </a:prstGeom>
          <a:noFill/>
        </p:spPr>
        <p:txBody>
          <a:bodyPr wrap="square" lIns="0" rIns="0" tIns="0" bIns="0">
            <a:spAutoFit/>
          </a:bodyPr>
          <a:lstStyle/>
          <a:p>
            <a:pPr>
              <a:lnSpc>
                <a:spcPts val="3198"/>
              </a:lnSpc>
              <a:spcBef>
                <a:spcPts val="0"/>
              </a:spcBef>
              <a:spcAft>
                <a:spcPts val="0"/>
              </a:spcAft>
              <a:defRPr sz="2600" b="0">
                <a:solidFill>
                  <a:srgbClr val="526777"/>
                </a:solidFill>
                <a:latin typeface="Montserrat"/>
              </a:defRPr>
            </a:pPr>
            <a:r>
              <a:t>Montrer l’application</a:t>
            </a:r>
          </a:p>
        </p:txBody>
      </p:sp>
      <p:cxnSp>
        <p:nvCxnSpPr>
          <p:cNvPr id="23" name="Connector 22"/>
          <p:cNvCxnSpPr/>
          <p:nvPr/>
        </p:nvCxnSpPr>
        <p:spPr>
          <a:xfrm flipV="1">
            <a:off x="11704320" y="4736592"/>
            <a:ext cx="886968" cy="384048"/>
          </a:xfrm>
          <a:prstGeom prst="line">
            <a:avLst/>
          </a:prstGeom>
          <a:ln w="19050">
            <a:solidFill>
              <a:srgbClr val="FF6633"/>
            </a:solidFill>
          </a:ln>
        </p:spPr>
      </p:cxnSp>
      <p:sp>
        <p:nvSpPr>
          <p:cNvPr id="24" name="TextBox 23"/>
          <p:cNvSpPr txBox="1"/>
          <p:nvPr/>
        </p:nvSpPr>
        <p:spPr>
          <a:xfrm>
            <a:off x="12819888" y="6419088"/>
            <a:ext cx="4663440" cy="548640"/>
          </a:xfrm>
          <a:prstGeom prst="rect">
            <a:avLst/>
          </a:prstGeom>
          <a:noFill/>
        </p:spPr>
        <p:txBody>
          <a:bodyPr wrap="square" lIns="0" rIns="0" tIns="0" bIns="0">
            <a:spAutoFit/>
          </a:bodyPr>
          <a:lstStyle/>
          <a:p>
            <a:pPr>
              <a:lnSpc>
                <a:spcPts val="2952"/>
              </a:lnSpc>
              <a:spcBef>
                <a:spcPts val="0"/>
              </a:spcBef>
              <a:spcAft>
                <a:spcPts val="0"/>
              </a:spcAft>
              <a:defRPr sz="2400" b="1">
                <a:solidFill>
                  <a:srgbClr val="002C49"/>
                </a:solidFill>
                <a:latin typeface="Montserrat"/>
              </a:defRPr>
            </a:pPr>
            <a:r>
              <a:t>RELAIS MULTICANAUX</a:t>
            </a:r>
          </a:p>
        </p:txBody>
      </p:sp>
      <p:sp>
        <p:nvSpPr>
          <p:cNvPr id="25" name="Rectangle 24"/>
          <p:cNvSpPr/>
          <p:nvPr/>
        </p:nvSpPr>
        <p:spPr>
          <a:xfrm>
            <a:off x="12819888" y="7196327"/>
            <a:ext cx="4526280" cy="10972"/>
          </a:xfrm>
          <a:prstGeom prst="rect">
            <a:avLst/>
          </a:prstGeom>
          <a:solidFill>
            <a:srgbClr val="D9E2E7"/>
          </a:solidFill>
          <a:ln>
            <a:noFill/>
          </a:ln>
        </p:spPr>
        <p:txBody>
          <a:bodyPr rtlCol="0" anchor="ctr"/>
          <a:lstStyle/>
          <a:p>
            <a:pPr algn="ctr"/>
          </a:p>
        </p:txBody>
      </p:sp>
      <p:sp>
        <p:nvSpPr>
          <p:cNvPr id="26" name="TextBox 25"/>
          <p:cNvSpPr txBox="1"/>
          <p:nvPr/>
        </p:nvSpPr>
        <p:spPr>
          <a:xfrm>
            <a:off x="12819888" y="7388352"/>
            <a:ext cx="4663440" cy="731520"/>
          </a:xfrm>
          <a:prstGeom prst="rect">
            <a:avLst/>
          </a:prstGeom>
          <a:noFill/>
        </p:spPr>
        <p:txBody>
          <a:bodyPr wrap="square" lIns="0" rIns="0" tIns="0" bIns="0">
            <a:spAutoFit/>
          </a:bodyPr>
          <a:lstStyle/>
          <a:p>
            <a:pPr>
              <a:lnSpc>
                <a:spcPts val="3198"/>
              </a:lnSpc>
              <a:spcBef>
                <a:spcPts val="0"/>
              </a:spcBef>
              <a:spcAft>
                <a:spcPts val="0"/>
              </a:spcAft>
              <a:defRPr sz="2600" b="0">
                <a:solidFill>
                  <a:srgbClr val="526777"/>
                </a:solidFill>
                <a:latin typeface="Montserrat"/>
              </a:defRPr>
            </a:pPr>
            <a:r>
              <a:t>Adapter au public</a:t>
            </a:r>
          </a:p>
        </p:txBody>
      </p:sp>
      <p:cxnSp>
        <p:nvCxnSpPr>
          <p:cNvPr id="27" name="Connector 26"/>
          <p:cNvCxnSpPr/>
          <p:nvPr/>
        </p:nvCxnSpPr>
        <p:spPr>
          <a:xfrm>
            <a:off x="11704320" y="6537960"/>
            <a:ext cx="886968" cy="886967"/>
          </a:xfrm>
          <a:prstGeom prst="line">
            <a:avLst/>
          </a:prstGeom>
          <a:ln w="19050">
            <a:solidFill>
              <a:srgbClr val="FF6633"/>
            </a:solidFill>
          </a:ln>
        </p:spPr>
      </p:cxnSp>
      <p:sp>
        <p:nvSpPr>
          <p:cNvPr id="28" name="Rectangle 27"/>
          <p:cNvSpPr/>
          <p:nvPr/>
        </p:nvSpPr>
        <p:spPr>
          <a:xfrm>
            <a:off x="822960" y="8778240"/>
            <a:ext cx="16642080" cy="10972"/>
          </a:xfrm>
          <a:prstGeom prst="rect">
            <a:avLst/>
          </a:prstGeom>
          <a:solidFill>
            <a:srgbClr val="D9E2E7"/>
          </a:solidFill>
          <a:ln>
            <a:noFill/>
          </a:ln>
        </p:spPr>
        <p:txBody>
          <a:bodyPr rtlCol="0" anchor="ctr"/>
          <a:lstStyle/>
          <a:p>
            <a:pPr algn="ctr"/>
          </a:p>
        </p:txBody>
      </p:sp>
      <p:sp>
        <p:nvSpPr>
          <p:cNvPr id="29" name="TextBox 28"/>
          <p:cNvSpPr txBox="1"/>
          <p:nvPr/>
        </p:nvSpPr>
        <p:spPr>
          <a:xfrm>
            <a:off x="868680" y="8979408"/>
            <a:ext cx="16486632" cy="768096"/>
          </a:xfrm>
          <a:prstGeom prst="rect">
            <a:avLst/>
          </a:prstGeom>
          <a:noFill/>
        </p:spPr>
        <p:txBody>
          <a:bodyPr wrap="square" lIns="0" rIns="0" tIns="0" bIns="0">
            <a:spAutoFit/>
          </a:bodyPr>
          <a:lstStyle/>
          <a:p>
            <a:pPr>
              <a:lnSpc>
                <a:spcPts val="2800"/>
              </a:lnSpc>
              <a:spcBef>
                <a:spcPts val="0"/>
              </a:spcBef>
              <a:spcAft>
                <a:spcPts val="0"/>
              </a:spcAft>
              <a:defRPr sz="2400" b="1">
                <a:solidFill>
                  <a:srgbClr val="002C49"/>
                </a:solidFill>
                <a:latin typeface="Montserrat"/>
              </a:defRPr>
            </a:pPr>
            <a:r>
              <a:t>Standard de lancement pour chaque nouvel outil + actualisation continue. L’intranet est le hub après lancement.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3.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04 / CHANGE</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Kit Business Partner par pôle /</a:t>
            </a:r>
          </a:p>
          <a:p>
            <a:pPr>
              <a:lnSpc>
                <a:spcPts val="5300"/>
              </a:lnSpc>
              <a:spcBef>
                <a:spcPts val="0"/>
              </a:spcBef>
              <a:spcAft>
                <a:spcPts val="0"/>
              </a:spcAft>
              <a:defRPr sz="4600" b="0">
                <a:solidFill>
                  <a:srgbClr val="002C49"/>
                </a:solidFill>
                <a:latin typeface="Nohemi"/>
              </a:defRPr>
            </a:pPr>
            <a:r>
              <a:t>Valorisation du cross-sell</a:t>
            </a:r>
          </a:p>
        </p:txBody>
      </p:sp>
      <p:sp>
        <p:nvSpPr>
          <p:cNvPr id="5" name="TextBox 4"/>
          <p:cNvSpPr txBox="1"/>
          <p:nvPr/>
        </p:nvSpPr>
        <p:spPr>
          <a:xfrm>
            <a:off x="868680" y="2742285"/>
            <a:ext cx="16504920" cy="54864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Équiper les collaborateurs et rendre visibles les collaborations qui créent de la valeur.</a:t>
            </a:r>
          </a:p>
        </p:txBody>
      </p:sp>
      <p:sp>
        <p:nvSpPr>
          <p:cNvPr id="6" name="Rectangle 5"/>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7" name="TextBox 6"/>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8" name="TextBox 7"/>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08</a:t>
            </a:r>
          </a:p>
        </p:txBody>
      </p:sp>
      <p:cxnSp>
        <p:nvCxnSpPr>
          <p:cNvPr id="9" name="Connector 8"/>
          <p:cNvCxnSpPr/>
          <p:nvPr/>
        </p:nvCxnSpPr>
        <p:spPr>
          <a:xfrm>
            <a:off x="9208008" y="3611880"/>
            <a:ext cx="0" cy="4754880"/>
          </a:xfrm>
          <a:prstGeom prst="line">
            <a:avLst/>
          </a:prstGeom>
          <a:ln w="17780">
            <a:solidFill>
              <a:srgbClr val="D9E2E7"/>
            </a:solidFill>
          </a:ln>
        </p:spPr>
      </p:cxnSp>
      <p:sp>
        <p:nvSpPr>
          <p:cNvPr id="10" name="Rectangle 9"/>
          <p:cNvSpPr/>
          <p:nvPr/>
        </p:nvSpPr>
        <p:spPr>
          <a:xfrm>
            <a:off x="896112" y="3703320"/>
            <a:ext cx="3749039" cy="393192"/>
          </a:xfrm>
          <a:prstGeom prst="rect">
            <a:avLst/>
          </a:prstGeom>
          <a:solidFill>
            <a:srgbClr val="EAF0F3"/>
          </a:solidFill>
          <a:ln>
            <a:noFill/>
          </a:ln>
        </p:spPr>
        <p:txBody>
          <a:bodyPr rtlCol="0" anchor="ctr"/>
          <a:lstStyle/>
          <a:p>
            <a:pPr algn="ctr"/>
          </a:p>
        </p:txBody>
      </p:sp>
      <p:sp>
        <p:nvSpPr>
          <p:cNvPr id="11" name="TextBox 10"/>
          <p:cNvSpPr txBox="1"/>
          <p:nvPr/>
        </p:nvSpPr>
        <p:spPr>
          <a:xfrm>
            <a:off x="1014983" y="3785615"/>
            <a:ext cx="3511296" cy="237744"/>
          </a:xfrm>
          <a:prstGeom prst="rect">
            <a:avLst/>
          </a:prstGeom>
          <a:noFill/>
        </p:spPr>
        <p:txBody>
          <a:bodyPr wrap="square" lIns="0" rIns="0" tIns="0" bIns="0">
            <a:spAutoFit/>
          </a:bodyPr>
          <a:lstStyle/>
          <a:p>
            <a:pPr>
              <a:lnSpc>
                <a:spcPts val="1722"/>
              </a:lnSpc>
              <a:spcBef>
                <a:spcPts val="0"/>
              </a:spcBef>
              <a:spcAft>
                <a:spcPts val="0"/>
              </a:spcAft>
              <a:defRPr sz="1400" b="1">
                <a:solidFill>
                  <a:srgbClr val="002C49"/>
                </a:solidFill>
                <a:latin typeface="Montserrat"/>
              </a:defRPr>
            </a:pPr>
            <a:r>
              <a:t>KIT BUSINESS PARTNER</a:t>
            </a:r>
          </a:p>
        </p:txBody>
      </p:sp>
      <p:sp>
        <p:nvSpPr>
          <p:cNvPr id="12" name="TextBox 11"/>
          <p:cNvSpPr txBox="1"/>
          <p:nvPr/>
        </p:nvSpPr>
        <p:spPr>
          <a:xfrm>
            <a:off x="896112" y="4416552"/>
            <a:ext cx="7635240" cy="640080"/>
          </a:xfrm>
          <a:prstGeom prst="rect">
            <a:avLst/>
          </a:prstGeom>
          <a:noFill/>
        </p:spPr>
        <p:txBody>
          <a:bodyPr wrap="square" lIns="0" rIns="0" tIns="0" bIns="0">
            <a:spAutoFit/>
          </a:bodyPr>
          <a:lstStyle/>
          <a:p>
            <a:pPr>
              <a:lnSpc>
                <a:spcPts val="3813"/>
              </a:lnSpc>
              <a:spcBef>
                <a:spcPts val="0"/>
              </a:spcBef>
              <a:spcAft>
                <a:spcPts val="0"/>
              </a:spcAft>
              <a:defRPr sz="3100" b="1">
                <a:solidFill>
                  <a:srgbClr val="002C49"/>
                </a:solidFill>
                <a:latin typeface="Montserrat"/>
              </a:defRPr>
            </a:pPr>
            <a:r>
              <a:t>Des ressources mobilisables</a:t>
            </a:r>
          </a:p>
        </p:txBody>
      </p:sp>
      <p:sp>
        <p:nvSpPr>
          <p:cNvPr id="13" name="TextBox 12"/>
          <p:cNvSpPr txBox="1"/>
          <p:nvPr/>
        </p:nvSpPr>
        <p:spPr>
          <a:xfrm>
            <a:off x="896112" y="5394960"/>
            <a:ext cx="7543800" cy="2103120"/>
          </a:xfrm>
          <a:prstGeom prst="rect">
            <a:avLst/>
          </a:prstGeom>
          <a:noFill/>
        </p:spPr>
        <p:txBody>
          <a:bodyPr wrap="square" lIns="0" rIns="0" tIns="0" bIns="0">
            <a:spAutoFit/>
          </a:bodyPr>
          <a:lstStyle/>
          <a:p>
            <a:pPr>
              <a:lnSpc>
                <a:spcPts val="3400"/>
              </a:lnSpc>
              <a:spcBef>
                <a:spcPts val="0"/>
              </a:spcBef>
              <a:spcAft>
                <a:spcPts val="0"/>
              </a:spcAft>
              <a:defRPr sz="2600" b="0">
                <a:solidFill>
                  <a:srgbClr val="526777"/>
                </a:solidFill>
                <a:latin typeface="Montserrat"/>
              </a:defRPr>
            </a:pPr>
            <a:r>
              <a:t>Prompt IA brandé Leyton ; offres ;</a:t>
            </a:r>
          </a:p>
          <a:p>
            <a:pPr>
              <a:lnSpc>
                <a:spcPts val="3400"/>
              </a:lnSpc>
              <a:spcBef>
                <a:spcPts val="0"/>
              </a:spcBef>
              <a:spcAft>
                <a:spcPts val="0"/>
              </a:spcAft>
              <a:defRPr sz="2600" b="0">
                <a:solidFill>
                  <a:srgbClr val="526777"/>
                </a:solidFill>
                <a:latin typeface="Montserrat"/>
              </a:defRPr>
            </a:pPr>
            <a:r>
              <a:t>slides et preuves ; vidéos ; chiffres</a:t>
            </a:r>
          </a:p>
          <a:p>
            <a:pPr>
              <a:lnSpc>
                <a:spcPts val="3400"/>
              </a:lnSpc>
              <a:spcBef>
                <a:spcPts val="0"/>
              </a:spcBef>
              <a:spcAft>
                <a:spcPts val="0"/>
              </a:spcAft>
              <a:defRPr sz="2600" b="0">
                <a:solidFill>
                  <a:srgbClr val="526777"/>
                </a:solidFill>
                <a:latin typeface="Montserrat"/>
              </a:defRPr>
            </a:pPr>
            <a:r>
              <a:t>et références ; signaux clients → offres ;</a:t>
            </a:r>
          </a:p>
          <a:p>
            <a:pPr>
              <a:lnSpc>
                <a:spcPts val="3400"/>
              </a:lnSpc>
              <a:spcBef>
                <a:spcPts val="0"/>
              </a:spcBef>
              <a:spcAft>
                <a:spcPts val="0"/>
              </a:spcAft>
              <a:defRPr sz="2600" b="0">
                <a:solidFill>
                  <a:srgbClr val="526777"/>
                </a:solidFill>
                <a:latin typeface="Montserrat"/>
              </a:defRPr>
            </a:pPr>
            <a:r>
              <a:t>contacts experts.</a:t>
            </a:r>
          </a:p>
        </p:txBody>
      </p:sp>
      <p:sp>
        <p:nvSpPr>
          <p:cNvPr id="14" name="TextBox 13"/>
          <p:cNvSpPr txBox="1"/>
          <p:nvPr/>
        </p:nvSpPr>
        <p:spPr>
          <a:xfrm>
            <a:off x="896112" y="7900416"/>
            <a:ext cx="7406640" cy="566928"/>
          </a:xfrm>
          <a:prstGeom prst="rect">
            <a:avLst/>
          </a:prstGeom>
          <a:noFill/>
        </p:spPr>
        <p:txBody>
          <a:bodyPr wrap="square" lIns="0" rIns="0" tIns="0" bIns="0">
            <a:spAutoFit/>
          </a:bodyPr>
          <a:lstStyle/>
          <a:p>
            <a:pPr>
              <a:lnSpc>
                <a:spcPts val="2952"/>
              </a:lnSpc>
              <a:spcBef>
                <a:spcPts val="0"/>
              </a:spcBef>
              <a:spcAft>
                <a:spcPts val="0"/>
              </a:spcAft>
              <a:defRPr sz="2400" b="1">
                <a:solidFill>
                  <a:srgbClr val="002C49"/>
                </a:solidFill>
                <a:latin typeface="Montserrat"/>
              </a:defRPr>
            </a:pPr>
            <a:r>
              <a:t>Com : expérience, branding, cohérence.</a:t>
            </a:r>
          </a:p>
        </p:txBody>
      </p:sp>
      <p:sp>
        <p:nvSpPr>
          <p:cNvPr id="15" name="Rectangle 14"/>
          <p:cNvSpPr/>
          <p:nvPr/>
        </p:nvSpPr>
        <p:spPr>
          <a:xfrm>
            <a:off x="9784080" y="3703320"/>
            <a:ext cx="4937760" cy="393192"/>
          </a:xfrm>
          <a:prstGeom prst="rect">
            <a:avLst/>
          </a:prstGeom>
          <a:solidFill>
            <a:srgbClr val="EAF0F3"/>
          </a:solidFill>
          <a:ln>
            <a:noFill/>
          </a:ln>
        </p:spPr>
        <p:txBody>
          <a:bodyPr rtlCol="0" anchor="ctr"/>
          <a:lstStyle/>
          <a:p>
            <a:pPr algn="ctr"/>
          </a:p>
        </p:txBody>
      </p:sp>
      <p:sp>
        <p:nvSpPr>
          <p:cNvPr id="16" name="TextBox 15"/>
          <p:cNvSpPr txBox="1"/>
          <p:nvPr/>
        </p:nvSpPr>
        <p:spPr>
          <a:xfrm>
            <a:off x="9902952" y="3785615"/>
            <a:ext cx="4700016" cy="237744"/>
          </a:xfrm>
          <a:prstGeom prst="rect">
            <a:avLst/>
          </a:prstGeom>
          <a:noFill/>
        </p:spPr>
        <p:txBody>
          <a:bodyPr wrap="square" lIns="0" rIns="0" tIns="0" bIns="0">
            <a:spAutoFit/>
          </a:bodyPr>
          <a:lstStyle/>
          <a:p>
            <a:pPr>
              <a:lnSpc>
                <a:spcPts val="1722"/>
              </a:lnSpc>
              <a:spcBef>
                <a:spcPts val="0"/>
              </a:spcBef>
              <a:spcAft>
                <a:spcPts val="0"/>
              </a:spcAft>
              <a:defRPr sz="1400" b="1">
                <a:solidFill>
                  <a:srgbClr val="002C49"/>
                </a:solidFill>
                <a:latin typeface="Montserrat"/>
              </a:defRPr>
            </a:pPr>
            <a:r>
              <a:t>VALORISATION DU CROSS-SELL</a:t>
            </a:r>
          </a:p>
        </p:txBody>
      </p:sp>
      <p:sp>
        <p:nvSpPr>
          <p:cNvPr id="17" name="TextBox 16"/>
          <p:cNvSpPr txBox="1"/>
          <p:nvPr/>
        </p:nvSpPr>
        <p:spPr>
          <a:xfrm>
            <a:off x="9784080" y="4416552"/>
            <a:ext cx="7571231" cy="640080"/>
          </a:xfrm>
          <a:prstGeom prst="rect">
            <a:avLst/>
          </a:prstGeom>
          <a:noFill/>
        </p:spPr>
        <p:txBody>
          <a:bodyPr wrap="square" lIns="0" rIns="0" tIns="0" bIns="0">
            <a:spAutoFit/>
          </a:bodyPr>
          <a:lstStyle/>
          <a:p>
            <a:pPr>
              <a:lnSpc>
                <a:spcPts val="3690"/>
              </a:lnSpc>
              <a:spcBef>
                <a:spcPts val="0"/>
              </a:spcBef>
              <a:spcAft>
                <a:spcPts val="0"/>
              </a:spcAft>
              <a:defRPr sz="3000" b="1">
                <a:solidFill>
                  <a:srgbClr val="002C49"/>
                </a:solidFill>
                <a:latin typeface="Montserrat"/>
              </a:defRPr>
            </a:pPr>
            <a:r>
              <a:t>Un mécanisme de capitalisation</a:t>
            </a:r>
          </a:p>
        </p:txBody>
      </p:sp>
      <p:sp>
        <p:nvSpPr>
          <p:cNvPr id="18" name="TextBox 17"/>
          <p:cNvSpPr txBox="1"/>
          <p:nvPr/>
        </p:nvSpPr>
        <p:spPr>
          <a:xfrm>
            <a:off x="9784080" y="5413248"/>
            <a:ext cx="7543800" cy="1188720"/>
          </a:xfrm>
          <a:prstGeom prst="rect">
            <a:avLst/>
          </a:prstGeom>
          <a:noFill/>
        </p:spPr>
        <p:txBody>
          <a:bodyPr wrap="square" lIns="0" rIns="0" tIns="0" bIns="0">
            <a:spAutoFit/>
          </a:bodyPr>
          <a:lstStyle/>
          <a:p>
            <a:pPr>
              <a:lnSpc>
                <a:spcPts val="3500"/>
              </a:lnSpc>
              <a:spcBef>
                <a:spcPts val="0"/>
              </a:spcBef>
              <a:spcAft>
                <a:spcPts val="0"/>
              </a:spcAft>
              <a:defRPr sz="2600" b="0">
                <a:solidFill>
                  <a:srgbClr val="526777"/>
                </a:solidFill>
                <a:latin typeface="Montserrat"/>
              </a:defRPr>
            </a:pPr>
            <a:r>
              <a:t>Sourcing → sélection → interview</a:t>
            </a:r>
          </a:p>
          <a:p>
            <a:pPr>
              <a:lnSpc>
                <a:spcPts val="3500"/>
              </a:lnSpc>
              <a:spcBef>
                <a:spcPts val="0"/>
              </a:spcBef>
              <a:spcAft>
                <a:spcPts val="0"/>
              </a:spcAft>
              <a:defRPr sz="2600" b="0">
                <a:solidFill>
                  <a:srgbClr val="526777"/>
                </a:solidFill>
                <a:latin typeface="Montserrat"/>
              </a:defRPr>
            </a:pPr>
            <a:r>
              <a:t>→ validation → diffusion → capitalisation.</a:t>
            </a:r>
          </a:p>
        </p:txBody>
      </p:sp>
      <p:sp>
        <p:nvSpPr>
          <p:cNvPr id="19" name="TextBox 18"/>
          <p:cNvSpPr txBox="1"/>
          <p:nvPr/>
        </p:nvSpPr>
        <p:spPr>
          <a:xfrm>
            <a:off x="9784080" y="6967728"/>
            <a:ext cx="1554480" cy="1234440"/>
          </a:xfrm>
          <a:prstGeom prst="rect">
            <a:avLst/>
          </a:prstGeom>
          <a:noFill/>
        </p:spPr>
        <p:txBody>
          <a:bodyPr wrap="square" lIns="0" rIns="0" tIns="0" bIns="0">
            <a:spAutoFit/>
          </a:bodyPr>
          <a:lstStyle/>
          <a:p>
            <a:pPr>
              <a:lnSpc>
                <a:spcPts val="9225"/>
              </a:lnSpc>
              <a:spcBef>
                <a:spcPts val="0"/>
              </a:spcBef>
              <a:spcAft>
                <a:spcPts val="0"/>
              </a:spcAft>
              <a:defRPr sz="7500" b="1">
                <a:solidFill>
                  <a:srgbClr val="FF6633"/>
                </a:solidFill>
                <a:latin typeface="Nohemi"/>
              </a:defRPr>
            </a:pPr>
            <a:r>
              <a:t>4</a:t>
            </a:r>
          </a:p>
        </p:txBody>
      </p:sp>
      <p:sp>
        <p:nvSpPr>
          <p:cNvPr id="20" name="TextBox 19"/>
          <p:cNvSpPr txBox="1"/>
          <p:nvPr/>
        </p:nvSpPr>
        <p:spPr>
          <a:xfrm>
            <a:off x="11475720" y="7214616"/>
            <a:ext cx="5669280" cy="822960"/>
          </a:xfrm>
          <a:prstGeom prst="rect">
            <a:avLst/>
          </a:prstGeom>
          <a:noFill/>
        </p:spPr>
        <p:txBody>
          <a:bodyPr wrap="square" lIns="0" rIns="0" tIns="0" bIns="0">
            <a:spAutoFit/>
          </a:bodyPr>
          <a:lstStyle/>
          <a:p>
            <a:pPr>
              <a:lnSpc>
                <a:spcPts val="3300"/>
              </a:lnSpc>
              <a:spcBef>
                <a:spcPts val="0"/>
              </a:spcBef>
              <a:spcAft>
                <a:spcPts val="0"/>
              </a:spcAft>
              <a:defRPr sz="2700" b="1">
                <a:solidFill>
                  <a:srgbClr val="002C49"/>
                </a:solidFill>
                <a:latin typeface="Montserrat"/>
              </a:defRPr>
            </a:pPr>
            <a:r>
              <a:t>vidéos fortes minimum</a:t>
            </a:r>
          </a:p>
          <a:p>
            <a:pPr>
              <a:lnSpc>
                <a:spcPts val="3300"/>
              </a:lnSpc>
              <a:spcBef>
                <a:spcPts val="0"/>
              </a:spcBef>
              <a:spcAft>
                <a:spcPts val="0"/>
              </a:spcAft>
              <a:defRPr sz="2700" b="1">
                <a:solidFill>
                  <a:srgbClr val="002C49"/>
                </a:solidFill>
                <a:latin typeface="Montserrat"/>
              </a:defRPr>
            </a:pPr>
            <a:r>
              <a:t>sur l’exercice</a:t>
            </a:r>
          </a:p>
        </p:txBody>
      </p:sp>
      <p:sp>
        <p:nvSpPr>
          <p:cNvPr id="21" name="Rectangle 20"/>
          <p:cNvSpPr/>
          <p:nvPr/>
        </p:nvSpPr>
        <p:spPr>
          <a:xfrm>
            <a:off x="822960" y="8842248"/>
            <a:ext cx="16642080" cy="10972"/>
          </a:xfrm>
          <a:prstGeom prst="rect">
            <a:avLst/>
          </a:prstGeom>
          <a:solidFill>
            <a:srgbClr val="D9E2E7"/>
          </a:solidFill>
          <a:ln>
            <a:noFill/>
          </a:ln>
        </p:spPr>
        <p:txBody>
          <a:bodyPr rtlCol="0" anchor="ctr"/>
          <a:lstStyle/>
          <a:p>
            <a:pPr algn="ctr"/>
          </a:p>
        </p:txBody>
      </p:sp>
      <p:sp>
        <p:nvSpPr>
          <p:cNvPr id="22" name="TextBox 21"/>
          <p:cNvSpPr txBox="1"/>
          <p:nvPr/>
        </p:nvSpPr>
        <p:spPr>
          <a:xfrm>
            <a:off x="868680" y="9043416"/>
            <a:ext cx="16486632" cy="768096"/>
          </a:xfrm>
          <a:prstGeom prst="rect">
            <a:avLst/>
          </a:prstGeom>
          <a:noFill/>
        </p:spPr>
        <p:txBody>
          <a:bodyPr wrap="square" lIns="0" rIns="0" tIns="0" bIns="0">
            <a:spAutoFit/>
          </a:bodyPr>
          <a:lstStyle/>
          <a:p>
            <a:pPr>
              <a:lnSpc>
                <a:spcPts val="2800"/>
              </a:lnSpc>
              <a:spcBef>
                <a:spcPts val="0"/>
              </a:spcBef>
              <a:spcAft>
                <a:spcPts val="0"/>
              </a:spcAft>
              <a:defRPr sz="2400" b="1">
                <a:solidFill>
                  <a:srgbClr val="002C49"/>
                </a:solidFill>
                <a:latin typeface="Montserrat"/>
              </a:defRPr>
            </a:pPr>
            <a:r>
              <a:t>Deux dispositifs distincts : les preuves cross-sell validées peuvent enrichir le kit.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3.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04–05 / CHANGE &amp; BUSINESS</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Rendre la performance compréhensible et utile.</a:t>
            </a:r>
          </a:p>
        </p:txBody>
      </p:sp>
      <p:sp>
        <p:nvSpPr>
          <p:cNvPr id="5" name="TextBox 4"/>
          <p:cNvSpPr txBox="1"/>
          <p:nvPr/>
        </p:nvSpPr>
        <p:spPr>
          <a:xfrm>
            <a:off x="868680" y="2742285"/>
            <a:ext cx="16504920" cy="54864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Trois dispositifs distincts, avec leurs objets et leurs rythmes propres.</a:t>
            </a:r>
          </a:p>
        </p:txBody>
      </p:sp>
      <p:sp>
        <p:nvSpPr>
          <p:cNvPr id="6" name="Rectangle 5"/>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7" name="TextBox 6"/>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8" name="TextBox 7"/>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09</a:t>
            </a:r>
          </a:p>
        </p:txBody>
      </p:sp>
      <p:sp>
        <p:nvSpPr>
          <p:cNvPr id="9" name="TextBox 8"/>
          <p:cNvSpPr txBox="1"/>
          <p:nvPr/>
        </p:nvSpPr>
        <p:spPr>
          <a:xfrm>
            <a:off x="896112" y="3675887"/>
            <a:ext cx="1737360" cy="365760"/>
          </a:xfrm>
          <a:prstGeom prst="rect">
            <a:avLst/>
          </a:prstGeom>
          <a:noFill/>
        </p:spPr>
        <p:txBody>
          <a:bodyPr wrap="square" lIns="0" rIns="0" tIns="0" bIns="0">
            <a:spAutoFit/>
          </a:bodyPr>
          <a:lstStyle/>
          <a:p>
            <a:pPr>
              <a:lnSpc>
                <a:spcPts val="1968"/>
              </a:lnSpc>
              <a:spcBef>
                <a:spcPts val="0"/>
              </a:spcBef>
              <a:spcAft>
                <a:spcPts val="0"/>
              </a:spcAft>
              <a:defRPr sz="1600" b="1">
                <a:solidFill>
                  <a:srgbClr val="FF6633"/>
                </a:solidFill>
                <a:latin typeface="Montserrat"/>
              </a:defRPr>
            </a:pPr>
            <a:r>
              <a:t>CHANGE</a:t>
            </a:r>
          </a:p>
        </p:txBody>
      </p:sp>
      <p:sp>
        <p:nvSpPr>
          <p:cNvPr id="10" name="TextBox 9"/>
          <p:cNvSpPr txBox="1"/>
          <p:nvPr/>
        </p:nvSpPr>
        <p:spPr>
          <a:xfrm>
            <a:off x="2788920" y="3675887"/>
            <a:ext cx="5669280" cy="1225296"/>
          </a:xfrm>
          <a:prstGeom prst="rect">
            <a:avLst/>
          </a:prstGeom>
          <a:noFill/>
        </p:spPr>
        <p:txBody>
          <a:bodyPr wrap="square" lIns="0" rIns="0" tIns="0" bIns="0">
            <a:spAutoFit/>
          </a:bodyPr>
          <a:lstStyle/>
          <a:p>
            <a:pPr>
              <a:lnSpc>
                <a:spcPts val="3300"/>
              </a:lnSpc>
              <a:spcBef>
                <a:spcPts val="0"/>
              </a:spcBef>
              <a:spcAft>
                <a:spcPts val="0"/>
              </a:spcAft>
              <a:defRPr sz="2700" b="1">
                <a:solidFill>
                  <a:srgbClr val="002C49"/>
                </a:solidFill>
                <a:latin typeface="Montserrat"/>
              </a:defRPr>
            </a:pPr>
            <a:r>
              <a:t>Les offres qui performent</a:t>
            </a:r>
          </a:p>
        </p:txBody>
      </p:sp>
      <p:sp>
        <p:nvSpPr>
          <p:cNvPr id="11" name="TextBox 10"/>
          <p:cNvSpPr txBox="1"/>
          <p:nvPr/>
        </p:nvSpPr>
        <p:spPr>
          <a:xfrm>
            <a:off x="8915400" y="3712463"/>
            <a:ext cx="5376672" cy="1252728"/>
          </a:xfrm>
          <a:prstGeom prst="rect">
            <a:avLst/>
          </a:prstGeom>
          <a:noFill/>
        </p:spPr>
        <p:txBody>
          <a:bodyPr wrap="square" lIns="0" rIns="0" tIns="0" bIns="0">
            <a:spAutoFit/>
          </a:bodyPr>
          <a:lstStyle/>
          <a:p>
            <a:pPr>
              <a:lnSpc>
                <a:spcPts val="3200"/>
              </a:lnSpc>
              <a:spcBef>
                <a:spcPts val="0"/>
              </a:spcBef>
              <a:spcAft>
                <a:spcPts val="0"/>
              </a:spcAft>
              <a:defRPr sz="2500" b="0">
                <a:solidFill>
                  <a:srgbClr val="526777"/>
                </a:solidFill>
                <a:latin typeface="Montserrat"/>
              </a:defRPr>
            </a:pPr>
            <a:r>
              <a:t>Podium des offres + cible client</a:t>
            </a:r>
          </a:p>
          <a:p>
            <a:pPr>
              <a:lnSpc>
                <a:spcPts val="3200"/>
              </a:lnSpc>
              <a:spcBef>
                <a:spcPts val="0"/>
              </a:spcBef>
              <a:spcAft>
                <a:spcPts val="0"/>
              </a:spcAft>
              <a:defRPr sz="2500" b="0">
                <a:solidFill>
                  <a:srgbClr val="526777"/>
                </a:solidFill>
                <a:latin typeface="Montserrat"/>
              </a:defRPr>
            </a:pPr>
            <a:r>
              <a:t>+ bénéfice + réflexe commercial.</a:t>
            </a:r>
          </a:p>
        </p:txBody>
      </p:sp>
      <p:sp>
        <p:nvSpPr>
          <p:cNvPr id="12" name="TextBox 11"/>
          <p:cNvSpPr txBox="1"/>
          <p:nvPr/>
        </p:nvSpPr>
        <p:spPr>
          <a:xfrm>
            <a:off x="14950440" y="3712463"/>
            <a:ext cx="2423160" cy="1024128"/>
          </a:xfrm>
          <a:prstGeom prst="rect">
            <a:avLst/>
          </a:prstGeom>
          <a:noFill/>
        </p:spPr>
        <p:txBody>
          <a:bodyPr wrap="square" lIns="0" rIns="0" tIns="0" bIns="0">
            <a:spAutoFit/>
          </a:bodyPr>
          <a:lstStyle/>
          <a:p>
            <a:pPr>
              <a:lnSpc>
                <a:spcPts val="3100"/>
              </a:lnSpc>
              <a:spcBef>
                <a:spcPts val="0"/>
              </a:spcBef>
              <a:spcAft>
                <a:spcPts val="0"/>
              </a:spcAft>
              <a:defRPr sz="2400" b="0">
                <a:solidFill>
                  <a:srgbClr val="002C49"/>
                </a:solidFill>
                <a:latin typeface="Montserrat"/>
              </a:defRPr>
            </a:pPr>
            <a:r>
              <a:t>Oct. → mi-déc.</a:t>
            </a:r>
          </a:p>
          <a:p>
            <a:pPr>
              <a:lnSpc>
                <a:spcPts val="3100"/>
              </a:lnSpc>
              <a:spcBef>
                <a:spcPts val="0"/>
              </a:spcBef>
              <a:spcAft>
                <a:spcPts val="0"/>
              </a:spcAft>
              <a:defRPr sz="2400" b="0">
                <a:solidFill>
                  <a:srgbClr val="002C49"/>
                </a:solidFill>
                <a:latin typeface="Montserrat"/>
              </a:defRPr>
            </a:pPr>
            <a:r>
              <a:t>Fév. → avr.</a:t>
            </a:r>
          </a:p>
        </p:txBody>
      </p:sp>
      <p:sp>
        <p:nvSpPr>
          <p:cNvPr id="13" name="Rectangle 12"/>
          <p:cNvSpPr/>
          <p:nvPr/>
        </p:nvSpPr>
        <p:spPr>
          <a:xfrm>
            <a:off x="896112" y="5010912"/>
            <a:ext cx="16459200" cy="10972"/>
          </a:xfrm>
          <a:prstGeom prst="rect">
            <a:avLst/>
          </a:prstGeom>
          <a:solidFill>
            <a:srgbClr val="D9E2E7"/>
          </a:solidFill>
          <a:ln>
            <a:noFill/>
          </a:ln>
        </p:spPr>
        <p:txBody>
          <a:bodyPr rtlCol="0" anchor="ctr"/>
          <a:lstStyle/>
          <a:p>
            <a:pPr algn="ctr"/>
          </a:p>
        </p:txBody>
      </p:sp>
      <p:sp>
        <p:nvSpPr>
          <p:cNvPr id="14" name="TextBox 13"/>
          <p:cNvSpPr txBox="1"/>
          <p:nvPr/>
        </p:nvSpPr>
        <p:spPr>
          <a:xfrm>
            <a:off x="896112" y="5184648"/>
            <a:ext cx="1737360" cy="365760"/>
          </a:xfrm>
          <a:prstGeom prst="rect">
            <a:avLst/>
          </a:prstGeom>
          <a:noFill/>
        </p:spPr>
        <p:txBody>
          <a:bodyPr wrap="square" lIns="0" rIns="0" tIns="0" bIns="0">
            <a:spAutoFit/>
          </a:bodyPr>
          <a:lstStyle/>
          <a:p>
            <a:pPr>
              <a:lnSpc>
                <a:spcPts val="1968"/>
              </a:lnSpc>
              <a:spcBef>
                <a:spcPts val="0"/>
              </a:spcBef>
              <a:spcAft>
                <a:spcPts val="0"/>
              </a:spcAft>
              <a:defRPr sz="1600" b="1">
                <a:solidFill>
                  <a:srgbClr val="FF6633"/>
                </a:solidFill>
                <a:latin typeface="Montserrat"/>
              </a:defRPr>
            </a:pPr>
            <a:r>
              <a:t>CHANGE</a:t>
            </a:r>
          </a:p>
        </p:txBody>
      </p:sp>
      <p:sp>
        <p:nvSpPr>
          <p:cNvPr id="15" name="TextBox 14"/>
          <p:cNvSpPr txBox="1"/>
          <p:nvPr/>
        </p:nvSpPr>
        <p:spPr>
          <a:xfrm>
            <a:off x="2788920" y="5184648"/>
            <a:ext cx="5669280" cy="1225296"/>
          </a:xfrm>
          <a:prstGeom prst="rect">
            <a:avLst/>
          </a:prstGeom>
          <a:noFill/>
        </p:spPr>
        <p:txBody>
          <a:bodyPr wrap="square" lIns="0" rIns="0" tIns="0" bIns="0">
            <a:spAutoFit/>
          </a:bodyPr>
          <a:lstStyle/>
          <a:p>
            <a:pPr>
              <a:lnSpc>
                <a:spcPts val="3300"/>
              </a:lnSpc>
              <a:spcBef>
                <a:spcPts val="0"/>
              </a:spcBef>
              <a:spcAft>
                <a:spcPts val="0"/>
              </a:spcAft>
              <a:defRPr sz="2700" b="1">
                <a:solidFill>
                  <a:srgbClr val="002C49"/>
                </a:solidFill>
                <a:latin typeface="Montserrat"/>
              </a:defRPr>
            </a:pPr>
            <a:r>
              <a:t>Relais de la performance</a:t>
            </a:r>
          </a:p>
          <a:p>
            <a:pPr>
              <a:lnSpc>
                <a:spcPts val="3300"/>
              </a:lnSpc>
              <a:spcBef>
                <a:spcPts val="0"/>
              </a:spcBef>
              <a:spcAft>
                <a:spcPts val="0"/>
              </a:spcAft>
              <a:defRPr sz="2700" b="1">
                <a:solidFill>
                  <a:srgbClr val="002C49"/>
                </a:solidFill>
                <a:latin typeface="Montserrat"/>
              </a:defRPr>
            </a:pPr>
            <a:r>
              <a:t>post-All Staff</a:t>
            </a:r>
          </a:p>
        </p:txBody>
      </p:sp>
      <p:sp>
        <p:nvSpPr>
          <p:cNvPr id="16" name="TextBox 15"/>
          <p:cNvSpPr txBox="1"/>
          <p:nvPr/>
        </p:nvSpPr>
        <p:spPr>
          <a:xfrm>
            <a:off x="8915400" y="5221224"/>
            <a:ext cx="5376672" cy="1252728"/>
          </a:xfrm>
          <a:prstGeom prst="rect">
            <a:avLst/>
          </a:prstGeom>
          <a:noFill/>
        </p:spPr>
        <p:txBody>
          <a:bodyPr wrap="square" lIns="0" rIns="0" tIns="0" bIns="0">
            <a:spAutoFit/>
          </a:bodyPr>
          <a:lstStyle/>
          <a:p>
            <a:pPr>
              <a:lnSpc>
                <a:spcPts val="3200"/>
              </a:lnSpc>
              <a:spcBef>
                <a:spcPts val="0"/>
              </a:spcBef>
              <a:spcAft>
                <a:spcPts val="0"/>
              </a:spcAft>
              <a:defRPr sz="2500" b="0">
                <a:solidFill>
                  <a:srgbClr val="526777"/>
                </a:solidFill>
                <a:latin typeface="Montserrat"/>
              </a:defRPr>
            </a:pPr>
            <a:r>
              <a:t>Décliner les chiffres et tableaux</a:t>
            </a:r>
          </a:p>
          <a:p>
            <a:pPr>
              <a:lnSpc>
                <a:spcPts val="3200"/>
              </a:lnSpc>
              <a:spcBef>
                <a:spcPts val="0"/>
              </a:spcBef>
              <a:spcAft>
                <a:spcPts val="0"/>
              </a:spcAft>
              <a:defRPr sz="2500" b="0">
                <a:solidFill>
                  <a:srgbClr val="526777"/>
                </a:solidFill>
                <a:latin typeface="Montserrat"/>
              </a:defRPr>
            </a:pPr>
            <a:r>
              <a:t>validés par Direction / Finance.</a:t>
            </a:r>
          </a:p>
        </p:txBody>
      </p:sp>
      <p:sp>
        <p:nvSpPr>
          <p:cNvPr id="17" name="TextBox 16"/>
          <p:cNvSpPr txBox="1"/>
          <p:nvPr/>
        </p:nvSpPr>
        <p:spPr>
          <a:xfrm>
            <a:off x="14950440" y="5221224"/>
            <a:ext cx="2423160" cy="1024128"/>
          </a:xfrm>
          <a:prstGeom prst="rect">
            <a:avLst/>
          </a:prstGeom>
          <a:noFill/>
        </p:spPr>
        <p:txBody>
          <a:bodyPr wrap="square" lIns="0" rIns="0" tIns="0" bIns="0">
            <a:spAutoFit/>
          </a:bodyPr>
          <a:lstStyle/>
          <a:p>
            <a:pPr>
              <a:lnSpc>
                <a:spcPts val="3100"/>
              </a:lnSpc>
              <a:spcBef>
                <a:spcPts val="0"/>
              </a:spcBef>
              <a:spcAft>
                <a:spcPts val="0"/>
              </a:spcAft>
              <a:defRPr sz="2400" b="0">
                <a:solidFill>
                  <a:srgbClr val="002C49"/>
                </a:solidFill>
                <a:latin typeface="Montserrat"/>
              </a:defRPr>
            </a:pPr>
            <a:r>
              <a:t>Après chaque</a:t>
            </a:r>
          </a:p>
          <a:p>
            <a:pPr>
              <a:lnSpc>
                <a:spcPts val="3100"/>
              </a:lnSpc>
              <a:spcBef>
                <a:spcPts val="0"/>
              </a:spcBef>
              <a:spcAft>
                <a:spcPts val="0"/>
              </a:spcAft>
              <a:defRPr sz="2400" b="0">
                <a:solidFill>
                  <a:srgbClr val="002C49"/>
                </a:solidFill>
                <a:latin typeface="Montserrat"/>
              </a:defRPr>
            </a:pPr>
            <a:r>
              <a:t>All Staff</a:t>
            </a:r>
          </a:p>
        </p:txBody>
      </p:sp>
      <p:sp>
        <p:nvSpPr>
          <p:cNvPr id="18" name="Rectangle 17"/>
          <p:cNvSpPr/>
          <p:nvPr/>
        </p:nvSpPr>
        <p:spPr>
          <a:xfrm>
            <a:off x="896112" y="6519672"/>
            <a:ext cx="16459200" cy="10972"/>
          </a:xfrm>
          <a:prstGeom prst="rect">
            <a:avLst/>
          </a:prstGeom>
          <a:solidFill>
            <a:srgbClr val="D9E2E7"/>
          </a:solidFill>
          <a:ln>
            <a:noFill/>
          </a:ln>
        </p:spPr>
        <p:txBody>
          <a:bodyPr rtlCol="0" anchor="ctr"/>
          <a:lstStyle/>
          <a:p>
            <a:pPr algn="ctr"/>
          </a:p>
        </p:txBody>
      </p:sp>
      <p:sp>
        <p:nvSpPr>
          <p:cNvPr id="19" name="TextBox 18"/>
          <p:cNvSpPr txBox="1"/>
          <p:nvPr/>
        </p:nvSpPr>
        <p:spPr>
          <a:xfrm>
            <a:off x="896112" y="6693407"/>
            <a:ext cx="1737360" cy="365760"/>
          </a:xfrm>
          <a:prstGeom prst="rect">
            <a:avLst/>
          </a:prstGeom>
          <a:noFill/>
        </p:spPr>
        <p:txBody>
          <a:bodyPr wrap="square" lIns="0" rIns="0" tIns="0" bIns="0">
            <a:spAutoFit/>
          </a:bodyPr>
          <a:lstStyle/>
          <a:p>
            <a:pPr>
              <a:lnSpc>
                <a:spcPts val="1968"/>
              </a:lnSpc>
              <a:spcBef>
                <a:spcPts val="0"/>
              </a:spcBef>
              <a:spcAft>
                <a:spcPts val="0"/>
              </a:spcAft>
              <a:defRPr sz="1600" b="1">
                <a:solidFill>
                  <a:srgbClr val="FF6633"/>
                </a:solidFill>
                <a:latin typeface="Montserrat"/>
              </a:defRPr>
            </a:pPr>
            <a:r>
              <a:t>BUSINESS</a:t>
            </a:r>
          </a:p>
        </p:txBody>
      </p:sp>
      <p:sp>
        <p:nvSpPr>
          <p:cNvPr id="20" name="TextBox 19"/>
          <p:cNvSpPr txBox="1"/>
          <p:nvPr/>
        </p:nvSpPr>
        <p:spPr>
          <a:xfrm>
            <a:off x="2788920" y="6693407"/>
            <a:ext cx="5669280" cy="1225296"/>
          </a:xfrm>
          <a:prstGeom prst="rect">
            <a:avLst/>
          </a:prstGeom>
          <a:noFill/>
        </p:spPr>
        <p:txBody>
          <a:bodyPr wrap="square" lIns="0" rIns="0" tIns="0" bIns="0">
            <a:spAutoFit/>
          </a:bodyPr>
          <a:lstStyle/>
          <a:p>
            <a:pPr>
              <a:lnSpc>
                <a:spcPts val="3300"/>
              </a:lnSpc>
              <a:spcBef>
                <a:spcPts val="0"/>
              </a:spcBef>
              <a:spcAft>
                <a:spcPts val="0"/>
              </a:spcAft>
              <a:defRPr sz="2700" b="1">
                <a:solidFill>
                  <a:srgbClr val="002C49"/>
                </a:solidFill>
                <a:latin typeface="Montserrat"/>
              </a:defRPr>
            </a:pPr>
            <a:r>
              <a:t>Top Performers</a:t>
            </a:r>
          </a:p>
        </p:txBody>
      </p:sp>
      <p:sp>
        <p:nvSpPr>
          <p:cNvPr id="21" name="TextBox 20"/>
          <p:cNvSpPr txBox="1"/>
          <p:nvPr/>
        </p:nvSpPr>
        <p:spPr>
          <a:xfrm>
            <a:off x="8915400" y="6729983"/>
            <a:ext cx="5376672" cy="1252728"/>
          </a:xfrm>
          <a:prstGeom prst="rect">
            <a:avLst/>
          </a:prstGeom>
          <a:noFill/>
        </p:spPr>
        <p:txBody>
          <a:bodyPr wrap="square" lIns="0" rIns="0" tIns="0" bIns="0">
            <a:spAutoFit/>
          </a:bodyPr>
          <a:lstStyle/>
          <a:p>
            <a:pPr>
              <a:lnSpc>
                <a:spcPts val="3200"/>
              </a:lnSpc>
              <a:spcBef>
                <a:spcPts val="0"/>
              </a:spcBef>
              <a:spcAft>
                <a:spcPts val="0"/>
              </a:spcAft>
              <a:defRPr sz="2500" b="0">
                <a:solidFill>
                  <a:srgbClr val="526777"/>
                </a:solidFill>
                <a:latin typeface="Montserrat"/>
              </a:defRPr>
            </a:pPr>
            <a:r>
              <a:t>Valoriser la performance</a:t>
            </a:r>
          </a:p>
          <a:p>
            <a:pPr>
              <a:lnSpc>
                <a:spcPts val="3200"/>
              </a:lnSpc>
              <a:spcBef>
                <a:spcPts val="0"/>
              </a:spcBef>
              <a:spcAft>
                <a:spcPts val="0"/>
              </a:spcAft>
              <a:defRPr sz="2500" b="0">
                <a:solidFill>
                  <a:srgbClr val="526777"/>
                </a:solidFill>
                <a:latin typeface="Montserrat"/>
              </a:defRPr>
            </a:pPr>
            <a:r>
              <a:t>individuelle / collective.</a:t>
            </a:r>
          </a:p>
        </p:txBody>
      </p:sp>
      <p:sp>
        <p:nvSpPr>
          <p:cNvPr id="22" name="TextBox 21"/>
          <p:cNvSpPr txBox="1"/>
          <p:nvPr/>
        </p:nvSpPr>
        <p:spPr>
          <a:xfrm>
            <a:off x="14950440" y="6729983"/>
            <a:ext cx="2423160" cy="1024128"/>
          </a:xfrm>
          <a:prstGeom prst="rect">
            <a:avLst/>
          </a:prstGeom>
          <a:noFill/>
        </p:spPr>
        <p:txBody>
          <a:bodyPr wrap="square" lIns="0" rIns="0" tIns="0" bIns="0">
            <a:spAutoFit/>
          </a:bodyPr>
          <a:lstStyle/>
          <a:p>
            <a:pPr>
              <a:lnSpc>
                <a:spcPts val="3100"/>
              </a:lnSpc>
              <a:spcBef>
                <a:spcPts val="0"/>
              </a:spcBef>
              <a:spcAft>
                <a:spcPts val="0"/>
              </a:spcAft>
              <a:defRPr sz="2400" b="0">
                <a:solidFill>
                  <a:srgbClr val="002C49"/>
                </a:solidFill>
                <a:latin typeface="Montserrat"/>
              </a:defRPr>
            </a:pPr>
            <a:r>
              <a:t>Oct. → mi-déc.</a:t>
            </a:r>
          </a:p>
          <a:p>
            <a:pPr>
              <a:lnSpc>
                <a:spcPts val="3100"/>
              </a:lnSpc>
              <a:spcBef>
                <a:spcPts val="0"/>
              </a:spcBef>
              <a:spcAft>
                <a:spcPts val="0"/>
              </a:spcAft>
              <a:defRPr sz="2400" b="0">
                <a:solidFill>
                  <a:srgbClr val="002C49"/>
                </a:solidFill>
                <a:latin typeface="Montserrat"/>
              </a:defRPr>
            </a:pPr>
            <a:r>
              <a:t>Fév. → avr.</a:t>
            </a:r>
          </a:p>
        </p:txBody>
      </p:sp>
      <p:sp>
        <p:nvSpPr>
          <p:cNvPr id="23" name="Rectangle 22"/>
          <p:cNvSpPr/>
          <p:nvPr/>
        </p:nvSpPr>
        <p:spPr>
          <a:xfrm>
            <a:off x="822960" y="8823960"/>
            <a:ext cx="16642080" cy="10972"/>
          </a:xfrm>
          <a:prstGeom prst="rect">
            <a:avLst/>
          </a:prstGeom>
          <a:solidFill>
            <a:srgbClr val="D9E2E7"/>
          </a:solidFill>
          <a:ln>
            <a:noFill/>
          </a:ln>
        </p:spPr>
        <p:txBody>
          <a:bodyPr rtlCol="0" anchor="ctr"/>
          <a:lstStyle/>
          <a:p>
            <a:pPr algn="ctr"/>
          </a:p>
        </p:txBody>
      </p:sp>
      <p:sp>
        <p:nvSpPr>
          <p:cNvPr id="24" name="TextBox 23"/>
          <p:cNvSpPr txBox="1"/>
          <p:nvPr/>
        </p:nvSpPr>
        <p:spPr>
          <a:xfrm>
            <a:off x="868680" y="9025128"/>
            <a:ext cx="16486632" cy="768096"/>
          </a:xfrm>
          <a:prstGeom prst="rect">
            <a:avLst/>
          </a:prstGeom>
          <a:noFill/>
        </p:spPr>
        <p:txBody>
          <a:bodyPr wrap="square" lIns="0" rIns="0" tIns="0" bIns="0">
            <a:spAutoFit/>
          </a:bodyPr>
          <a:lstStyle/>
          <a:p>
            <a:pPr>
              <a:lnSpc>
                <a:spcPts val="2800"/>
              </a:lnSpc>
              <a:spcBef>
                <a:spcPts val="0"/>
              </a:spcBef>
              <a:spcAft>
                <a:spcPts val="0"/>
              </a:spcAft>
              <a:defRPr sz="2400" b="1">
                <a:solidFill>
                  <a:srgbClr val="002C49"/>
                </a:solidFill>
                <a:latin typeface="Montserrat"/>
              </a:defRPr>
            </a:pPr>
            <a:r>
              <a:t>Réutiliser les données validées ; adapter leur présentation au public et au canal.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3.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05 / BUSINESS</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Renforcer la preuve de valeur pour les clients.</a:t>
            </a:r>
          </a:p>
        </p:txBody>
      </p:sp>
      <p:sp>
        <p:nvSpPr>
          <p:cNvPr id="5" name="TextBox 4"/>
          <p:cNvSpPr txBox="1"/>
          <p:nvPr/>
        </p:nvSpPr>
        <p:spPr>
          <a:xfrm>
            <a:off x="868680" y="2742285"/>
            <a:ext cx="16504920" cy="54864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Communication accompagne Marketing, Business et Customer Success.</a:t>
            </a:r>
          </a:p>
        </p:txBody>
      </p:sp>
      <p:sp>
        <p:nvSpPr>
          <p:cNvPr id="6" name="Rectangle 5"/>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7" name="TextBox 6"/>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8" name="TextBox 7"/>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10</a:t>
            </a:r>
          </a:p>
        </p:txBody>
      </p:sp>
      <p:sp>
        <p:nvSpPr>
          <p:cNvPr id="9" name="TextBox 8"/>
          <p:cNvSpPr txBox="1"/>
          <p:nvPr/>
        </p:nvSpPr>
        <p:spPr>
          <a:xfrm>
            <a:off x="868680" y="3657600"/>
            <a:ext cx="5212080" cy="566928"/>
          </a:xfrm>
          <a:prstGeom prst="rect">
            <a:avLst/>
          </a:prstGeom>
          <a:noFill/>
        </p:spPr>
        <p:txBody>
          <a:bodyPr wrap="square" lIns="0" rIns="0" tIns="0" bIns="0">
            <a:spAutoFit/>
          </a:bodyPr>
          <a:lstStyle/>
          <a:p>
            <a:pPr>
              <a:lnSpc>
                <a:spcPts val="2952"/>
              </a:lnSpc>
              <a:spcBef>
                <a:spcPts val="0"/>
              </a:spcBef>
              <a:spcAft>
                <a:spcPts val="0"/>
              </a:spcAft>
              <a:defRPr sz="2400" b="1">
                <a:solidFill>
                  <a:srgbClr val="FF6633"/>
                </a:solidFill>
                <a:latin typeface="Montserrat"/>
              </a:defRPr>
            </a:pPr>
            <a:r>
              <a:t>PROBLÈME</a:t>
            </a:r>
          </a:p>
        </p:txBody>
      </p:sp>
      <p:sp>
        <p:nvSpPr>
          <p:cNvPr id="10" name="TextBox 9"/>
          <p:cNvSpPr txBox="1"/>
          <p:nvPr/>
        </p:nvSpPr>
        <p:spPr>
          <a:xfrm>
            <a:off x="868680" y="4462272"/>
            <a:ext cx="5029200" cy="731520"/>
          </a:xfrm>
          <a:prstGeom prst="rect">
            <a:avLst/>
          </a:prstGeom>
          <a:noFill/>
        </p:spPr>
        <p:txBody>
          <a:bodyPr wrap="square" lIns="0" rIns="0" tIns="0" bIns="0">
            <a:spAutoFit/>
          </a:bodyPr>
          <a:lstStyle/>
          <a:p>
            <a:pPr>
              <a:lnSpc>
                <a:spcPts val="3444"/>
              </a:lnSpc>
              <a:spcBef>
                <a:spcPts val="0"/>
              </a:spcBef>
              <a:spcAft>
                <a:spcPts val="0"/>
              </a:spcAft>
              <a:defRPr sz="2800" b="0">
                <a:solidFill>
                  <a:srgbClr val="002C49"/>
                </a:solidFill>
                <a:latin typeface="Montserrat"/>
              </a:defRPr>
            </a:pPr>
            <a:r>
              <a:t>Le besoin client</a:t>
            </a:r>
          </a:p>
        </p:txBody>
      </p:sp>
      <p:sp>
        <p:nvSpPr>
          <p:cNvPr id="11" name="TextBox 10"/>
          <p:cNvSpPr txBox="1"/>
          <p:nvPr/>
        </p:nvSpPr>
        <p:spPr>
          <a:xfrm>
            <a:off x="6446520" y="3657600"/>
            <a:ext cx="5212080" cy="566928"/>
          </a:xfrm>
          <a:prstGeom prst="rect">
            <a:avLst/>
          </a:prstGeom>
          <a:noFill/>
        </p:spPr>
        <p:txBody>
          <a:bodyPr wrap="square" lIns="0" rIns="0" tIns="0" bIns="0">
            <a:spAutoFit/>
          </a:bodyPr>
          <a:lstStyle/>
          <a:p>
            <a:pPr>
              <a:lnSpc>
                <a:spcPts val="2952"/>
              </a:lnSpc>
              <a:spcBef>
                <a:spcPts val="0"/>
              </a:spcBef>
              <a:spcAft>
                <a:spcPts val="0"/>
              </a:spcAft>
              <a:defRPr sz="2400" b="1">
                <a:solidFill>
                  <a:srgbClr val="FF6633"/>
                </a:solidFill>
                <a:latin typeface="Montserrat"/>
              </a:defRPr>
            </a:pPr>
            <a:r>
              <a:t>ACCOMPAGNEMENT LEYTON</a:t>
            </a:r>
          </a:p>
        </p:txBody>
      </p:sp>
      <p:sp>
        <p:nvSpPr>
          <p:cNvPr id="12" name="TextBox 11"/>
          <p:cNvSpPr txBox="1"/>
          <p:nvPr/>
        </p:nvSpPr>
        <p:spPr>
          <a:xfrm>
            <a:off x="6446520" y="4462272"/>
            <a:ext cx="5029200" cy="731520"/>
          </a:xfrm>
          <a:prstGeom prst="rect">
            <a:avLst/>
          </a:prstGeom>
          <a:noFill/>
        </p:spPr>
        <p:txBody>
          <a:bodyPr wrap="square" lIns="0" rIns="0" tIns="0" bIns="0">
            <a:spAutoFit/>
          </a:bodyPr>
          <a:lstStyle/>
          <a:p>
            <a:pPr>
              <a:lnSpc>
                <a:spcPts val="3444"/>
              </a:lnSpc>
              <a:spcBef>
                <a:spcPts val="0"/>
              </a:spcBef>
              <a:spcAft>
                <a:spcPts val="0"/>
              </a:spcAft>
              <a:defRPr sz="2800" b="0">
                <a:solidFill>
                  <a:srgbClr val="002C49"/>
                </a:solidFill>
                <a:latin typeface="Montserrat"/>
              </a:defRPr>
            </a:pPr>
            <a:r>
              <a:t>L’expertise mobilisée</a:t>
            </a:r>
          </a:p>
        </p:txBody>
      </p:sp>
      <p:sp>
        <p:nvSpPr>
          <p:cNvPr id="13" name="TextBox 12"/>
          <p:cNvSpPr txBox="1"/>
          <p:nvPr/>
        </p:nvSpPr>
        <p:spPr>
          <a:xfrm>
            <a:off x="12024359" y="3657600"/>
            <a:ext cx="5212080" cy="566928"/>
          </a:xfrm>
          <a:prstGeom prst="rect">
            <a:avLst/>
          </a:prstGeom>
          <a:noFill/>
        </p:spPr>
        <p:txBody>
          <a:bodyPr wrap="square" lIns="0" rIns="0" tIns="0" bIns="0">
            <a:spAutoFit/>
          </a:bodyPr>
          <a:lstStyle/>
          <a:p>
            <a:pPr>
              <a:lnSpc>
                <a:spcPts val="2952"/>
              </a:lnSpc>
              <a:spcBef>
                <a:spcPts val="0"/>
              </a:spcBef>
              <a:spcAft>
                <a:spcPts val="0"/>
              </a:spcAft>
              <a:defRPr sz="2400" b="1">
                <a:solidFill>
                  <a:srgbClr val="FF6633"/>
                </a:solidFill>
                <a:latin typeface="Montserrat"/>
              </a:defRPr>
            </a:pPr>
            <a:r>
              <a:t>RÉSULTAT / VALEUR</a:t>
            </a:r>
          </a:p>
        </p:txBody>
      </p:sp>
      <p:sp>
        <p:nvSpPr>
          <p:cNvPr id="14" name="TextBox 13"/>
          <p:cNvSpPr txBox="1"/>
          <p:nvPr/>
        </p:nvSpPr>
        <p:spPr>
          <a:xfrm>
            <a:off x="12024359" y="4462272"/>
            <a:ext cx="5029200" cy="731520"/>
          </a:xfrm>
          <a:prstGeom prst="rect">
            <a:avLst/>
          </a:prstGeom>
          <a:noFill/>
        </p:spPr>
        <p:txBody>
          <a:bodyPr wrap="square" lIns="0" rIns="0" tIns="0" bIns="0">
            <a:spAutoFit/>
          </a:bodyPr>
          <a:lstStyle/>
          <a:p>
            <a:pPr>
              <a:lnSpc>
                <a:spcPts val="3444"/>
              </a:lnSpc>
              <a:spcBef>
                <a:spcPts val="0"/>
              </a:spcBef>
              <a:spcAft>
                <a:spcPts val="0"/>
              </a:spcAft>
              <a:defRPr sz="2800" b="0">
                <a:solidFill>
                  <a:srgbClr val="002C49"/>
                </a:solidFill>
                <a:latin typeface="Montserrat"/>
              </a:defRPr>
            </a:pPr>
            <a:r>
              <a:t>Le bénéfice démontré</a:t>
            </a:r>
          </a:p>
        </p:txBody>
      </p:sp>
      <p:sp>
        <p:nvSpPr>
          <p:cNvPr id="15" name="Rectangle 14"/>
          <p:cNvSpPr/>
          <p:nvPr/>
        </p:nvSpPr>
        <p:spPr>
          <a:xfrm>
            <a:off x="868680" y="5577840"/>
            <a:ext cx="16550640" cy="10972"/>
          </a:xfrm>
          <a:prstGeom prst="rect">
            <a:avLst/>
          </a:prstGeom>
          <a:solidFill>
            <a:srgbClr val="D9E2E7"/>
          </a:solidFill>
          <a:ln>
            <a:noFill/>
          </a:ln>
        </p:spPr>
        <p:txBody>
          <a:bodyPr rtlCol="0" anchor="ctr"/>
          <a:lstStyle/>
          <a:p>
            <a:pPr algn="ctr"/>
          </a:p>
        </p:txBody>
      </p:sp>
      <p:sp>
        <p:nvSpPr>
          <p:cNvPr id="16" name="TextBox 15"/>
          <p:cNvSpPr txBox="1"/>
          <p:nvPr/>
        </p:nvSpPr>
        <p:spPr>
          <a:xfrm>
            <a:off x="896112" y="5943600"/>
            <a:ext cx="7726679" cy="621792"/>
          </a:xfrm>
          <a:prstGeom prst="rect">
            <a:avLst/>
          </a:prstGeom>
          <a:noFill/>
        </p:spPr>
        <p:txBody>
          <a:bodyPr wrap="square" lIns="0" rIns="0" tIns="0" bIns="0">
            <a:spAutoFit/>
          </a:bodyPr>
          <a:lstStyle/>
          <a:p>
            <a:pPr>
              <a:lnSpc>
                <a:spcPts val="2900"/>
              </a:lnSpc>
              <a:spcBef>
                <a:spcPts val="0"/>
              </a:spcBef>
              <a:spcAft>
                <a:spcPts val="0"/>
              </a:spcAft>
              <a:defRPr sz="2500" b="1">
                <a:solidFill>
                  <a:srgbClr val="002C49"/>
                </a:solidFill>
                <a:latin typeface="Montserrat"/>
              </a:defRPr>
            </a:pPr>
            <a:r>
              <a:t>Témoignages clients premium</a:t>
            </a:r>
          </a:p>
        </p:txBody>
      </p:sp>
      <p:sp>
        <p:nvSpPr>
          <p:cNvPr id="17" name="TextBox 16"/>
          <p:cNvSpPr txBox="1"/>
          <p:nvPr/>
        </p:nvSpPr>
        <p:spPr>
          <a:xfrm>
            <a:off x="9235440" y="5971032"/>
            <a:ext cx="8046720" cy="640080"/>
          </a:xfrm>
          <a:prstGeom prst="rect">
            <a:avLst/>
          </a:prstGeom>
          <a:noFill/>
        </p:spPr>
        <p:txBody>
          <a:bodyPr wrap="square" lIns="0" rIns="0" tIns="0" bIns="0">
            <a:spAutoFit/>
          </a:bodyPr>
          <a:lstStyle/>
          <a:p>
            <a:pPr>
              <a:lnSpc>
                <a:spcPts val="2900"/>
              </a:lnSpc>
              <a:spcBef>
                <a:spcPts val="0"/>
              </a:spcBef>
              <a:spcAft>
                <a:spcPts val="0"/>
              </a:spcAft>
              <a:defRPr sz="2500" b="0">
                <a:solidFill>
                  <a:srgbClr val="526777"/>
                </a:solidFill>
                <a:latin typeface="Montserrat"/>
              </a:defRPr>
            </a:pPr>
            <a:r>
              <a:t>Vidéo ; priorité PME / ETI / Grands Comptes.</a:t>
            </a:r>
          </a:p>
        </p:txBody>
      </p:sp>
      <p:sp>
        <p:nvSpPr>
          <p:cNvPr id="18" name="TextBox 17"/>
          <p:cNvSpPr txBox="1"/>
          <p:nvPr/>
        </p:nvSpPr>
        <p:spPr>
          <a:xfrm>
            <a:off x="896112" y="6729984"/>
            <a:ext cx="7726679" cy="621792"/>
          </a:xfrm>
          <a:prstGeom prst="rect">
            <a:avLst/>
          </a:prstGeom>
          <a:noFill/>
        </p:spPr>
        <p:txBody>
          <a:bodyPr wrap="square" lIns="0" rIns="0" tIns="0" bIns="0">
            <a:spAutoFit/>
          </a:bodyPr>
          <a:lstStyle/>
          <a:p>
            <a:pPr>
              <a:lnSpc>
                <a:spcPts val="2900"/>
              </a:lnSpc>
              <a:spcBef>
                <a:spcPts val="0"/>
              </a:spcBef>
              <a:spcAft>
                <a:spcPts val="0"/>
              </a:spcAft>
              <a:defRPr sz="2500" b="1">
                <a:solidFill>
                  <a:srgbClr val="002C49"/>
                </a:solidFill>
                <a:latin typeface="Montserrat"/>
              </a:defRPr>
            </a:pPr>
            <a:r>
              <a:t>Valorisation des outils orientés client</a:t>
            </a:r>
          </a:p>
        </p:txBody>
      </p:sp>
      <p:sp>
        <p:nvSpPr>
          <p:cNvPr id="19" name="TextBox 18"/>
          <p:cNvSpPr txBox="1"/>
          <p:nvPr/>
        </p:nvSpPr>
        <p:spPr>
          <a:xfrm>
            <a:off x="9235440" y="6757416"/>
            <a:ext cx="8046720" cy="640080"/>
          </a:xfrm>
          <a:prstGeom prst="rect">
            <a:avLst/>
          </a:prstGeom>
          <a:noFill/>
        </p:spPr>
        <p:txBody>
          <a:bodyPr wrap="square" lIns="0" rIns="0" tIns="0" bIns="0">
            <a:spAutoFit/>
          </a:bodyPr>
          <a:lstStyle/>
          <a:p>
            <a:pPr>
              <a:lnSpc>
                <a:spcPts val="2900"/>
              </a:lnSpc>
              <a:spcBef>
                <a:spcPts val="0"/>
              </a:spcBef>
              <a:spcAft>
                <a:spcPts val="0"/>
              </a:spcAft>
              <a:defRPr sz="2500" b="0">
                <a:solidFill>
                  <a:srgbClr val="526777"/>
                </a:solidFill>
                <a:latin typeface="Montserrat"/>
              </a:defRPr>
            </a:pPr>
            <a:r>
              <a:t>Montrer concrètement l’expérience et la valeur client.</a:t>
            </a:r>
          </a:p>
        </p:txBody>
      </p:sp>
      <p:sp>
        <p:nvSpPr>
          <p:cNvPr id="20" name="TextBox 19"/>
          <p:cNvSpPr txBox="1"/>
          <p:nvPr/>
        </p:nvSpPr>
        <p:spPr>
          <a:xfrm>
            <a:off x="896112" y="7516368"/>
            <a:ext cx="7726679" cy="621792"/>
          </a:xfrm>
          <a:prstGeom prst="rect">
            <a:avLst/>
          </a:prstGeom>
          <a:noFill/>
        </p:spPr>
        <p:txBody>
          <a:bodyPr wrap="square" lIns="0" rIns="0" tIns="0" bIns="0">
            <a:spAutoFit/>
          </a:bodyPr>
          <a:lstStyle/>
          <a:p>
            <a:pPr>
              <a:lnSpc>
                <a:spcPts val="2900"/>
              </a:lnSpc>
              <a:spcBef>
                <a:spcPts val="0"/>
              </a:spcBef>
              <a:spcAft>
                <a:spcPts val="0"/>
              </a:spcAft>
              <a:defRPr sz="2500" b="1">
                <a:solidFill>
                  <a:srgbClr val="002C49"/>
                </a:solidFill>
                <a:latin typeface="Montserrat"/>
              </a:defRPr>
            </a:pPr>
            <a:r>
              <a:t>Témoignages “Tech + expérience client”</a:t>
            </a:r>
          </a:p>
        </p:txBody>
      </p:sp>
      <p:sp>
        <p:nvSpPr>
          <p:cNvPr id="21" name="TextBox 20"/>
          <p:cNvSpPr txBox="1"/>
          <p:nvPr/>
        </p:nvSpPr>
        <p:spPr>
          <a:xfrm>
            <a:off x="9235440" y="7543800"/>
            <a:ext cx="8046720" cy="640080"/>
          </a:xfrm>
          <a:prstGeom prst="rect">
            <a:avLst/>
          </a:prstGeom>
          <a:noFill/>
        </p:spPr>
        <p:txBody>
          <a:bodyPr wrap="square" lIns="0" rIns="0" tIns="0" bIns="0">
            <a:spAutoFit/>
          </a:bodyPr>
          <a:lstStyle/>
          <a:p>
            <a:pPr>
              <a:lnSpc>
                <a:spcPts val="2900"/>
              </a:lnSpc>
              <a:spcBef>
                <a:spcPts val="0"/>
              </a:spcBef>
              <a:spcAft>
                <a:spcPts val="0"/>
              </a:spcAft>
              <a:defRPr sz="2500" b="0">
                <a:solidFill>
                  <a:srgbClr val="526777"/>
                </a:solidFill>
                <a:latin typeface="Montserrat"/>
              </a:defRPr>
            </a:pPr>
            <a:r>
              <a:t>Activer lorsqu’un cas concret démontre la valeur de l’outil.</a:t>
            </a:r>
          </a:p>
        </p:txBody>
      </p:sp>
      <p:sp>
        <p:nvSpPr>
          <p:cNvPr id="22" name="Rectangle 21"/>
          <p:cNvSpPr/>
          <p:nvPr/>
        </p:nvSpPr>
        <p:spPr>
          <a:xfrm>
            <a:off x="822960" y="8823960"/>
            <a:ext cx="16642080" cy="10972"/>
          </a:xfrm>
          <a:prstGeom prst="rect">
            <a:avLst/>
          </a:prstGeom>
          <a:solidFill>
            <a:srgbClr val="D9E2E7"/>
          </a:solidFill>
          <a:ln>
            <a:noFill/>
          </a:ln>
        </p:spPr>
        <p:txBody>
          <a:bodyPr rtlCol="0" anchor="ctr"/>
          <a:lstStyle/>
          <a:p>
            <a:pPr algn="ctr"/>
          </a:p>
        </p:txBody>
      </p:sp>
      <p:sp>
        <p:nvSpPr>
          <p:cNvPr id="23" name="TextBox 22"/>
          <p:cNvSpPr txBox="1"/>
          <p:nvPr/>
        </p:nvSpPr>
        <p:spPr>
          <a:xfrm>
            <a:off x="868680" y="9025128"/>
            <a:ext cx="16486632" cy="768096"/>
          </a:xfrm>
          <a:prstGeom prst="rect">
            <a:avLst/>
          </a:prstGeom>
          <a:noFill/>
        </p:spPr>
        <p:txBody>
          <a:bodyPr wrap="square" lIns="0" rIns="0" tIns="0" bIns="0">
            <a:spAutoFit/>
          </a:bodyPr>
          <a:lstStyle/>
          <a:p>
            <a:pPr>
              <a:lnSpc>
                <a:spcPts val="2800"/>
              </a:lnSpc>
              <a:spcBef>
                <a:spcPts val="0"/>
              </a:spcBef>
              <a:spcAft>
                <a:spcPts val="0"/>
              </a:spcAft>
              <a:defRPr sz="2400" b="1">
                <a:solidFill>
                  <a:srgbClr val="002C49"/>
                </a:solidFill>
                <a:latin typeface="Montserrat"/>
              </a:defRPr>
            </a:pPr>
            <a:r>
              <a:t>Les salons sont des occasions de captation. Oryx est un modèle ; Leyton For Me, un exemple si cas concret.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2C49"/>
        </a:solidFill>
        <a:effectLst/>
      </p:bgPr>
    </p:bg>
    <p:spTree>
      <p:nvGrpSpPr>
        <p:cNvPr id="1" name=""/>
        <p:cNvGrpSpPr/>
        <p:nvPr/>
      </p:nvGrpSpPr>
      <p:grpSpPr/>
      <p:pic>
        <p:nvPicPr>
          <p:cNvPr id="2" name="Picture 1" descr="logo2.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9DB0BD"/>
                </a:solidFill>
                <a:latin typeface="Montserrat"/>
              </a:defRPr>
            </a:pPr>
            <a:r>
              <a:t>05 / BUSINESS</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FFFFFF"/>
                </a:solidFill>
                <a:latin typeface="Nohemi"/>
              </a:defRPr>
            </a:pPr>
            <a:r>
              <a:t>Accompagner les lancements</a:t>
            </a:r>
          </a:p>
          <a:p>
            <a:pPr>
              <a:lnSpc>
                <a:spcPts val="5300"/>
              </a:lnSpc>
              <a:spcBef>
                <a:spcPts val="0"/>
              </a:spcBef>
              <a:spcAft>
                <a:spcPts val="0"/>
              </a:spcAft>
              <a:defRPr sz="4600" b="0">
                <a:solidFill>
                  <a:srgbClr val="FFFFFF"/>
                </a:solidFill>
                <a:latin typeface="Nohemi"/>
              </a:defRPr>
            </a:pPr>
            <a:r>
              <a:t>et les prises de parole structurantes.</a:t>
            </a:r>
          </a:p>
        </p:txBody>
      </p:sp>
      <p:sp>
        <p:nvSpPr>
          <p:cNvPr id="5" name="Rectangle 4"/>
          <p:cNvSpPr/>
          <p:nvPr/>
        </p:nvSpPr>
        <p:spPr>
          <a:xfrm>
            <a:off x="822960" y="9738360"/>
            <a:ext cx="16642080" cy="10972"/>
          </a:xfrm>
          <a:prstGeom prst="rect">
            <a:avLst/>
          </a:prstGeom>
          <a:solidFill>
            <a:srgbClr val="0C405C"/>
          </a:solidFill>
          <a:ln>
            <a:noFill/>
          </a:ln>
        </p:spPr>
        <p:txBody>
          <a:bodyPr rtlCol="0" anchor="ctr"/>
          <a:lstStyle/>
          <a:p>
            <a:pPr algn="ctr"/>
          </a:p>
        </p:txBody>
      </p:sp>
      <p:sp>
        <p:nvSpPr>
          <p:cNvPr id="6" name="TextBox 5"/>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9DB0BD"/>
                </a:solidFill>
                <a:latin typeface="Montserrat"/>
              </a:defRPr>
            </a:pPr>
            <a:r>
              <a:t>LEYTON FRANCE  /  PLAN DE COMMUNICATION  /  FY2026/27</a:t>
            </a:r>
          </a:p>
        </p:txBody>
      </p:sp>
      <p:sp>
        <p:nvSpPr>
          <p:cNvPr id="7" name="TextBox 6"/>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11</a:t>
            </a:r>
          </a:p>
        </p:txBody>
      </p:sp>
      <p:sp>
        <p:nvSpPr>
          <p:cNvPr id="8" name="TextBox 7"/>
          <p:cNvSpPr txBox="1"/>
          <p:nvPr/>
        </p:nvSpPr>
        <p:spPr>
          <a:xfrm>
            <a:off x="914400" y="3474720"/>
            <a:ext cx="9966960" cy="969264"/>
          </a:xfrm>
          <a:prstGeom prst="rect">
            <a:avLst/>
          </a:prstGeom>
          <a:noFill/>
        </p:spPr>
        <p:txBody>
          <a:bodyPr wrap="square" lIns="0" rIns="0" tIns="0" bIns="0">
            <a:spAutoFit/>
          </a:bodyPr>
          <a:lstStyle/>
          <a:p>
            <a:pPr>
              <a:lnSpc>
                <a:spcPts val="3900"/>
              </a:lnSpc>
              <a:spcBef>
                <a:spcPts val="0"/>
              </a:spcBef>
              <a:spcAft>
                <a:spcPts val="0"/>
              </a:spcAft>
              <a:defRPr sz="3400" b="1">
                <a:solidFill>
                  <a:srgbClr val="FFFFFF"/>
                </a:solidFill>
                <a:latin typeface="Montserrat"/>
              </a:defRPr>
            </a:pPr>
            <a:r>
              <a:t>Lancement / valorisation des</a:t>
            </a:r>
          </a:p>
          <a:p>
            <a:pPr>
              <a:lnSpc>
                <a:spcPts val="3900"/>
              </a:lnSpc>
              <a:spcBef>
                <a:spcPts val="0"/>
              </a:spcBef>
              <a:spcAft>
                <a:spcPts val="0"/>
              </a:spcAft>
              <a:defRPr sz="3400" b="1">
                <a:solidFill>
                  <a:srgbClr val="FFFFFF"/>
                </a:solidFill>
                <a:latin typeface="Montserrat"/>
              </a:defRPr>
            </a:pPr>
            <a:r>
              <a:t>nouvelles offres stratégiques</a:t>
            </a:r>
          </a:p>
        </p:txBody>
      </p:sp>
      <p:sp>
        <p:nvSpPr>
          <p:cNvPr id="9" name="TextBox 8"/>
          <p:cNvSpPr txBox="1"/>
          <p:nvPr/>
        </p:nvSpPr>
        <p:spPr>
          <a:xfrm>
            <a:off x="914400" y="4892040"/>
            <a:ext cx="9555480" cy="1920240"/>
          </a:xfrm>
          <a:prstGeom prst="rect">
            <a:avLst/>
          </a:prstGeom>
          <a:noFill/>
        </p:spPr>
        <p:txBody>
          <a:bodyPr wrap="square" lIns="0" rIns="0" tIns="0" bIns="0">
            <a:spAutoFit/>
          </a:bodyPr>
          <a:lstStyle/>
          <a:p>
            <a:pPr>
              <a:lnSpc>
                <a:spcPts val="3900"/>
              </a:lnSpc>
              <a:spcBef>
                <a:spcPts val="0"/>
              </a:spcBef>
              <a:spcAft>
                <a:spcPts val="0"/>
              </a:spcAft>
              <a:defRPr sz="2900" b="0">
                <a:solidFill>
                  <a:srgbClr val="FFFFFF"/>
                </a:solidFill>
                <a:latin typeface="Montserrat"/>
              </a:defRPr>
            </a:pPr>
            <a:r>
              <a:t>Expert → vidéo → fiche / support → preuve</a:t>
            </a:r>
          </a:p>
          <a:p>
            <a:pPr>
              <a:lnSpc>
                <a:spcPts val="3900"/>
              </a:lnSpc>
              <a:spcBef>
                <a:spcPts val="0"/>
              </a:spcBef>
              <a:spcAft>
                <a:spcPts val="0"/>
              </a:spcAft>
              <a:defRPr sz="2900" b="0">
                <a:solidFill>
                  <a:srgbClr val="FFFFFF"/>
                </a:solidFill>
                <a:latin typeface="Montserrat"/>
              </a:defRPr>
            </a:pPr>
            <a:r>
              <a:t>→ communication interne</a:t>
            </a:r>
          </a:p>
          <a:p>
            <a:pPr>
              <a:lnSpc>
                <a:spcPts val="3900"/>
              </a:lnSpc>
              <a:spcBef>
                <a:spcPts val="0"/>
              </a:spcBef>
              <a:spcAft>
                <a:spcPts val="0"/>
              </a:spcAft>
              <a:defRPr sz="2900" b="0">
                <a:solidFill>
                  <a:srgbClr val="FFFFFF"/>
                </a:solidFill>
                <a:latin typeface="Montserrat"/>
              </a:defRPr>
            </a:pPr>
            <a:r>
              <a:t>→ communication externe avec Marketing.</a:t>
            </a:r>
          </a:p>
        </p:txBody>
      </p:sp>
      <p:sp>
        <p:nvSpPr>
          <p:cNvPr id="10" name="Rectangle 9"/>
          <p:cNvSpPr/>
          <p:nvPr/>
        </p:nvSpPr>
        <p:spPr>
          <a:xfrm>
            <a:off x="914400" y="7662672"/>
            <a:ext cx="5029200" cy="393192"/>
          </a:xfrm>
          <a:prstGeom prst="rect">
            <a:avLst/>
          </a:prstGeom>
          <a:solidFill>
            <a:srgbClr val="FF6633"/>
          </a:solidFill>
          <a:ln>
            <a:noFill/>
          </a:ln>
        </p:spPr>
        <p:txBody>
          <a:bodyPr rtlCol="0" anchor="ctr"/>
          <a:lstStyle/>
          <a:p>
            <a:pPr algn="ctr"/>
          </a:p>
        </p:txBody>
      </p:sp>
      <p:sp>
        <p:nvSpPr>
          <p:cNvPr id="11" name="TextBox 10"/>
          <p:cNvSpPr txBox="1"/>
          <p:nvPr/>
        </p:nvSpPr>
        <p:spPr>
          <a:xfrm>
            <a:off x="1033271" y="7744968"/>
            <a:ext cx="4791456" cy="237744"/>
          </a:xfrm>
          <a:prstGeom prst="rect">
            <a:avLst/>
          </a:prstGeom>
          <a:noFill/>
        </p:spPr>
        <p:txBody>
          <a:bodyPr wrap="square" lIns="0" rIns="0" tIns="0" bIns="0">
            <a:spAutoFit/>
          </a:bodyPr>
          <a:lstStyle/>
          <a:p>
            <a:pPr>
              <a:lnSpc>
                <a:spcPts val="1722"/>
              </a:lnSpc>
              <a:spcBef>
                <a:spcPts val="0"/>
              </a:spcBef>
              <a:spcAft>
                <a:spcPts val="0"/>
              </a:spcAft>
              <a:defRPr sz="1400" b="1">
                <a:solidFill>
                  <a:srgbClr val="FFFFFF"/>
                </a:solidFill>
                <a:latin typeface="Montserrat"/>
              </a:defRPr>
            </a:pPr>
            <a:r>
              <a:t>SELON LES VRAIS LANCEMENTS</a:t>
            </a:r>
          </a:p>
        </p:txBody>
      </p:sp>
      <p:cxnSp>
        <p:nvCxnSpPr>
          <p:cNvPr id="12" name="Connector 11"/>
          <p:cNvCxnSpPr/>
          <p:nvPr/>
        </p:nvCxnSpPr>
        <p:spPr>
          <a:xfrm>
            <a:off x="11064240" y="3520440"/>
            <a:ext cx="0" cy="4846320"/>
          </a:xfrm>
          <a:prstGeom prst="line">
            <a:avLst/>
          </a:prstGeom>
          <a:ln w="19050">
            <a:solidFill>
              <a:srgbClr val="0C405C"/>
            </a:solidFill>
          </a:ln>
        </p:spPr>
      </p:cxnSp>
      <p:sp>
        <p:nvSpPr>
          <p:cNvPr id="13" name="TextBox 12"/>
          <p:cNvSpPr txBox="1"/>
          <p:nvPr/>
        </p:nvSpPr>
        <p:spPr>
          <a:xfrm>
            <a:off x="11704320" y="3474720"/>
            <a:ext cx="5669280" cy="1078992"/>
          </a:xfrm>
          <a:prstGeom prst="rect">
            <a:avLst/>
          </a:prstGeom>
          <a:noFill/>
        </p:spPr>
        <p:txBody>
          <a:bodyPr wrap="square" lIns="0" rIns="0" tIns="0" bIns="0">
            <a:spAutoFit/>
          </a:bodyPr>
          <a:lstStyle/>
          <a:p>
            <a:pPr>
              <a:lnSpc>
                <a:spcPts val="4000"/>
              </a:lnSpc>
              <a:spcBef>
                <a:spcPts val="0"/>
              </a:spcBef>
              <a:spcAft>
                <a:spcPts val="0"/>
              </a:spcAft>
              <a:defRPr sz="3500" b="1">
                <a:solidFill>
                  <a:srgbClr val="FFFFFF"/>
                </a:solidFill>
                <a:latin typeface="Nohemi"/>
              </a:defRPr>
            </a:pPr>
            <a:r>
              <a:t>Vidéo corporate</a:t>
            </a:r>
          </a:p>
          <a:p>
            <a:pPr>
              <a:lnSpc>
                <a:spcPts val="4000"/>
              </a:lnSpc>
              <a:spcBef>
                <a:spcPts val="0"/>
              </a:spcBef>
              <a:spcAft>
                <a:spcPts val="0"/>
              </a:spcAft>
              <a:defRPr sz="3500" b="1">
                <a:solidFill>
                  <a:srgbClr val="FFFFFF"/>
                </a:solidFill>
                <a:latin typeface="Nohemi"/>
              </a:defRPr>
            </a:pPr>
            <a:r>
              <a:t>Groupe</a:t>
            </a:r>
          </a:p>
        </p:txBody>
      </p:sp>
      <p:sp>
        <p:nvSpPr>
          <p:cNvPr id="14" name="TextBox 13"/>
          <p:cNvSpPr txBox="1"/>
          <p:nvPr/>
        </p:nvSpPr>
        <p:spPr>
          <a:xfrm>
            <a:off x="11704320" y="4956048"/>
            <a:ext cx="5486400" cy="2103120"/>
          </a:xfrm>
          <a:prstGeom prst="rect">
            <a:avLst/>
          </a:prstGeom>
          <a:noFill/>
        </p:spPr>
        <p:txBody>
          <a:bodyPr wrap="square" lIns="0" rIns="0" tIns="0" bIns="0">
            <a:spAutoFit/>
          </a:bodyPr>
          <a:lstStyle/>
          <a:p>
            <a:pPr>
              <a:lnSpc>
                <a:spcPts val="3800"/>
              </a:lnSpc>
              <a:spcBef>
                <a:spcPts val="0"/>
              </a:spcBef>
              <a:spcAft>
                <a:spcPts val="0"/>
              </a:spcAft>
              <a:defRPr sz="2800" b="0">
                <a:solidFill>
                  <a:srgbClr val="9DB0BD"/>
                </a:solidFill>
                <a:latin typeface="Montserrat"/>
              </a:defRPr>
            </a:pPr>
            <a:r>
              <a:t>Expertise ; montée en gamme ;</a:t>
            </a:r>
          </a:p>
          <a:p>
            <a:pPr>
              <a:lnSpc>
                <a:spcPts val="3800"/>
              </a:lnSpc>
              <a:spcBef>
                <a:spcPts val="0"/>
              </a:spcBef>
              <a:spcAft>
                <a:spcPts val="0"/>
              </a:spcAft>
              <a:defRPr sz="2800" b="0">
                <a:solidFill>
                  <a:srgbClr val="9DB0BD"/>
                </a:solidFill>
                <a:latin typeface="Montserrat"/>
              </a:defRPr>
            </a:pPr>
            <a:r>
              <a:t>preuves clients ; Tech ; IA ;</a:t>
            </a:r>
          </a:p>
          <a:p>
            <a:pPr>
              <a:lnSpc>
                <a:spcPts val="3800"/>
              </a:lnSpc>
              <a:spcBef>
                <a:spcPts val="0"/>
              </a:spcBef>
              <a:spcAft>
                <a:spcPts val="0"/>
              </a:spcAft>
              <a:defRPr sz="2800" b="0">
                <a:solidFill>
                  <a:srgbClr val="9DB0BD"/>
                </a:solidFill>
                <a:latin typeface="Montserrat"/>
              </a:defRPr>
            </a:pPr>
            <a:r>
              <a:t>outils propriétaires.</a:t>
            </a:r>
          </a:p>
        </p:txBody>
      </p:sp>
      <p:sp>
        <p:nvSpPr>
          <p:cNvPr id="15" name="Rectangle 14"/>
          <p:cNvSpPr/>
          <p:nvPr/>
        </p:nvSpPr>
        <p:spPr>
          <a:xfrm>
            <a:off x="11704320" y="7662672"/>
            <a:ext cx="4754880" cy="393192"/>
          </a:xfrm>
          <a:prstGeom prst="rect">
            <a:avLst/>
          </a:prstGeom>
          <a:solidFill>
            <a:srgbClr val="0C405C"/>
          </a:solidFill>
          <a:ln>
            <a:noFill/>
          </a:ln>
        </p:spPr>
        <p:txBody>
          <a:bodyPr rtlCol="0" anchor="ctr"/>
          <a:lstStyle/>
          <a:p>
            <a:pPr algn="ctr"/>
          </a:p>
        </p:txBody>
      </p:sp>
      <p:sp>
        <p:nvSpPr>
          <p:cNvPr id="16" name="TextBox 15"/>
          <p:cNvSpPr txBox="1"/>
          <p:nvPr/>
        </p:nvSpPr>
        <p:spPr>
          <a:xfrm>
            <a:off x="11823192" y="7744968"/>
            <a:ext cx="4517136" cy="237744"/>
          </a:xfrm>
          <a:prstGeom prst="rect">
            <a:avLst/>
          </a:prstGeom>
          <a:noFill/>
        </p:spPr>
        <p:txBody>
          <a:bodyPr wrap="square" lIns="0" rIns="0" tIns="0" bIns="0">
            <a:spAutoFit/>
          </a:bodyPr>
          <a:lstStyle/>
          <a:p>
            <a:pPr>
              <a:lnSpc>
                <a:spcPts val="1722"/>
              </a:lnSpc>
              <a:spcBef>
                <a:spcPts val="0"/>
              </a:spcBef>
              <a:spcAft>
                <a:spcPts val="0"/>
              </a:spcAft>
              <a:defRPr sz="1400" b="1">
                <a:solidFill>
                  <a:srgbClr val="FFFFFF"/>
                </a:solidFill>
                <a:latin typeface="Montserrat"/>
              </a:defRPr>
            </a:pPr>
            <a:r>
              <a:t>CALENDRIER GROUPE TBD</a:t>
            </a:r>
          </a:p>
        </p:txBody>
      </p:sp>
      <p:sp>
        <p:nvSpPr>
          <p:cNvPr id="17" name="Rectangle 16"/>
          <p:cNvSpPr/>
          <p:nvPr/>
        </p:nvSpPr>
        <p:spPr>
          <a:xfrm>
            <a:off x="822960" y="8823960"/>
            <a:ext cx="16642080" cy="10972"/>
          </a:xfrm>
          <a:prstGeom prst="rect">
            <a:avLst/>
          </a:prstGeom>
          <a:solidFill>
            <a:srgbClr val="0C405C"/>
          </a:solidFill>
          <a:ln>
            <a:noFill/>
          </a:ln>
        </p:spPr>
        <p:txBody>
          <a:bodyPr rtlCol="0" anchor="ctr"/>
          <a:lstStyle/>
          <a:p>
            <a:pPr algn="ctr"/>
          </a:p>
        </p:txBody>
      </p:sp>
      <p:sp>
        <p:nvSpPr>
          <p:cNvPr id="18" name="TextBox 17"/>
          <p:cNvSpPr txBox="1"/>
          <p:nvPr/>
        </p:nvSpPr>
        <p:spPr>
          <a:xfrm>
            <a:off x="868680" y="9025128"/>
            <a:ext cx="16486632" cy="768096"/>
          </a:xfrm>
          <a:prstGeom prst="rect">
            <a:avLst/>
          </a:prstGeom>
          <a:noFill/>
        </p:spPr>
        <p:txBody>
          <a:bodyPr wrap="square" lIns="0" rIns="0" tIns="0" bIns="0">
            <a:spAutoFit/>
          </a:bodyPr>
          <a:lstStyle/>
          <a:p>
            <a:pPr>
              <a:lnSpc>
                <a:spcPts val="2800"/>
              </a:lnSpc>
              <a:spcBef>
                <a:spcPts val="0"/>
              </a:spcBef>
              <a:spcAft>
                <a:spcPts val="0"/>
              </a:spcAft>
              <a:defRPr sz="2400" b="1">
                <a:solidFill>
                  <a:srgbClr val="FFFFFF"/>
                </a:solidFill>
                <a:latin typeface="Montserrat"/>
              </a:defRPr>
            </a:pPr>
            <a:r>
              <a:t>Communication accompagne les propriétaires du fond ; le business LinkedIn relève du Marketing.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3.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06 / PEOPLE</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Donner des repères réguliers au collectif.</a:t>
            </a:r>
          </a:p>
        </p:txBody>
      </p:sp>
      <p:sp>
        <p:nvSpPr>
          <p:cNvPr id="5" name="TextBox 4"/>
          <p:cNvSpPr txBox="1"/>
          <p:nvPr/>
        </p:nvSpPr>
        <p:spPr>
          <a:xfrm>
            <a:off x="868680" y="2742285"/>
            <a:ext cx="16504920" cy="54864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Des rituels structurants, prolongés par la mobilisation et la valorisation.</a:t>
            </a:r>
          </a:p>
        </p:txBody>
      </p:sp>
      <p:sp>
        <p:nvSpPr>
          <p:cNvPr id="6" name="Rectangle 5"/>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7" name="TextBox 6"/>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8" name="TextBox 7"/>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12</a:t>
            </a:r>
          </a:p>
        </p:txBody>
      </p:sp>
      <p:sp>
        <p:nvSpPr>
          <p:cNvPr id="9" name="TextBox 8"/>
          <p:cNvSpPr txBox="1"/>
          <p:nvPr/>
        </p:nvSpPr>
        <p:spPr>
          <a:xfrm>
            <a:off x="896112" y="3657600"/>
            <a:ext cx="4663440" cy="640080"/>
          </a:xfrm>
          <a:prstGeom prst="rect">
            <a:avLst/>
          </a:prstGeom>
          <a:noFill/>
        </p:spPr>
        <p:txBody>
          <a:bodyPr wrap="square" lIns="0" rIns="0" tIns="0" bIns="0">
            <a:spAutoFit/>
          </a:bodyPr>
          <a:lstStyle/>
          <a:p>
            <a:pPr>
              <a:lnSpc>
                <a:spcPts val="3936"/>
              </a:lnSpc>
              <a:spcBef>
                <a:spcPts val="0"/>
              </a:spcBef>
              <a:spcAft>
                <a:spcPts val="0"/>
              </a:spcAft>
              <a:defRPr sz="3200" b="1">
                <a:solidFill>
                  <a:srgbClr val="002C49"/>
                </a:solidFill>
                <a:latin typeface="Montserrat"/>
              </a:defRPr>
            </a:pPr>
            <a:r>
              <a:t>All Staff France</a:t>
            </a:r>
          </a:p>
        </p:txBody>
      </p:sp>
      <p:sp>
        <p:nvSpPr>
          <p:cNvPr id="10" name="Oval 9"/>
          <p:cNvSpPr/>
          <p:nvPr/>
        </p:nvSpPr>
        <p:spPr>
          <a:xfrm>
            <a:off x="6094476" y="4037076"/>
            <a:ext cx="155448" cy="155448"/>
          </a:xfrm>
          <a:prstGeom prst="ellipse">
            <a:avLst/>
          </a:prstGeom>
          <a:solidFill>
            <a:srgbClr val="FF6633"/>
          </a:solidFill>
          <a:ln>
            <a:noFill/>
          </a:ln>
        </p:spPr>
        <p:txBody>
          <a:bodyPr rtlCol="0" anchor="ctr"/>
          <a:lstStyle/>
          <a:p>
            <a:pPr algn="ctr"/>
          </a:p>
        </p:txBody>
      </p:sp>
      <p:cxnSp>
        <p:nvCxnSpPr>
          <p:cNvPr id="11" name="Connector 10"/>
          <p:cNvCxnSpPr/>
          <p:nvPr/>
        </p:nvCxnSpPr>
        <p:spPr>
          <a:xfrm>
            <a:off x="6309360" y="4114800"/>
            <a:ext cx="2167128" cy="0"/>
          </a:xfrm>
          <a:prstGeom prst="line">
            <a:avLst/>
          </a:prstGeom>
          <a:ln w="19050">
            <a:solidFill>
              <a:srgbClr val="D9E2E7"/>
            </a:solidFill>
          </a:ln>
        </p:spPr>
      </p:cxnSp>
      <p:sp>
        <p:nvSpPr>
          <p:cNvPr id="12" name="TextBox 11"/>
          <p:cNvSpPr txBox="1"/>
          <p:nvPr/>
        </p:nvSpPr>
        <p:spPr>
          <a:xfrm>
            <a:off x="6080760" y="4572000"/>
            <a:ext cx="2651760" cy="658368"/>
          </a:xfrm>
          <a:prstGeom prst="rect">
            <a:avLst/>
          </a:prstGeom>
          <a:noFill/>
        </p:spPr>
        <p:txBody>
          <a:bodyPr wrap="square" lIns="0" rIns="0" tIns="0" bIns="0">
            <a:spAutoFit/>
          </a:bodyPr>
          <a:lstStyle/>
          <a:p>
            <a:pPr>
              <a:lnSpc>
                <a:spcPts val="2900"/>
              </a:lnSpc>
              <a:spcBef>
                <a:spcPts val="0"/>
              </a:spcBef>
              <a:spcAft>
                <a:spcPts val="0"/>
              </a:spcAft>
              <a:defRPr sz="2400" b="1">
                <a:solidFill>
                  <a:srgbClr val="002C49"/>
                </a:solidFill>
                <a:latin typeface="Montserrat"/>
              </a:defRPr>
            </a:pPr>
            <a:r>
              <a:t>OCTOBRE</a:t>
            </a:r>
          </a:p>
        </p:txBody>
      </p:sp>
      <p:sp>
        <p:nvSpPr>
          <p:cNvPr id="13" name="Oval 12"/>
          <p:cNvSpPr/>
          <p:nvPr/>
        </p:nvSpPr>
        <p:spPr>
          <a:xfrm>
            <a:off x="8947404" y="4037076"/>
            <a:ext cx="155448" cy="155448"/>
          </a:xfrm>
          <a:prstGeom prst="ellipse">
            <a:avLst/>
          </a:prstGeom>
          <a:solidFill>
            <a:srgbClr val="FF6633"/>
          </a:solidFill>
          <a:ln>
            <a:noFill/>
          </a:ln>
        </p:spPr>
        <p:txBody>
          <a:bodyPr rtlCol="0" anchor="ctr"/>
          <a:lstStyle/>
          <a:p>
            <a:pPr algn="ctr"/>
          </a:p>
        </p:txBody>
      </p:sp>
      <p:cxnSp>
        <p:nvCxnSpPr>
          <p:cNvPr id="14" name="Connector 13"/>
          <p:cNvCxnSpPr/>
          <p:nvPr/>
        </p:nvCxnSpPr>
        <p:spPr>
          <a:xfrm>
            <a:off x="9162288" y="4114800"/>
            <a:ext cx="2167128" cy="0"/>
          </a:xfrm>
          <a:prstGeom prst="line">
            <a:avLst/>
          </a:prstGeom>
          <a:ln w="19050">
            <a:solidFill>
              <a:srgbClr val="D9E2E7"/>
            </a:solidFill>
          </a:ln>
        </p:spPr>
      </p:cxnSp>
      <p:sp>
        <p:nvSpPr>
          <p:cNvPr id="15" name="TextBox 14"/>
          <p:cNvSpPr txBox="1"/>
          <p:nvPr/>
        </p:nvSpPr>
        <p:spPr>
          <a:xfrm>
            <a:off x="8933688" y="4572000"/>
            <a:ext cx="2651760" cy="658368"/>
          </a:xfrm>
          <a:prstGeom prst="rect">
            <a:avLst/>
          </a:prstGeom>
          <a:noFill/>
        </p:spPr>
        <p:txBody>
          <a:bodyPr wrap="square" lIns="0" rIns="0" tIns="0" bIns="0">
            <a:spAutoFit/>
          </a:bodyPr>
          <a:lstStyle/>
          <a:p>
            <a:pPr>
              <a:lnSpc>
                <a:spcPts val="2900"/>
              </a:lnSpc>
              <a:spcBef>
                <a:spcPts val="0"/>
              </a:spcBef>
              <a:spcAft>
                <a:spcPts val="0"/>
              </a:spcAft>
              <a:defRPr sz="2400" b="1">
                <a:solidFill>
                  <a:srgbClr val="002C49"/>
                </a:solidFill>
                <a:latin typeface="Montserrat"/>
              </a:defRPr>
            </a:pPr>
            <a:r>
              <a:t>JANVIER</a:t>
            </a:r>
          </a:p>
        </p:txBody>
      </p:sp>
      <p:sp>
        <p:nvSpPr>
          <p:cNvPr id="16" name="Oval 15"/>
          <p:cNvSpPr/>
          <p:nvPr/>
        </p:nvSpPr>
        <p:spPr>
          <a:xfrm>
            <a:off x="11800332" y="4037076"/>
            <a:ext cx="155448" cy="155448"/>
          </a:xfrm>
          <a:prstGeom prst="ellipse">
            <a:avLst/>
          </a:prstGeom>
          <a:solidFill>
            <a:srgbClr val="FF6633"/>
          </a:solidFill>
          <a:ln>
            <a:noFill/>
          </a:ln>
        </p:spPr>
        <p:txBody>
          <a:bodyPr rtlCol="0" anchor="ctr"/>
          <a:lstStyle/>
          <a:p>
            <a:pPr algn="ctr"/>
          </a:p>
        </p:txBody>
      </p:sp>
      <p:cxnSp>
        <p:nvCxnSpPr>
          <p:cNvPr id="17" name="Connector 16"/>
          <p:cNvCxnSpPr/>
          <p:nvPr/>
        </p:nvCxnSpPr>
        <p:spPr>
          <a:xfrm>
            <a:off x="12015216" y="4114800"/>
            <a:ext cx="2167128" cy="0"/>
          </a:xfrm>
          <a:prstGeom prst="line">
            <a:avLst/>
          </a:prstGeom>
          <a:ln w="19050">
            <a:solidFill>
              <a:srgbClr val="D9E2E7"/>
            </a:solidFill>
          </a:ln>
        </p:spPr>
      </p:cxnSp>
      <p:sp>
        <p:nvSpPr>
          <p:cNvPr id="18" name="TextBox 17"/>
          <p:cNvSpPr txBox="1"/>
          <p:nvPr/>
        </p:nvSpPr>
        <p:spPr>
          <a:xfrm>
            <a:off x="11786616" y="4572000"/>
            <a:ext cx="2651760" cy="658368"/>
          </a:xfrm>
          <a:prstGeom prst="rect">
            <a:avLst/>
          </a:prstGeom>
          <a:noFill/>
        </p:spPr>
        <p:txBody>
          <a:bodyPr wrap="square" lIns="0" rIns="0" tIns="0" bIns="0">
            <a:spAutoFit/>
          </a:bodyPr>
          <a:lstStyle/>
          <a:p>
            <a:pPr>
              <a:lnSpc>
                <a:spcPts val="2900"/>
              </a:lnSpc>
              <a:spcBef>
                <a:spcPts val="0"/>
              </a:spcBef>
              <a:spcAft>
                <a:spcPts val="0"/>
              </a:spcAft>
              <a:defRPr sz="2400" b="1">
                <a:solidFill>
                  <a:srgbClr val="002C49"/>
                </a:solidFill>
                <a:latin typeface="Montserrat"/>
              </a:defRPr>
            </a:pPr>
            <a:r>
              <a:t>AVRIL</a:t>
            </a:r>
          </a:p>
        </p:txBody>
      </p:sp>
      <p:sp>
        <p:nvSpPr>
          <p:cNvPr id="19" name="Oval 18"/>
          <p:cNvSpPr/>
          <p:nvPr/>
        </p:nvSpPr>
        <p:spPr>
          <a:xfrm>
            <a:off x="14653259" y="4037076"/>
            <a:ext cx="155448" cy="155448"/>
          </a:xfrm>
          <a:prstGeom prst="ellipse">
            <a:avLst/>
          </a:prstGeom>
          <a:solidFill>
            <a:srgbClr val="FF6633"/>
          </a:solidFill>
          <a:ln>
            <a:noFill/>
          </a:ln>
        </p:spPr>
        <p:txBody>
          <a:bodyPr rtlCol="0" anchor="ctr"/>
          <a:lstStyle/>
          <a:p>
            <a:pPr algn="ctr"/>
          </a:p>
        </p:txBody>
      </p:sp>
      <p:cxnSp>
        <p:nvCxnSpPr>
          <p:cNvPr id="20" name="Connector 19"/>
          <p:cNvCxnSpPr/>
          <p:nvPr/>
        </p:nvCxnSpPr>
        <p:spPr>
          <a:xfrm>
            <a:off x="14868143" y="4114800"/>
            <a:ext cx="2167129" cy="0"/>
          </a:xfrm>
          <a:prstGeom prst="line">
            <a:avLst/>
          </a:prstGeom>
          <a:ln w="19050">
            <a:solidFill>
              <a:srgbClr val="D9E2E7"/>
            </a:solidFill>
          </a:ln>
        </p:spPr>
      </p:cxnSp>
      <p:sp>
        <p:nvSpPr>
          <p:cNvPr id="21" name="TextBox 20"/>
          <p:cNvSpPr txBox="1"/>
          <p:nvPr/>
        </p:nvSpPr>
        <p:spPr>
          <a:xfrm>
            <a:off x="14639543" y="4572000"/>
            <a:ext cx="2651760" cy="658368"/>
          </a:xfrm>
          <a:prstGeom prst="rect">
            <a:avLst/>
          </a:prstGeom>
          <a:noFill/>
        </p:spPr>
        <p:txBody>
          <a:bodyPr wrap="square" lIns="0" rIns="0" tIns="0" bIns="0">
            <a:spAutoFit/>
          </a:bodyPr>
          <a:lstStyle/>
          <a:p>
            <a:pPr>
              <a:lnSpc>
                <a:spcPts val="2900"/>
              </a:lnSpc>
              <a:spcBef>
                <a:spcPts val="0"/>
              </a:spcBef>
              <a:spcAft>
                <a:spcPts val="0"/>
              </a:spcAft>
              <a:defRPr sz="2400" b="1">
                <a:solidFill>
                  <a:srgbClr val="002C49"/>
                </a:solidFill>
                <a:latin typeface="Montserrat"/>
              </a:defRPr>
            </a:pPr>
            <a:r>
              <a:t>FIN D’EXERCICE</a:t>
            </a:r>
          </a:p>
        </p:txBody>
      </p:sp>
      <p:sp>
        <p:nvSpPr>
          <p:cNvPr id="22" name="TextBox 21"/>
          <p:cNvSpPr txBox="1"/>
          <p:nvPr/>
        </p:nvSpPr>
        <p:spPr>
          <a:xfrm>
            <a:off x="14639543" y="5458968"/>
            <a:ext cx="2651760" cy="64008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Date à confirmer</a:t>
            </a:r>
          </a:p>
        </p:txBody>
      </p:sp>
      <p:sp>
        <p:nvSpPr>
          <p:cNvPr id="23" name="Rectangle 22"/>
          <p:cNvSpPr/>
          <p:nvPr/>
        </p:nvSpPr>
        <p:spPr>
          <a:xfrm>
            <a:off x="896112" y="6355080"/>
            <a:ext cx="16459200" cy="10972"/>
          </a:xfrm>
          <a:prstGeom prst="rect">
            <a:avLst/>
          </a:prstGeom>
          <a:solidFill>
            <a:srgbClr val="D9E2E7"/>
          </a:solidFill>
          <a:ln>
            <a:noFill/>
          </a:ln>
        </p:spPr>
        <p:txBody>
          <a:bodyPr rtlCol="0" anchor="ctr"/>
          <a:lstStyle/>
          <a:p>
            <a:pPr algn="ctr"/>
          </a:p>
        </p:txBody>
      </p:sp>
      <p:sp>
        <p:nvSpPr>
          <p:cNvPr id="24" name="TextBox 23"/>
          <p:cNvSpPr txBox="1"/>
          <p:nvPr/>
        </p:nvSpPr>
        <p:spPr>
          <a:xfrm>
            <a:off x="896112" y="6711696"/>
            <a:ext cx="4846320" cy="594360"/>
          </a:xfrm>
          <a:prstGeom prst="rect">
            <a:avLst/>
          </a:prstGeom>
          <a:noFill/>
        </p:spPr>
        <p:txBody>
          <a:bodyPr wrap="square" lIns="0" rIns="0" tIns="0" bIns="0">
            <a:spAutoFit/>
          </a:bodyPr>
          <a:lstStyle/>
          <a:p>
            <a:pPr>
              <a:lnSpc>
                <a:spcPts val="3936"/>
              </a:lnSpc>
              <a:spcBef>
                <a:spcPts val="0"/>
              </a:spcBef>
              <a:spcAft>
                <a:spcPts val="0"/>
              </a:spcAft>
              <a:defRPr sz="3200" b="1">
                <a:solidFill>
                  <a:srgbClr val="002C49"/>
                </a:solidFill>
                <a:latin typeface="Montserrat"/>
              </a:defRPr>
            </a:pPr>
            <a:r>
              <a:t>La Leytonienne</a:t>
            </a:r>
          </a:p>
        </p:txBody>
      </p:sp>
      <p:sp>
        <p:nvSpPr>
          <p:cNvPr id="25" name="TextBox 24"/>
          <p:cNvSpPr txBox="1"/>
          <p:nvPr/>
        </p:nvSpPr>
        <p:spPr>
          <a:xfrm>
            <a:off x="6199632" y="6711696"/>
            <a:ext cx="5120640" cy="1060704"/>
          </a:xfrm>
          <a:prstGeom prst="rect">
            <a:avLst/>
          </a:prstGeom>
          <a:noFill/>
        </p:spPr>
        <p:txBody>
          <a:bodyPr wrap="square" lIns="0" rIns="0" tIns="0" bIns="0">
            <a:spAutoFit/>
          </a:bodyPr>
          <a:lstStyle/>
          <a:p>
            <a:pPr>
              <a:lnSpc>
                <a:spcPts val="3500"/>
              </a:lnSpc>
              <a:spcBef>
                <a:spcPts val="0"/>
              </a:spcBef>
              <a:spcAft>
                <a:spcPts val="0"/>
              </a:spcAft>
              <a:defRPr sz="2600" b="0">
                <a:solidFill>
                  <a:srgbClr val="002C49"/>
                </a:solidFill>
                <a:latin typeface="Montserrat"/>
              </a:defRPr>
            </a:pPr>
            <a:r>
              <a:t>S1 : fin janvier.</a:t>
            </a:r>
          </a:p>
          <a:p>
            <a:pPr>
              <a:lnSpc>
                <a:spcPts val="3500"/>
              </a:lnSpc>
              <a:spcBef>
                <a:spcPts val="0"/>
              </a:spcBef>
              <a:spcAft>
                <a:spcPts val="0"/>
              </a:spcAft>
              <a:defRPr sz="2600" b="0">
                <a:solidFill>
                  <a:srgbClr val="002C49"/>
                </a:solidFill>
                <a:latin typeface="Montserrat"/>
              </a:defRPr>
            </a:pPr>
            <a:r>
              <a:t>S2 : préparation mai–juin.</a:t>
            </a:r>
          </a:p>
        </p:txBody>
      </p:sp>
      <p:sp>
        <p:nvSpPr>
          <p:cNvPr id="26" name="TextBox 25"/>
          <p:cNvSpPr txBox="1"/>
          <p:nvPr/>
        </p:nvSpPr>
        <p:spPr>
          <a:xfrm>
            <a:off x="12161520" y="6711696"/>
            <a:ext cx="5148072" cy="1060704"/>
          </a:xfrm>
          <a:prstGeom prst="rect">
            <a:avLst/>
          </a:prstGeom>
          <a:noFill/>
        </p:spPr>
        <p:txBody>
          <a:bodyPr wrap="square" lIns="0" rIns="0" tIns="0" bIns="0">
            <a:spAutoFit/>
          </a:bodyPr>
          <a:lstStyle/>
          <a:p>
            <a:pPr>
              <a:lnSpc>
                <a:spcPts val="3500"/>
              </a:lnSpc>
              <a:spcBef>
                <a:spcPts val="0"/>
              </a:spcBef>
              <a:spcAft>
                <a:spcPts val="0"/>
              </a:spcAft>
              <a:defRPr sz="2600" b="1">
                <a:solidFill>
                  <a:srgbClr val="FF6633"/>
                </a:solidFill>
                <a:latin typeface="Montserrat"/>
              </a:defRPr>
            </a:pPr>
            <a:r>
              <a:t>S2 : publication fin juillet.</a:t>
            </a:r>
          </a:p>
          <a:p>
            <a:pPr>
              <a:lnSpc>
                <a:spcPts val="3500"/>
              </a:lnSpc>
              <a:spcBef>
                <a:spcPts val="0"/>
              </a:spcBef>
              <a:spcAft>
                <a:spcPts val="0"/>
              </a:spcAft>
              <a:defRPr sz="2600" b="1">
                <a:solidFill>
                  <a:srgbClr val="FF6633"/>
                </a:solidFill>
                <a:latin typeface="Montserrat"/>
              </a:defRPr>
            </a:pPr>
            <a:r>
              <a:t>Hors FY26/27.</a:t>
            </a:r>
          </a:p>
        </p:txBody>
      </p:sp>
      <p:sp>
        <p:nvSpPr>
          <p:cNvPr id="27" name="Rectangle 26"/>
          <p:cNvSpPr/>
          <p:nvPr/>
        </p:nvSpPr>
        <p:spPr>
          <a:xfrm>
            <a:off x="822960" y="8778240"/>
            <a:ext cx="16642080" cy="10972"/>
          </a:xfrm>
          <a:prstGeom prst="rect">
            <a:avLst/>
          </a:prstGeom>
          <a:solidFill>
            <a:srgbClr val="D9E2E7"/>
          </a:solidFill>
          <a:ln>
            <a:noFill/>
          </a:ln>
        </p:spPr>
        <p:txBody>
          <a:bodyPr rtlCol="0" anchor="ctr"/>
          <a:lstStyle/>
          <a:p>
            <a:pPr algn="ctr"/>
          </a:p>
        </p:txBody>
      </p:sp>
      <p:sp>
        <p:nvSpPr>
          <p:cNvPr id="28" name="TextBox 27"/>
          <p:cNvSpPr txBox="1"/>
          <p:nvPr/>
        </p:nvSpPr>
        <p:spPr>
          <a:xfrm>
            <a:off x="868680" y="8979408"/>
            <a:ext cx="16486632" cy="768096"/>
          </a:xfrm>
          <a:prstGeom prst="rect">
            <a:avLst/>
          </a:prstGeom>
          <a:noFill/>
        </p:spPr>
        <p:txBody>
          <a:bodyPr wrap="square" lIns="0" rIns="0" tIns="0" bIns="0">
            <a:spAutoFit/>
          </a:bodyPr>
          <a:lstStyle/>
          <a:p>
            <a:pPr>
              <a:lnSpc>
                <a:spcPts val="2800"/>
              </a:lnSpc>
              <a:spcBef>
                <a:spcPts val="0"/>
              </a:spcBef>
              <a:spcAft>
                <a:spcPts val="0"/>
              </a:spcAft>
              <a:defRPr sz="2400" b="1">
                <a:solidFill>
                  <a:srgbClr val="002C49"/>
                </a:solidFill>
                <a:latin typeface="Montserrat"/>
              </a:defRPr>
            </a:pPr>
            <a:r>
              <a:t>Rendez-vous collaborateurs : minimum 1 / mois. Temps forts collectifs : Christmas Party + séminaire.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3.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06 / PEOPLE</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Accompagner les parcours</a:t>
            </a:r>
          </a:p>
          <a:p>
            <a:pPr>
              <a:lnSpc>
                <a:spcPts val="5300"/>
              </a:lnSpc>
              <a:spcBef>
                <a:spcPts val="0"/>
              </a:spcBef>
              <a:spcAft>
                <a:spcPts val="0"/>
              </a:spcAft>
              <a:defRPr sz="4600" b="0">
                <a:solidFill>
                  <a:srgbClr val="002C49"/>
                </a:solidFill>
                <a:latin typeface="Nohemi"/>
              </a:defRPr>
            </a:pPr>
            <a:r>
              <a:t>et rendre les réponses RH visibles.</a:t>
            </a:r>
          </a:p>
        </p:txBody>
      </p:sp>
      <p:sp>
        <p:nvSpPr>
          <p:cNvPr id="5" name="Rectangle 4"/>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6" name="TextBox 5"/>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7" name="TextBox 6"/>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13</a:t>
            </a:r>
          </a:p>
        </p:txBody>
      </p:sp>
      <p:sp>
        <p:nvSpPr>
          <p:cNvPr id="8" name="TextBox 7"/>
          <p:cNvSpPr txBox="1"/>
          <p:nvPr/>
        </p:nvSpPr>
        <p:spPr>
          <a:xfrm>
            <a:off x="896112" y="3520440"/>
            <a:ext cx="7406640" cy="658368"/>
          </a:xfrm>
          <a:prstGeom prst="rect">
            <a:avLst/>
          </a:prstGeom>
          <a:noFill/>
        </p:spPr>
        <p:txBody>
          <a:bodyPr wrap="square" lIns="0" rIns="0" tIns="0" bIns="0">
            <a:spAutoFit/>
          </a:bodyPr>
          <a:lstStyle/>
          <a:p>
            <a:pPr>
              <a:lnSpc>
                <a:spcPts val="3813"/>
              </a:lnSpc>
              <a:spcBef>
                <a:spcPts val="0"/>
              </a:spcBef>
              <a:spcAft>
                <a:spcPts val="0"/>
              </a:spcAft>
              <a:defRPr sz="3100" b="1">
                <a:solidFill>
                  <a:srgbClr val="002C49"/>
                </a:solidFill>
                <a:latin typeface="Montserrat"/>
              </a:defRPr>
            </a:pPr>
            <a:r>
              <a:t>Refonte onboarding Workelo</a:t>
            </a:r>
          </a:p>
        </p:txBody>
      </p:sp>
      <p:cxnSp>
        <p:nvCxnSpPr>
          <p:cNvPr id="9" name="Connector 8"/>
          <p:cNvCxnSpPr/>
          <p:nvPr/>
        </p:nvCxnSpPr>
        <p:spPr>
          <a:xfrm>
            <a:off x="1280160" y="4864608"/>
            <a:ext cx="6236208" cy="0"/>
          </a:xfrm>
          <a:prstGeom prst="line">
            <a:avLst/>
          </a:prstGeom>
          <a:ln w="17780">
            <a:solidFill>
              <a:srgbClr val="002C49"/>
            </a:solidFill>
          </a:ln>
        </p:spPr>
      </p:cxnSp>
      <p:sp>
        <p:nvSpPr>
          <p:cNvPr id="10" name="Oval 9"/>
          <p:cNvSpPr/>
          <p:nvPr/>
        </p:nvSpPr>
        <p:spPr>
          <a:xfrm>
            <a:off x="1188719" y="4773168"/>
            <a:ext cx="182880" cy="182880"/>
          </a:xfrm>
          <a:prstGeom prst="ellipse">
            <a:avLst/>
          </a:prstGeom>
          <a:solidFill>
            <a:srgbClr val="FF6633"/>
          </a:solidFill>
          <a:ln>
            <a:noFill/>
          </a:ln>
        </p:spPr>
        <p:txBody>
          <a:bodyPr rtlCol="0" anchor="ctr"/>
          <a:lstStyle/>
          <a:p>
            <a:pPr algn="ctr"/>
          </a:p>
        </p:txBody>
      </p:sp>
      <p:sp>
        <p:nvSpPr>
          <p:cNvPr id="11" name="Oval 10"/>
          <p:cNvSpPr/>
          <p:nvPr/>
        </p:nvSpPr>
        <p:spPr>
          <a:xfrm>
            <a:off x="7424928" y="4773168"/>
            <a:ext cx="182880" cy="182880"/>
          </a:xfrm>
          <a:prstGeom prst="ellipse">
            <a:avLst/>
          </a:prstGeom>
          <a:solidFill>
            <a:srgbClr val="FF6633"/>
          </a:solidFill>
          <a:ln>
            <a:noFill/>
          </a:ln>
        </p:spPr>
        <p:txBody>
          <a:bodyPr rtlCol="0" anchor="ctr"/>
          <a:lstStyle/>
          <a:p>
            <a:pPr algn="ctr"/>
          </a:p>
        </p:txBody>
      </p:sp>
      <p:sp>
        <p:nvSpPr>
          <p:cNvPr id="12" name="TextBox 11"/>
          <p:cNvSpPr txBox="1"/>
          <p:nvPr/>
        </p:nvSpPr>
        <p:spPr>
          <a:xfrm>
            <a:off x="950976" y="5230368"/>
            <a:ext cx="2194560" cy="822960"/>
          </a:xfrm>
          <a:prstGeom prst="rect">
            <a:avLst/>
          </a:prstGeom>
          <a:noFill/>
        </p:spPr>
        <p:txBody>
          <a:bodyPr wrap="square" lIns="0" rIns="0" tIns="0" bIns="0">
            <a:spAutoFit/>
          </a:bodyPr>
          <a:lstStyle/>
          <a:p>
            <a:pPr>
              <a:lnSpc>
                <a:spcPts val="5781"/>
              </a:lnSpc>
              <a:spcBef>
                <a:spcPts val="0"/>
              </a:spcBef>
              <a:spcAft>
                <a:spcPts val="0"/>
              </a:spcAft>
              <a:defRPr sz="4700" b="1">
                <a:solidFill>
                  <a:srgbClr val="FF6633"/>
                </a:solidFill>
                <a:latin typeface="Nohemi"/>
              </a:defRPr>
            </a:pPr>
            <a:r>
              <a:t>J−60</a:t>
            </a:r>
          </a:p>
        </p:txBody>
      </p:sp>
      <p:sp>
        <p:nvSpPr>
          <p:cNvPr id="13" name="TextBox 12"/>
          <p:cNvSpPr txBox="1"/>
          <p:nvPr/>
        </p:nvSpPr>
        <p:spPr>
          <a:xfrm>
            <a:off x="6126480" y="5230368"/>
            <a:ext cx="2194560" cy="822960"/>
          </a:xfrm>
          <a:prstGeom prst="rect">
            <a:avLst/>
          </a:prstGeom>
          <a:noFill/>
        </p:spPr>
        <p:txBody>
          <a:bodyPr wrap="square" lIns="0" rIns="0" tIns="0" bIns="0">
            <a:spAutoFit/>
          </a:bodyPr>
          <a:lstStyle/>
          <a:p>
            <a:pPr algn="r">
              <a:lnSpc>
                <a:spcPts val="5781"/>
              </a:lnSpc>
              <a:spcBef>
                <a:spcPts val="0"/>
              </a:spcBef>
              <a:spcAft>
                <a:spcPts val="0"/>
              </a:spcAft>
              <a:defRPr sz="4700" b="1">
                <a:solidFill>
                  <a:srgbClr val="FF6633"/>
                </a:solidFill>
                <a:latin typeface="Nohemi"/>
              </a:defRPr>
            </a:pPr>
            <a:r>
              <a:t>J+30</a:t>
            </a:r>
          </a:p>
        </p:txBody>
      </p:sp>
      <p:sp>
        <p:nvSpPr>
          <p:cNvPr id="14" name="TextBox 13"/>
          <p:cNvSpPr txBox="1"/>
          <p:nvPr/>
        </p:nvSpPr>
        <p:spPr>
          <a:xfrm>
            <a:off x="914400" y="6492240"/>
            <a:ext cx="7315200" cy="1673352"/>
          </a:xfrm>
          <a:prstGeom prst="rect">
            <a:avLst/>
          </a:prstGeom>
          <a:noFill/>
        </p:spPr>
        <p:txBody>
          <a:bodyPr wrap="square" lIns="0" rIns="0" tIns="0" bIns="0">
            <a:spAutoFit/>
          </a:bodyPr>
          <a:lstStyle/>
          <a:p>
            <a:pPr>
              <a:lnSpc>
                <a:spcPts val="3600"/>
              </a:lnSpc>
              <a:spcBef>
                <a:spcPts val="0"/>
              </a:spcBef>
              <a:spcAft>
                <a:spcPts val="0"/>
              </a:spcAft>
              <a:defRPr sz="2700" b="0">
                <a:solidFill>
                  <a:srgbClr val="526777"/>
                </a:solidFill>
                <a:latin typeface="Montserrat"/>
              </a:defRPr>
            </a:pPr>
            <a:r>
              <a:t>Séquencer les communications :</a:t>
            </a:r>
          </a:p>
          <a:p>
            <a:pPr>
              <a:lnSpc>
                <a:spcPts val="3600"/>
              </a:lnSpc>
              <a:spcBef>
                <a:spcPts val="0"/>
              </a:spcBef>
              <a:spcAft>
                <a:spcPts val="0"/>
              </a:spcAft>
              <a:defRPr sz="2700" b="0">
                <a:solidFill>
                  <a:srgbClr val="526777"/>
                </a:solidFill>
                <a:latin typeface="Montserrat"/>
              </a:defRPr>
            </a:pPr>
            <a:r>
              <a:t>culture, informations utiles, ressources,</a:t>
            </a:r>
          </a:p>
          <a:p>
            <a:pPr>
              <a:lnSpc>
                <a:spcPts val="3600"/>
              </a:lnSpc>
              <a:spcBef>
                <a:spcPts val="0"/>
              </a:spcBef>
              <a:spcAft>
                <a:spcPts val="0"/>
              </a:spcAft>
              <a:defRPr sz="2700" b="0">
                <a:solidFill>
                  <a:srgbClr val="526777"/>
                </a:solidFill>
                <a:latin typeface="Montserrat"/>
              </a:defRPr>
            </a:pPr>
            <a:r>
              <a:t>outils, contacts et intégration.</a:t>
            </a:r>
          </a:p>
        </p:txBody>
      </p:sp>
      <p:sp>
        <p:nvSpPr>
          <p:cNvPr id="15" name="Rectangle 14"/>
          <p:cNvSpPr/>
          <p:nvPr/>
        </p:nvSpPr>
        <p:spPr>
          <a:xfrm>
            <a:off x="914400" y="8302752"/>
            <a:ext cx="2971800" cy="393192"/>
          </a:xfrm>
          <a:prstGeom prst="rect">
            <a:avLst/>
          </a:prstGeom>
          <a:solidFill>
            <a:srgbClr val="EAF0F3"/>
          </a:solidFill>
          <a:ln>
            <a:noFill/>
          </a:ln>
        </p:spPr>
        <p:txBody>
          <a:bodyPr rtlCol="0" anchor="ctr"/>
          <a:lstStyle/>
          <a:p>
            <a:pPr algn="ctr"/>
          </a:p>
        </p:txBody>
      </p:sp>
      <p:sp>
        <p:nvSpPr>
          <p:cNvPr id="16" name="TextBox 15"/>
          <p:cNvSpPr txBox="1"/>
          <p:nvPr/>
        </p:nvSpPr>
        <p:spPr>
          <a:xfrm>
            <a:off x="1033271" y="8385048"/>
            <a:ext cx="2734056" cy="237744"/>
          </a:xfrm>
          <a:prstGeom prst="rect">
            <a:avLst/>
          </a:prstGeom>
          <a:noFill/>
        </p:spPr>
        <p:txBody>
          <a:bodyPr wrap="square" lIns="0" rIns="0" tIns="0" bIns="0">
            <a:spAutoFit/>
          </a:bodyPr>
          <a:lstStyle/>
          <a:p>
            <a:pPr>
              <a:lnSpc>
                <a:spcPts val="1722"/>
              </a:lnSpc>
              <a:spcBef>
                <a:spcPts val="0"/>
              </a:spcBef>
              <a:spcAft>
                <a:spcPts val="0"/>
              </a:spcAft>
              <a:defRPr sz="1400" b="1">
                <a:solidFill>
                  <a:srgbClr val="002C49"/>
                </a:solidFill>
                <a:latin typeface="Montserrat"/>
              </a:defRPr>
            </a:pPr>
            <a:r>
              <a:t>À RETRAVAILLER</a:t>
            </a:r>
          </a:p>
        </p:txBody>
      </p:sp>
      <p:cxnSp>
        <p:nvCxnSpPr>
          <p:cNvPr id="17" name="Connector 16"/>
          <p:cNvCxnSpPr/>
          <p:nvPr/>
        </p:nvCxnSpPr>
        <p:spPr>
          <a:xfrm>
            <a:off x="8823960" y="3511296"/>
            <a:ext cx="0" cy="5239512"/>
          </a:xfrm>
          <a:prstGeom prst="line">
            <a:avLst/>
          </a:prstGeom>
          <a:ln w="19050">
            <a:solidFill>
              <a:srgbClr val="D9E2E7"/>
            </a:solidFill>
          </a:ln>
        </p:spPr>
      </p:cxnSp>
      <p:sp>
        <p:nvSpPr>
          <p:cNvPr id="18" name="TextBox 17"/>
          <p:cNvSpPr txBox="1"/>
          <p:nvPr/>
        </p:nvSpPr>
        <p:spPr>
          <a:xfrm>
            <a:off x="9491472" y="3520440"/>
            <a:ext cx="7754112" cy="640080"/>
          </a:xfrm>
          <a:prstGeom prst="rect">
            <a:avLst/>
          </a:prstGeom>
          <a:noFill/>
        </p:spPr>
        <p:txBody>
          <a:bodyPr wrap="square" lIns="0" rIns="0" tIns="0" bIns="0">
            <a:spAutoFit/>
          </a:bodyPr>
          <a:lstStyle/>
          <a:p>
            <a:pPr>
              <a:lnSpc>
                <a:spcPts val="3936"/>
              </a:lnSpc>
              <a:spcBef>
                <a:spcPts val="0"/>
              </a:spcBef>
              <a:spcAft>
                <a:spcPts val="0"/>
              </a:spcAft>
              <a:defRPr sz="3200" b="1">
                <a:solidFill>
                  <a:srgbClr val="002C49"/>
                </a:solidFill>
                <a:latin typeface="Montserrat"/>
              </a:defRPr>
            </a:pPr>
            <a:r>
              <a:t>GPTW / CARE</a:t>
            </a:r>
          </a:p>
        </p:txBody>
      </p:sp>
      <p:sp>
        <p:nvSpPr>
          <p:cNvPr id="19" name="TextBox 18"/>
          <p:cNvSpPr txBox="1"/>
          <p:nvPr/>
        </p:nvSpPr>
        <p:spPr>
          <a:xfrm>
            <a:off x="9491472" y="4443984"/>
            <a:ext cx="7699248" cy="1344168"/>
          </a:xfrm>
          <a:prstGeom prst="rect">
            <a:avLst/>
          </a:prstGeom>
          <a:noFill/>
        </p:spPr>
        <p:txBody>
          <a:bodyPr wrap="square" lIns="0" rIns="0" tIns="0" bIns="0">
            <a:spAutoFit/>
          </a:bodyPr>
          <a:lstStyle/>
          <a:p>
            <a:pPr>
              <a:lnSpc>
                <a:spcPts val="3400"/>
              </a:lnSpc>
              <a:spcBef>
                <a:spcPts val="0"/>
              </a:spcBef>
              <a:spcAft>
                <a:spcPts val="0"/>
              </a:spcAft>
              <a:defRPr sz="2600" b="0">
                <a:solidFill>
                  <a:srgbClr val="526777"/>
                </a:solidFill>
                <a:latin typeface="Montserrat"/>
              </a:defRPr>
            </a:pPr>
            <a:r>
              <a:t>Résultats → enseignements → actions RH.</a:t>
            </a:r>
          </a:p>
          <a:p>
            <a:pPr>
              <a:lnSpc>
                <a:spcPts val="3400"/>
              </a:lnSpc>
              <a:spcBef>
                <a:spcPts val="0"/>
              </a:spcBef>
              <a:spcAft>
                <a:spcPts val="0"/>
              </a:spcAft>
              <a:defRPr sz="2600" b="0">
                <a:solidFill>
                  <a:srgbClr val="526777"/>
                </a:solidFill>
                <a:latin typeface="Montserrat"/>
              </a:defRPr>
            </a:pPr>
            <a:r>
              <a:t>Mobilité, formation, développement</a:t>
            </a:r>
          </a:p>
          <a:p>
            <a:pPr>
              <a:lnSpc>
                <a:spcPts val="3400"/>
              </a:lnSpc>
              <a:spcBef>
                <a:spcPts val="0"/>
              </a:spcBef>
              <a:spcAft>
                <a:spcPts val="0"/>
              </a:spcAft>
              <a:defRPr sz="2600" b="0">
                <a:solidFill>
                  <a:srgbClr val="526777"/>
                </a:solidFill>
                <a:latin typeface="Montserrat"/>
              </a:defRPr>
            </a:pPr>
            <a:r>
              <a:t>et parcours internes.</a:t>
            </a:r>
          </a:p>
        </p:txBody>
      </p:sp>
      <p:sp>
        <p:nvSpPr>
          <p:cNvPr id="20" name="Rectangle 19"/>
          <p:cNvSpPr/>
          <p:nvPr/>
        </p:nvSpPr>
        <p:spPr>
          <a:xfrm>
            <a:off x="9491472" y="6144768"/>
            <a:ext cx="7735824" cy="10972"/>
          </a:xfrm>
          <a:prstGeom prst="rect">
            <a:avLst/>
          </a:prstGeom>
          <a:solidFill>
            <a:srgbClr val="D9E2E7"/>
          </a:solidFill>
          <a:ln>
            <a:noFill/>
          </a:ln>
        </p:spPr>
        <p:txBody>
          <a:bodyPr rtlCol="0" anchor="ctr"/>
          <a:lstStyle/>
          <a:p>
            <a:pPr algn="ctr"/>
          </a:p>
        </p:txBody>
      </p:sp>
      <p:sp>
        <p:nvSpPr>
          <p:cNvPr id="21" name="TextBox 20"/>
          <p:cNvSpPr txBox="1"/>
          <p:nvPr/>
        </p:nvSpPr>
        <p:spPr>
          <a:xfrm>
            <a:off x="9491472" y="6428232"/>
            <a:ext cx="7735824" cy="640080"/>
          </a:xfrm>
          <a:prstGeom prst="rect">
            <a:avLst/>
          </a:prstGeom>
          <a:noFill/>
        </p:spPr>
        <p:txBody>
          <a:bodyPr wrap="square" lIns="0" rIns="0" tIns="0" bIns="0">
            <a:spAutoFit/>
          </a:bodyPr>
          <a:lstStyle/>
          <a:p>
            <a:pPr>
              <a:lnSpc>
                <a:spcPts val="3690"/>
              </a:lnSpc>
              <a:spcBef>
                <a:spcPts val="0"/>
              </a:spcBef>
              <a:spcAft>
                <a:spcPts val="0"/>
              </a:spcAft>
              <a:defRPr sz="3000" b="1">
                <a:solidFill>
                  <a:srgbClr val="002C49"/>
                </a:solidFill>
                <a:latin typeface="Montserrat"/>
              </a:defRPr>
            </a:pPr>
            <a:r>
              <a:t>Communication managériale</a:t>
            </a:r>
          </a:p>
        </p:txBody>
      </p:sp>
      <p:sp>
        <p:nvSpPr>
          <p:cNvPr id="22" name="TextBox 21"/>
          <p:cNvSpPr txBox="1"/>
          <p:nvPr/>
        </p:nvSpPr>
        <p:spPr>
          <a:xfrm>
            <a:off x="9491472" y="7351775"/>
            <a:ext cx="7653527" cy="1225296"/>
          </a:xfrm>
          <a:prstGeom prst="rect">
            <a:avLst/>
          </a:prstGeom>
          <a:noFill/>
        </p:spPr>
        <p:txBody>
          <a:bodyPr wrap="square" lIns="0" rIns="0" tIns="0" bIns="0">
            <a:spAutoFit/>
          </a:bodyPr>
          <a:lstStyle/>
          <a:p>
            <a:pPr>
              <a:lnSpc>
                <a:spcPts val="3300"/>
              </a:lnSpc>
              <a:spcBef>
                <a:spcPts val="0"/>
              </a:spcBef>
              <a:spcAft>
                <a:spcPts val="0"/>
              </a:spcAft>
              <a:defRPr sz="2600" b="0">
                <a:solidFill>
                  <a:srgbClr val="526777"/>
                </a:solidFill>
                <a:latin typeface="Montserrat"/>
              </a:defRPr>
            </a:pPr>
            <a:r>
              <a:t>Sur les grands sujets : messages clés, FAQ,</a:t>
            </a:r>
          </a:p>
          <a:p>
            <a:pPr>
              <a:lnSpc>
                <a:spcPts val="3300"/>
              </a:lnSpc>
              <a:spcBef>
                <a:spcPts val="0"/>
              </a:spcBef>
              <a:spcAft>
                <a:spcPts val="0"/>
              </a:spcAft>
              <a:defRPr sz="2600" b="0">
                <a:solidFill>
                  <a:srgbClr val="526777"/>
                </a:solidFill>
                <a:latin typeface="Montserrat"/>
              </a:defRPr>
            </a:pPr>
            <a:r>
              <a:t>support équipe, ressources</a:t>
            </a:r>
          </a:p>
          <a:p>
            <a:pPr>
              <a:lnSpc>
                <a:spcPts val="3300"/>
              </a:lnSpc>
              <a:spcBef>
                <a:spcPts val="0"/>
              </a:spcBef>
              <a:spcAft>
                <a:spcPts val="0"/>
              </a:spcAft>
              <a:defRPr sz="2600" b="0">
                <a:solidFill>
                  <a:srgbClr val="526777"/>
                </a:solidFill>
                <a:latin typeface="Montserrat"/>
              </a:defRPr>
            </a:pPr>
            <a:r>
              <a:t>et remontée des questions.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3.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06 / PEOPLE &amp; IMAGE CORPORATE</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Faire vivre la culture et nourrir l’image corporate.</a:t>
            </a:r>
          </a:p>
        </p:txBody>
      </p:sp>
      <p:sp>
        <p:nvSpPr>
          <p:cNvPr id="5" name="Rectangle 4"/>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6" name="TextBox 5"/>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7" name="TextBox 6"/>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14</a:t>
            </a:r>
          </a:p>
        </p:txBody>
      </p:sp>
      <p:sp>
        <p:nvSpPr>
          <p:cNvPr id="8" name="TextBox 7"/>
          <p:cNvSpPr txBox="1"/>
          <p:nvPr/>
        </p:nvSpPr>
        <p:spPr>
          <a:xfrm>
            <a:off x="896112" y="3502152"/>
            <a:ext cx="7882127" cy="694944"/>
          </a:xfrm>
          <a:prstGeom prst="rect">
            <a:avLst/>
          </a:prstGeom>
          <a:noFill/>
        </p:spPr>
        <p:txBody>
          <a:bodyPr wrap="square" lIns="0" rIns="0" tIns="0" bIns="0">
            <a:spAutoFit/>
          </a:bodyPr>
          <a:lstStyle/>
          <a:p>
            <a:pPr>
              <a:lnSpc>
                <a:spcPts val="3936"/>
              </a:lnSpc>
              <a:spcBef>
                <a:spcPts val="0"/>
              </a:spcBef>
              <a:spcAft>
                <a:spcPts val="0"/>
              </a:spcAft>
              <a:defRPr sz="3200" b="1">
                <a:solidFill>
                  <a:srgbClr val="002C49"/>
                </a:solidFill>
                <a:latin typeface="Montserrat"/>
              </a:defRPr>
            </a:pPr>
            <a:r>
              <a:t>Leadership au féminin</a:t>
            </a:r>
          </a:p>
        </p:txBody>
      </p:sp>
      <p:sp>
        <p:nvSpPr>
          <p:cNvPr id="9" name="Rectangle 8"/>
          <p:cNvSpPr/>
          <p:nvPr/>
        </p:nvSpPr>
        <p:spPr>
          <a:xfrm>
            <a:off x="896112" y="4407408"/>
            <a:ext cx="7726679" cy="10972"/>
          </a:xfrm>
          <a:prstGeom prst="rect">
            <a:avLst/>
          </a:prstGeom>
          <a:solidFill>
            <a:srgbClr val="D9E2E7"/>
          </a:solidFill>
          <a:ln>
            <a:noFill/>
          </a:ln>
        </p:spPr>
        <p:txBody>
          <a:bodyPr rtlCol="0" anchor="ctr"/>
          <a:lstStyle/>
          <a:p>
            <a:pPr algn="ctr"/>
          </a:p>
        </p:txBody>
      </p:sp>
      <p:sp>
        <p:nvSpPr>
          <p:cNvPr id="10" name="TextBox 9"/>
          <p:cNvSpPr txBox="1"/>
          <p:nvPr/>
        </p:nvSpPr>
        <p:spPr>
          <a:xfrm>
            <a:off x="896112" y="4626864"/>
            <a:ext cx="7763256" cy="1097280"/>
          </a:xfrm>
          <a:prstGeom prst="rect">
            <a:avLst/>
          </a:prstGeom>
          <a:noFill/>
        </p:spPr>
        <p:txBody>
          <a:bodyPr wrap="square" lIns="0" rIns="0" tIns="0" bIns="0">
            <a:spAutoFit/>
          </a:bodyPr>
          <a:lstStyle/>
          <a:p>
            <a:pPr>
              <a:lnSpc>
                <a:spcPts val="3400"/>
              </a:lnSpc>
              <a:spcBef>
                <a:spcPts val="0"/>
              </a:spcBef>
              <a:spcAft>
                <a:spcPts val="0"/>
              </a:spcAft>
              <a:defRPr sz="2600" b="0">
                <a:solidFill>
                  <a:srgbClr val="526777"/>
                </a:solidFill>
                <a:latin typeface="Montserrat"/>
              </a:defRPr>
            </a:pPr>
            <a:r>
              <a:t>Capsules régulières : parcours, management,</a:t>
            </a:r>
          </a:p>
          <a:p>
            <a:pPr>
              <a:lnSpc>
                <a:spcPts val="3400"/>
              </a:lnSpc>
              <a:spcBef>
                <a:spcPts val="0"/>
              </a:spcBef>
              <a:spcAft>
                <a:spcPts val="0"/>
              </a:spcAft>
              <a:defRPr sz="2600" b="0">
                <a:solidFill>
                  <a:srgbClr val="526777"/>
                </a:solidFill>
                <a:latin typeface="Montserrat"/>
              </a:defRPr>
            </a:pPr>
            <a:r>
              <a:t>conseils, vision. Mash-up externe le 8 mars.</a:t>
            </a:r>
          </a:p>
        </p:txBody>
      </p:sp>
      <p:sp>
        <p:nvSpPr>
          <p:cNvPr id="11" name="TextBox 10"/>
          <p:cNvSpPr txBox="1"/>
          <p:nvPr/>
        </p:nvSpPr>
        <p:spPr>
          <a:xfrm>
            <a:off x="9765792" y="3502152"/>
            <a:ext cx="7882127" cy="694944"/>
          </a:xfrm>
          <a:prstGeom prst="rect">
            <a:avLst/>
          </a:prstGeom>
          <a:noFill/>
        </p:spPr>
        <p:txBody>
          <a:bodyPr wrap="square" lIns="0" rIns="0" tIns="0" bIns="0">
            <a:spAutoFit/>
          </a:bodyPr>
          <a:lstStyle/>
          <a:p>
            <a:pPr>
              <a:lnSpc>
                <a:spcPts val="3936"/>
              </a:lnSpc>
              <a:spcBef>
                <a:spcPts val="0"/>
              </a:spcBef>
              <a:spcAft>
                <a:spcPts val="0"/>
              </a:spcAft>
              <a:defRPr sz="3200" b="1">
                <a:solidFill>
                  <a:srgbClr val="002C49"/>
                </a:solidFill>
                <a:latin typeface="Montserrat"/>
              </a:defRPr>
            </a:pPr>
            <a:r>
              <a:t>Programme RSE</a:t>
            </a:r>
          </a:p>
        </p:txBody>
      </p:sp>
      <p:sp>
        <p:nvSpPr>
          <p:cNvPr id="12" name="Rectangle 11"/>
          <p:cNvSpPr/>
          <p:nvPr/>
        </p:nvSpPr>
        <p:spPr>
          <a:xfrm>
            <a:off x="9765792" y="4407408"/>
            <a:ext cx="7726679" cy="10972"/>
          </a:xfrm>
          <a:prstGeom prst="rect">
            <a:avLst/>
          </a:prstGeom>
          <a:solidFill>
            <a:srgbClr val="D9E2E7"/>
          </a:solidFill>
          <a:ln>
            <a:noFill/>
          </a:ln>
        </p:spPr>
        <p:txBody>
          <a:bodyPr rtlCol="0" anchor="ctr"/>
          <a:lstStyle/>
          <a:p>
            <a:pPr algn="ctr"/>
          </a:p>
        </p:txBody>
      </p:sp>
      <p:sp>
        <p:nvSpPr>
          <p:cNvPr id="13" name="TextBox 12"/>
          <p:cNvSpPr txBox="1"/>
          <p:nvPr/>
        </p:nvSpPr>
        <p:spPr>
          <a:xfrm>
            <a:off x="9765792" y="4626864"/>
            <a:ext cx="7763256" cy="1097280"/>
          </a:xfrm>
          <a:prstGeom prst="rect">
            <a:avLst/>
          </a:prstGeom>
          <a:noFill/>
        </p:spPr>
        <p:txBody>
          <a:bodyPr wrap="square" lIns="0" rIns="0" tIns="0" bIns="0">
            <a:spAutoFit/>
          </a:bodyPr>
          <a:lstStyle/>
          <a:p>
            <a:pPr>
              <a:lnSpc>
                <a:spcPts val="3400"/>
              </a:lnSpc>
              <a:spcBef>
                <a:spcPts val="0"/>
              </a:spcBef>
              <a:spcAft>
                <a:spcPts val="0"/>
              </a:spcAft>
              <a:defRPr sz="2600" b="0">
                <a:solidFill>
                  <a:srgbClr val="526777"/>
                </a:solidFill>
                <a:latin typeface="Montserrat"/>
              </a:defRPr>
            </a:pPr>
            <a:r>
              <a:t>Minimum 1 activation interne / mois.</a:t>
            </a:r>
          </a:p>
          <a:p>
            <a:pPr>
              <a:lnSpc>
                <a:spcPts val="3400"/>
              </a:lnSpc>
              <a:spcBef>
                <a:spcPts val="0"/>
              </a:spcBef>
              <a:spcAft>
                <a:spcPts val="0"/>
              </a:spcAft>
              <a:defRPr sz="2600" b="0">
                <a:solidFill>
                  <a:srgbClr val="526777"/>
                </a:solidFill>
                <a:latin typeface="Montserrat"/>
              </a:defRPr>
            </a:pPr>
            <a:r>
              <a:t>Valorisation externe sélective après l’action.</a:t>
            </a:r>
          </a:p>
        </p:txBody>
      </p:sp>
      <p:sp>
        <p:nvSpPr>
          <p:cNvPr id="14" name="TextBox 13"/>
          <p:cNvSpPr txBox="1"/>
          <p:nvPr/>
        </p:nvSpPr>
        <p:spPr>
          <a:xfrm>
            <a:off x="896112" y="6025896"/>
            <a:ext cx="7882127" cy="694944"/>
          </a:xfrm>
          <a:prstGeom prst="rect">
            <a:avLst/>
          </a:prstGeom>
          <a:noFill/>
        </p:spPr>
        <p:txBody>
          <a:bodyPr wrap="square" lIns="0" rIns="0" tIns="0" bIns="0">
            <a:spAutoFit/>
          </a:bodyPr>
          <a:lstStyle/>
          <a:p>
            <a:pPr>
              <a:lnSpc>
                <a:spcPts val="3936"/>
              </a:lnSpc>
              <a:spcBef>
                <a:spcPts val="0"/>
              </a:spcBef>
              <a:spcAft>
                <a:spcPts val="0"/>
              </a:spcAft>
              <a:defRPr sz="3200" b="1">
                <a:solidFill>
                  <a:srgbClr val="002C49"/>
                </a:solidFill>
                <a:latin typeface="Montserrat"/>
              </a:defRPr>
            </a:pPr>
            <a:r>
              <a:t>Culture Leyton</a:t>
            </a:r>
          </a:p>
        </p:txBody>
      </p:sp>
      <p:sp>
        <p:nvSpPr>
          <p:cNvPr id="15" name="Rectangle 14"/>
          <p:cNvSpPr/>
          <p:nvPr/>
        </p:nvSpPr>
        <p:spPr>
          <a:xfrm>
            <a:off x="896112" y="6931152"/>
            <a:ext cx="7726679" cy="10972"/>
          </a:xfrm>
          <a:prstGeom prst="rect">
            <a:avLst/>
          </a:prstGeom>
          <a:solidFill>
            <a:srgbClr val="D9E2E7"/>
          </a:solidFill>
          <a:ln>
            <a:noFill/>
          </a:ln>
        </p:spPr>
        <p:txBody>
          <a:bodyPr rtlCol="0" anchor="ctr"/>
          <a:lstStyle/>
          <a:p>
            <a:pPr algn="ctr"/>
          </a:p>
        </p:txBody>
      </p:sp>
      <p:sp>
        <p:nvSpPr>
          <p:cNvPr id="16" name="TextBox 15"/>
          <p:cNvSpPr txBox="1"/>
          <p:nvPr/>
        </p:nvSpPr>
        <p:spPr>
          <a:xfrm>
            <a:off x="896112" y="7150608"/>
            <a:ext cx="7763256" cy="1097280"/>
          </a:xfrm>
          <a:prstGeom prst="rect">
            <a:avLst/>
          </a:prstGeom>
          <a:noFill/>
        </p:spPr>
        <p:txBody>
          <a:bodyPr wrap="square" lIns="0" rIns="0" tIns="0" bIns="0">
            <a:spAutoFit/>
          </a:bodyPr>
          <a:lstStyle/>
          <a:p>
            <a:pPr>
              <a:lnSpc>
                <a:spcPts val="3400"/>
              </a:lnSpc>
              <a:spcBef>
                <a:spcPts val="0"/>
              </a:spcBef>
              <a:spcAft>
                <a:spcPts val="0"/>
              </a:spcAft>
              <a:defRPr sz="2600" b="0">
                <a:solidFill>
                  <a:srgbClr val="526777"/>
                </a:solidFill>
                <a:latin typeface="Montserrat"/>
              </a:defRPr>
            </a:pPr>
            <a:r>
              <a:t>Reconnaissance / Kudos, initiatives,</a:t>
            </a:r>
          </a:p>
          <a:p>
            <a:pPr>
              <a:lnSpc>
                <a:spcPts val="3400"/>
              </a:lnSpc>
              <a:spcBef>
                <a:spcPts val="0"/>
              </a:spcBef>
              <a:spcAft>
                <a:spcPts val="0"/>
              </a:spcAft>
              <a:defRPr sz="2600" b="0">
                <a:solidFill>
                  <a:srgbClr val="526777"/>
                </a:solidFill>
                <a:latin typeface="Montserrat"/>
              </a:defRPr>
            </a:pPr>
            <a:r>
              <a:t>collaborations, comportements incarnés.</a:t>
            </a:r>
          </a:p>
        </p:txBody>
      </p:sp>
      <p:sp>
        <p:nvSpPr>
          <p:cNvPr id="17" name="TextBox 16"/>
          <p:cNvSpPr txBox="1"/>
          <p:nvPr/>
        </p:nvSpPr>
        <p:spPr>
          <a:xfrm>
            <a:off x="9765792" y="6025896"/>
            <a:ext cx="7882127" cy="694944"/>
          </a:xfrm>
          <a:prstGeom prst="rect">
            <a:avLst/>
          </a:prstGeom>
          <a:noFill/>
        </p:spPr>
        <p:txBody>
          <a:bodyPr wrap="square" lIns="0" rIns="0" tIns="0" bIns="0">
            <a:spAutoFit/>
          </a:bodyPr>
          <a:lstStyle/>
          <a:p>
            <a:pPr>
              <a:lnSpc>
                <a:spcPts val="3936"/>
              </a:lnSpc>
              <a:spcBef>
                <a:spcPts val="0"/>
              </a:spcBef>
              <a:spcAft>
                <a:spcPts val="0"/>
              </a:spcAft>
              <a:defRPr sz="3200" b="1">
                <a:solidFill>
                  <a:srgbClr val="002C49"/>
                </a:solidFill>
                <a:latin typeface="Montserrat"/>
              </a:defRPr>
            </a:pPr>
            <a:r>
              <a:t>LinkedIn corporate</a:t>
            </a:r>
          </a:p>
        </p:txBody>
      </p:sp>
      <p:sp>
        <p:nvSpPr>
          <p:cNvPr id="18" name="Rectangle 17"/>
          <p:cNvSpPr/>
          <p:nvPr/>
        </p:nvSpPr>
        <p:spPr>
          <a:xfrm>
            <a:off x="9765792" y="6931152"/>
            <a:ext cx="7726679" cy="10972"/>
          </a:xfrm>
          <a:prstGeom prst="rect">
            <a:avLst/>
          </a:prstGeom>
          <a:solidFill>
            <a:srgbClr val="D9E2E7"/>
          </a:solidFill>
          <a:ln>
            <a:noFill/>
          </a:ln>
        </p:spPr>
        <p:txBody>
          <a:bodyPr rtlCol="0" anchor="ctr"/>
          <a:lstStyle/>
          <a:p>
            <a:pPr algn="ctr"/>
          </a:p>
        </p:txBody>
      </p:sp>
      <p:sp>
        <p:nvSpPr>
          <p:cNvPr id="19" name="TextBox 18"/>
          <p:cNvSpPr txBox="1"/>
          <p:nvPr/>
        </p:nvSpPr>
        <p:spPr>
          <a:xfrm>
            <a:off x="9765792" y="7150608"/>
            <a:ext cx="7763256" cy="1097280"/>
          </a:xfrm>
          <a:prstGeom prst="rect">
            <a:avLst/>
          </a:prstGeom>
          <a:noFill/>
        </p:spPr>
        <p:txBody>
          <a:bodyPr wrap="square" lIns="0" rIns="0" tIns="0" bIns="0">
            <a:spAutoFit/>
          </a:bodyPr>
          <a:lstStyle/>
          <a:p>
            <a:pPr>
              <a:lnSpc>
                <a:spcPts val="3400"/>
              </a:lnSpc>
              <a:spcBef>
                <a:spcPts val="0"/>
              </a:spcBef>
              <a:spcAft>
                <a:spcPts val="0"/>
              </a:spcAft>
              <a:defRPr sz="2600" b="0">
                <a:solidFill>
                  <a:srgbClr val="526777"/>
                </a:solidFill>
                <a:latin typeface="Montserrat"/>
              </a:defRPr>
            </a:pPr>
            <a:r>
              <a:t>Fil rouge annuel : culture, collaborateurs,</a:t>
            </a:r>
          </a:p>
          <a:p>
            <a:pPr>
              <a:lnSpc>
                <a:spcPts val="3400"/>
              </a:lnSpc>
              <a:spcBef>
                <a:spcPts val="0"/>
              </a:spcBef>
              <a:spcAft>
                <a:spcPts val="0"/>
              </a:spcAft>
              <a:defRPr sz="2600" b="0">
                <a:solidFill>
                  <a:srgbClr val="526777"/>
                </a:solidFill>
                <a:latin typeface="Montserrat"/>
              </a:defRPr>
            </a:pPr>
            <a:r>
              <a:t>engagements, innovation, prises de parole.</a:t>
            </a:r>
          </a:p>
        </p:txBody>
      </p:sp>
      <p:sp>
        <p:nvSpPr>
          <p:cNvPr id="20" name="Rectangle 19"/>
          <p:cNvSpPr/>
          <p:nvPr/>
        </p:nvSpPr>
        <p:spPr>
          <a:xfrm>
            <a:off x="822960" y="8823960"/>
            <a:ext cx="16642080" cy="10972"/>
          </a:xfrm>
          <a:prstGeom prst="rect">
            <a:avLst/>
          </a:prstGeom>
          <a:solidFill>
            <a:srgbClr val="D9E2E7"/>
          </a:solidFill>
          <a:ln>
            <a:noFill/>
          </a:ln>
        </p:spPr>
        <p:txBody>
          <a:bodyPr rtlCol="0" anchor="ctr"/>
          <a:lstStyle/>
          <a:p>
            <a:pPr algn="ctr"/>
          </a:p>
        </p:txBody>
      </p:sp>
      <p:sp>
        <p:nvSpPr>
          <p:cNvPr id="21" name="TextBox 20"/>
          <p:cNvSpPr txBox="1"/>
          <p:nvPr/>
        </p:nvSpPr>
        <p:spPr>
          <a:xfrm>
            <a:off x="868680" y="9025128"/>
            <a:ext cx="16486632" cy="768096"/>
          </a:xfrm>
          <a:prstGeom prst="rect">
            <a:avLst/>
          </a:prstGeom>
          <a:noFill/>
        </p:spPr>
        <p:txBody>
          <a:bodyPr wrap="square" lIns="0" rIns="0" tIns="0" bIns="0">
            <a:spAutoFit/>
          </a:bodyPr>
          <a:lstStyle/>
          <a:p>
            <a:pPr>
              <a:lnSpc>
                <a:spcPts val="2800"/>
              </a:lnSpc>
              <a:spcBef>
                <a:spcPts val="0"/>
              </a:spcBef>
              <a:spcAft>
                <a:spcPts val="0"/>
              </a:spcAft>
              <a:defRPr sz="2400" b="1">
                <a:solidFill>
                  <a:srgbClr val="002C49"/>
                </a:solidFill>
                <a:latin typeface="Montserrat"/>
              </a:defRPr>
            </a:pPr>
            <a:r>
              <a:t>Le vécu interne nourrit l’image corporate ; les événements RSE restent internes.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3.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07 / ÉCOSYSTÈME DES CANAUX</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Donner un rôle précis à chaque canal.</a:t>
            </a:r>
          </a:p>
        </p:txBody>
      </p:sp>
      <p:sp>
        <p:nvSpPr>
          <p:cNvPr id="5" name="Rectangle 4"/>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6" name="TextBox 5"/>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7" name="TextBox 6"/>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15</a:t>
            </a:r>
          </a:p>
        </p:txBody>
      </p:sp>
      <p:sp>
        <p:nvSpPr>
          <p:cNvPr id="8" name="TextBox 7"/>
          <p:cNvSpPr txBox="1"/>
          <p:nvPr/>
        </p:nvSpPr>
        <p:spPr>
          <a:xfrm>
            <a:off x="896112" y="2834640"/>
            <a:ext cx="7900416" cy="630936"/>
          </a:xfrm>
          <a:prstGeom prst="rect">
            <a:avLst/>
          </a:prstGeom>
          <a:noFill/>
        </p:spPr>
        <p:txBody>
          <a:bodyPr wrap="square" lIns="0" rIns="0" tIns="0" bIns="0">
            <a:spAutoFit/>
          </a:bodyPr>
          <a:lstStyle/>
          <a:p>
            <a:pPr>
              <a:lnSpc>
                <a:spcPts val="3321"/>
              </a:lnSpc>
              <a:spcBef>
                <a:spcPts val="0"/>
              </a:spcBef>
              <a:spcAft>
                <a:spcPts val="0"/>
              </a:spcAft>
              <a:defRPr sz="2700" b="1">
                <a:solidFill>
                  <a:srgbClr val="002C49"/>
                </a:solidFill>
                <a:latin typeface="Montserrat"/>
              </a:defRPr>
            </a:pPr>
            <a:r>
              <a:t>Déploiement Neoscreen agences</a:t>
            </a:r>
          </a:p>
        </p:txBody>
      </p:sp>
      <p:sp>
        <p:nvSpPr>
          <p:cNvPr id="9" name="TextBox 8"/>
          <p:cNvSpPr txBox="1"/>
          <p:nvPr/>
        </p:nvSpPr>
        <p:spPr>
          <a:xfrm>
            <a:off x="896112" y="3547872"/>
            <a:ext cx="7900416" cy="822960"/>
          </a:xfrm>
          <a:prstGeom prst="rect">
            <a:avLst/>
          </a:prstGeom>
          <a:noFill/>
        </p:spPr>
        <p:txBody>
          <a:bodyPr wrap="square" lIns="0" rIns="0" tIns="0" bIns="0">
            <a:spAutoFit/>
          </a:bodyPr>
          <a:lstStyle/>
          <a:p>
            <a:pPr>
              <a:lnSpc>
                <a:spcPts val="3000"/>
              </a:lnSpc>
              <a:spcBef>
                <a:spcPts val="0"/>
              </a:spcBef>
              <a:spcAft>
                <a:spcPts val="0"/>
              </a:spcAft>
              <a:defRPr sz="2400" b="0">
                <a:solidFill>
                  <a:srgbClr val="526777"/>
                </a:solidFill>
                <a:latin typeface="Montserrat"/>
              </a:defRPr>
            </a:pPr>
            <a:r>
              <a:t>Campagne dès octobre → puis alimentation continue.</a:t>
            </a:r>
          </a:p>
        </p:txBody>
      </p:sp>
      <p:sp>
        <p:nvSpPr>
          <p:cNvPr id="10" name="TextBox 9"/>
          <p:cNvSpPr txBox="1"/>
          <p:nvPr/>
        </p:nvSpPr>
        <p:spPr>
          <a:xfrm>
            <a:off x="9646920" y="2834640"/>
            <a:ext cx="7708392" cy="630936"/>
          </a:xfrm>
          <a:prstGeom prst="rect">
            <a:avLst/>
          </a:prstGeom>
          <a:noFill/>
        </p:spPr>
        <p:txBody>
          <a:bodyPr wrap="square" lIns="0" rIns="0" tIns="0" bIns="0">
            <a:spAutoFit/>
          </a:bodyPr>
          <a:lstStyle/>
          <a:p>
            <a:pPr>
              <a:lnSpc>
                <a:spcPts val="3567"/>
              </a:lnSpc>
              <a:spcBef>
                <a:spcPts val="0"/>
              </a:spcBef>
              <a:spcAft>
                <a:spcPts val="0"/>
              </a:spcAft>
              <a:defRPr sz="2900" b="1">
                <a:solidFill>
                  <a:srgbClr val="002C49"/>
                </a:solidFill>
                <a:latin typeface="Montserrat"/>
              </a:defRPr>
            </a:pPr>
            <a:r>
              <a:t>Intranet</a:t>
            </a:r>
          </a:p>
        </p:txBody>
      </p:sp>
      <p:sp>
        <p:nvSpPr>
          <p:cNvPr id="11" name="TextBox 10"/>
          <p:cNvSpPr txBox="1"/>
          <p:nvPr/>
        </p:nvSpPr>
        <p:spPr>
          <a:xfrm>
            <a:off x="9646920" y="3547872"/>
            <a:ext cx="7708392" cy="685800"/>
          </a:xfrm>
          <a:prstGeom prst="rect">
            <a:avLst/>
          </a:prstGeom>
          <a:noFill/>
        </p:spPr>
        <p:txBody>
          <a:bodyPr wrap="square" lIns="0" rIns="0" tIns="0" bIns="0">
            <a:spAutoFit/>
          </a:bodyPr>
          <a:lstStyle/>
          <a:p>
            <a:pPr>
              <a:lnSpc>
                <a:spcPts val="3000"/>
              </a:lnSpc>
              <a:spcBef>
                <a:spcPts val="0"/>
              </a:spcBef>
              <a:spcAft>
                <a:spcPts val="0"/>
              </a:spcAft>
              <a:defRPr sz="2400" b="0">
                <a:solidFill>
                  <a:srgbClr val="526777"/>
                </a:solidFill>
                <a:latin typeface="Montserrat"/>
              </a:defRPr>
            </a:pPr>
            <a:r>
              <a:t>Revue de production / prestataire ; planning TBD.</a:t>
            </a:r>
          </a:p>
        </p:txBody>
      </p:sp>
      <p:sp>
        <p:nvSpPr>
          <p:cNvPr id="12" name="Rectangle 11"/>
          <p:cNvSpPr/>
          <p:nvPr/>
        </p:nvSpPr>
        <p:spPr>
          <a:xfrm>
            <a:off x="896112" y="4407408"/>
            <a:ext cx="16459200" cy="10972"/>
          </a:xfrm>
          <a:prstGeom prst="rect">
            <a:avLst/>
          </a:prstGeom>
          <a:solidFill>
            <a:srgbClr val="002C49"/>
          </a:solidFill>
          <a:ln>
            <a:noFill/>
          </a:ln>
        </p:spPr>
        <p:txBody>
          <a:bodyPr rtlCol="0" anchor="ctr"/>
          <a:lstStyle/>
          <a:p>
            <a:pPr algn="ctr"/>
          </a:p>
        </p:txBody>
      </p:sp>
      <p:sp>
        <p:nvSpPr>
          <p:cNvPr id="13" name="TextBox 12"/>
          <p:cNvSpPr txBox="1"/>
          <p:nvPr/>
        </p:nvSpPr>
        <p:spPr>
          <a:xfrm>
            <a:off x="914400" y="4727448"/>
            <a:ext cx="3749039" cy="658368"/>
          </a:xfrm>
          <a:prstGeom prst="rect">
            <a:avLst/>
          </a:prstGeom>
          <a:noFill/>
        </p:spPr>
        <p:txBody>
          <a:bodyPr wrap="square" lIns="0" rIns="0" tIns="0" bIns="0">
            <a:spAutoFit/>
          </a:bodyPr>
          <a:lstStyle/>
          <a:p>
            <a:pPr>
              <a:lnSpc>
                <a:spcPts val="2700"/>
              </a:lnSpc>
              <a:spcBef>
                <a:spcPts val="0"/>
              </a:spcBef>
              <a:spcAft>
                <a:spcPts val="0"/>
              </a:spcAft>
              <a:defRPr sz="2300" b="1">
                <a:solidFill>
                  <a:srgbClr val="002C49"/>
                </a:solidFill>
                <a:latin typeface="Montserrat"/>
              </a:defRPr>
            </a:pPr>
            <a:r>
              <a:t>INTRANET</a:t>
            </a:r>
          </a:p>
        </p:txBody>
      </p:sp>
      <p:sp>
        <p:nvSpPr>
          <p:cNvPr id="14" name="TextBox 13"/>
          <p:cNvSpPr txBox="1"/>
          <p:nvPr/>
        </p:nvSpPr>
        <p:spPr>
          <a:xfrm>
            <a:off x="5010912" y="4727448"/>
            <a:ext cx="7699248" cy="658368"/>
          </a:xfrm>
          <a:prstGeom prst="rect">
            <a:avLst/>
          </a:prstGeom>
          <a:noFill/>
        </p:spPr>
        <p:txBody>
          <a:bodyPr wrap="square" lIns="0" rIns="0" tIns="0" bIns="0">
            <a:spAutoFit/>
          </a:bodyPr>
          <a:lstStyle/>
          <a:p>
            <a:pPr>
              <a:lnSpc>
                <a:spcPts val="2800"/>
              </a:lnSpc>
              <a:spcBef>
                <a:spcPts val="0"/>
              </a:spcBef>
              <a:spcAft>
                <a:spcPts val="0"/>
              </a:spcAft>
              <a:defRPr sz="2400" b="0">
                <a:solidFill>
                  <a:srgbClr val="526777"/>
                </a:solidFill>
                <a:latin typeface="Montserrat"/>
              </a:defRPr>
            </a:pPr>
            <a:r>
              <a:t>Hub : ressources et cross-sell principal.</a:t>
            </a:r>
          </a:p>
        </p:txBody>
      </p:sp>
      <p:sp>
        <p:nvSpPr>
          <p:cNvPr id="15" name="TextBox 14"/>
          <p:cNvSpPr txBox="1"/>
          <p:nvPr/>
        </p:nvSpPr>
        <p:spPr>
          <a:xfrm>
            <a:off x="13194792" y="4727448"/>
            <a:ext cx="4160520" cy="658368"/>
          </a:xfrm>
          <a:prstGeom prst="rect">
            <a:avLst/>
          </a:prstGeom>
          <a:noFill/>
        </p:spPr>
        <p:txBody>
          <a:bodyPr wrap="square" lIns="0" rIns="0" tIns="0" bIns="0">
            <a:spAutoFit/>
          </a:bodyPr>
          <a:lstStyle/>
          <a:p>
            <a:pPr>
              <a:lnSpc>
                <a:spcPts val="2800"/>
              </a:lnSpc>
              <a:spcBef>
                <a:spcPts val="0"/>
              </a:spcBef>
              <a:spcAft>
                <a:spcPts val="0"/>
              </a:spcAft>
              <a:defRPr sz="2400" b="0">
                <a:solidFill>
                  <a:srgbClr val="002C49"/>
                </a:solidFill>
                <a:latin typeface="Montserrat"/>
              </a:defRPr>
            </a:pPr>
            <a:r>
              <a:t>Après lancement effectif.</a:t>
            </a:r>
          </a:p>
        </p:txBody>
      </p:sp>
      <p:sp>
        <p:nvSpPr>
          <p:cNvPr id="16" name="Rectangle 15"/>
          <p:cNvSpPr/>
          <p:nvPr/>
        </p:nvSpPr>
        <p:spPr>
          <a:xfrm>
            <a:off x="914400" y="5358383"/>
            <a:ext cx="16459200" cy="10972"/>
          </a:xfrm>
          <a:prstGeom prst="rect">
            <a:avLst/>
          </a:prstGeom>
          <a:solidFill>
            <a:srgbClr val="D9E2E7"/>
          </a:solidFill>
          <a:ln>
            <a:noFill/>
          </a:ln>
        </p:spPr>
        <p:txBody>
          <a:bodyPr rtlCol="0" anchor="ctr"/>
          <a:lstStyle/>
          <a:p>
            <a:pPr algn="ctr"/>
          </a:p>
        </p:txBody>
      </p:sp>
      <p:sp>
        <p:nvSpPr>
          <p:cNvPr id="17" name="TextBox 16"/>
          <p:cNvSpPr txBox="1"/>
          <p:nvPr/>
        </p:nvSpPr>
        <p:spPr>
          <a:xfrm>
            <a:off x="914400" y="5477256"/>
            <a:ext cx="3749039" cy="658368"/>
          </a:xfrm>
          <a:prstGeom prst="rect">
            <a:avLst/>
          </a:prstGeom>
          <a:noFill/>
        </p:spPr>
        <p:txBody>
          <a:bodyPr wrap="square" lIns="0" rIns="0" tIns="0" bIns="0">
            <a:spAutoFit/>
          </a:bodyPr>
          <a:lstStyle/>
          <a:p>
            <a:pPr>
              <a:lnSpc>
                <a:spcPts val="2700"/>
              </a:lnSpc>
              <a:spcBef>
                <a:spcPts val="0"/>
              </a:spcBef>
              <a:spcAft>
                <a:spcPts val="0"/>
              </a:spcAft>
              <a:defRPr sz="2300" b="1">
                <a:solidFill>
                  <a:srgbClr val="002C49"/>
                </a:solidFill>
                <a:latin typeface="Montserrat"/>
              </a:defRPr>
            </a:pPr>
            <a:r>
              <a:t>NEOSCREEN</a:t>
            </a:r>
          </a:p>
        </p:txBody>
      </p:sp>
      <p:sp>
        <p:nvSpPr>
          <p:cNvPr id="18" name="TextBox 17"/>
          <p:cNvSpPr txBox="1"/>
          <p:nvPr/>
        </p:nvSpPr>
        <p:spPr>
          <a:xfrm>
            <a:off x="5010912" y="5477256"/>
            <a:ext cx="7699248" cy="658368"/>
          </a:xfrm>
          <a:prstGeom prst="rect">
            <a:avLst/>
          </a:prstGeom>
          <a:noFill/>
        </p:spPr>
        <p:txBody>
          <a:bodyPr wrap="square" lIns="0" rIns="0" tIns="0" bIns="0">
            <a:spAutoFit/>
          </a:bodyPr>
          <a:lstStyle/>
          <a:p>
            <a:pPr>
              <a:lnSpc>
                <a:spcPts val="2800"/>
              </a:lnSpc>
              <a:spcBef>
                <a:spcPts val="0"/>
              </a:spcBef>
              <a:spcAft>
                <a:spcPts val="0"/>
              </a:spcAft>
              <a:defRPr sz="2400" b="0">
                <a:solidFill>
                  <a:srgbClr val="526777"/>
                </a:solidFill>
                <a:latin typeface="Montserrat"/>
              </a:defRPr>
            </a:pPr>
            <a:r>
              <a:t>Amplification en agences.</a:t>
            </a:r>
          </a:p>
        </p:txBody>
      </p:sp>
      <p:sp>
        <p:nvSpPr>
          <p:cNvPr id="19" name="TextBox 18"/>
          <p:cNvSpPr txBox="1"/>
          <p:nvPr/>
        </p:nvSpPr>
        <p:spPr>
          <a:xfrm>
            <a:off x="13194792" y="5477256"/>
            <a:ext cx="4160520" cy="658368"/>
          </a:xfrm>
          <a:prstGeom prst="rect">
            <a:avLst/>
          </a:prstGeom>
          <a:noFill/>
        </p:spPr>
        <p:txBody>
          <a:bodyPr wrap="square" lIns="0" rIns="0" tIns="0" bIns="0">
            <a:spAutoFit/>
          </a:bodyPr>
          <a:lstStyle/>
          <a:p>
            <a:pPr>
              <a:lnSpc>
                <a:spcPts val="2800"/>
              </a:lnSpc>
              <a:spcBef>
                <a:spcPts val="0"/>
              </a:spcBef>
              <a:spcAft>
                <a:spcPts val="0"/>
              </a:spcAft>
              <a:defRPr sz="2400" b="0">
                <a:solidFill>
                  <a:srgbClr val="002C49"/>
                </a:solidFill>
                <a:latin typeface="Montserrat"/>
              </a:defRPr>
            </a:pPr>
            <a:r>
              <a:t>Après déploiement.</a:t>
            </a:r>
          </a:p>
        </p:txBody>
      </p:sp>
      <p:sp>
        <p:nvSpPr>
          <p:cNvPr id="20" name="Rectangle 19"/>
          <p:cNvSpPr/>
          <p:nvPr/>
        </p:nvSpPr>
        <p:spPr>
          <a:xfrm>
            <a:off x="914400" y="6108192"/>
            <a:ext cx="16459200" cy="10972"/>
          </a:xfrm>
          <a:prstGeom prst="rect">
            <a:avLst/>
          </a:prstGeom>
          <a:solidFill>
            <a:srgbClr val="D9E2E7"/>
          </a:solidFill>
          <a:ln>
            <a:noFill/>
          </a:ln>
        </p:spPr>
        <p:txBody>
          <a:bodyPr rtlCol="0" anchor="ctr"/>
          <a:lstStyle/>
          <a:p>
            <a:pPr algn="ctr"/>
          </a:p>
        </p:txBody>
      </p:sp>
      <p:sp>
        <p:nvSpPr>
          <p:cNvPr id="21" name="TextBox 20"/>
          <p:cNvSpPr txBox="1"/>
          <p:nvPr/>
        </p:nvSpPr>
        <p:spPr>
          <a:xfrm>
            <a:off x="914400" y="6227064"/>
            <a:ext cx="3749039" cy="658368"/>
          </a:xfrm>
          <a:prstGeom prst="rect">
            <a:avLst/>
          </a:prstGeom>
          <a:noFill/>
        </p:spPr>
        <p:txBody>
          <a:bodyPr wrap="square" lIns="0" rIns="0" tIns="0" bIns="0">
            <a:spAutoFit/>
          </a:bodyPr>
          <a:lstStyle/>
          <a:p>
            <a:pPr>
              <a:lnSpc>
                <a:spcPts val="2700"/>
              </a:lnSpc>
              <a:spcBef>
                <a:spcPts val="0"/>
              </a:spcBef>
              <a:spcAft>
                <a:spcPts val="0"/>
              </a:spcAft>
              <a:defRPr sz="2300" b="1">
                <a:solidFill>
                  <a:srgbClr val="002C49"/>
                </a:solidFill>
                <a:latin typeface="Montserrat"/>
              </a:defRPr>
            </a:pPr>
            <a:r>
              <a:t>TEAMS / EMAIL</a:t>
            </a:r>
          </a:p>
        </p:txBody>
      </p:sp>
      <p:sp>
        <p:nvSpPr>
          <p:cNvPr id="22" name="TextBox 21"/>
          <p:cNvSpPr txBox="1"/>
          <p:nvPr/>
        </p:nvSpPr>
        <p:spPr>
          <a:xfrm>
            <a:off x="5010912" y="6227064"/>
            <a:ext cx="7699248" cy="658368"/>
          </a:xfrm>
          <a:prstGeom prst="rect">
            <a:avLst/>
          </a:prstGeom>
          <a:noFill/>
        </p:spPr>
        <p:txBody>
          <a:bodyPr wrap="square" lIns="0" rIns="0" tIns="0" bIns="0">
            <a:spAutoFit/>
          </a:bodyPr>
          <a:lstStyle/>
          <a:p>
            <a:pPr>
              <a:lnSpc>
                <a:spcPts val="2800"/>
              </a:lnSpc>
              <a:spcBef>
                <a:spcPts val="0"/>
              </a:spcBef>
              <a:spcAft>
                <a:spcPts val="0"/>
              </a:spcAft>
              <a:defRPr sz="2400" b="0">
                <a:solidFill>
                  <a:srgbClr val="526777"/>
                </a:solidFill>
                <a:latin typeface="Montserrat"/>
              </a:defRPr>
            </a:pPr>
            <a:r>
              <a:t>Sourcing et activation ciblée.</a:t>
            </a:r>
          </a:p>
        </p:txBody>
      </p:sp>
      <p:sp>
        <p:nvSpPr>
          <p:cNvPr id="23" name="TextBox 22"/>
          <p:cNvSpPr txBox="1"/>
          <p:nvPr/>
        </p:nvSpPr>
        <p:spPr>
          <a:xfrm>
            <a:off x="13194792" y="6227064"/>
            <a:ext cx="4160520" cy="658368"/>
          </a:xfrm>
          <a:prstGeom prst="rect">
            <a:avLst/>
          </a:prstGeom>
          <a:noFill/>
        </p:spPr>
        <p:txBody>
          <a:bodyPr wrap="square" lIns="0" rIns="0" tIns="0" bIns="0">
            <a:spAutoFit/>
          </a:bodyPr>
          <a:lstStyle/>
          <a:p>
            <a:pPr>
              <a:lnSpc>
                <a:spcPts val="2800"/>
              </a:lnSpc>
              <a:spcBef>
                <a:spcPts val="0"/>
              </a:spcBef>
              <a:spcAft>
                <a:spcPts val="0"/>
              </a:spcAft>
              <a:defRPr sz="2400" b="0">
                <a:solidFill>
                  <a:srgbClr val="002C49"/>
                </a:solidFill>
                <a:latin typeface="Montserrat"/>
              </a:defRPr>
            </a:pPr>
            <a:r>
              <a:t>Selon le besoin.</a:t>
            </a:r>
          </a:p>
        </p:txBody>
      </p:sp>
      <p:sp>
        <p:nvSpPr>
          <p:cNvPr id="24" name="Rectangle 23"/>
          <p:cNvSpPr/>
          <p:nvPr/>
        </p:nvSpPr>
        <p:spPr>
          <a:xfrm>
            <a:off x="914400" y="6858000"/>
            <a:ext cx="16459200" cy="10972"/>
          </a:xfrm>
          <a:prstGeom prst="rect">
            <a:avLst/>
          </a:prstGeom>
          <a:solidFill>
            <a:srgbClr val="D9E2E7"/>
          </a:solidFill>
          <a:ln>
            <a:noFill/>
          </a:ln>
        </p:spPr>
        <p:txBody>
          <a:bodyPr rtlCol="0" anchor="ctr"/>
          <a:lstStyle/>
          <a:p>
            <a:pPr algn="ctr"/>
          </a:p>
        </p:txBody>
      </p:sp>
      <p:sp>
        <p:nvSpPr>
          <p:cNvPr id="25" name="TextBox 24"/>
          <p:cNvSpPr txBox="1"/>
          <p:nvPr/>
        </p:nvSpPr>
        <p:spPr>
          <a:xfrm>
            <a:off x="914400" y="6976872"/>
            <a:ext cx="3749039" cy="658368"/>
          </a:xfrm>
          <a:prstGeom prst="rect">
            <a:avLst/>
          </a:prstGeom>
          <a:noFill/>
        </p:spPr>
        <p:txBody>
          <a:bodyPr wrap="square" lIns="0" rIns="0" tIns="0" bIns="0">
            <a:spAutoFit/>
          </a:bodyPr>
          <a:lstStyle/>
          <a:p>
            <a:pPr>
              <a:lnSpc>
                <a:spcPts val="2700"/>
              </a:lnSpc>
              <a:spcBef>
                <a:spcPts val="0"/>
              </a:spcBef>
              <a:spcAft>
                <a:spcPts val="0"/>
              </a:spcAft>
              <a:defRPr sz="2300" b="1">
                <a:solidFill>
                  <a:srgbClr val="002C49"/>
                </a:solidFill>
                <a:latin typeface="Montserrat"/>
              </a:defRPr>
            </a:pPr>
            <a:r>
              <a:t>ALL STAFF / LEYTONIENNE</a:t>
            </a:r>
          </a:p>
        </p:txBody>
      </p:sp>
      <p:sp>
        <p:nvSpPr>
          <p:cNvPr id="26" name="TextBox 25"/>
          <p:cNvSpPr txBox="1"/>
          <p:nvPr/>
        </p:nvSpPr>
        <p:spPr>
          <a:xfrm>
            <a:off x="5010912" y="6976872"/>
            <a:ext cx="7699248" cy="658368"/>
          </a:xfrm>
          <a:prstGeom prst="rect">
            <a:avLst/>
          </a:prstGeom>
          <a:noFill/>
        </p:spPr>
        <p:txBody>
          <a:bodyPr wrap="square" lIns="0" rIns="0" tIns="0" bIns="0">
            <a:spAutoFit/>
          </a:bodyPr>
          <a:lstStyle/>
          <a:p>
            <a:pPr>
              <a:lnSpc>
                <a:spcPts val="2800"/>
              </a:lnSpc>
              <a:spcBef>
                <a:spcPts val="0"/>
              </a:spcBef>
              <a:spcAft>
                <a:spcPts val="0"/>
              </a:spcAft>
              <a:defRPr sz="2400" b="0">
                <a:solidFill>
                  <a:srgbClr val="526777"/>
                </a:solidFill>
                <a:latin typeface="Montserrat"/>
              </a:defRPr>
            </a:pPr>
            <a:r>
              <a:t>Alignement / éditorialisation et capitalisation.</a:t>
            </a:r>
          </a:p>
        </p:txBody>
      </p:sp>
      <p:sp>
        <p:nvSpPr>
          <p:cNvPr id="27" name="TextBox 26"/>
          <p:cNvSpPr txBox="1"/>
          <p:nvPr/>
        </p:nvSpPr>
        <p:spPr>
          <a:xfrm>
            <a:off x="13194792" y="6976872"/>
            <a:ext cx="4160520" cy="658368"/>
          </a:xfrm>
          <a:prstGeom prst="rect">
            <a:avLst/>
          </a:prstGeom>
          <a:noFill/>
        </p:spPr>
        <p:txBody>
          <a:bodyPr wrap="square" lIns="0" rIns="0" tIns="0" bIns="0">
            <a:spAutoFit/>
          </a:bodyPr>
          <a:lstStyle/>
          <a:p>
            <a:pPr>
              <a:lnSpc>
                <a:spcPts val="2800"/>
              </a:lnSpc>
              <a:spcBef>
                <a:spcPts val="0"/>
              </a:spcBef>
              <a:spcAft>
                <a:spcPts val="0"/>
              </a:spcAft>
              <a:defRPr sz="2400" b="0">
                <a:solidFill>
                  <a:srgbClr val="002C49"/>
                </a:solidFill>
                <a:latin typeface="Montserrat"/>
              </a:defRPr>
            </a:pPr>
            <a:r>
              <a:t>Rituels structurants.</a:t>
            </a:r>
          </a:p>
        </p:txBody>
      </p:sp>
      <p:sp>
        <p:nvSpPr>
          <p:cNvPr id="28" name="Rectangle 27"/>
          <p:cNvSpPr/>
          <p:nvPr/>
        </p:nvSpPr>
        <p:spPr>
          <a:xfrm>
            <a:off x="914400" y="7607808"/>
            <a:ext cx="16459200" cy="10972"/>
          </a:xfrm>
          <a:prstGeom prst="rect">
            <a:avLst/>
          </a:prstGeom>
          <a:solidFill>
            <a:srgbClr val="D9E2E7"/>
          </a:solidFill>
          <a:ln>
            <a:noFill/>
          </a:ln>
        </p:spPr>
        <p:txBody>
          <a:bodyPr rtlCol="0" anchor="ctr"/>
          <a:lstStyle/>
          <a:p>
            <a:pPr algn="ctr"/>
          </a:p>
        </p:txBody>
      </p:sp>
      <p:sp>
        <p:nvSpPr>
          <p:cNvPr id="29" name="TextBox 28"/>
          <p:cNvSpPr txBox="1"/>
          <p:nvPr/>
        </p:nvSpPr>
        <p:spPr>
          <a:xfrm>
            <a:off x="914400" y="7726679"/>
            <a:ext cx="3749039" cy="658368"/>
          </a:xfrm>
          <a:prstGeom prst="rect">
            <a:avLst/>
          </a:prstGeom>
          <a:noFill/>
        </p:spPr>
        <p:txBody>
          <a:bodyPr wrap="square" lIns="0" rIns="0" tIns="0" bIns="0">
            <a:spAutoFit/>
          </a:bodyPr>
          <a:lstStyle/>
          <a:p>
            <a:pPr>
              <a:lnSpc>
                <a:spcPts val="2700"/>
              </a:lnSpc>
              <a:spcBef>
                <a:spcPts val="0"/>
              </a:spcBef>
              <a:spcAft>
                <a:spcPts val="0"/>
              </a:spcAft>
              <a:defRPr sz="2300" b="1">
                <a:solidFill>
                  <a:srgbClr val="002C49"/>
                </a:solidFill>
                <a:latin typeface="Montserrat"/>
              </a:defRPr>
            </a:pPr>
            <a:r>
              <a:t>LINKEDIN CORPORATE</a:t>
            </a:r>
          </a:p>
        </p:txBody>
      </p:sp>
      <p:sp>
        <p:nvSpPr>
          <p:cNvPr id="30" name="TextBox 29"/>
          <p:cNvSpPr txBox="1"/>
          <p:nvPr/>
        </p:nvSpPr>
        <p:spPr>
          <a:xfrm>
            <a:off x="5010912" y="7726679"/>
            <a:ext cx="7699248" cy="658368"/>
          </a:xfrm>
          <a:prstGeom prst="rect">
            <a:avLst/>
          </a:prstGeom>
          <a:noFill/>
        </p:spPr>
        <p:txBody>
          <a:bodyPr wrap="square" lIns="0" rIns="0" tIns="0" bIns="0">
            <a:spAutoFit/>
          </a:bodyPr>
          <a:lstStyle/>
          <a:p>
            <a:pPr>
              <a:lnSpc>
                <a:spcPts val="2800"/>
              </a:lnSpc>
              <a:spcBef>
                <a:spcPts val="0"/>
              </a:spcBef>
              <a:spcAft>
                <a:spcPts val="0"/>
              </a:spcAft>
              <a:defRPr sz="2400" b="0">
                <a:solidFill>
                  <a:srgbClr val="526777"/>
                </a:solidFill>
                <a:latin typeface="Montserrat"/>
              </a:defRPr>
            </a:pPr>
            <a:r>
              <a:t>Image de marque et preuves du collectif.</a:t>
            </a:r>
          </a:p>
        </p:txBody>
      </p:sp>
      <p:sp>
        <p:nvSpPr>
          <p:cNvPr id="31" name="TextBox 30"/>
          <p:cNvSpPr txBox="1"/>
          <p:nvPr/>
        </p:nvSpPr>
        <p:spPr>
          <a:xfrm>
            <a:off x="13194792" y="7726679"/>
            <a:ext cx="4160520" cy="658368"/>
          </a:xfrm>
          <a:prstGeom prst="rect">
            <a:avLst/>
          </a:prstGeom>
          <a:noFill/>
        </p:spPr>
        <p:txBody>
          <a:bodyPr wrap="square" lIns="0" rIns="0" tIns="0" bIns="0">
            <a:spAutoFit/>
          </a:bodyPr>
          <a:lstStyle/>
          <a:p>
            <a:pPr>
              <a:lnSpc>
                <a:spcPts val="2800"/>
              </a:lnSpc>
              <a:spcBef>
                <a:spcPts val="0"/>
              </a:spcBef>
              <a:spcAft>
                <a:spcPts val="0"/>
              </a:spcAft>
              <a:defRPr sz="2400" b="0">
                <a:solidFill>
                  <a:srgbClr val="002C49"/>
                </a:solidFill>
                <a:latin typeface="Montserrat"/>
              </a:defRPr>
            </a:pPr>
            <a:r>
              <a:t>Toute l’année.</a:t>
            </a:r>
          </a:p>
        </p:txBody>
      </p:sp>
      <p:sp>
        <p:nvSpPr>
          <p:cNvPr id="32" name="Rectangle 31"/>
          <p:cNvSpPr/>
          <p:nvPr/>
        </p:nvSpPr>
        <p:spPr>
          <a:xfrm>
            <a:off x="822960" y="8851392"/>
            <a:ext cx="16642080" cy="10972"/>
          </a:xfrm>
          <a:prstGeom prst="rect">
            <a:avLst/>
          </a:prstGeom>
          <a:solidFill>
            <a:srgbClr val="D9E2E7"/>
          </a:solidFill>
          <a:ln>
            <a:noFill/>
          </a:ln>
        </p:spPr>
        <p:txBody>
          <a:bodyPr rtlCol="0" anchor="ctr"/>
          <a:lstStyle/>
          <a:p>
            <a:pPr algn="ctr"/>
          </a:p>
        </p:txBody>
      </p:sp>
      <p:sp>
        <p:nvSpPr>
          <p:cNvPr id="33" name="TextBox 32"/>
          <p:cNvSpPr txBox="1"/>
          <p:nvPr/>
        </p:nvSpPr>
        <p:spPr>
          <a:xfrm>
            <a:off x="868680" y="9052560"/>
            <a:ext cx="16486632" cy="768096"/>
          </a:xfrm>
          <a:prstGeom prst="rect">
            <a:avLst/>
          </a:prstGeom>
          <a:noFill/>
        </p:spPr>
        <p:txBody>
          <a:bodyPr wrap="square" lIns="0" rIns="0" tIns="0" bIns="0">
            <a:spAutoFit/>
          </a:bodyPr>
          <a:lstStyle/>
          <a:p>
            <a:pPr>
              <a:lnSpc>
                <a:spcPts val="2800"/>
              </a:lnSpc>
              <a:spcBef>
                <a:spcPts val="0"/>
              </a:spcBef>
              <a:spcAft>
                <a:spcPts val="0"/>
              </a:spcAft>
              <a:defRPr sz="2400" b="1">
                <a:solidFill>
                  <a:srgbClr val="002C49"/>
                </a:solidFill>
                <a:latin typeface="Montserrat"/>
              </a:defRPr>
            </a:pPr>
            <a:r>
              <a:t>Projet de lancement ≠ run du canal. Les contenus des trois piliers alimentent les canaux disponibles.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3.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08 / ROADMAP JUILLET 2026 – JUIN 2027</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Programmes et projets : distinguer l’acté du non daté.</a:t>
            </a:r>
          </a:p>
        </p:txBody>
      </p:sp>
      <p:sp>
        <p:nvSpPr>
          <p:cNvPr id="5" name="TextBox 4"/>
          <p:cNvSpPr txBox="1"/>
          <p:nvPr/>
        </p:nvSpPr>
        <p:spPr>
          <a:xfrm>
            <a:off x="868680" y="2742285"/>
            <a:ext cx="16504920" cy="54864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Barres : fenêtres actées • Point : temps fort / début • Pointillés : calendrier non engagé.</a:t>
            </a:r>
          </a:p>
        </p:txBody>
      </p:sp>
      <p:sp>
        <p:nvSpPr>
          <p:cNvPr id="6" name="Rectangle 5"/>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7" name="TextBox 6"/>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8" name="TextBox 7"/>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16</a:t>
            </a:r>
          </a:p>
        </p:txBody>
      </p:sp>
      <p:sp>
        <p:nvSpPr>
          <p:cNvPr id="9" name="TextBox 8"/>
          <p:cNvSpPr txBox="1"/>
          <p:nvPr/>
        </p:nvSpPr>
        <p:spPr>
          <a:xfrm>
            <a:off x="877824" y="3319272"/>
            <a:ext cx="1188720" cy="256032"/>
          </a:xfrm>
          <a:prstGeom prst="rect">
            <a:avLst/>
          </a:prstGeom>
          <a:noFill/>
        </p:spPr>
        <p:txBody>
          <a:bodyPr wrap="square" lIns="0" rIns="0" tIns="0" bIns="0">
            <a:spAutoFit/>
          </a:bodyPr>
          <a:lstStyle/>
          <a:p>
            <a:pPr>
              <a:lnSpc>
                <a:spcPts val="1722"/>
              </a:lnSpc>
              <a:spcBef>
                <a:spcPts val="0"/>
              </a:spcBef>
              <a:spcAft>
                <a:spcPts val="0"/>
              </a:spcAft>
              <a:defRPr sz="1400" b="1">
                <a:solidFill>
                  <a:srgbClr val="526777"/>
                </a:solidFill>
                <a:latin typeface="Montserrat"/>
              </a:defRPr>
            </a:pPr>
            <a:r>
              <a:t>PILIER</a:t>
            </a:r>
          </a:p>
        </p:txBody>
      </p:sp>
      <p:sp>
        <p:nvSpPr>
          <p:cNvPr id="10" name="TextBox 9"/>
          <p:cNvSpPr txBox="1"/>
          <p:nvPr/>
        </p:nvSpPr>
        <p:spPr>
          <a:xfrm>
            <a:off x="2157984" y="3319272"/>
            <a:ext cx="4297680" cy="256032"/>
          </a:xfrm>
          <a:prstGeom prst="rect">
            <a:avLst/>
          </a:prstGeom>
          <a:noFill/>
        </p:spPr>
        <p:txBody>
          <a:bodyPr wrap="square" lIns="0" rIns="0" tIns="0" bIns="0">
            <a:spAutoFit/>
          </a:bodyPr>
          <a:lstStyle/>
          <a:p>
            <a:pPr>
              <a:lnSpc>
                <a:spcPts val="1722"/>
              </a:lnSpc>
              <a:spcBef>
                <a:spcPts val="0"/>
              </a:spcBef>
              <a:spcAft>
                <a:spcPts val="0"/>
              </a:spcAft>
              <a:defRPr sz="1400" b="1">
                <a:solidFill>
                  <a:srgbClr val="526777"/>
                </a:solidFill>
                <a:latin typeface="Montserrat"/>
              </a:defRPr>
            </a:pPr>
            <a:r>
              <a:t>PROJET / DISPOSITIF</a:t>
            </a:r>
          </a:p>
        </p:txBody>
      </p:sp>
      <p:sp>
        <p:nvSpPr>
          <p:cNvPr id="11" name="Rectangle 10"/>
          <p:cNvSpPr/>
          <p:nvPr/>
        </p:nvSpPr>
        <p:spPr>
          <a:xfrm>
            <a:off x="8101583" y="3227832"/>
            <a:ext cx="752551" cy="338328"/>
          </a:xfrm>
          <a:prstGeom prst="rect">
            <a:avLst/>
          </a:prstGeom>
          <a:solidFill>
            <a:srgbClr val="002C49"/>
          </a:solidFill>
          <a:ln>
            <a:noFill/>
          </a:ln>
        </p:spPr>
        <p:txBody>
          <a:bodyPr rtlCol="0" anchor="ctr"/>
          <a:lstStyle/>
          <a:p>
            <a:pPr algn="ctr"/>
          </a:p>
        </p:txBody>
      </p:sp>
      <p:sp>
        <p:nvSpPr>
          <p:cNvPr id="12" name="TextBox 11"/>
          <p:cNvSpPr txBox="1"/>
          <p:nvPr/>
        </p:nvSpPr>
        <p:spPr>
          <a:xfrm>
            <a:off x="8119871" y="3291840"/>
            <a:ext cx="726947" cy="256032"/>
          </a:xfrm>
          <a:prstGeom prst="rect">
            <a:avLst/>
          </a:prstGeom>
          <a:noFill/>
        </p:spPr>
        <p:txBody>
          <a:bodyPr wrap="square" lIns="0" rIns="0" tIns="0" bIns="0">
            <a:spAutoFit/>
          </a:bodyPr>
          <a:lstStyle/>
          <a:p>
            <a:pPr>
              <a:lnSpc>
                <a:spcPts val="1600"/>
              </a:lnSpc>
              <a:spcBef>
                <a:spcPts val="0"/>
              </a:spcBef>
              <a:spcAft>
                <a:spcPts val="0"/>
              </a:spcAft>
              <a:defRPr sz="1800" b="1">
                <a:solidFill>
                  <a:srgbClr val="FFFFFF"/>
                </a:solidFill>
                <a:latin typeface="Montserrat"/>
              </a:defRPr>
            </a:pPr>
            <a:r>
              <a:t>JUIL.</a:t>
            </a:r>
          </a:p>
        </p:txBody>
      </p:sp>
      <p:sp>
        <p:nvSpPr>
          <p:cNvPr id="13" name="Rectangle 12"/>
          <p:cNvSpPr/>
          <p:nvPr/>
        </p:nvSpPr>
        <p:spPr>
          <a:xfrm>
            <a:off x="8865108" y="3227832"/>
            <a:ext cx="752551" cy="338328"/>
          </a:xfrm>
          <a:prstGeom prst="rect">
            <a:avLst/>
          </a:prstGeom>
          <a:solidFill>
            <a:srgbClr val="002C49"/>
          </a:solidFill>
          <a:ln>
            <a:noFill/>
          </a:ln>
        </p:spPr>
        <p:txBody>
          <a:bodyPr rtlCol="0" anchor="ctr"/>
          <a:lstStyle/>
          <a:p>
            <a:pPr algn="ctr"/>
          </a:p>
        </p:txBody>
      </p:sp>
      <p:sp>
        <p:nvSpPr>
          <p:cNvPr id="14" name="TextBox 13"/>
          <p:cNvSpPr txBox="1"/>
          <p:nvPr/>
        </p:nvSpPr>
        <p:spPr>
          <a:xfrm>
            <a:off x="8883396" y="3291840"/>
            <a:ext cx="726947" cy="256032"/>
          </a:xfrm>
          <a:prstGeom prst="rect">
            <a:avLst/>
          </a:prstGeom>
          <a:noFill/>
        </p:spPr>
        <p:txBody>
          <a:bodyPr wrap="square" lIns="0" rIns="0" tIns="0" bIns="0">
            <a:spAutoFit/>
          </a:bodyPr>
          <a:lstStyle/>
          <a:p>
            <a:pPr>
              <a:lnSpc>
                <a:spcPts val="1600"/>
              </a:lnSpc>
              <a:spcBef>
                <a:spcPts val="0"/>
              </a:spcBef>
              <a:spcAft>
                <a:spcPts val="0"/>
              </a:spcAft>
              <a:defRPr sz="1800" b="1">
                <a:solidFill>
                  <a:srgbClr val="FFFFFF"/>
                </a:solidFill>
                <a:latin typeface="Montserrat"/>
              </a:defRPr>
            </a:pPr>
            <a:r>
              <a:t>AOÛT</a:t>
            </a:r>
          </a:p>
        </p:txBody>
      </p:sp>
      <p:sp>
        <p:nvSpPr>
          <p:cNvPr id="15" name="Rectangle 14"/>
          <p:cNvSpPr/>
          <p:nvPr/>
        </p:nvSpPr>
        <p:spPr>
          <a:xfrm>
            <a:off x="9628632" y="3227832"/>
            <a:ext cx="752551" cy="338328"/>
          </a:xfrm>
          <a:prstGeom prst="rect">
            <a:avLst/>
          </a:prstGeom>
          <a:solidFill>
            <a:srgbClr val="002C49"/>
          </a:solidFill>
          <a:ln>
            <a:noFill/>
          </a:ln>
        </p:spPr>
        <p:txBody>
          <a:bodyPr rtlCol="0" anchor="ctr"/>
          <a:lstStyle/>
          <a:p>
            <a:pPr algn="ctr"/>
          </a:p>
        </p:txBody>
      </p:sp>
      <p:sp>
        <p:nvSpPr>
          <p:cNvPr id="16" name="TextBox 15"/>
          <p:cNvSpPr txBox="1"/>
          <p:nvPr/>
        </p:nvSpPr>
        <p:spPr>
          <a:xfrm>
            <a:off x="9646919" y="3291840"/>
            <a:ext cx="726947" cy="256032"/>
          </a:xfrm>
          <a:prstGeom prst="rect">
            <a:avLst/>
          </a:prstGeom>
          <a:noFill/>
        </p:spPr>
        <p:txBody>
          <a:bodyPr wrap="square" lIns="0" rIns="0" tIns="0" bIns="0">
            <a:spAutoFit/>
          </a:bodyPr>
          <a:lstStyle/>
          <a:p>
            <a:pPr>
              <a:lnSpc>
                <a:spcPts val="1600"/>
              </a:lnSpc>
              <a:spcBef>
                <a:spcPts val="0"/>
              </a:spcBef>
              <a:spcAft>
                <a:spcPts val="0"/>
              </a:spcAft>
              <a:defRPr sz="1800" b="1">
                <a:solidFill>
                  <a:srgbClr val="FFFFFF"/>
                </a:solidFill>
                <a:latin typeface="Montserrat"/>
              </a:defRPr>
            </a:pPr>
            <a:r>
              <a:t>SEPT.</a:t>
            </a:r>
          </a:p>
        </p:txBody>
      </p:sp>
      <p:sp>
        <p:nvSpPr>
          <p:cNvPr id="17" name="Rectangle 16"/>
          <p:cNvSpPr/>
          <p:nvPr/>
        </p:nvSpPr>
        <p:spPr>
          <a:xfrm>
            <a:off x="10392155" y="3227832"/>
            <a:ext cx="752551" cy="338328"/>
          </a:xfrm>
          <a:prstGeom prst="rect">
            <a:avLst/>
          </a:prstGeom>
          <a:solidFill>
            <a:srgbClr val="002C49"/>
          </a:solidFill>
          <a:ln>
            <a:noFill/>
          </a:ln>
        </p:spPr>
        <p:txBody>
          <a:bodyPr rtlCol="0" anchor="ctr"/>
          <a:lstStyle/>
          <a:p>
            <a:pPr algn="ctr"/>
          </a:p>
        </p:txBody>
      </p:sp>
      <p:sp>
        <p:nvSpPr>
          <p:cNvPr id="18" name="TextBox 17"/>
          <p:cNvSpPr txBox="1"/>
          <p:nvPr/>
        </p:nvSpPr>
        <p:spPr>
          <a:xfrm>
            <a:off x="10410443" y="3291840"/>
            <a:ext cx="726947" cy="256032"/>
          </a:xfrm>
          <a:prstGeom prst="rect">
            <a:avLst/>
          </a:prstGeom>
          <a:noFill/>
        </p:spPr>
        <p:txBody>
          <a:bodyPr wrap="square" lIns="0" rIns="0" tIns="0" bIns="0">
            <a:spAutoFit/>
          </a:bodyPr>
          <a:lstStyle/>
          <a:p>
            <a:pPr>
              <a:lnSpc>
                <a:spcPts val="1600"/>
              </a:lnSpc>
              <a:spcBef>
                <a:spcPts val="0"/>
              </a:spcBef>
              <a:spcAft>
                <a:spcPts val="0"/>
              </a:spcAft>
              <a:defRPr sz="1800" b="1">
                <a:solidFill>
                  <a:srgbClr val="FFFFFF"/>
                </a:solidFill>
                <a:latin typeface="Montserrat"/>
              </a:defRPr>
            </a:pPr>
            <a:r>
              <a:t>OCT.</a:t>
            </a:r>
          </a:p>
        </p:txBody>
      </p:sp>
      <p:sp>
        <p:nvSpPr>
          <p:cNvPr id="19" name="Rectangle 18"/>
          <p:cNvSpPr/>
          <p:nvPr/>
        </p:nvSpPr>
        <p:spPr>
          <a:xfrm>
            <a:off x="11155680" y="3227832"/>
            <a:ext cx="752551" cy="338328"/>
          </a:xfrm>
          <a:prstGeom prst="rect">
            <a:avLst/>
          </a:prstGeom>
          <a:solidFill>
            <a:srgbClr val="002C49"/>
          </a:solidFill>
          <a:ln>
            <a:noFill/>
          </a:ln>
        </p:spPr>
        <p:txBody>
          <a:bodyPr rtlCol="0" anchor="ctr"/>
          <a:lstStyle/>
          <a:p>
            <a:pPr algn="ctr"/>
          </a:p>
        </p:txBody>
      </p:sp>
      <p:sp>
        <p:nvSpPr>
          <p:cNvPr id="20" name="TextBox 19"/>
          <p:cNvSpPr txBox="1"/>
          <p:nvPr/>
        </p:nvSpPr>
        <p:spPr>
          <a:xfrm>
            <a:off x="11173967" y="3291840"/>
            <a:ext cx="726947" cy="256032"/>
          </a:xfrm>
          <a:prstGeom prst="rect">
            <a:avLst/>
          </a:prstGeom>
          <a:noFill/>
        </p:spPr>
        <p:txBody>
          <a:bodyPr wrap="square" lIns="0" rIns="0" tIns="0" bIns="0">
            <a:spAutoFit/>
          </a:bodyPr>
          <a:lstStyle/>
          <a:p>
            <a:pPr>
              <a:lnSpc>
                <a:spcPts val="1600"/>
              </a:lnSpc>
              <a:spcBef>
                <a:spcPts val="0"/>
              </a:spcBef>
              <a:spcAft>
                <a:spcPts val="0"/>
              </a:spcAft>
              <a:defRPr sz="1800" b="1">
                <a:solidFill>
                  <a:srgbClr val="FFFFFF"/>
                </a:solidFill>
                <a:latin typeface="Montserrat"/>
              </a:defRPr>
            </a:pPr>
            <a:r>
              <a:t>NOV.</a:t>
            </a:r>
          </a:p>
        </p:txBody>
      </p:sp>
      <p:sp>
        <p:nvSpPr>
          <p:cNvPr id="21" name="Rectangle 20"/>
          <p:cNvSpPr/>
          <p:nvPr/>
        </p:nvSpPr>
        <p:spPr>
          <a:xfrm>
            <a:off x="11919204" y="3227832"/>
            <a:ext cx="752551" cy="338328"/>
          </a:xfrm>
          <a:prstGeom prst="rect">
            <a:avLst/>
          </a:prstGeom>
          <a:solidFill>
            <a:srgbClr val="002C49"/>
          </a:solidFill>
          <a:ln>
            <a:noFill/>
          </a:ln>
        </p:spPr>
        <p:txBody>
          <a:bodyPr rtlCol="0" anchor="ctr"/>
          <a:lstStyle/>
          <a:p>
            <a:pPr algn="ctr"/>
          </a:p>
        </p:txBody>
      </p:sp>
      <p:sp>
        <p:nvSpPr>
          <p:cNvPr id="22" name="TextBox 21"/>
          <p:cNvSpPr txBox="1"/>
          <p:nvPr/>
        </p:nvSpPr>
        <p:spPr>
          <a:xfrm>
            <a:off x="11937492" y="3291840"/>
            <a:ext cx="726947" cy="256032"/>
          </a:xfrm>
          <a:prstGeom prst="rect">
            <a:avLst/>
          </a:prstGeom>
          <a:noFill/>
        </p:spPr>
        <p:txBody>
          <a:bodyPr wrap="square" lIns="0" rIns="0" tIns="0" bIns="0">
            <a:spAutoFit/>
          </a:bodyPr>
          <a:lstStyle/>
          <a:p>
            <a:pPr>
              <a:lnSpc>
                <a:spcPts val="1600"/>
              </a:lnSpc>
              <a:spcBef>
                <a:spcPts val="0"/>
              </a:spcBef>
              <a:spcAft>
                <a:spcPts val="0"/>
              </a:spcAft>
              <a:defRPr sz="1800" b="1">
                <a:solidFill>
                  <a:srgbClr val="FFFFFF"/>
                </a:solidFill>
                <a:latin typeface="Montserrat"/>
              </a:defRPr>
            </a:pPr>
            <a:r>
              <a:t>DÉC.</a:t>
            </a:r>
          </a:p>
        </p:txBody>
      </p:sp>
      <p:sp>
        <p:nvSpPr>
          <p:cNvPr id="23" name="Rectangle 22"/>
          <p:cNvSpPr/>
          <p:nvPr/>
        </p:nvSpPr>
        <p:spPr>
          <a:xfrm>
            <a:off x="12682728" y="3227832"/>
            <a:ext cx="752551" cy="338328"/>
          </a:xfrm>
          <a:prstGeom prst="rect">
            <a:avLst/>
          </a:prstGeom>
          <a:solidFill>
            <a:srgbClr val="002C49"/>
          </a:solidFill>
          <a:ln>
            <a:noFill/>
          </a:ln>
        </p:spPr>
        <p:txBody>
          <a:bodyPr rtlCol="0" anchor="ctr"/>
          <a:lstStyle/>
          <a:p>
            <a:pPr algn="ctr"/>
          </a:p>
        </p:txBody>
      </p:sp>
      <p:sp>
        <p:nvSpPr>
          <p:cNvPr id="24" name="TextBox 23"/>
          <p:cNvSpPr txBox="1"/>
          <p:nvPr/>
        </p:nvSpPr>
        <p:spPr>
          <a:xfrm>
            <a:off x="12701015" y="3291840"/>
            <a:ext cx="726947" cy="256032"/>
          </a:xfrm>
          <a:prstGeom prst="rect">
            <a:avLst/>
          </a:prstGeom>
          <a:noFill/>
        </p:spPr>
        <p:txBody>
          <a:bodyPr wrap="square" lIns="0" rIns="0" tIns="0" bIns="0">
            <a:spAutoFit/>
          </a:bodyPr>
          <a:lstStyle/>
          <a:p>
            <a:pPr>
              <a:lnSpc>
                <a:spcPts val="1600"/>
              </a:lnSpc>
              <a:spcBef>
                <a:spcPts val="0"/>
              </a:spcBef>
              <a:spcAft>
                <a:spcPts val="0"/>
              </a:spcAft>
              <a:defRPr sz="1800" b="1">
                <a:solidFill>
                  <a:srgbClr val="FFFFFF"/>
                </a:solidFill>
                <a:latin typeface="Montserrat"/>
              </a:defRPr>
            </a:pPr>
            <a:r>
              <a:t>JANV.</a:t>
            </a:r>
          </a:p>
        </p:txBody>
      </p:sp>
      <p:sp>
        <p:nvSpPr>
          <p:cNvPr id="25" name="Rectangle 24"/>
          <p:cNvSpPr/>
          <p:nvPr/>
        </p:nvSpPr>
        <p:spPr>
          <a:xfrm>
            <a:off x="13446251" y="3227832"/>
            <a:ext cx="752551" cy="338328"/>
          </a:xfrm>
          <a:prstGeom prst="rect">
            <a:avLst/>
          </a:prstGeom>
          <a:solidFill>
            <a:srgbClr val="002C49"/>
          </a:solidFill>
          <a:ln>
            <a:noFill/>
          </a:ln>
        </p:spPr>
        <p:txBody>
          <a:bodyPr rtlCol="0" anchor="ctr"/>
          <a:lstStyle/>
          <a:p>
            <a:pPr algn="ctr"/>
          </a:p>
        </p:txBody>
      </p:sp>
      <p:sp>
        <p:nvSpPr>
          <p:cNvPr id="26" name="TextBox 25"/>
          <p:cNvSpPr txBox="1"/>
          <p:nvPr/>
        </p:nvSpPr>
        <p:spPr>
          <a:xfrm>
            <a:off x="13464539" y="3291840"/>
            <a:ext cx="726947" cy="256032"/>
          </a:xfrm>
          <a:prstGeom prst="rect">
            <a:avLst/>
          </a:prstGeom>
          <a:noFill/>
        </p:spPr>
        <p:txBody>
          <a:bodyPr wrap="square" lIns="0" rIns="0" tIns="0" bIns="0">
            <a:spAutoFit/>
          </a:bodyPr>
          <a:lstStyle/>
          <a:p>
            <a:pPr>
              <a:lnSpc>
                <a:spcPts val="1600"/>
              </a:lnSpc>
              <a:spcBef>
                <a:spcPts val="0"/>
              </a:spcBef>
              <a:spcAft>
                <a:spcPts val="0"/>
              </a:spcAft>
              <a:defRPr sz="1800" b="1">
                <a:solidFill>
                  <a:srgbClr val="FFFFFF"/>
                </a:solidFill>
                <a:latin typeface="Montserrat"/>
              </a:defRPr>
            </a:pPr>
            <a:r>
              <a:t>FÉV.</a:t>
            </a:r>
          </a:p>
        </p:txBody>
      </p:sp>
      <p:sp>
        <p:nvSpPr>
          <p:cNvPr id="27" name="Rectangle 26"/>
          <p:cNvSpPr/>
          <p:nvPr/>
        </p:nvSpPr>
        <p:spPr>
          <a:xfrm>
            <a:off x="14209776" y="3227832"/>
            <a:ext cx="752551" cy="338328"/>
          </a:xfrm>
          <a:prstGeom prst="rect">
            <a:avLst/>
          </a:prstGeom>
          <a:solidFill>
            <a:srgbClr val="002C49"/>
          </a:solidFill>
          <a:ln>
            <a:noFill/>
          </a:ln>
        </p:spPr>
        <p:txBody>
          <a:bodyPr rtlCol="0" anchor="ctr"/>
          <a:lstStyle/>
          <a:p>
            <a:pPr algn="ctr"/>
          </a:p>
        </p:txBody>
      </p:sp>
      <p:sp>
        <p:nvSpPr>
          <p:cNvPr id="28" name="TextBox 27"/>
          <p:cNvSpPr txBox="1"/>
          <p:nvPr/>
        </p:nvSpPr>
        <p:spPr>
          <a:xfrm>
            <a:off x="14228063" y="3291840"/>
            <a:ext cx="726947" cy="256032"/>
          </a:xfrm>
          <a:prstGeom prst="rect">
            <a:avLst/>
          </a:prstGeom>
          <a:noFill/>
        </p:spPr>
        <p:txBody>
          <a:bodyPr wrap="square" lIns="0" rIns="0" tIns="0" bIns="0">
            <a:spAutoFit/>
          </a:bodyPr>
          <a:lstStyle/>
          <a:p>
            <a:pPr>
              <a:lnSpc>
                <a:spcPts val="1600"/>
              </a:lnSpc>
              <a:spcBef>
                <a:spcPts val="0"/>
              </a:spcBef>
              <a:spcAft>
                <a:spcPts val="0"/>
              </a:spcAft>
              <a:defRPr sz="1800" b="1">
                <a:solidFill>
                  <a:srgbClr val="FFFFFF"/>
                </a:solidFill>
                <a:latin typeface="Montserrat"/>
              </a:defRPr>
            </a:pPr>
            <a:r>
              <a:t>MARS</a:t>
            </a:r>
          </a:p>
        </p:txBody>
      </p:sp>
      <p:sp>
        <p:nvSpPr>
          <p:cNvPr id="29" name="Rectangle 28"/>
          <p:cNvSpPr/>
          <p:nvPr/>
        </p:nvSpPr>
        <p:spPr>
          <a:xfrm>
            <a:off x="14973300" y="3227832"/>
            <a:ext cx="752551" cy="338328"/>
          </a:xfrm>
          <a:prstGeom prst="rect">
            <a:avLst/>
          </a:prstGeom>
          <a:solidFill>
            <a:srgbClr val="002C49"/>
          </a:solidFill>
          <a:ln>
            <a:noFill/>
          </a:ln>
        </p:spPr>
        <p:txBody>
          <a:bodyPr rtlCol="0" anchor="ctr"/>
          <a:lstStyle/>
          <a:p>
            <a:pPr algn="ctr"/>
          </a:p>
        </p:txBody>
      </p:sp>
      <p:sp>
        <p:nvSpPr>
          <p:cNvPr id="30" name="TextBox 29"/>
          <p:cNvSpPr txBox="1"/>
          <p:nvPr/>
        </p:nvSpPr>
        <p:spPr>
          <a:xfrm>
            <a:off x="14991588" y="3291840"/>
            <a:ext cx="726947" cy="256032"/>
          </a:xfrm>
          <a:prstGeom prst="rect">
            <a:avLst/>
          </a:prstGeom>
          <a:noFill/>
        </p:spPr>
        <p:txBody>
          <a:bodyPr wrap="square" lIns="0" rIns="0" tIns="0" bIns="0">
            <a:spAutoFit/>
          </a:bodyPr>
          <a:lstStyle/>
          <a:p>
            <a:pPr>
              <a:lnSpc>
                <a:spcPts val="1600"/>
              </a:lnSpc>
              <a:spcBef>
                <a:spcPts val="0"/>
              </a:spcBef>
              <a:spcAft>
                <a:spcPts val="0"/>
              </a:spcAft>
              <a:defRPr sz="1800" b="1">
                <a:solidFill>
                  <a:srgbClr val="FFFFFF"/>
                </a:solidFill>
                <a:latin typeface="Montserrat"/>
              </a:defRPr>
            </a:pPr>
            <a:r>
              <a:t>AVR.</a:t>
            </a:r>
          </a:p>
        </p:txBody>
      </p:sp>
      <p:sp>
        <p:nvSpPr>
          <p:cNvPr id="31" name="Rectangle 30"/>
          <p:cNvSpPr/>
          <p:nvPr/>
        </p:nvSpPr>
        <p:spPr>
          <a:xfrm>
            <a:off x="15736824" y="3227832"/>
            <a:ext cx="752551" cy="338328"/>
          </a:xfrm>
          <a:prstGeom prst="rect">
            <a:avLst/>
          </a:prstGeom>
          <a:solidFill>
            <a:srgbClr val="002C49"/>
          </a:solidFill>
          <a:ln>
            <a:noFill/>
          </a:ln>
        </p:spPr>
        <p:txBody>
          <a:bodyPr rtlCol="0" anchor="ctr"/>
          <a:lstStyle/>
          <a:p>
            <a:pPr algn="ctr"/>
          </a:p>
        </p:txBody>
      </p:sp>
      <p:sp>
        <p:nvSpPr>
          <p:cNvPr id="32" name="TextBox 31"/>
          <p:cNvSpPr txBox="1"/>
          <p:nvPr/>
        </p:nvSpPr>
        <p:spPr>
          <a:xfrm>
            <a:off x="15755112" y="3291840"/>
            <a:ext cx="726947" cy="256032"/>
          </a:xfrm>
          <a:prstGeom prst="rect">
            <a:avLst/>
          </a:prstGeom>
          <a:noFill/>
        </p:spPr>
        <p:txBody>
          <a:bodyPr wrap="square" lIns="0" rIns="0" tIns="0" bIns="0">
            <a:spAutoFit/>
          </a:bodyPr>
          <a:lstStyle/>
          <a:p>
            <a:pPr>
              <a:lnSpc>
                <a:spcPts val="1600"/>
              </a:lnSpc>
              <a:spcBef>
                <a:spcPts val="0"/>
              </a:spcBef>
              <a:spcAft>
                <a:spcPts val="0"/>
              </a:spcAft>
              <a:defRPr sz="1800" b="1">
                <a:solidFill>
                  <a:srgbClr val="FFFFFF"/>
                </a:solidFill>
                <a:latin typeface="Montserrat"/>
              </a:defRPr>
            </a:pPr>
            <a:r>
              <a:t>MAI</a:t>
            </a:r>
          </a:p>
        </p:txBody>
      </p:sp>
      <p:sp>
        <p:nvSpPr>
          <p:cNvPr id="33" name="Rectangle 32"/>
          <p:cNvSpPr/>
          <p:nvPr/>
        </p:nvSpPr>
        <p:spPr>
          <a:xfrm>
            <a:off x="16500347" y="3227832"/>
            <a:ext cx="752551" cy="338328"/>
          </a:xfrm>
          <a:prstGeom prst="rect">
            <a:avLst/>
          </a:prstGeom>
          <a:solidFill>
            <a:srgbClr val="002C49"/>
          </a:solidFill>
          <a:ln>
            <a:noFill/>
          </a:ln>
        </p:spPr>
        <p:txBody>
          <a:bodyPr rtlCol="0" anchor="ctr"/>
          <a:lstStyle/>
          <a:p>
            <a:pPr algn="ctr"/>
          </a:p>
        </p:txBody>
      </p:sp>
      <p:sp>
        <p:nvSpPr>
          <p:cNvPr id="34" name="TextBox 33"/>
          <p:cNvSpPr txBox="1"/>
          <p:nvPr/>
        </p:nvSpPr>
        <p:spPr>
          <a:xfrm>
            <a:off x="16518635" y="3291840"/>
            <a:ext cx="726947" cy="256032"/>
          </a:xfrm>
          <a:prstGeom prst="rect">
            <a:avLst/>
          </a:prstGeom>
          <a:noFill/>
        </p:spPr>
        <p:txBody>
          <a:bodyPr wrap="square" lIns="0" rIns="0" tIns="0" bIns="0">
            <a:spAutoFit/>
          </a:bodyPr>
          <a:lstStyle/>
          <a:p>
            <a:pPr>
              <a:lnSpc>
                <a:spcPts val="1600"/>
              </a:lnSpc>
              <a:spcBef>
                <a:spcPts val="0"/>
              </a:spcBef>
              <a:spcAft>
                <a:spcPts val="0"/>
              </a:spcAft>
              <a:defRPr sz="1800" b="1">
                <a:solidFill>
                  <a:srgbClr val="FFFFFF"/>
                </a:solidFill>
                <a:latin typeface="Montserrat"/>
              </a:defRPr>
            </a:pPr>
            <a:r>
              <a:t>JUIN</a:t>
            </a:r>
          </a:p>
        </p:txBody>
      </p:sp>
      <p:sp>
        <p:nvSpPr>
          <p:cNvPr id="35" name="Rectangle 34"/>
          <p:cNvSpPr/>
          <p:nvPr/>
        </p:nvSpPr>
        <p:spPr>
          <a:xfrm>
            <a:off x="822960" y="3497580"/>
            <a:ext cx="16642080" cy="617219"/>
          </a:xfrm>
          <a:prstGeom prst="rect">
            <a:avLst/>
          </a:prstGeom>
          <a:solidFill>
            <a:srgbClr val="F7F7F3"/>
          </a:solidFill>
          <a:ln>
            <a:noFill/>
          </a:ln>
        </p:spPr>
        <p:txBody>
          <a:bodyPr rtlCol="0" anchor="ctr"/>
          <a:lstStyle/>
          <a:p>
            <a:pPr algn="ctr"/>
          </a:p>
        </p:txBody>
      </p:sp>
      <p:sp>
        <p:nvSpPr>
          <p:cNvPr id="36" name="TextBox 35"/>
          <p:cNvSpPr txBox="1"/>
          <p:nvPr/>
        </p:nvSpPr>
        <p:spPr>
          <a:xfrm>
            <a:off x="905256" y="3616452"/>
            <a:ext cx="1207008" cy="274320"/>
          </a:xfrm>
          <a:prstGeom prst="rect">
            <a:avLst/>
          </a:prstGeom>
          <a:noFill/>
        </p:spPr>
        <p:txBody>
          <a:bodyPr wrap="square" lIns="0" rIns="0" tIns="0" bIns="0">
            <a:spAutoFit/>
          </a:bodyPr>
          <a:lstStyle/>
          <a:p>
            <a:pPr>
              <a:lnSpc>
                <a:spcPts val="1722"/>
              </a:lnSpc>
              <a:spcBef>
                <a:spcPts val="0"/>
              </a:spcBef>
              <a:spcAft>
                <a:spcPts val="0"/>
              </a:spcAft>
              <a:defRPr sz="1400" b="1">
                <a:solidFill>
                  <a:srgbClr val="FF6633"/>
                </a:solidFill>
                <a:latin typeface="Montserrat"/>
              </a:defRPr>
            </a:pPr>
            <a:r>
              <a:t>CHANGE</a:t>
            </a:r>
          </a:p>
        </p:txBody>
      </p:sp>
      <p:sp>
        <p:nvSpPr>
          <p:cNvPr id="37" name="TextBox 36"/>
          <p:cNvSpPr txBox="1"/>
          <p:nvPr/>
        </p:nvSpPr>
        <p:spPr>
          <a:xfrm>
            <a:off x="2157984" y="3561588"/>
            <a:ext cx="5687568" cy="640080"/>
          </a:xfrm>
          <a:prstGeom prst="rect">
            <a:avLst/>
          </a:prstGeom>
          <a:noFill/>
        </p:spPr>
        <p:txBody>
          <a:bodyPr wrap="square" lIns="0" rIns="0" tIns="0" bIns="0">
            <a:spAutoFit/>
          </a:bodyPr>
          <a:lstStyle/>
          <a:p>
            <a:pPr>
              <a:lnSpc>
                <a:spcPts val="2350"/>
              </a:lnSpc>
              <a:spcBef>
                <a:spcPts val="0"/>
              </a:spcBef>
              <a:spcAft>
                <a:spcPts val="0"/>
              </a:spcAft>
              <a:defRPr sz="2400" b="0">
                <a:solidFill>
                  <a:srgbClr val="002C49"/>
                </a:solidFill>
                <a:latin typeface="Montserrat"/>
              </a:defRPr>
            </a:pPr>
            <a:r>
              <a:t>Adoption de l’IA</a:t>
            </a:r>
          </a:p>
        </p:txBody>
      </p:sp>
      <p:cxnSp>
        <p:nvCxnSpPr>
          <p:cNvPr id="38" name="Connector 37"/>
          <p:cNvCxnSpPr/>
          <p:nvPr/>
        </p:nvCxnSpPr>
        <p:spPr>
          <a:xfrm>
            <a:off x="8101583" y="3497580"/>
            <a:ext cx="0" cy="640079"/>
          </a:xfrm>
          <a:prstGeom prst="line">
            <a:avLst/>
          </a:prstGeom>
          <a:ln w="8255">
            <a:solidFill>
              <a:srgbClr val="D9E2E7"/>
            </a:solidFill>
          </a:ln>
        </p:spPr>
      </p:cxnSp>
      <p:cxnSp>
        <p:nvCxnSpPr>
          <p:cNvPr id="39" name="Connector 38"/>
          <p:cNvCxnSpPr/>
          <p:nvPr/>
        </p:nvCxnSpPr>
        <p:spPr>
          <a:xfrm>
            <a:off x="8865108" y="3497580"/>
            <a:ext cx="0" cy="640079"/>
          </a:xfrm>
          <a:prstGeom prst="line">
            <a:avLst/>
          </a:prstGeom>
          <a:ln w="8255">
            <a:solidFill>
              <a:srgbClr val="D9E2E7"/>
            </a:solidFill>
          </a:ln>
        </p:spPr>
      </p:cxnSp>
      <p:cxnSp>
        <p:nvCxnSpPr>
          <p:cNvPr id="40" name="Connector 39"/>
          <p:cNvCxnSpPr/>
          <p:nvPr/>
        </p:nvCxnSpPr>
        <p:spPr>
          <a:xfrm>
            <a:off x="9628632" y="3497580"/>
            <a:ext cx="0" cy="640079"/>
          </a:xfrm>
          <a:prstGeom prst="line">
            <a:avLst/>
          </a:prstGeom>
          <a:ln w="8255">
            <a:solidFill>
              <a:srgbClr val="D9E2E7"/>
            </a:solidFill>
          </a:ln>
        </p:spPr>
      </p:cxnSp>
      <p:cxnSp>
        <p:nvCxnSpPr>
          <p:cNvPr id="41" name="Connector 40"/>
          <p:cNvCxnSpPr/>
          <p:nvPr/>
        </p:nvCxnSpPr>
        <p:spPr>
          <a:xfrm>
            <a:off x="10392155" y="3497580"/>
            <a:ext cx="0" cy="640079"/>
          </a:xfrm>
          <a:prstGeom prst="line">
            <a:avLst/>
          </a:prstGeom>
          <a:ln w="8255">
            <a:solidFill>
              <a:srgbClr val="D9E2E7"/>
            </a:solidFill>
          </a:ln>
        </p:spPr>
      </p:cxnSp>
      <p:cxnSp>
        <p:nvCxnSpPr>
          <p:cNvPr id="42" name="Connector 41"/>
          <p:cNvCxnSpPr/>
          <p:nvPr/>
        </p:nvCxnSpPr>
        <p:spPr>
          <a:xfrm>
            <a:off x="11155680" y="3497580"/>
            <a:ext cx="0" cy="640079"/>
          </a:xfrm>
          <a:prstGeom prst="line">
            <a:avLst/>
          </a:prstGeom>
          <a:ln w="8255">
            <a:solidFill>
              <a:srgbClr val="D9E2E7"/>
            </a:solidFill>
          </a:ln>
        </p:spPr>
      </p:cxnSp>
      <p:cxnSp>
        <p:nvCxnSpPr>
          <p:cNvPr id="43" name="Connector 42"/>
          <p:cNvCxnSpPr/>
          <p:nvPr/>
        </p:nvCxnSpPr>
        <p:spPr>
          <a:xfrm>
            <a:off x="11919204" y="3497580"/>
            <a:ext cx="0" cy="640079"/>
          </a:xfrm>
          <a:prstGeom prst="line">
            <a:avLst/>
          </a:prstGeom>
          <a:ln w="8255">
            <a:solidFill>
              <a:srgbClr val="D9E2E7"/>
            </a:solidFill>
          </a:ln>
        </p:spPr>
      </p:cxnSp>
      <p:cxnSp>
        <p:nvCxnSpPr>
          <p:cNvPr id="44" name="Connector 43"/>
          <p:cNvCxnSpPr/>
          <p:nvPr/>
        </p:nvCxnSpPr>
        <p:spPr>
          <a:xfrm>
            <a:off x="12682728" y="3497580"/>
            <a:ext cx="0" cy="640079"/>
          </a:xfrm>
          <a:prstGeom prst="line">
            <a:avLst/>
          </a:prstGeom>
          <a:ln w="8255">
            <a:solidFill>
              <a:srgbClr val="D9E2E7"/>
            </a:solidFill>
          </a:ln>
        </p:spPr>
      </p:cxnSp>
      <p:cxnSp>
        <p:nvCxnSpPr>
          <p:cNvPr id="45" name="Connector 44"/>
          <p:cNvCxnSpPr/>
          <p:nvPr/>
        </p:nvCxnSpPr>
        <p:spPr>
          <a:xfrm>
            <a:off x="13446251" y="3497580"/>
            <a:ext cx="0" cy="640079"/>
          </a:xfrm>
          <a:prstGeom prst="line">
            <a:avLst/>
          </a:prstGeom>
          <a:ln w="8255">
            <a:solidFill>
              <a:srgbClr val="D9E2E7"/>
            </a:solidFill>
          </a:ln>
        </p:spPr>
      </p:cxnSp>
      <p:cxnSp>
        <p:nvCxnSpPr>
          <p:cNvPr id="46" name="Connector 45"/>
          <p:cNvCxnSpPr/>
          <p:nvPr/>
        </p:nvCxnSpPr>
        <p:spPr>
          <a:xfrm>
            <a:off x="14209776" y="3497580"/>
            <a:ext cx="0" cy="640079"/>
          </a:xfrm>
          <a:prstGeom prst="line">
            <a:avLst/>
          </a:prstGeom>
          <a:ln w="8255">
            <a:solidFill>
              <a:srgbClr val="D9E2E7"/>
            </a:solidFill>
          </a:ln>
        </p:spPr>
      </p:cxnSp>
      <p:cxnSp>
        <p:nvCxnSpPr>
          <p:cNvPr id="47" name="Connector 46"/>
          <p:cNvCxnSpPr/>
          <p:nvPr/>
        </p:nvCxnSpPr>
        <p:spPr>
          <a:xfrm>
            <a:off x="14973300" y="3497580"/>
            <a:ext cx="0" cy="640079"/>
          </a:xfrm>
          <a:prstGeom prst="line">
            <a:avLst/>
          </a:prstGeom>
          <a:ln w="8255">
            <a:solidFill>
              <a:srgbClr val="D9E2E7"/>
            </a:solidFill>
          </a:ln>
        </p:spPr>
      </p:cxnSp>
      <p:cxnSp>
        <p:nvCxnSpPr>
          <p:cNvPr id="48" name="Connector 47"/>
          <p:cNvCxnSpPr/>
          <p:nvPr/>
        </p:nvCxnSpPr>
        <p:spPr>
          <a:xfrm>
            <a:off x="15736824" y="3497580"/>
            <a:ext cx="0" cy="640079"/>
          </a:xfrm>
          <a:prstGeom prst="line">
            <a:avLst/>
          </a:prstGeom>
          <a:ln w="8255">
            <a:solidFill>
              <a:srgbClr val="D9E2E7"/>
            </a:solidFill>
          </a:ln>
        </p:spPr>
      </p:cxnSp>
      <p:cxnSp>
        <p:nvCxnSpPr>
          <p:cNvPr id="49" name="Connector 48"/>
          <p:cNvCxnSpPr/>
          <p:nvPr/>
        </p:nvCxnSpPr>
        <p:spPr>
          <a:xfrm>
            <a:off x="16500347" y="3497580"/>
            <a:ext cx="0" cy="640079"/>
          </a:xfrm>
          <a:prstGeom prst="line">
            <a:avLst/>
          </a:prstGeom>
          <a:ln w="8255">
            <a:solidFill>
              <a:srgbClr val="D9E2E7"/>
            </a:solidFill>
          </a:ln>
        </p:spPr>
      </p:cxnSp>
      <p:cxnSp>
        <p:nvCxnSpPr>
          <p:cNvPr id="50" name="Connector 49"/>
          <p:cNvCxnSpPr/>
          <p:nvPr/>
        </p:nvCxnSpPr>
        <p:spPr>
          <a:xfrm>
            <a:off x="17263872" y="3497580"/>
            <a:ext cx="0" cy="640079"/>
          </a:xfrm>
          <a:prstGeom prst="line">
            <a:avLst/>
          </a:prstGeom>
          <a:ln w="8255">
            <a:solidFill>
              <a:srgbClr val="D9E2E7"/>
            </a:solidFill>
          </a:ln>
        </p:spPr>
      </p:cxnSp>
      <p:sp>
        <p:nvSpPr>
          <p:cNvPr id="51" name="Rectangle 50"/>
          <p:cNvSpPr/>
          <p:nvPr/>
        </p:nvSpPr>
        <p:spPr>
          <a:xfrm>
            <a:off x="8165592" y="3787444"/>
            <a:ext cx="155448" cy="21945"/>
          </a:xfrm>
          <a:prstGeom prst="rect">
            <a:avLst/>
          </a:prstGeom>
          <a:solidFill>
            <a:srgbClr val="9DB0BD"/>
          </a:solidFill>
          <a:ln>
            <a:noFill/>
          </a:ln>
        </p:spPr>
        <p:txBody>
          <a:bodyPr rtlCol="0" anchor="ctr"/>
          <a:lstStyle/>
          <a:p>
            <a:pPr algn="ctr"/>
          </a:p>
        </p:txBody>
      </p:sp>
      <p:sp>
        <p:nvSpPr>
          <p:cNvPr id="52" name="Rectangle 51"/>
          <p:cNvSpPr/>
          <p:nvPr/>
        </p:nvSpPr>
        <p:spPr>
          <a:xfrm>
            <a:off x="8464600" y="3787444"/>
            <a:ext cx="155448" cy="21945"/>
          </a:xfrm>
          <a:prstGeom prst="rect">
            <a:avLst/>
          </a:prstGeom>
          <a:solidFill>
            <a:srgbClr val="9DB0BD"/>
          </a:solidFill>
          <a:ln>
            <a:noFill/>
          </a:ln>
        </p:spPr>
        <p:txBody>
          <a:bodyPr rtlCol="0" anchor="ctr"/>
          <a:lstStyle/>
          <a:p>
            <a:pPr algn="ctr"/>
          </a:p>
        </p:txBody>
      </p:sp>
      <p:sp>
        <p:nvSpPr>
          <p:cNvPr id="53" name="Rectangle 52"/>
          <p:cNvSpPr/>
          <p:nvPr/>
        </p:nvSpPr>
        <p:spPr>
          <a:xfrm>
            <a:off x="8763609" y="3787444"/>
            <a:ext cx="155448" cy="21945"/>
          </a:xfrm>
          <a:prstGeom prst="rect">
            <a:avLst/>
          </a:prstGeom>
          <a:solidFill>
            <a:srgbClr val="9DB0BD"/>
          </a:solidFill>
          <a:ln>
            <a:noFill/>
          </a:ln>
        </p:spPr>
        <p:txBody>
          <a:bodyPr rtlCol="0" anchor="ctr"/>
          <a:lstStyle/>
          <a:p>
            <a:pPr algn="ctr"/>
          </a:p>
        </p:txBody>
      </p:sp>
      <p:sp>
        <p:nvSpPr>
          <p:cNvPr id="54" name="Rectangle 53"/>
          <p:cNvSpPr/>
          <p:nvPr/>
        </p:nvSpPr>
        <p:spPr>
          <a:xfrm>
            <a:off x="9062618" y="3787444"/>
            <a:ext cx="155448" cy="21945"/>
          </a:xfrm>
          <a:prstGeom prst="rect">
            <a:avLst/>
          </a:prstGeom>
          <a:solidFill>
            <a:srgbClr val="9DB0BD"/>
          </a:solidFill>
          <a:ln>
            <a:noFill/>
          </a:ln>
        </p:spPr>
        <p:txBody>
          <a:bodyPr rtlCol="0" anchor="ctr"/>
          <a:lstStyle/>
          <a:p>
            <a:pPr algn="ctr"/>
          </a:p>
        </p:txBody>
      </p:sp>
      <p:sp>
        <p:nvSpPr>
          <p:cNvPr id="55" name="Rectangle 54"/>
          <p:cNvSpPr/>
          <p:nvPr/>
        </p:nvSpPr>
        <p:spPr>
          <a:xfrm>
            <a:off x="9361627" y="3787444"/>
            <a:ext cx="155448" cy="21945"/>
          </a:xfrm>
          <a:prstGeom prst="rect">
            <a:avLst/>
          </a:prstGeom>
          <a:solidFill>
            <a:srgbClr val="9DB0BD"/>
          </a:solidFill>
          <a:ln>
            <a:noFill/>
          </a:ln>
        </p:spPr>
        <p:txBody>
          <a:bodyPr rtlCol="0" anchor="ctr"/>
          <a:lstStyle/>
          <a:p>
            <a:pPr algn="ctr"/>
          </a:p>
        </p:txBody>
      </p:sp>
      <p:sp>
        <p:nvSpPr>
          <p:cNvPr id="56" name="Rectangle 55"/>
          <p:cNvSpPr/>
          <p:nvPr/>
        </p:nvSpPr>
        <p:spPr>
          <a:xfrm>
            <a:off x="9660636" y="3787444"/>
            <a:ext cx="155448" cy="21945"/>
          </a:xfrm>
          <a:prstGeom prst="rect">
            <a:avLst/>
          </a:prstGeom>
          <a:solidFill>
            <a:srgbClr val="9DB0BD"/>
          </a:solidFill>
          <a:ln>
            <a:noFill/>
          </a:ln>
        </p:spPr>
        <p:txBody>
          <a:bodyPr rtlCol="0" anchor="ctr"/>
          <a:lstStyle/>
          <a:p>
            <a:pPr algn="ctr"/>
          </a:p>
        </p:txBody>
      </p:sp>
      <p:sp>
        <p:nvSpPr>
          <p:cNvPr id="57" name="Rectangle 56"/>
          <p:cNvSpPr/>
          <p:nvPr/>
        </p:nvSpPr>
        <p:spPr>
          <a:xfrm>
            <a:off x="9959644" y="3787444"/>
            <a:ext cx="155448" cy="21945"/>
          </a:xfrm>
          <a:prstGeom prst="rect">
            <a:avLst/>
          </a:prstGeom>
          <a:solidFill>
            <a:srgbClr val="9DB0BD"/>
          </a:solidFill>
          <a:ln>
            <a:noFill/>
          </a:ln>
        </p:spPr>
        <p:txBody>
          <a:bodyPr rtlCol="0" anchor="ctr"/>
          <a:lstStyle/>
          <a:p>
            <a:pPr algn="ctr"/>
          </a:p>
        </p:txBody>
      </p:sp>
      <p:sp>
        <p:nvSpPr>
          <p:cNvPr id="58" name="Rectangle 57"/>
          <p:cNvSpPr/>
          <p:nvPr/>
        </p:nvSpPr>
        <p:spPr>
          <a:xfrm>
            <a:off x="10258653" y="3787444"/>
            <a:ext cx="155448" cy="21945"/>
          </a:xfrm>
          <a:prstGeom prst="rect">
            <a:avLst/>
          </a:prstGeom>
          <a:solidFill>
            <a:srgbClr val="9DB0BD"/>
          </a:solidFill>
          <a:ln>
            <a:noFill/>
          </a:ln>
        </p:spPr>
        <p:txBody>
          <a:bodyPr rtlCol="0" anchor="ctr"/>
          <a:lstStyle/>
          <a:p>
            <a:pPr algn="ctr"/>
          </a:p>
        </p:txBody>
      </p:sp>
      <p:sp>
        <p:nvSpPr>
          <p:cNvPr id="59" name="Rectangle 58"/>
          <p:cNvSpPr/>
          <p:nvPr/>
        </p:nvSpPr>
        <p:spPr>
          <a:xfrm>
            <a:off x="10557662" y="3787444"/>
            <a:ext cx="155448" cy="21945"/>
          </a:xfrm>
          <a:prstGeom prst="rect">
            <a:avLst/>
          </a:prstGeom>
          <a:solidFill>
            <a:srgbClr val="9DB0BD"/>
          </a:solidFill>
          <a:ln>
            <a:noFill/>
          </a:ln>
        </p:spPr>
        <p:txBody>
          <a:bodyPr rtlCol="0" anchor="ctr"/>
          <a:lstStyle/>
          <a:p>
            <a:pPr algn="ctr"/>
          </a:p>
        </p:txBody>
      </p:sp>
      <p:sp>
        <p:nvSpPr>
          <p:cNvPr id="60" name="Rectangle 59"/>
          <p:cNvSpPr/>
          <p:nvPr/>
        </p:nvSpPr>
        <p:spPr>
          <a:xfrm>
            <a:off x="10856671" y="3787444"/>
            <a:ext cx="155448" cy="21945"/>
          </a:xfrm>
          <a:prstGeom prst="rect">
            <a:avLst/>
          </a:prstGeom>
          <a:solidFill>
            <a:srgbClr val="9DB0BD"/>
          </a:solidFill>
          <a:ln>
            <a:noFill/>
          </a:ln>
        </p:spPr>
        <p:txBody>
          <a:bodyPr rtlCol="0" anchor="ctr"/>
          <a:lstStyle/>
          <a:p>
            <a:pPr algn="ctr"/>
          </a:p>
        </p:txBody>
      </p:sp>
      <p:sp>
        <p:nvSpPr>
          <p:cNvPr id="61" name="Rectangle 60"/>
          <p:cNvSpPr/>
          <p:nvPr/>
        </p:nvSpPr>
        <p:spPr>
          <a:xfrm>
            <a:off x="11155680" y="3787444"/>
            <a:ext cx="155448" cy="21945"/>
          </a:xfrm>
          <a:prstGeom prst="rect">
            <a:avLst/>
          </a:prstGeom>
          <a:solidFill>
            <a:srgbClr val="9DB0BD"/>
          </a:solidFill>
          <a:ln>
            <a:noFill/>
          </a:ln>
        </p:spPr>
        <p:txBody>
          <a:bodyPr rtlCol="0" anchor="ctr"/>
          <a:lstStyle/>
          <a:p>
            <a:pPr algn="ctr"/>
          </a:p>
        </p:txBody>
      </p:sp>
      <p:sp>
        <p:nvSpPr>
          <p:cNvPr id="62" name="Rectangle 61"/>
          <p:cNvSpPr/>
          <p:nvPr/>
        </p:nvSpPr>
        <p:spPr>
          <a:xfrm>
            <a:off x="11454688" y="3787444"/>
            <a:ext cx="155448" cy="21945"/>
          </a:xfrm>
          <a:prstGeom prst="rect">
            <a:avLst/>
          </a:prstGeom>
          <a:solidFill>
            <a:srgbClr val="9DB0BD"/>
          </a:solidFill>
          <a:ln>
            <a:noFill/>
          </a:ln>
        </p:spPr>
        <p:txBody>
          <a:bodyPr rtlCol="0" anchor="ctr"/>
          <a:lstStyle/>
          <a:p>
            <a:pPr algn="ctr"/>
          </a:p>
        </p:txBody>
      </p:sp>
      <p:sp>
        <p:nvSpPr>
          <p:cNvPr id="63" name="Rectangle 62"/>
          <p:cNvSpPr/>
          <p:nvPr/>
        </p:nvSpPr>
        <p:spPr>
          <a:xfrm>
            <a:off x="11753697" y="3787444"/>
            <a:ext cx="155448" cy="21945"/>
          </a:xfrm>
          <a:prstGeom prst="rect">
            <a:avLst/>
          </a:prstGeom>
          <a:solidFill>
            <a:srgbClr val="9DB0BD"/>
          </a:solidFill>
          <a:ln>
            <a:noFill/>
          </a:ln>
        </p:spPr>
        <p:txBody>
          <a:bodyPr rtlCol="0" anchor="ctr"/>
          <a:lstStyle/>
          <a:p>
            <a:pPr algn="ctr"/>
          </a:p>
        </p:txBody>
      </p:sp>
      <p:sp>
        <p:nvSpPr>
          <p:cNvPr id="64" name="Rectangle 63"/>
          <p:cNvSpPr/>
          <p:nvPr/>
        </p:nvSpPr>
        <p:spPr>
          <a:xfrm>
            <a:off x="12052706" y="3787444"/>
            <a:ext cx="155448" cy="21945"/>
          </a:xfrm>
          <a:prstGeom prst="rect">
            <a:avLst/>
          </a:prstGeom>
          <a:solidFill>
            <a:srgbClr val="9DB0BD"/>
          </a:solidFill>
          <a:ln>
            <a:noFill/>
          </a:ln>
        </p:spPr>
        <p:txBody>
          <a:bodyPr rtlCol="0" anchor="ctr"/>
          <a:lstStyle/>
          <a:p>
            <a:pPr algn="ctr"/>
          </a:p>
        </p:txBody>
      </p:sp>
      <p:sp>
        <p:nvSpPr>
          <p:cNvPr id="65" name="Rectangle 64"/>
          <p:cNvSpPr/>
          <p:nvPr/>
        </p:nvSpPr>
        <p:spPr>
          <a:xfrm>
            <a:off x="12351715" y="3787444"/>
            <a:ext cx="155448" cy="21945"/>
          </a:xfrm>
          <a:prstGeom prst="rect">
            <a:avLst/>
          </a:prstGeom>
          <a:solidFill>
            <a:srgbClr val="9DB0BD"/>
          </a:solidFill>
          <a:ln>
            <a:noFill/>
          </a:ln>
        </p:spPr>
        <p:txBody>
          <a:bodyPr rtlCol="0" anchor="ctr"/>
          <a:lstStyle/>
          <a:p>
            <a:pPr algn="ctr"/>
          </a:p>
        </p:txBody>
      </p:sp>
      <p:sp>
        <p:nvSpPr>
          <p:cNvPr id="66" name="Rectangle 65"/>
          <p:cNvSpPr/>
          <p:nvPr/>
        </p:nvSpPr>
        <p:spPr>
          <a:xfrm>
            <a:off x="12650724" y="3787444"/>
            <a:ext cx="155448" cy="21945"/>
          </a:xfrm>
          <a:prstGeom prst="rect">
            <a:avLst/>
          </a:prstGeom>
          <a:solidFill>
            <a:srgbClr val="9DB0BD"/>
          </a:solidFill>
          <a:ln>
            <a:noFill/>
          </a:ln>
        </p:spPr>
        <p:txBody>
          <a:bodyPr rtlCol="0" anchor="ctr"/>
          <a:lstStyle/>
          <a:p>
            <a:pPr algn="ctr"/>
          </a:p>
        </p:txBody>
      </p:sp>
      <p:sp>
        <p:nvSpPr>
          <p:cNvPr id="67" name="Rectangle 66"/>
          <p:cNvSpPr/>
          <p:nvPr/>
        </p:nvSpPr>
        <p:spPr>
          <a:xfrm>
            <a:off x="12949732" y="3787444"/>
            <a:ext cx="155448" cy="21945"/>
          </a:xfrm>
          <a:prstGeom prst="rect">
            <a:avLst/>
          </a:prstGeom>
          <a:solidFill>
            <a:srgbClr val="9DB0BD"/>
          </a:solidFill>
          <a:ln>
            <a:noFill/>
          </a:ln>
        </p:spPr>
        <p:txBody>
          <a:bodyPr rtlCol="0" anchor="ctr"/>
          <a:lstStyle/>
          <a:p>
            <a:pPr algn="ctr"/>
          </a:p>
        </p:txBody>
      </p:sp>
      <p:sp>
        <p:nvSpPr>
          <p:cNvPr id="68" name="Rectangle 67"/>
          <p:cNvSpPr/>
          <p:nvPr/>
        </p:nvSpPr>
        <p:spPr>
          <a:xfrm>
            <a:off x="13248741" y="3787444"/>
            <a:ext cx="155448" cy="21945"/>
          </a:xfrm>
          <a:prstGeom prst="rect">
            <a:avLst/>
          </a:prstGeom>
          <a:solidFill>
            <a:srgbClr val="9DB0BD"/>
          </a:solidFill>
          <a:ln>
            <a:noFill/>
          </a:ln>
        </p:spPr>
        <p:txBody>
          <a:bodyPr rtlCol="0" anchor="ctr"/>
          <a:lstStyle/>
          <a:p>
            <a:pPr algn="ctr"/>
          </a:p>
        </p:txBody>
      </p:sp>
      <p:sp>
        <p:nvSpPr>
          <p:cNvPr id="69" name="Rectangle 68"/>
          <p:cNvSpPr/>
          <p:nvPr/>
        </p:nvSpPr>
        <p:spPr>
          <a:xfrm>
            <a:off x="13547750" y="3787444"/>
            <a:ext cx="155448" cy="21945"/>
          </a:xfrm>
          <a:prstGeom prst="rect">
            <a:avLst/>
          </a:prstGeom>
          <a:solidFill>
            <a:srgbClr val="9DB0BD"/>
          </a:solidFill>
          <a:ln>
            <a:noFill/>
          </a:ln>
        </p:spPr>
        <p:txBody>
          <a:bodyPr rtlCol="0" anchor="ctr"/>
          <a:lstStyle/>
          <a:p>
            <a:pPr algn="ctr"/>
          </a:p>
        </p:txBody>
      </p:sp>
      <p:sp>
        <p:nvSpPr>
          <p:cNvPr id="70" name="Rectangle 69"/>
          <p:cNvSpPr/>
          <p:nvPr/>
        </p:nvSpPr>
        <p:spPr>
          <a:xfrm>
            <a:off x="13846759" y="3787444"/>
            <a:ext cx="155448" cy="21945"/>
          </a:xfrm>
          <a:prstGeom prst="rect">
            <a:avLst/>
          </a:prstGeom>
          <a:solidFill>
            <a:srgbClr val="9DB0BD"/>
          </a:solidFill>
          <a:ln>
            <a:noFill/>
          </a:ln>
        </p:spPr>
        <p:txBody>
          <a:bodyPr rtlCol="0" anchor="ctr"/>
          <a:lstStyle/>
          <a:p>
            <a:pPr algn="ctr"/>
          </a:p>
        </p:txBody>
      </p:sp>
      <p:sp>
        <p:nvSpPr>
          <p:cNvPr id="71" name="Rectangle 70"/>
          <p:cNvSpPr/>
          <p:nvPr/>
        </p:nvSpPr>
        <p:spPr>
          <a:xfrm>
            <a:off x="14145767" y="3787444"/>
            <a:ext cx="155448" cy="21945"/>
          </a:xfrm>
          <a:prstGeom prst="rect">
            <a:avLst/>
          </a:prstGeom>
          <a:solidFill>
            <a:srgbClr val="9DB0BD"/>
          </a:solidFill>
          <a:ln>
            <a:noFill/>
          </a:ln>
        </p:spPr>
        <p:txBody>
          <a:bodyPr rtlCol="0" anchor="ctr"/>
          <a:lstStyle/>
          <a:p>
            <a:pPr algn="ctr"/>
          </a:p>
        </p:txBody>
      </p:sp>
      <p:sp>
        <p:nvSpPr>
          <p:cNvPr id="72" name="Rectangle 71"/>
          <p:cNvSpPr/>
          <p:nvPr/>
        </p:nvSpPr>
        <p:spPr>
          <a:xfrm>
            <a:off x="14444776" y="3787444"/>
            <a:ext cx="155448" cy="21945"/>
          </a:xfrm>
          <a:prstGeom prst="rect">
            <a:avLst/>
          </a:prstGeom>
          <a:solidFill>
            <a:srgbClr val="9DB0BD"/>
          </a:solidFill>
          <a:ln>
            <a:noFill/>
          </a:ln>
        </p:spPr>
        <p:txBody>
          <a:bodyPr rtlCol="0" anchor="ctr"/>
          <a:lstStyle/>
          <a:p>
            <a:pPr algn="ctr"/>
          </a:p>
        </p:txBody>
      </p:sp>
      <p:sp>
        <p:nvSpPr>
          <p:cNvPr id="73" name="Rectangle 72"/>
          <p:cNvSpPr/>
          <p:nvPr/>
        </p:nvSpPr>
        <p:spPr>
          <a:xfrm>
            <a:off x="14743785" y="3787444"/>
            <a:ext cx="155448" cy="21945"/>
          </a:xfrm>
          <a:prstGeom prst="rect">
            <a:avLst/>
          </a:prstGeom>
          <a:solidFill>
            <a:srgbClr val="9DB0BD"/>
          </a:solidFill>
          <a:ln>
            <a:noFill/>
          </a:ln>
        </p:spPr>
        <p:txBody>
          <a:bodyPr rtlCol="0" anchor="ctr"/>
          <a:lstStyle/>
          <a:p>
            <a:pPr algn="ctr"/>
          </a:p>
        </p:txBody>
      </p:sp>
      <p:sp>
        <p:nvSpPr>
          <p:cNvPr id="74" name="Rectangle 73"/>
          <p:cNvSpPr/>
          <p:nvPr/>
        </p:nvSpPr>
        <p:spPr>
          <a:xfrm>
            <a:off x="15042794" y="3787444"/>
            <a:ext cx="155448" cy="21945"/>
          </a:xfrm>
          <a:prstGeom prst="rect">
            <a:avLst/>
          </a:prstGeom>
          <a:solidFill>
            <a:srgbClr val="9DB0BD"/>
          </a:solidFill>
          <a:ln>
            <a:noFill/>
          </a:ln>
        </p:spPr>
        <p:txBody>
          <a:bodyPr rtlCol="0" anchor="ctr"/>
          <a:lstStyle/>
          <a:p>
            <a:pPr algn="ctr"/>
          </a:p>
        </p:txBody>
      </p:sp>
      <p:sp>
        <p:nvSpPr>
          <p:cNvPr id="75" name="Rectangle 74"/>
          <p:cNvSpPr/>
          <p:nvPr/>
        </p:nvSpPr>
        <p:spPr>
          <a:xfrm>
            <a:off x="15341803" y="3787444"/>
            <a:ext cx="155448" cy="21945"/>
          </a:xfrm>
          <a:prstGeom prst="rect">
            <a:avLst/>
          </a:prstGeom>
          <a:solidFill>
            <a:srgbClr val="9DB0BD"/>
          </a:solidFill>
          <a:ln>
            <a:noFill/>
          </a:ln>
        </p:spPr>
        <p:txBody>
          <a:bodyPr rtlCol="0" anchor="ctr"/>
          <a:lstStyle/>
          <a:p>
            <a:pPr algn="ctr"/>
          </a:p>
        </p:txBody>
      </p:sp>
      <p:sp>
        <p:nvSpPr>
          <p:cNvPr id="76" name="Rectangle 75"/>
          <p:cNvSpPr/>
          <p:nvPr/>
        </p:nvSpPr>
        <p:spPr>
          <a:xfrm>
            <a:off x="15640812" y="3787444"/>
            <a:ext cx="155448" cy="21945"/>
          </a:xfrm>
          <a:prstGeom prst="rect">
            <a:avLst/>
          </a:prstGeom>
          <a:solidFill>
            <a:srgbClr val="9DB0BD"/>
          </a:solidFill>
          <a:ln>
            <a:noFill/>
          </a:ln>
        </p:spPr>
        <p:txBody>
          <a:bodyPr rtlCol="0" anchor="ctr"/>
          <a:lstStyle/>
          <a:p>
            <a:pPr algn="ctr"/>
          </a:p>
        </p:txBody>
      </p:sp>
      <p:sp>
        <p:nvSpPr>
          <p:cNvPr id="77" name="Rectangle 76"/>
          <p:cNvSpPr/>
          <p:nvPr/>
        </p:nvSpPr>
        <p:spPr>
          <a:xfrm>
            <a:off x="15939820" y="3787444"/>
            <a:ext cx="155448" cy="21945"/>
          </a:xfrm>
          <a:prstGeom prst="rect">
            <a:avLst/>
          </a:prstGeom>
          <a:solidFill>
            <a:srgbClr val="9DB0BD"/>
          </a:solidFill>
          <a:ln>
            <a:noFill/>
          </a:ln>
        </p:spPr>
        <p:txBody>
          <a:bodyPr rtlCol="0" anchor="ctr"/>
          <a:lstStyle/>
          <a:p>
            <a:pPr algn="ctr"/>
          </a:p>
        </p:txBody>
      </p:sp>
      <p:sp>
        <p:nvSpPr>
          <p:cNvPr id="78" name="Rectangle 77"/>
          <p:cNvSpPr/>
          <p:nvPr/>
        </p:nvSpPr>
        <p:spPr>
          <a:xfrm>
            <a:off x="16238829" y="3787444"/>
            <a:ext cx="155448" cy="21945"/>
          </a:xfrm>
          <a:prstGeom prst="rect">
            <a:avLst/>
          </a:prstGeom>
          <a:solidFill>
            <a:srgbClr val="9DB0BD"/>
          </a:solidFill>
          <a:ln>
            <a:noFill/>
          </a:ln>
        </p:spPr>
        <p:txBody>
          <a:bodyPr rtlCol="0" anchor="ctr"/>
          <a:lstStyle/>
          <a:p>
            <a:pPr algn="ctr"/>
          </a:p>
        </p:txBody>
      </p:sp>
      <p:sp>
        <p:nvSpPr>
          <p:cNvPr id="79" name="Rectangle 78"/>
          <p:cNvSpPr/>
          <p:nvPr/>
        </p:nvSpPr>
        <p:spPr>
          <a:xfrm>
            <a:off x="16537838" y="3787444"/>
            <a:ext cx="155448" cy="21945"/>
          </a:xfrm>
          <a:prstGeom prst="rect">
            <a:avLst/>
          </a:prstGeom>
          <a:solidFill>
            <a:srgbClr val="9DB0BD"/>
          </a:solidFill>
          <a:ln>
            <a:noFill/>
          </a:ln>
        </p:spPr>
        <p:txBody>
          <a:bodyPr rtlCol="0" anchor="ctr"/>
          <a:lstStyle/>
          <a:p>
            <a:pPr algn="ctr"/>
          </a:p>
        </p:txBody>
      </p:sp>
      <p:sp>
        <p:nvSpPr>
          <p:cNvPr id="80" name="Rectangle 79"/>
          <p:cNvSpPr/>
          <p:nvPr/>
        </p:nvSpPr>
        <p:spPr>
          <a:xfrm>
            <a:off x="16836847" y="3787444"/>
            <a:ext cx="155448" cy="21945"/>
          </a:xfrm>
          <a:prstGeom prst="rect">
            <a:avLst/>
          </a:prstGeom>
          <a:solidFill>
            <a:srgbClr val="9DB0BD"/>
          </a:solidFill>
          <a:ln>
            <a:noFill/>
          </a:ln>
        </p:spPr>
        <p:txBody>
          <a:bodyPr rtlCol="0" anchor="ctr"/>
          <a:lstStyle/>
          <a:p>
            <a:pPr algn="ctr"/>
          </a:p>
        </p:txBody>
      </p:sp>
      <p:sp>
        <p:nvSpPr>
          <p:cNvPr id="81" name="TextBox 80"/>
          <p:cNvSpPr txBox="1"/>
          <p:nvPr/>
        </p:nvSpPr>
        <p:spPr>
          <a:xfrm>
            <a:off x="905256" y="4256532"/>
            <a:ext cx="1207008" cy="274320"/>
          </a:xfrm>
          <a:prstGeom prst="rect">
            <a:avLst/>
          </a:prstGeom>
          <a:noFill/>
        </p:spPr>
        <p:txBody>
          <a:bodyPr wrap="square" lIns="0" rIns="0" tIns="0" bIns="0">
            <a:spAutoFit/>
          </a:bodyPr>
          <a:lstStyle/>
          <a:p>
            <a:pPr>
              <a:lnSpc>
                <a:spcPts val="1722"/>
              </a:lnSpc>
              <a:spcBef>
                <a:spcPts val="0"/>
              </a:spcBef>
              <a:spcAft>
                <a:spcPts val="0"/>
              </a:spcAft>
              <a:defRPr sz="1400" b="1">
                <a:solidFill>
                  <a:srgbClr val="FF6633"/>
                </a:solidFill>
                <a:latin typeface="Montserrat"/>
              </a:defRPr>
            </a:pPr>
          </a:p>
        </p:txBody>
      </p:sp>
      <p:sp>
        <p:nvSpPr>
          <p:cNvPr id="82" name="TextBox 81"/>
          <p:cNvSpPr txBox="1"/>
          <p:nvPr/>
        </p:nvSpPr>
        <p:spPr>
          <a:xfrm>
            <a:off x="2157984" y="4201668"/>
            <a:ext cx="5687568" cy="640080"/>
          </a:xfrm>
          <a:prstGeom prst="rect">
            <a:avLst/>
          </a:prstGeom>
          <a:noFill/>
        </p:spPr>
        <p:txBody>
          <a:bodyPr wrap="square" lIns="0" rIns="0" tIns="0" bIns="0">
            <a:spAutoFit/>
          </a:bodyPr>
          <a:lstStyle/>
          <a:p>
            <a:pPr>
              <a:lnSpc>
                <a:spcPts val="2350"/>
              </a:lnSpc>
              <a:spcBef>
                <a:spcPts val="0"/>
              </a:spcBef>
              <a:spcAft>
                <a:spcPts val="0"/>
              </a:spcAft>
              <a:defRPr sz="2400" b="0">
                <a:solidFill>
                  <a:srgbClr val="002C49"/>
                </a:solidFill>
                <a:latin typeface="Montserrat"/>
              </a:defRPr>
            </a:pPr>
            <a:r>
              <a:t>Toolbox Leyton /</a:t>
            </a:r>
          </a:p>
          <a:p>
            <a:pPr>
              <a:lnSpc>
                <a:spcPts val="2350"/>
              </a:lnSpc>
              <a:spcBef>
                <a:spcPts val="0"/>
              </a:spcBef>
              <a:spcAft>
                <a:spcPts val="0"/>
              </a:spcAft>
              <a:defRPr sz="2400" b="0">
                <a:solidFill>
                  <a:srgbClr val="002C49"/>
                </a:solidFill>
                <a:latin typeface="Montserrat"/>
              </a:defRPr>
            </a:pPr>
            <a:r>
              <a:t>adoption des outils</a:t>
            </a:r>
          </a:p>
        </p:txBody>
      </p:sp>
      <p:cxnSp>
        <p:nvCxnSpPr>
          <p:cNvPr id="83" name="Connector 82"/>
          <p:cNvCxnSpPr/>
          <p:nvPr/>
        </p:nvCxnSpPr>
        <p:spPr>
          <a:xfrm>
            <a:off x="8101583" y="4137659"/>
            <a:ext cx="0" cy="640081"/>
          </a:xfrm>
          <a:prstGeom prst="line">
            <a:avLst/>
          </a:prstGeom>
          <a:ln w="8255">
            <a:solidFill>
              <a:srgbClr val="D9E2E7"/>
            </a:solidFill>
          </a:ln>
        </p:spPr>
      </p:cxnSp>
      <p:cxnSp>
        <p:nvCxnSpPr>
          <p:cNvPr id="84" name="Connector 83"/>
          <p:cNvCxnSpPr/>
          <p:nvPr/>
        </p:nvCxnSpPr>
        <p:spPr>
          <a:xfrm>
            <a:off x="8865108" y="4137659"/>
            <a:ext cx="0" cy="640081"/>
          </a:xfrm>
          <a:prstGeom prst="line">
            <a:avLst/>
          </a:prstGeom>
          <a:ln w="8255">
            <a:solidFill>
              <a:srgbClr val="D9E2E7"/>
            </a:solidFill>
          </a:ln>
        </p:spPr>
      </p:cxnSp>
      <p:cxnSp>
        <p:nvCxnSpPr>
          <p:cNvPr id="85" name="Connector 84"/>
          <p:cNvCxnSpPr/>
          <p:nvPr/>
        </p:nvCxnSpPr>
        <p:spPr>
          <a:xfrm>
            <a:off x="9628632" y="4137659"/>
            <a:ext cx="0" cy="640081"/>
          </a:xfrm>
          <a:prstGeom prst="line">
            <a:avLst/>
          </a:prstGeom>
          <a:ln w="8255">
            <a:solidFill>
              <a:srgbClr val="D9E2E7"/>
            </a:solidFill>
          </a:ln>
        </p:spPr>
      </p:cxnSp>
      <p:cxnSp>
        <p:nvCxnSpPr>
          <p:cNvPr id="86" name="Connector 85"/>
          <p:cNvCxnSpPr/>
          <p:nvPr/>
        </p:nvCxnSpPr>
        <p:spPr>
          <a:xfrm>
            <a:off x="10392155" y="4137659"/>
            <a:ext cx="0" cy="640081"/>
          </a:xfrm>
          <a:prstGeom prst="line">
            <a:avLst/>
          </a:prstGeom>
          <a:ln w="8255">
            <a:solidFill>
              <a:srgbClr val="D9E2E7"/>
            </a:solidFill>
          </a:ln>
        </p:spPr>
      </p:cxnSp>
      <p:cxnSp>
        <p:nvCxnSpPr>
          <p:cNvPr id="87" name="Connector 86"/>
          <p:cNvCxnSpPr/>
          <p:nvPr/>
        </p:nvCxnSpPr>
        <p:spPr>
          <a:xfrm>
            <a:off x="11155680" y="4137659"/>
            <a:ext cx="0" cy="640081"/>
          </a:xfrm>
          <a:prstGeom prst="line">
            <a:avLst/>
          </a:prstGeom>
          <a:ln w="8255">
            <a:solidFill>
              <a:srgbClr val="D9E2E7"/>
            </a:solidFill>
          </a:ln>
        </p:spPr>
      </p:cxnSp>
      <p:cxnSp>
        <p:nvCxnSpPr>
          <p:cNvPr id="88" name="Connector 87"/>
          <p:cNvCxnSpPr/>
          <p:nvPr/>
        </p:nvCxnSpPr>
        <p:spPr>
          <a:xfrm>
            <a:off x="11919204" y="4137659"/>
            <a:ext cx="0" cy="640081"/>
          </a:xfrm>
          <a:prstGeom prst="line">
            <a:avLst/>
          </a:prstGeom>
          <a:ln w="8255">
            <a:solidFill>
              <a:srgbClr val="D9E2E7"/>
            </a:solidFill>
          </a:ln>
        </p:spPr>
      </p:cxnSp>
      <p:cxnSp>
        <p:nvCxnSpPr>
          <p:cNvPr id="89" name="Connector 88"/>
          <p:cNvCxnSpPr/>
          <p:nvPr/>
        </p:nvCxnSpPr>
        <p:spPr>
          <a:xfrm>
            <a:off x="12682728" y="4137659"/>
            <a:ext cx="0" cy="640081"/>
          </a:xfrm>
          <a:prstGeom prst="line">
            <a:avLst/>
          </a:prstGeom>
          <a:ln w="8255">
            <a:solidFill>
              <a:srgbClr val="D9E2E7"/>
            </a:solidFill>
          </a:ln>
        </p:spPr>
      </p:cxnSp>
      <p:cxnSp>
        <p:nvCxnSpPr>
          <p:cNvPr id="90" name="Connector 89"/>
          <p:cNvCxnSpPr/>
          <p:nvPr/>
        </p:nvCxnSpPr>
        <p:spPr>
          <a:xfrm>
            <a:off x="13446251" y="4137659"/>
            <a:ext cx="0" cy="640081"/>
          </a:xfrm>
          <a:prstGeom prst="line">
            <a:avLst/>
          </a:prstGeom>
          <a:ln w="8255">
            <a:solidFill>
              <a:srgbClr val="D9E2E7"/>
            </a:solidFill>
          </a:ln>
        </p:spPr>
      </p:cxnSp>
      <p:cxnSp>
        <p:nvCxnSpPr>
          <p:cNvPr id="91" name="Connector 90"/>
          <p:cNvCxnSpPr/>
          <p:nvPr/>
        </p:nvCxnSpPr>
        <p:spPr>
          <a:xfrm>
            <a:off x="14209776" y="4137659"/>
            <a:ext cx="0" cy="640081"/>
          </a:xfrm>
          <a:prstGeom prst="line">
            <a:avLst/>
          </a:prstGeom>
          <a:ln w="8255">
            <a:solidFill>
              <a:srgbClr val="D9E2E7"/>
            </a:solidFill>
          </a:ln>
        </p:spPr>
      </p:cxnSp>
      <p:cxnSp>
        <p:nvCxnSpPr>
          <p:cNvPr id="92" name="Connector 91"/>
          <p:cNvCxnSpPr/>
          <p:nvPr/>
        </p:nvCxnSpPr>
        <p:spPr>
          <a:xfrm>
            <a:off x="14973300" y="4137659"/>
            <a:ext cx="0" cy="640081"/>
          </a:xfrm>
          <a:prstGeom prst="line">
            <a:avLst/>
          </a:prstGeom>
          <a:ln w="8255">
            <a:solidFill>
              <a:srgbClr val="D9E2E7"/>
            </a:solidFill>
          </a:ln>
        </p:spPr>
      </p:cxnSp>
      <p:cxnSp>
        <p:nvCxnSpPr>
          <p:cNvPr id="93" name="Connector 92"/>
          <p:cNvCxnSpPr/>
          <p:nvPr/>
        </p:nvCxnSpPr>
        <p:spPr>
          <a:xfrm>
            <a:off x="15736824" y="4137659"/>
            <a:ext cx="0" cy="640081"/>
          </a:xfrm>
          <a:prstGeom prst="line">
            <a:avLst/>
          </a:prstGeom>
          <a:ln w="8255">
            <a:solidFill>
              <a:srgbClr val="D9E2E7"/>
            </a:solidFill>
          </a:ln>
        </p:spPr>
      </p:cxnSp>
      <p:cxnSp>
        <p:nvCxnSpPr>
          <p:cNvPr id="94" name="Connector 93"/>
          <p:cNvCxnSpPr/>
          <p:nvPr/>
        </p:nvCxnSpPr>
        <p:spPr>
          <a:xfrm>
            <a:off x="16500347" y="4137659"/>
            <a:ext cx="0" cy="640081"/>
          </a:xfrm>
          <a:prstGeom prst="line">
            <a:avLst/>
          </a:prstGeom>
          <a:ln w="8255">
            <a:solidFill>
              <a:srgbClr val="D9E2E7"/>
            </a:solidFill>
          </a:ln>
        </p:spPr>
      </p:cxnSp>
      <p:cxnSp>
        <p:nvCxnSpPr>
          <p:cNvPr id="95" name="Connector 94"/>
          <p:cNvCxnSpPr/>
          <p:nvPr/>
        </p:nvCxnSpPr>
        <p:spPr>
          <a:xfrm>
            <a:off x="17263872" y="4137659"/>
            <a:ext cx="0" cy="640081"/>
          </a:xfrm>
          <a:prstGeom prst="line">
            <a:avLst/>
          </a:prstGeom>
          <a:ln w="8255">
            <a:solidFill>
              <a:srgbClr val="D9E2E7"/>
            </a:solidFill>
          </a:ln>
        </p:spPr>
      </p:cxnSp>
      <p:sp>
        <p:nvSpPr>
          <p:cNvPr id="96" name="Rectangle 95"/>
          <p:cNvSpPr/>
          <p:nvPr/>
        </p:nvSpPr>
        <p:spPr>
          <a:xfrm>
            <a:off x="8165592" y="4427524"/>
            <a:ext cx="155448" cy="21945"/>
          </a:xfrm>
          <a:prstGeom prst="rect">
            <a:avLst/>
          </a:prstGeom>
          <a:solidFill>
            <a:srgbClr val="9DB0BD"/>
          </a:solidFill>
          <a:ln>
            <a:noFill/>
          </a:ln>
        </p:spPr>
        <p:txBody>
          <a:bodyPr rtlCol="0" anchor="ctr"/>
          <a:lstStyle/>
          <a:p>
            <a:pPr algn="ctr"/>
          </a:p>
        </p:txBody>
      </p:sp>
      <p:sp>
        <p:nvSpPr>
          <p:cNvPr id="97" name="Rectangle 96"/>
          <p:cNvSpPr/>
          <p:nvPr/>
        </p:nvSpPr>
        <p:spPr>
          <a:xfrm>
            <a:off x="8464600" y="4427524"/>
            <a:ext cx="155448" cy="21945"/>
          </a:xfrm>
          <a:prstGeom prst="rect">
            <a:avLst/>
          </a:prstGeom>
          <a:solidFill>
            <a:srgbClr val="9DB0BD"/>
          </a:solidFill>
          <a:ln>
            <a:noFill/>
          </a:ln>
        </p:spPr>
        <p:txBody>
          <a:bodyPr rtlCol="0" anchor="ctr"/>
          <a:lstStyle/>
          <a:p>
            <a:pPr algn="ctr"/>
          </a:p>
        </p:txBody>
      </p:sp>
      <p:sp>
        <p:nvSpPr>
          <p:cNvPr id="98" name="Rectangle 97"/>
          <p:cNvSpPr/>
          <p:nvPr/>
        </p:nvSpPr>
        <p:spPr>
          <a:xfrm>
            <a:off x="8763609" y="4427524"/>
            <a:ext cx="155448" cy="21945"/>
          </a:xfrm>
          <a:prstGeom prst="rect">
            <a:avLst/>
          </a:prstGeom>
          <a:solidFill>
            <a:srgbClr val="9DB0BD"/>
          </a:solidFill>
          <a:ln>
            <a:noFill/>
          </a:ln>
        </p:spPr>
        <p:txBody>
          <a:bodyPr rtlCol="0" anchor="ctr"/>
          <a:lstStyle/>
          <a:p>
            <a:pPr algn="ctr"/>
          </a:p>
        </p:txBody>
      </p:sp>
      <p:sp>
        <p:nvSpPr>
          <p:cNvPr id="99" name="Rectangle 98"/>
          <p:cNvSpPr/>
          <p:nvPr/>
        </p:nvSpPr>
        <p:spPr>
          <a:xfrm>
            <a:off x="9062618" y="4427524"/>
            <a:ext cx="155448" cy="21945"/>
          </a:xfrm>
          <a:prstGeom prst="rect">
            <a:avLst/>
          </a:prstGeom>
          <a:solidFill>
            <a:srgbClr val="9DB0BD"/>
          </a:solidFill>
          <a:ln>
            <a:noFill/>
          </a:ln>
        </p:spPr>
        <p:txBody>
          <a:bodyPr rtlCol="0" anchor="ctr"/>
          <a:lstStyle/>
          <a:p>
            <a:pPr algn="ctr"/>
          </a:p>
        </p:txBody>
      </p:sp>
      <p:sp>
        <p:nvSpPr>
          <p:cNvPr id="100" name="Rectangle 99"/>
          <p:cNvSpPr/>
          <p:nvPr/>
        </p:nvSpPr>
        <p:spPr>
          <a:xfrm>
            <a:off x="9361627" y="4427524"/>
            <a:ext cx="155448" cy="21945"/>
          </a:xfrm>
          <a:prstGeom prst="rect">
            <a:avLst/>
          </a:prstGeom>
          <a:solidFill>
            <a:srgbClr val="9DB0BD"/>
          </a:solidFill>
          <a:ln>
            <a:noFill/>
          </a:ln>
        </p:spPr>
        <p:txBody>
          <a:bodyPr rtlCol="0" anchor="ctr"/>
          <a:lstStyle/>
          <a:p>
            <a:pPr algn="ctr"/>
          </a:p>
        </p:txBody>
      </p:sp>
      <p:sp>
        <p:nvSpPr>
          <p:cNvPr id="101" name="Rectangle 100"/>
          <p:cNvSpPr/>
          <p:nvPr/>
        </p:nvSpPr>
        <p:spPr>
          <a:xfrm>
            <a:off x="9660636" y="4427524"/>
            <a:ext cx="155448" cy="21945"/>
          </a:xfrm>
          <a:prstGeom prst="rect">
            <a:avLst/>
          </a:prstGeom>
          <a:solidFill>
            <a:srgbClr val="9DB0BD"/>
          </a:solidFill>
          <a:ln>
            <a:noFill/>
          </a:ln>
        </p:spPr>
        <p:txBody>
          <a:bodyPr rtlCol="0" anchor="ctr"/>
          <a:lstStyle/>
          <a:p>
            <a:pPr algn="ctr"/>
          </a:p>
        </p:txBody>
      </p:sp>
      <p:sp>
        <p:nvSpPr>
          <p:cNvPr id="102" name="Rectangle 101"/>
          <p:cNvSpPr/>
          <p:nvPr/>
        </p:nvSpPr>
        <p:spPr>
          <a:xfrm>
            <a:off x="9959644" y="4427524"/>
            <a:ext cx="155448" cy="21945"/>
          </a:xfrm>
          <a:prstGeom prst="rect">
            <a:avLst/>
          </a:prstGeom>
          <a:solidFill>
            <a:srgbClr val="9DB0BD"/>
          </a:solidFill>
          <a:ln>
            <a:noFill/>
          </a:ln>
        </p:spPr>
        <p:txBody>
          <a:bodyPr rtlCol="0" anchor="ctr"/>
          <a:lstStyle/>
          <a:p>
            <a:pPr algn="ctr"/>
          </a:p>
        </p:txBody>
      </p:sp>
      <p:sp>
        <p:nvSpPr>
          <p:cNvPr id="103" name="Rectangle 102"/>
          <p:cNvSpPr/>
          <p:nvPr/>
        </p:nvSpPr>
        <p:spPr>
          <a:xfrm>
            <a:off x="10258653" y="4427524"/>
            <a:ext cx="155448" cy="21945"/>
          </a:xfrm>
          <a:prstGeom prst="rect">
            <a:avLst/>
          </a:prstGeom>
          <a:solidFill>
            <a:srgbClr val="9DB0BD"/>
          </a:solidFill>
          <a:ln>
            <a:noFill/>
          </a:ln>
        </p:spPr>
        <p:txBody>
          <a:bodyPr rtlCol="0" anchor="ctr"/>
          <a:lstStyle/>
          <a:p>
            <a:pPr algn="ctr"/>
          </a:p>
        </p:txBody>
      </p:sp>
      <p:sp>
        <p:nvSpPr>
          <p:cNvPr id="104" name="Rectangle 103"/>
          <p:cNvSpPr/>
          <p:nvPr/>
        </p:nvSpPr>
        <p:spPr>
          <a:xfrm>
            <a:off x="10557662" y="4427524"/>
            <a:ext cx="155448" cy="21945"/>
          </a:xfrm>
          <a:prstGeom prst="rect">
            <a:avLst/>
          </a:prstGeom>
          <a:solidFill>
            <a:srgbClr val="9DB0BD"/>
          </a:solidFill>
          <a:ln>
            <a:noFill/>
          </a:ln>
        </p:spPr>
        <p:txBody>
          <a:bodyPr rtlCol="0" anchor="ctr"/>
          <a:lstStyle/>
          <a:p>
            <a:pPr algn="ctr"/>
          </a:p>
        </p:txBody>
      </p:sp>
      <p:sp>
        <p:nvSpPr>
          <p:cNvPr id="105" name="Rectangle 104"/>
          <p:cNvSpPr/>
          <p:nvPr/>
        </p:nvSpPr>
        <p:spPr>
          <a:xfrm>
            <a:off x="10856671" y="4427524"/>
            <a:ext cx="155448" cy="21945"/>
          </a:xfrm>
          <a:prstGeom prst="rect">
            <a:avLst/>
          </a:prstGeom>
          <a:solidFill>
            <a:srgbClr val="9DB0BD"/>
          </a:solidFill>
          <a:ln>
            <a:noFill/>
          </a:ln>
        </p:spPr>
        <p:txBody>
          <a:bodyPr rtlCol="0" anchor="ctr"/>
          <a:lstStyle/>
          <a:p>
            <a:pPr algn="ctr"/>
          </a:p>
        </p:txBody>
      </p:sp>
      <p:sp>
        <p:nvSpPr>
          <p:cNvPr id="106" name="Rectangle 105"/>
          <p:cNvSpPr/>
          <p:nvPr/>
        </p:nvSpPr>
        <p:spPr>
          <a:xfrm>
            <a:off x="11155680" y="4427524"/>
            <a:ext cx="155448" cy="21945"/>
          </a:xfrm>
          <a:prstGeom prst="rect">
            <a:avLst/>
          </a:prstGeom>
          <a:solidFill>
            <a:srgbClr val="9DB0BD"/>
          </a:solidFill>
          <a:ln>
            <a:noFill/>
          </a:ln>
        </p:spPr>
        <p:txBody>
          <a:bodyPr rtlCol="0" anchor="ctr"/>
          <a:lstStyle/>
          <a:p>
            <a:pPr algn="ctr"/>
          </a:p>
        </p:txBody>
      </p:sp>
      <p:sp>
        <p:nvSpPr>
          <p:cNvPr id="107" name="Rectangle 106"/>
          <p:cNvSpPr/>
          <p:nvPr/>
        </p:nvSpPr>
        <p:spPr>
          <a:xfrm>
            <a:off x="11454688" y="4427524"/>
            <a:ext cx="155448" cy="21945"/>
          </a:xfrm>
          <a:prstGeom prst="rect">
            <a:avLst/>
          </a:prstGeom>
          <a:solidFill>
            <a:srgbClr val="9DB0BD"/>
          </a:solidFill>
          <a:ln>
            <a:noFill/>
          </a:ln>
        </p:spPr>
        <p:txBody>
          <a:bodyPr rtlCol="0" anchor="ctr"/>
          <a:lstStyle/>
          <a:p>
            <a:pPr algn="ctr"/>
          </a:p>
        </p:txBody>
      </p:sp>
      <p:sp>
        <p:nvSpPr>
          <p:cNvPr id="108" name="Rectangle 107"/>
          <p:cNvSpPr/>
          <p:nvPr/>
        </p:nvSpPr>
        <p:spPr>
          <a:xfrm>
            <a:off x="11753697" y="4427524"/>
            <a:ext cx="155448" cy="21945"/>
          </a:xfrm>
          <a:prstGeom prst="rect">
            <a:avLst/>
          </a:prstGeom>
          <a:solidFill>
            <a:srgbClr val="9DB0BD"/>
          </a:solidFill>
          <a:ln>
            <a:noFill/>
          </a:ln>
        </p:spPr>
        <p:txBody>
          <a:bodyPr rtlCol="0" anchor="ctr"/>
          <a:lstStyle/>
          <a:p>
            <a:pPr algn="ctr"/>
          </a:p>
        </p:txBody>
      </p:sp>
      <p:sp>
        <p:nvSpPr>
          <p:cNvPr id="109" name="Rectangle 108"/>
          <p:cNvSpPr/>
          <p:nvPr/>
        </p:nvSpPr>
        <p:spPr>
          <a:xfrm>
            <a:off x="12052706" y="4427524"/>
            <a:ext cx="155448" cy="21945"/>
          </a:xfrm>
          <a:prstGeom prst="rect">
            <a:avLst/>
          </a:prstGeom>
          <a:solidFill>
            <a:srgbClr val="9DB0BD"/>
          </a:solidFill>
          <a:ln>
            <a:noFill/>
          </a:ln>
        </p:spPr>
        <p:txBody>
          <a:bodyPr rtlCol="0" anchor="ctr"/>
          <a:lstStyle/>
          <a:p>
            <a:pPr algn="ctr"/>
          </a:p>
        </p:txBody>
      </p:sp>
      <p:sp>
        <p:nvSpPr>
          <p:cNvPr id="110" name="Rectangle 109"/>
          <p:cNvSpPr/>
          <p:nvPr/>
        </p:nvSpPr>
        <p:spPr>
          <a:xfrm>
            <a:off x="12351715" y="4427524"/>
            <a:ext cx="155448" cy="21945"/>
          </a:xfrm>
          <a:prstGeom prst="rect">
            <a:avLst/>
          </a:prstGeom>
          <a:solidFill>
            <a:srgbClr val="9DB0BD"/>
          </a:solidFill>
          <a:ln>
            <a:noFill/>
          </a:ln>
        </p:spPr>
        <p:txBody>
          <a:bodyPr rtlCol="0" anchor="ctr"/>
          <a:lstStyle/>
          <a:p>
            <a:pPr algn="ctr"/>
          </a:p>
        </p:txBody>
      </p:sp>
      <p:sp>
        <p:nvSpPr>
          <p:cNvPr id="111" name="Rectangle 110"/>
          <p:cNvSpPr/>
          <p:nvPr/>
        </p:nvSpPr>
        <p:spPr>
          <a:xfrm>
            <a:off x="12650724" y="4427524"/>
            <a:ext cx="155448" cy="21945"/>
          </a:xfrm>
          <a:prstGeom prst="rect">
            <a:avLst/>
          </a:prstGeom>
          <a:solidFill>
            <a:srgbClr val="9DB0BD"/>
          </a:solidFill>
          <a:ln>
            <a:noFill/>
          </a:ln>
        </p:spPr>
        <p:txBody>
          <a:bodyPr rtlCol="0" anchor="ctr"/>
          <a:lstStyle/>
          <a:p>
            <a:pPr algn="ctr"/>
          </a:p>
        </p:txBody>
      </p:sp>
      <p:sp>
        <p:nvSpPr>
          <p:cNvPr id="112" name="Rectangle 111"/>
          <p:cNvSpPr/>
          <p:nvPr/>
        </p:nvSpPr>
        <p:spPr>
          <a:xfrm>
            <a:off x="12949732" y="4427524"/>
            <a:ext cx="155448" cy="21945"/>
          </a:xfrm>
          <a:prstGeom prst="rect">
            <a:avLst/>
          </a:prstGeom>
          <a:solidFill>
            <a:srgbClr val="9DB0BD"/>
          </a:solidFill>
          <a:ln>
            <a:noFill/>
          </a:ln>
        </p:spPr>
        <p:txBody>
          <a:bodyPr rtlCol="0" anchor="ctr"/>
          <a:lstStyle/>
          <a:p>
            <a:pPr algn="ctr"/>
          </a:p>
        </p:txBody>
      </p:sp>
      <p:sp>
        <p:nvSpPr>
          <p:cNvPr id="113" name="Rectangle 112"/>
          <p:cNvSpPr/>
          <p:nvPr/>
        </p:nvSpPr>
        <p:spPr>
          <a:xfrm>
            <a:off x="13248741" y="4427524"/>
            <a:ext cx="155448" cy="21945"/>
          </a:xfrm>
          <a:prstGeom prst="rect">
            <a:avLst/>
          </a:prstGeom>
          <a:solidFill>
            <a:srgbClr val="9DB0BD"/>
          </a:solidFill>
          <a:ln>
            <a:noFill/>
          </a:ln>
        </p:spPr>
        <p:txBody>
          <a:bodyPr rtlCol="0" anchor="ctr"/>
          <a:lstStyle/>
          <a:p>
            <a:pPr algn="ctr"/>
          </a:p>
        </p:txBody>
      </p:sp>
      <p:sp>
        <p:nvSpPr>
          <p:cNvPr id="114" name="Rectangle 113"/>
          <p:cNvSpPr/>
          <p:nvPr/>
        </p:nvSpPr>
        <p:spPr>
          <a:xfrm>
            <a:off x="13547750" y="4427524"/>
            <a:ext cx="155448" cy="21945"/>
          </a:xfrm>
          <a:prstGeom prst="rect">
            <a:avLst/>
          </a:prstGeom>
          <a:solidFill>
            <a:srgbClr val="9DB0BD"/>
          </a:solidFill>
          <a:ln>
            <a:noFill/>
          </a:ln>
        </p:spPr>
        <p:txBody>
          <a:bodyPr rtlCol="0" anchor="ctr"/>
          <a:lstStyle/>
          <a:p>
            <a:pPr algn="ctr"/>
          </a:p>
        </p:txBody>
      </p:sp>
      <p:sp>
        <p:nvSpPr>
          <p:cNvPr id="115" name="Rectangle 114"/>
          <p:cNvSpPr/>
          <p:nvPr/>
        </p:nvSpPr>
        <p:spPr>
          <a:xfrm>
            <a:off x="13846759" y="4427524"/>
            <a:ext cx="155448" cy="21945"/>
          </a:xfrm>
          <a:prstGeom prst="rect">
            <a:avLst/>
          </a:prstGeom>
          <a:solidFill>
            <a:srgbClr val="9DB0BD"/>
          </a:solidFill>
          <a:ln>
            <a:noFill/>
          </a:ln>
        </p:spPr>
        <p:txBody>
          <a:bodyPr rtlCol="0" anchor="ctr"/>
          <a:lstStyle/>
          <a:p>
            <a:pPr algn="ctr"/>
          </a:p>
        </p:txBody>
      </p:sp>
      <p:sp>
        <p:nvSpPr>
          <p:cNvPr id="116" name="Rectangle 115"/>
          <p:cNvSpPr/>
          <p:nvPr/>
        </p:nvSpPr>
        <p:spPr>
          <a:xfrm>
            <a:off x="14145767" y="4427524"/>
            <a:ext cx="155448" cy="21945"/>
          </a:xfrm>
          <a:prstGeom prst="rect">
            <a:avLst/>
          </a:prstGeom>
          <a:solidFill>
            <a:srgbClr val="9DB0BD"/>
          </a:solidFill>
          <a:ln>
            <a:noFill/>
          </a:ln>
        </p:spPr>
        <p:txBody>
          <a:bodyPr rtlCol="0" anchor="ctr"/>
          <a:lstStyle/>
          <a:p>
            <a:pPr algn="ctr"/>
          </a:p>
        </p:txBody>
      </p:sp>
      <p:sp>
        <p:nvSpPr>
          <p:cNvPr id="117" name="Rectangle 116"/>
          <p:cNvSpPr/>
          <p:nvPr/>
        </p:nvSpPr>
        <p:spPr>
          <a:xfrm>
            <a:off x="14444776" y="4427524"/>
            <a:ext cx="155448" cy="21945"/>
          </a:xfrm>
          <a:prstGeom prst="rect">
            <a:avLst/>
          </a:prstGeom>
          <a:solidFill>
            <a:srgbClr val="9DB0BD"/>
          </a:solidFill>
          <a:ln>
            <a:noFill/>
          </a:ln>
        </p:spPr>
        <p:txBody>
          <a:bodyPr rtlCol="0" anchor="ctr"/>
          <a:lstStyle/>
          <a:p>
            <a:pPr algn="ctr"/>
          </a:p>
        </p:txBody>
      </p:sp>
      <p:sp>
        <p:nvSpPr>
          <p:cNvPr id="118" name="Rectangle 117"/>
          <p:cNvSpPr/>
          <p:nvPr/>
        </p:nvSpPr>
        <p:spPr>
          <a:xfrm>
            <a:off x="14743785" y="4427524"/>
            <a:ext cx="155448" cy="21945"/>
          </a:xfrm>
          <a:prstGeom prst="rect">
            <a:avLst/>
          </a:prstGeom>
          <a:solidFill>
            <a:srgbClr val="9DB0BD"/>
          </a:solidFill>
          <a:ln>
            <a:noFill/>
          </a:ln>
        </p:spPr>
        <p:txBody>
          <a:bodyPr rtlCol="0" anchor="ctr"/>
          <a:lstStyle/>
          <a:p>
            <a:pPr algn="ctr"/>
          </a:p>
        </p:txBody>
      </p:sp>
      <p:sp>
        <p:nvSpPr>
          <p:cNvPr id="119" name="Rectangle 118"/>
          <p:cNvSpPr/>
          <p:nvPr/>
        </p:nvSpPr>
        <p:spPr>
          <a:xfrm>
            <a:off x="15042794" y="4427524"/>
            <a:ext cx="155448" cy="21945"/>
          </a:xfrm>
          <a:prstGeom prst="rect">
            <a:avLst/>
          </a:prstGeom>
          <a:solidFill>
            <a:srgbClr val="9DB0BD"/>
          </a:solidFill>
          <a:ln>
            <a:noFill/>
          </a:ln>
        </p:spPr>
        <p:txBody>
          <a:bodyPr rtlCol="0" anchor="ctr"/>
          <a:lstStyle/>
          <a:p>
            <a:pPr algn="ctr"/>
          </a:p>
        </p:txBody>
      </p:sp>
      <p:sp>
        <p:nvSpPr>
          <p:cNvPr id="120" name="Rectangle 119"/>
          <p:cNvSpPr/>
          <p:nvPr/>
        </p:nvSpPr>
        <p:spPr>
          <a:xfrm>
            <a:off x="15341803" y="4427524"/>
            <a:ext cx="155448" cy="21945"/>
          </a:xfrm>
          <a:prstGeom prst="rect">
            <a:avLst/>
          </a:prstGeom>
          <a:solidFill>
            <a:srgbClr val="9DB0BD"/>
          </a:solidFill>
          <a:ln>
            <a:noFill/>
          </a:ln>
        </p:spPr>
        <p:txBody>
          <a:bodyPr rtlCol="0" anchor="ctr"/>
          <a:lstStyle/>
          <a:p>
            <a:pPr algn="ctr"/>
          </a:p>
        </p:txBody>
      </p:sp>
      <p:sp>
        <p:nvSpPr>
          <p:cNvPr id="121" name="Rectangle 120"/>
          <p:cNvSpPr/>
          <p:nvPr/>
        </p:nvSpPr>
        <p:spPr>
          <a:xfrm>
            <a:off x="15640812" y="4427524"/>
            <a:ext cx="155448" cy="21945"/>
          </a:xfrm>
          <a:prstGeom prst="rect">
            <a:avLst/>
          </a:prstGeom>
          <a:solidFill>
            <a:srgbClr val="9DB0BD"/>
          </a:solidFill>
          <a:ln>
            <a:noFill/>
          </a:ln>
        </p:spPr>
        <p:txBody>
          <a:bodyPr rtlCol="0" anchor="ctr"/>
          <a:lstStyle/>
          <a:p>
            <a:pPr algn="ctr"/>
          </a:p>
        </p:txBody>
      </p:sp>
      <p:sp>
        <p:nvSpPr>
          <p:cNvPr id="122" name="Rectangle 121"/>
          <p:cNvSpPr/>
          <p:nvPr/>
        </p:nvSpPr>
        <p:spPr>
          <a:xfrm>
            <a:off x="15939820" y="4427524"/>
            <a:ext cx="155448" cy="21945"/>
          </a:xfrm>
          <a:prstGeom prst="rect">
            <a:avLst/>
          </a:prstGeom>
          <a:solidFill>
            <a:srgbClr val="9DB0BD"/>
          </a:solidFill>
          <a:ln>
            <a:noFill/>
          </a:ln>
        </p:spPr>
        <p:txBody>
          <a:bodyPr rtlCol="0" anchor="ctr"/>
          <a:lstStyle/>
          <a:p>
            <a:pPr algn="ctr"/>
          </a:p>
        </p:txBody>
      </p:sp>
      <p:sp>
        <p:nvSpPr>
          <p:cNvPr id="123" name="Rectangle 122"/>
          <p:cNvSpPr/>
          <p:nvPr/>
        </p:nvSpPr>
        <p:spPr>
          <a:xfrm>
            <a:off x="16238829" y="4427524"/>
            <a:ext cx="155448" cy="21945"/>
          </a:xfrm>
          <a:prstGeom prst="rect">
            <a:avLst/>
          </a:prstGeom>
          <a:solidFill>
            <a:srgbClr val="9DB0BD"/>
          </a:solidFill>
          <a:ln>
            <a:noFill/>
          </a:ln>
        </p:spPr>
        <p:txBody>
          <a:bodyPr rtlCol="0" anchor="ctr"/>
          <a:lstStyle/>
          <a:p>
            <a:pPr algn="ctr"/>
          </a:p>
        </p:txBody>
      </p:sp>
      <p:sp>
        <p:nvSpPr>
          <p:cNvPr id="124" name="Rectangle 123"/>
          <p:cNvSpPr/>
          <p:nvPr/>
        </p:nvSpPr>
        <p:spPr>
          <a:xfrm>
            <a:off x="16537838" y="4427524"/>
            <a:ext cx="155448" cy="21945"/>
          </a:xfrm>
          <a:prstGeom prst="rect">
            <a:avLst/>
          </a:prstGeom>
          <a:solidFill>
            <a:srgbClr val="9DB0BD"/>
          </a:solidFill>
          <a:ln>
            <a:noFill/>
          </a:ln>
        </p:spPr>
        <p:txBody>
          <a:bodyPr rtlCol="0" anchor="ctr"/>
          <a:lstStyle/>
          <a:p>
            <a:pPr algn="ctr"/>
          </a:p>
        </p:txBody>
      </p:sp>
      <p:sp>
        <p:nvSpPr>
          <p:cNvPr id="125" name="Rectangle 124"/>
          <p:cNvSpPr/>
          <p:nvPr/>
        </p:nvSpPr>
        <p:spPr>
          <a:xfrm>
            <a:off x="16836847" y="4427524"/>
            <a:ext cx="155448" cy="21945"/>
          </a:xfrm>
          <a:prstGeom prst="rect">
            <a:avLst/>
          </a:prstGeom>
          <a:solidFill>
            <a:srgbClr val="9DB0BD"/>
          </a:solidFill>
          <a:ln>
            <a:noFill/>
          </a:ln>
        </p:spPr>
        <p:txBody>
          <a:bodyPr rtlCol="0" anchor="ctr"/>
          <a:lstStyle/>
          <a:p>
            <a:pPr algn="ctr"/>
          </a:p>
        </p:txBody>
      </p:sp>
      <p:sp>
        <p:nvSpPr>
          <p:cNvPr id="126" name="Rectangle 125"/>
          <p:cNvSpPr/>
          <p:nvPr/>
        </p:nvSpPr>
        <p:spPr>
          <a:xfrm>
            <a:off x="822960" y="4777740"/>
            <a:ext cx="16642080" cy="617219"/>
          </a:xfrm>
          <a:prstGeom prst="rect">
            <a:avLst/>
          </a:prstGeom>
          <a:solidFill>
            <a:srgbClr val="F7F7F3"/>
          </a:solidFill>
          <a:ln>
            <a:noFill/>
          </a:ln>
        </p:spPr>
        <p:txBody>
          <a:bodyPr rtlCol="0" anchor="ctr"/>
          <a:lstStyle/>
          <a:p>
            <a:pPr algn="ctr"/>
          </a:p>
        </p:txBody>
      </p:sp>
      <p:sp>
        <p:nvSpPr>
          <p:cNvPr id="127" name="TextBox 126"/>
          <p:cNvSpPr txBox="1"/>
          <p:nvPr/>
        </p:nvSpPr>
        <p:spPr>
          <a:xfrm>
            <a:off x="905256" y="4896612"/>
            <a:ext cx="1207008" cy="274320"/>
          </a:xfrm>
          <a:prstGeom prst="rect">
            <a:avLst/>
          </a:prstGeom>
          <a:noFill/>
        </p:spPr>
        <p:txBody>
          <a:bodyPr wrap="square" lIns="0" rIns="0" tIns="0" bIns="0">
            <a:spAutoFit/>
          </a:bodyPr>
          <a:lstStyle/>
          <a:p>
            <a:pPr>
              <a:lnSpc>
                <a:spcPts val="1722"/>
              </a:lnSpc>
              <a:spcBef>
                <a:spcPts val="0"/>
              </a:spcBef>
              <a:spcAft>
                <a:spcPts val="0"/>
              </a:spcAft>
              <a:defRPr sz="1400" b="1">
                <a:solidFill>
                  <a:srgbClr val="FF6633"/>
                </a:solidFill>
                <a:latin typeface="Montserrat"/>
              </a:defRPr>
            </a:pPr>
          </a:p>
        </p:txBody>
      </p:sp>
      <p:sp>
        <p:nvSpPr>
          <p:cNvPr id="128" name="TextBox 127"/>
          <p:cNvSpPr txBox="1"/>
          <p:nvPr/>
        </p:nvSpPr>
        <p:spPr>
          <a:xfrm>
            <a:off x="2157984" y="4841748"/>
            <a:ext cx="5687568" cy="640080"/>
          </a:xfrm>
          <a:prstGeom prst="rect">
            <a:avLst/>
          </a:prstGeom>
          <a:noFill/>
        </p:spPr>
        <p:txBody>
          <a:bodyPr wrap="square" lIns="0" rIns="0" tIns="0" bIns="0">
            <a:spAutoFit/>
          </a:bodyPr>
          <a:lstStyle/>
          <a:p>
            <a:pPr>
              <a:lnSpc>
                <a:spcPts val="2350"/>
              </a:lnSpc>
              <a:spcBef>
                <a:spcPts val="0"/>
              </a:spcBef>
              <a:spcAft>
                <a:spcPts val="0"/>
              </a:spcAft>
              <a:defRPr sz="2400" b="0">
                <a:solidFill>
                  <a:srgbClr val="002C49"/>
                </a:solidFill>
                <a:latin typeface="Montserrat"/>
              </a:defRPr>
            </a:pPr>
            <a:r>
              <a:t>Kit Business Partner par pôle /</a:t>
            </a:r>
          </a:p>
          <a:p>
            <a:pPr>
              <a:lnSpc>
                <a:spcPts val="2350"/>
              </a:lnSpc>
              <a:spcBef>
                <a:spcPts val="0"/>
              </a:spcBef>
              <a:spcAft>
                <a:spcPts val="0"/>
              </a:spcAft>
              <a:defRPr sz="2400" b="0">
                <a:solidFill>
                  <a:srgbClr val="002C49"/>
                </a:solidFill>
                <a:latin typeface="Montserrat"/>
              </a:defRPr>
            </a:pPr>
            <a:r>
              <a:t>Valorisation du cross-sell</a:t>
            </a:r>
          </a:p>
        </p:txBody>
      </p:sp>
      <p:cxnSp>
        <p:nvCxnSpPr>
          <p:cNvPr id="129" name="Connector 128"/>
          <p:cNvCxnSpPr/>
          <p:nvPr/>
        </p:nvCxnSpPr>
        <p:spPr>
          <a:xfrm>
            <a:off x="8101583" y="4777740"/>
            <a:ext cx="0" cy="640080"/>
          </a:xfrm>
          <a:prstGeom prst="line">
            <a:avLst/>
          </a:prstGeom>
          <a:ln w="8255">
            <a:solidFill>
              <a:srgbClr val="D9E2E7"/>
            </a:solidFill>
          </a:ln>
        </p:spPr>
      </p:cxnSp>
      <p:cxnSp>
        <p:nvCxnSpPr>
          <p:cNvPr id="130" name="Connector 129"/>
          <p:cNvCxnSpPr/>
          <p:nvPr/>
        </p:nvCxnSpPr>
        <p:spPr>
          <a:xfrm>
            <a:off x="8865108" y="4777740"/>
            <a:ext cx="0" cy="640080"/>
          </a:xfrm>
          <a:prstGeom prst="line">
            <a:avLst/>
          </a:prstGeom>
          <a:ln w="8255">
            <a:solidFill>
              <a:srgbClr val="D9E2E7"/>
            </a:solidFill>
          </a:ln>
        </p:spPr>
      </p:cxnSp>
      <p:cxnSp>
        <p:nvCxnSpPr>
          <p:cNvPr id="131" name="Connector 130"/>
          <p:cNvCxnSpPr/>
          <p:nvPr/>
        </p:nvCxnSpPr>
        <p:spPr>
          <a:xfrm>
            <a:off x="9628632" y="4777740"/>
            <a:ext cx="0" cy="640080"/>
          </a:xfrm>
          <a:prstGeom prst="line">
            <a:avLst/>
          </a:prstGeom>
          <a:ln w="8255">
            <a:solidFill>
              <a:srgbClr val="D9E2E7"/>
            </a:solidFill>
          </a:ln>
        </p:spPr>
      </p:cxnSp>
      <p:cxnSp>
        <p:nvCxnSpPr>
          <p:cNvPr id="132" name="Connector 131"/>
          <p:cNvCxnSpPr/>
          <p:nvPr/>
        </p:nvCxnSpPr>
        <p:spPr>
          <a:xfrm>
            <a:off x="10392155" y="4777740"/>
            <a:ext cx="0" cy="640080"/>
          </a:xfrm>
          <a:prstGeom prst="line">
            <a:avLst/>
          </a:prstGeom>
          <a:ln w="8255">
            <a:solidFill>
              <a:srgbClr val="D9E2E7"/>
            </a:solidFill>
          </a:ln>
        </p:spPr>
      </p:cxnSp>
      <p:cxnSp>
        <p:nvCxnSpPr>
          <p:cNvPr id="133" name="Connector 132"/>
          <p:cNvCxnSpPr/>
          <p:nvPr/>
        </p:nvCxnSpPr>
        <p:spPr>
          <a:xfrm>
            <a:off x="11155680" y="4777740"/>
            <a:ext cx="0" cy="640080"/>
          </a:xfrm>
          <a:prstGeom prst="line">
            <a:avLst/>
          </a:prstGeom>
          <a:ln w="8255">
            <a:solidFill>
              <a:srgbClr val="D9E2E7"/>
            </a:solidFill>
          </a:ln>
        </p:spPr>
      </p:cxnSp>
      <p:cxnSp>
        <p:nvCxnSpPr>
          <p:cNvPr id="134" name="Connector 133"/>
          <p:cNvCxnSpPr/>
          <p:nvPr/>
        </p:nvCxnSpPr>
        <p:spPr>
          <a:xfrm>
            <a:off x="11919204" y="4777740"/>
            <a:ext cx="0" cy="640080"/>
          </a:xfrm>
          <a:prstGeom prst="line">
            <a:avLst/>
          </a:prstGeom>
          <a:ln w="8255">
            <a:solidFill>
              <a:srgbClr val="D9E2E7"/>
            </a:solidFill>
          </a:ln>
        </p:spPr>
      </p:cxnSp>
      <p:cxnSp>
        <p:nvCxnSpPr>
          <p:cNvPr id="135" name="Connector 134"/>
          <p:cNvCxnSpPr/>
          <p:nvPr/>
        </p:nvCxnSpPr>
        <p:spPr>
          <a:xfrm>
            <a:off x="12682728" y="4777740"/>
            <a:ext cx="0" cy="640080"/>
          </a:xfrm>
          <a:prstGeom prst="line">
            <a:avLst/>
          </a:prstGeom>
          <a:ln w="8255">
            <a:solidFill>
              <a:srgbClr val="D9E2E7"/>
            </a:solidFill>
          </a:ln>
        </p:spPr>
      </p:cxnSp>
      <p:cxnSp>
        <p:nvCxnSpPr>
          <p:cNvPr id="136" name="Connector 135"/>
          <p:cNvCxnSpPr/>
          <p:nvPr/>
        </p:nvCxnSpPr>
        <p:spPr>
          <a:xfrm>
            <a:off x="13446251" y="4777740"/>
            <a:ext cx="0" cy="640080"/>
          </a:xfrm>
          <a:prstGeom prst="line">
            <a:avLst/>
          </a:prstGeom>
          <a:ln w="8255">
            <a:solidFill>
              <a:srgbClr val="D9E2E7"/>
            </a:solidFill>
          </a:ln>
        </p:spPr>
      </p:cxnSp>
      <p:cxnSp>
        <p:nvCxnSpPr>
          <p:cNvPr id="137" name="Connector 136"/>
          <p:cNvCxnSpPr/>
          <p:nvPr/>
        </p:nvCxnSpPr>
        <p:spPr>
          <a:xfrm>
            <a:off x="14209776" y="4777740"/>
            <a:ext cx="0" cy="640080"/>
          </a:xfrm>
          <a:prstGeom prst="line">
            <a:avLst/>
          </a:prstGeom>
          <a:ln w="8255">
            <a:solidFill>
              <a:srgbClr val="D9E2E7"/>
            </a:solidFill>
          </a:ln>
        </p:spPr>
      </p:cxnSp>
      <p:cxnSp>
        <p:nvCxnSpPr>
          <p:cNvPr id="138" name="Connector 137"/>
          <p:cNvCxnSpPr/>
          <p:nvPr/>
        </p:nvCxnSpPr>
        <p:spPr>
          <a:xfrm>
            <a:off x="14973300" y="4777740"/>
            <a:ext cx="0" cy="640080"/>
          </a:xfrm>
          <a:prstGeom prst="line">
            <a:avLst/>
          </a:prstGeom>
          <a:ln w="8255">
            <a:solidFill>
              <a:srgbClr val="D9E2E7"/>
            </a:solidFill>
          </a:ln>
        </p:spPr>
      </p:cxnSp>
      <p:cxnSp>
        <p:nvCxnSpPr>
          <p:cNvPr id="139" name="Connector 138"/>
          <p:cNvCxnSpPr/>
          <p:nvPr/>
        </p:nvCxnSpPr>
        <p:spPr>
          <a:xfrm>
            <a:off x="15736824" y="4777740"/>
            <a:ext cx="0" cy="640080"/>
          </a:xfrm>
          <a:prstGeom prst="line">
            <a:avLst/>
          </a:prstGeom>
          <a:ln w="8255">
            <a:solidFill>
              <a:srgbClr val="D9E2E7"/>
            </a:solidFill>
          </a:ln>
        </p:spPr>
      </p:cxnSp>
      <p:cxnSp>
        <p:nvCxnSpPr>
          <p:cNvPr id="140" name="Connector 139"/>
          <p:cNvCxnSpPr/>
          <p:nvPr/>
        </p:nvCxnSpPr>
        <p:spPr>
          <a:xfrm>
            <a:off x="16500347" y="4777740"/>
            <a:ext cx="0" cy="640080"/>
          </a:xfrm>
          <a:prstGeom prst="line">
            <a:avLst/>
          </a:prstGeom>
          <a:ln w="8255">
            <a:solidFill>
              <a:srgbClr val="D9E2E7"/>
            </a:solidFill>
          </a:ln>
        </p:spPr>
      </p:cxnSp>
      <p:cxnSp>
        <p:nvCxnSpPr>
          <p:cNvPr id="141" name="Connector 140"/>
          <p:cNvCxnSpPr/>
          <p:nvPr/>
        </p:nvCxnSpPr>
        <p:spPr>
          <a:xfrm>
            <a:off x="17263872" y="4777740"/>
            <a:ext cx="0" cy="640080"/>
          </a:xfrm>
          <a:prstGeom prst="line">
            <a:avLst/>
          </a:prstGeom>
          <a:ln w="8255">
            <a:solidFill>
              <a:srgbClr val="D9E2E7"/>
            </a:solidFill>
          </a:ln>
        </p:spPr>
      </p:cxnSp>
      <p:sp>
        <p:nvSpPr>
          <p:cNvPr id="142" name="Rectangle 141"/>
          <p:cNvSpPr/>
          <p:nvPr/>
        </p:nvSpPr>
        <p:spPr>
          <a:xfrm>
            <a:off x="8165592" y="5067604"/>
            <a:ext cx="155448" cy="21945"/>
          </a:xfrm>
          <a:prstGeom prst="rect">
            <a:avLst/>
          </a:prstGeom>
          <a:solidFill>
            <a:srgbClr val="9DB0BD"/>
          </a:solidFill>
          <a:ln>
            <a:noFill/>
          </a:ln>
        </p:spPr>
        <p:txBody>
          <a:bodyPr rtlCol="0" anchor="ctr"/>
          <a:lstStyle/>
          <a:p>
            <a:pPr algn="ctr"/>
          </a:p>
        </p:txBody>
      </p:sp>
      <p:sp>
        <p:nvSpPr>
          <p:cNvPr id="143" name="Rectangle 142"/>
          <p:cNvSpPr/>
          <p:nvPr/>
        </p:nvSpPr>
        <p:spPr>
          <a:xfrm>
            <a:off x="8464600" y="5067604"/>
            <a:ext cx="155448" cy="21945"/>
          </a:xfrm>
          <a:prstGeom prst="rect">
            <a:avLst/>
          </a:prstGeom>
          <a:solidFill>
            <a:srgbClr val="9DB0BD"/>
          </a:solidFill>
          <a:ln>
            <a:noFill/>
          </a:ln>
        </p:spPr>
        <p:txBody>
          <a:bodyPr rtlCol="0" anchor="ctr"/>
          <a:lstStyle/>
          <a:p>
            <a:pPr algn="ctr"/>
          </a:p>
        </p:txBody>
      </p:sp>
      <p:sp>
        <p:nvSpPr>
          <p:cNvPr id="144" name="Rectangle 143"/>
          <p:cNvSpPr/>
          <p:nvPr/>
        </p:nvSpPr>
        <p:spPr>
          <a:xfrm>
            <a:off x="8763609" y="5067604"/>
            <a:ext cx="155448" cy="21945"/>
          </a:xfrm>
          <a:prstGeom prst="rect">
            <a:avLst/>
          </a:prstGeom>
          <a:solidFill>
            <a:srgbClr val="9DB0BD"/>
          </a:solidFill>
          <a:ln>
            <a:noFill/>
          </a:ln>
        </p:spPr>
        <p:txBody>
          <a:bodyPr rtlCol="0" anchor="ctr"/>
          <a:lstStyle/>
          <a:p>
            <a:pPr algn="ctr"/>
          </a:p>
        </p:txBody>
      </p:sp>
      <p:sp>
        <p:nvSpPr>
          <p:cNvPr id="145" name="Rectangle 144"/>
          <p:cNvSpPr/>
          <p:nvPr/>
        </p:nvSpPr>
        <p:spPr>
          <a:xfrm>
            <a:off x="9062618" y="5067604"/>
            <a:ext cx="155448" cy="21945"/>
          </a:xfrm>
          <a:prstGeom prst="rect">
            <a:avLst/>
          </a:prstGeom>
          <a:solidFill>
            <a:srgbClr val="9DB0BD"/>
          </a:solidFill>
          <a:ln>
            <a:noFill/>
          </a:ln>
        </p:spPr>
        <p:txBody>
          <a:bodyPr rtlCol="0" anchor="ctr"/>
          <a:lstStyle/>
          <a:p>
            <a:pPr algn="ctr"/>
          </a:p>
        </p:txBody>
      </p:sp>
      <p:sp>
        <p:nvSpPr>
          <p:cNvPr id="146" name="Rectangle 145"/>
          <p:cNvSpPr/>
          <p:nvPr/>
        </p:nvSpPr>
        <p:spPr>
          <a:xfrm>
            <a:off x="9361627" y="5067604"/>
            <a:ext cx="155448" cy="21945"/>
          </a:xfrm>
          <a:prstGeom prst="rect">
            <a:avLst/>
          </a:prstGeom>
          <a:solidFill>
            <a:srgbClr val="9DB0BD"/>
          </a:solidFill>
          <a:ln>
            <a:noFill/>
          </a:ln>
        </p:spPr>
        <p:txBody>
          <a:bodyPr rtlCol="0" anchor="ctr"/>
          <a:lstStyle/>
          <a:p>
            <a:pPr algn="ctr"/>
          </a:p>
        </p:txBody>
      </p:sp>
      <p:sp>
        <p:nvSpPr>
          <p:cNvPr id="147" name="Rectangle 146"/>
          <p:cNvSpPr/>
          <p:nvPr/>
        </p:nvSpPr>
        <p:spPr>
          <a:xfrm>
            <a:off x="9660636" y="5067604"/>
            <a:ext cx="155448" cy="21945"/>
          </a:xfrm>
          <a:prstGeom prst="rect">
            <a:avLst/>
          </a:prstGeom>
          <a:solidFill>
            <a:srgbClr val="9DB0BD"/>
          </a:solidFill>
          <a:ln>
            <a:noFill/>
          </a:ln>
        </p:spPr>
        <p:txBody>
          <a:bodyPr rtlCol="0" anchor="ctr"/>
          <a:lstStyle/>
          <a:p>
            <a:pPr algn="ctr"/>
          </a:p>
        </p:txBody>
      </p:sp>
      <p:sp>
        <p:nvSpPr>
          <p:cNvPr id="148" name="Rectangle 147"/>
          <p:cNvSpPr/>
          <p:nvPr/>
        </p:nvSpPr>
        <p:spPr>
          <a:xfrm>
            <a:off x="9959644" y="5067604"/>
            <a:ext cx="155448" cy="21945"/>
          </a:xfrm>
          <a:prstGeom prst="rect">
            <a:avLst/>
          </a:prstGeom>
          <a:solidFill>
            <a:srgbClr val="9DB0BD"/>
          </a:solidFill>
          <a:ln>
            <a:noFill/>
          </a:ln>
        </p:spPr>
        <p:txBody>
          <a:bodyPr rtlCol="0" anchor="ctr"/>
          <a:lstStyle/>
          <a:p>
            <a:pPr algn="ctr"/>
          </a:p>
        </p:txBody>
      </p:sp>
      <p:sp>
        <p:nvSpPr>
          <p:cNvPr id="149" name="Rectangle 148"/>
          <p:cNvSpPr/>
          <p:nvPr/>
        </p:nvSpPr>
        <p:spPr>
          <a:xfrm>
            <a:off x="10258653" y="5067604"/>
            <a:ext cx="155448" cy="21945"/>
          </a:xfrm>
          <a:prstGeom prst="rect">
            <a:avLst/>
          </a:prstGeom>
          <a:solidFill>
            <a:srgbClr val="9DB0BD"/>
          </a:solidFill>
          <a:ln>
            <a:noFill/>
          </a:ln>
        </p:spPr>
        <p:txBody>
          <a:bodyPr rtlCol="0" anchor="ctr"/>
          <a:lstStyle/>
          <a:p>
            <a:pPr algn="ctr"/>
          </a:p>
        </p:txBody>
      </p:sp>
      <p:sp>
        <p:nvSpPr>
          <p:cNvPr id="150" name="Rectangle 149"/>
          <p:cNvSpPr/>
          <p:nvPr/>
        </p:nvSpPr>
        <p:spPr>
          <a:xfrm>
            <a:off x="10557662" y="5067604"/>
            <a:ext cx="155448" cy="21945"/>
          </a:xfrm>
          <a:prstGeom prst="rect">
            <a:avLst/>
          </a:prstGeom>
          <a:solidFill>
            <a:srgbClr val="9DB0BD"/>
          </a:solidFill>
          <a:ln>
            <a:noFill/>
          </a:ln>
        </p:spPr>
        <p:txBody>
          <a:bodyPr rtlCol="0" anchor="ctr"/>
          <a:lstStyle/>
          <a:p>
            <a:pPr algn="ctr"/>
          </a:p>
        </p:txBody>
      </p:sp>
      <p:sp>
        <p:nvSpPr>
          <p:cNvPr id="151" name="Rectangle 150"/>
          <p:cNvSpPr/>
          <p:nvPr/>
        </p:nvSpPr>
        <p:spPr>
          <a:xfrm>
            <a:off x="10856671" y="5067604"/>
            <a:ext cx="155448" cy="21945"/>
          </a:xfrm>
          <a:prstGeom prst="rect">
            <a:avLst/>
          </a:prstGeom>
          <a:solidFill>
            <a:srgbClr val="9DB0BD"/>
          </a:solidFill>
          <a:ln>
            <a:noFill/>
          </a:ln>
        </p:spPr>
        <p:txBody>
          <a:bodyPr rtlCol="0" anchor="ctr"/>
          <a:lstStyle/>
          <a:p>
            <a:pPr algn="ctr"/>
          </a:p>
        </p:txBody>
      </p:sp>
      <p:sp>
        <p:nvSpPr>
          <p:cNvPr id="152" name="Rectangle 151"/>
          <p:cNvSpPr/>
          <p:nvPr/>
        </p:nvSpPr>
        <p:spPr>
          <a:xfrm>
            <a:off x="11155680" y="5067604"/>
            <a:ext cx="155448" cy="21945"/>
          </a:xfrm>
          <a:prstGeom prst="rect">
            <a:avLst/>
          </a:prstGeom>
          <a:solidFill>
            <a:srgbClr val="9DB0BD"/>
          </a:solidFill>
          <a:ln>
            <a:noFill/>
          </a:ln>
        </p:spPr>
        <p:txBody>
          <a:bodyPr rtlCol="0" anchor="ctr"/>
          <a:lstStyle/>
          <a:p>
            <a:pPr algn="ctr"/>
          </a:p>
        </p:txBody>
      </p:sp>
      <p:sp>
        <p:nvSpPr>
          <p:cNvPr id="153" name="Rectangle 152"/>
          <p:cNvSpPr/>
          <p:nvPr/>
        </p:nvSpPr>
        <p:spPr>
          <a:xfrm>
            <a:off x="11454688" y="5067604"/>
            <a:ext cx="155448" cy="21945"/>
          </a:xfrm>
          <a:prstGeom prst="rect">
            <a:avLst/>
          </a:prstGeom>
          <a:solidFill>
            <a:srgbClr val="9DB0BD"/>
          </a:solidFill>
          <a:ln>
            <a:noFill/>
          </a:ln>
        </p:spPr>
        <p:txBody>
          <a:bodyPr rtlCol="0" anchor="ctr"/>
          <a:lstStyle/>
          <a:p>
            <a:pPr algn="ctr"/>
          </a:p>
        </p:txBody>
      </p:sp>
      <p:sp>
        <p:nvSpPr>
          <p:cNvPr id="154" name="Rectangle 153"/>
          <p:cNvSpPr/>
          <p:nvPr/>
        </p:nvSpPr>
        <p:spPr>
          <a:xfrm>
            <a:off x="11753697" y="5067604"/>
            <a:ext cx="155448" cy="21945"/>
          </a:xfrm>
          <a:prstGeom prst="rect">
            <a:avLst/>
          </a:prstGeom>
          <a:solidFill>
            <a:srgbClr val="9DB0BD"/>
          </a:solidFill>
          <a:ln>
            <a:noFill/>
          </a:ln>
        </p:spPr>
        <p:txBody>
          <a:bodyPr rtlCol="0" anchor="ctr"/>
          <a:lstStyle/>
          <a:p>
            <a:pPr algn="ctr"/>
          </a:p>
        </p:txBody>
      </p:sp>
      <p:sp>
        <p:nvSpPr>
          <p:cNvPr id="155" name="Rectangle 154"/>
          <p:cNvSpPr/>
          <p:nvPr/>
        </p:nvSpPr>
        <p:spPr>
          <a:xfrm>
            <a:off x="12052706" y="5067604"/>
            <a:ext cx="155448" cy="21945"/>
          </a:xfrm>
          <a:prstGeom prst="rect">
            <a:avLst/>
          </a:prstGeom>
          <a:solidFill>
            <a:srgbClr val="9DB0BD"/>
          </a:solidFill>
          <a:ln>
            <a:noFill/>
          </a:ln>
        </p:spPr>
        <p:txBody>
          <a:bodyPr rtlCol="0" anchor="ctr"/>
          <a:lstStyle/>
          <a:p>
            <a:pPr algn="ctr"/>
          </a:p>
        </p:txBody>
      </p:sp>
      <p:sp>
        <p:nvSpPr>
          <p:cNvPr id="156" name="Rectangle 155"/>
          <p:cNvSpPr/>
          <p:nvPr/>
        </p:nvSpPr>
        <p:spPr>
          <a:xfrm>
            <a:off x="12351715" y="5067604"/>
            <a:ext cx="155448" cy="21945"/>
          </a:xfrm>
          <a:prstGeom prst="rect">
            <a:avLst/>
          </a:prstGeom>
          <a:solidFill>
            <a:srgbClr val="9DB0BD"/>
          </a:solidFill>
          <a:ln>
            <a:noFill/>
          </a:ln>
        </p:spPr>
        <p:txBody>
          <a:bodyPr rtlCol="0" anchor="ctr"/>
          <a:lstStyle/>
          <a:p>
            <a:pPr algn="ctr"/>
          </a:p>
        </p:txBody>
      </p:sp>
      <p:sp>
        <p:nvSpPr>
          <p:cNvPr id="157" name="Rectangle 156"/>
          <p:cNvSpPr/>
          <p:nvPr/>
        </p:nvSpPr>
        <p:spPr>
          <a:xfrm>
            <a:off x="12650724" y="5067604"/>
            <a:ext cx="155448" cy="21945"/>
          </a:xfrm>
          <a:prstGeom prst="rect">
            <a:avLst/>
          </a:prstGeom>
          <a:solidFill>
            <a:srgbClr val="9DB0BD"/>
          </a:solidFill>
          <a:ln>
            <a:noFill/>
          </a:ln>
        </p:spPr>
        <p:txBody>
          <a:bodyPr rtlCol="0" anchor="ctr"/>
          <a:lstStyle/>
          <a:p>
            <a:pPr algn="ctr"/>
          </a:p>
        </p:txBody>
      </p:sp>
      <p:sp>
        <p:nvSpPr>
          <p:cNvPr id="158" name="Rectangle 157"/>
          <p:cNvSpPr/>
          <p:nvPr/>
        </p:nvSpPr>
        <p:spPr>
          <a:xfrm>
            <a:off x="12949732" y="5067604"/>
            <a:ext cx="155448" cy="21945"/>
          </a:xfrm>
          <a:prstGeom prst="rect">
            <a:avLst/>
          </a:prstGeom>
          <a:solidFill>
            <a:srgbClr val="9DB0BD"/>
          </a:solidFill>
          <a:ln>
            <a:noFill/>
          </a:ln>
        </p:spPr>
        <p:txBody>
          <a:bodyPr rtlCol="0" anchor="ctr"/>
          <a:lstStyle/>
          <a:p>
            <a:pPr algn="ctr"/>
          </a:p>
        </p:txBody>
      </p:sp>
      <p:sp>
        <p:nvSpPr>
          <p:cNvPr id="159" name="Rectangle 158"/>
          <p:cNvSpPr/>
          <p:nvPr/>
        </p:nvSpPr>
        <p:spPr>
          <a:xfrm>
            <a:off x="13248741" y="5067604"/>
            <a:ext cx="155448" cy="21945"/>
          </a:xfrm>
          <a:prstGeom prst="rect">
            <a:avLst/>
          </a:prstGeom>
          <a:solidFill>
            <a:srgbClr val="9DB0BD"/>
          </a:solidFill>
          <a:ln>
            <a:noFill/>
          </a:ln>
        </p:spPr>
        <p:txBody>
          <a:bodyPr rtlCol="0" anchor="ctr"/>
          <a:lstStyle/>
          <a:p>
            <a:pPr algn="ctr"/>
          </a:p>
        </p:txBody>
      </p:sp>
      <p:sp>
        <p:nvSpPr>
          <p:cNvPr id="160" name="Rectangle 159"/>
          <p:cNvSpPr/>
          <p:nvPr/>
        </p:nvSpPr>
        <p:spPr>
          <a:xfrm>
            <a:off x="13547750" y="5067604"/>
            <a:ext cx="155448" cy="21945"/>
          </a:xfrm>
          <a:prstGeom prst="rect">
            <a:avLst/>
          </a:prstGeom>
          <a:solidFill>
            <a:srgbClr val="9DB0BD"/>
          </a:solidFill>
          <a:ln>
            <a:noFill/>
          </a:ln>
        </p:spPr>
        <p:txBody>
          <a:bodyPr rtlCol="0" anchor="ctr"/>
          <a:lstStyle/>
          <a:p>
            <a:pPr algn="ctr"/>
          </a:p>
        </p:txBody>
      </p:sp>
      <p:sp>
        <p:nvSpPr>
          <p:cNvPr id="161" name="Rectangle 160"/>
          <p:cNvSpPr/>
          <p:nvPr/>
        </p:nvSpPr>
        <p:spPr>
          <a:xfrm>
            <a:off x="13846759" y="5067604"/>
            <a:ext cx="155448" cy="21945"/>
          </a:xfrm>
          <a:prstGeom prst="rect">
            <a:avLst/>
          </a:prstGeom>
          <a:solidFill>
            <a:srgbClr val="9DB0BD"/>
          </a:solidFill>
          <a:ln>
            <a:noFill/>
          </a:ln>
        </p:spPr>
        <p:txBody>
          <a:bodyPr rtlCol="0" anchor="ctr"/>
          <a:lstStyle/>
          <a:p>
            <a:pPr algn="ctr"/>
          </a:p>
        </p:txBody>
      </p:sp>
      <p:sp>
        <p:nvSpPr>
          <p:cNvPr id="162" name="Rectangle 161"/>
          <p:cNvSpPr/>
          <p:nvPr/>
        </p:nvSpPr>
        <p:spPr>
          <a:xfrm>
            <a:off x="14145767" y="5067604"/>
            <a:ext cx="155448" cy="21945"/>
          </a:xfrm>
          <a:prstGeom prst="rect">
            <a:avLst/>
          </a:prstGeom>
          <a:solidFill>
            <a:srgbClr val="9DB0BD"/>
          </a:solidFill>
          <a:ln>
            <a:noFill/>
          </a:ln>
        </p:spPr>
        <p:txBody>
          <a:bodyPr rtlCol="0" anchor="ctr"/>
          <a:lstStyle/>
          <a:p>
            <a:pPr algn="ctr"/>
          </a:p>
        </p:txBody>
      </p:sp>
      <p:sp>
        <p:nvSpPr>
          <p:cNvPr id="163" name="Rectangle 162"/>
          <p:cNvSpPr/>
          <p:nvPr/>
        </p:nvSpPr>
        <p:spPr>
          <a:xfrm>
            <a:off x="14444776" y="5067604"/>
            <a:ext cx="155448" cy="21945"/>
          </a:xfrm>
          <a:prstGeom prst="rect">
            <a:avLst/>
          </a:prstGeom>
          <a:solidFill>
            <a:srgbClr val="9DB0BD"/>
          </a:solidFill>
          <a:ln>
            <a:noFill/>
          </a:ln>
        </p:spPr>
        <p:txBody>
          <a:bodyPr rtlCol="0" anchor="ctr"/>
          <a:lstStyle/>
          <a:p>
            <a:pPr algn="ctr"/>
          </a:p>
        </p:txBody>
      </p:sp>
      <p:sp>
        <p:nvSpPr>
          <p:cNvPr id="164" name="Rectangle 163"/>
          <p:cNvSpPr/>
          <p:nvPr/>
        </p:nvSpPr>
        <p:spPr>
          <a:xfrm>
            <a:off x="14743785" y="5067604"/>
            <a:ext cx="155448" cy="21945"/>
          </a:xfrm>
          <a:prstGeom prst="rect">
            <a:avLst/>
          </a:prstGeom>
          <a:solidFill>
            <a:srgbClr val="9DB0BD"/>
          </a:solidFill>
          <a:ln>
            <a:noFill/>
          </a:ln>
        </p:spPr>
        <p:txBody>
          <a:bodyPr rtlCol="0" anchor="ctr"/>
          <a:lstStyle/>
          <a:p>
            <a:pPr algn="ctr"/>
          </a:p>
        </p:txBody>
      </p:sp>
      <p:sp>
        <p:nvSpPr>
          <p:cNvPr id="165" name="Rectangle 164"/>
          <p:cNvSpPr/>
          <p:nvPr/>
        </p:nvSpPr>
        <p:spPr>
          <a:xfrm>
            <a:off x="15042794" y="5067604"/>
            <a:ext cx="155448" cy="21945"/>
          </a:xfrm>
          <a:prstGeom prst="rect">
            <a:avLst/>
          </a:prstGeom>
          <a:solidFill>
            <a:srgbClr val="9DB0BD"/>
          </a:solidFill>
          <a:ln>
            <a:noFill/>
          </a:ln>
        </p:spPr>
        <p:txBody>
          <a:bodyPr rtlCol="0" anchor="ctr"/>
          <a:lstStyle/>
          <a:p>
            <a:pPr algn="ctr"/>
          </a:p>
        </p:txBody>
      </p:sp>
      <p:sp>
        <p:nvSpPr>
          <p:cNvPr id="166" name="Rectangle 165"/>
          <p:cNvSpPr/>
          <p:nvPr/>
        </p:nvSpPr>
        <p:spPr>
          <a:xfrm>
            <a:off x="15341803" y="5067604"/>
            <a:ext cx="155448" cy="21945"/>
          </a:xfrm>
          <a:prstGeom prst="rect">
            <a:avLst/>
          </a:prstGeom>
          <a:solidFill>
            <a:srgbClr val="9DB0BD"/>
          </a:solidFill>
          <a:ln>
            <a:noFill/>
          </a:ln>
        </p:spPr>
        <p:txBody>
          <a:bodyPr rtlCol="0" anchor="ctr"/>
          <a:lstStyle/>
          <a:p>
            <a:pPr algn="ctr"/>
          </a:p>
        </p:txBody>
      </p:sp>
      <p:sp>
        <p:nvSpPr>
          <p:cNvPr id="167" name="Rectangle 166"/>
          <p:cNvSpPr/>
          <p:nvPr/>
        </p:nvSpPr>
        <p:spPr>
          <a:xfrm>
            <a:off x="15640812" y="5067604"/>
            <a:ext cx="155448" cy="21945"/>
          </a:xfrm>
          <a:prstGeom prst="rect">
            <a:avLst/>
          </a:prstGeom>
          <a:solidFill>
            <a:srgbClr val="9DB0BD"/>
          </a:solidFill>
          <a:ln>
            <a:noFill/>
          </a:ln>
        </p:spPr>
        <p:txBody>
          <a:bodyPr rtlCol="0" anchor="ctr"/>
          <a:lstStyle/>
          <a:p>
            <a:pPr algn="ctr"/>
          </a:p>
        </p:txBody>
      </p:sp>
      <p:sp>
        <p:nvSpPr>
          <p:cNvPr id="168" name="Rectangle 167"/>
          <p:cNvSpPr/>
          <p:nvPr/>
        </p:nvSpPr>
        <p:spPr>
          <a:xfrm>
            <a:off x="15939820" y="5067604"/>
            <a:ext cx="155448" cy="21945"/>
          </a:xfrm>
          <a:prstGeom prst="rect">
            <a:avLst/>
          </a:prstGeom>
          <a:solidFill>
            <a:srgbClr val="9DB0BD"/>
          </a:solidFill>
          <a:ln>
            <a:noFill/>
          </a:ln>
        </p:spPr>
        <p:txBody>
          <a:bodyPr rtlCol="0" anchor="ctr"/>
          <a:lstStyle/>
          <a:p>
            <a:pPr algn="ctr"/>
          </a:p>
        </p:txBody>
      </p:sp>
      <p:sp>
        <p:nvSpPr>
          <p:cNvPr id="169" name="Rectangle 168"/>
          <p:cNvSpPr/>
          <p:nvPr/>
        </p:nvSpPr>
        <p:spPr>
          <a:xfrm>
            <a:off x="16238829" y="5067604"/>
            <a:ext cx="155448" cy="21945"/>
          </a:xfrm>
          <a:prstGeom prst="rect">
            <a:avLst/>
          </a:prstGeom>
          <a:solidFill>
            <a:srgbClr val="9DB0BD"/>
          </a:solidFill>
          <a:ln>
            <a:noFill/>
          </a:ln>
        </p:spPr>
        <p:txBody>
          <a:bodyPr rtlCol="0" anchor="ctr"/>
          <a:lstStyle/>
          <a:p>
            <a:pPr algn="ctr"/>
          </a:p>
        </p:txBody>
      </p:sp>
      <p:sp>
        <p:nvSpPr>
          <p:cNvPr id="170" name="Rectangle 169"/>
          <p:cNvSpPr/>
          <p:nvPr/>
        </p:nvSpPr>
        <p:spPr>
          <a:xfrm>
            <a:off x="16537838" y="5067604"/>
            <a:ext cx="155448" cy="21945"/>
          </a:xfrm>
          <a:prstGeom prst="rect">
            <a:avLst/>
          </a:prstGeom>
          <a:solidFill>
            <a:srgbClr val="9DB0BD"/>
          </a:solidFill>
          <a:ln>
            <a:noFill/>
          </a:ln>
        </p:spPr>
        <p:txBody>
          <a:bodyPr rtlCol="0" anchor="ctr"/>
          <a:lstStyle/>
          <a:p>
            <a:pPr algn="ctr"/>
          </a:p>
        </p:txBody>
      </p:sp>
      <p:sp>
        <p:nvSpPr>
          <p:cNvPr id="171" name="Rectangle 170"/>
          <p:cNvSpPr/>
          <p:nvPr/>
        </p:nvSpPr>
        <p:spPr>
          <a:xfrm>
            <a:off x="16836847" y="5067604"/>
            <a:ext cx="155448" cy="21945"/>
          </a:xfrm>
          <a:prstGeom prst="rect">
            <a:avLst/>
          </a:prstGeom>
          <a:solidFill>
            <a:srgbClr val="9DB0BD"/>
          </a:solidFill>
          <a:ln>
            <a:noFill/>
          </a:ln>
        </p:spPr>
        <p:txBody>
          <a:bodyPr rtlCol="0" anchor="ctr"/>
          <a:lstStyle/>
          <a:p>
            <a:pPr algn="ctr"/>
          </a:p>
        </p:txBody>
      </p:sp>
      <p:sp>
        <p:nvSpPr>
          <p:cNvPr id="172" name="TextBox 171"/>
          <p:cNvSpPr txBox="1"/>
          <p:nvPr/>
        </p:nvSpPr>
        <p:spPr>
          <a:xfrm>
            <a:off x="905256" y="5536692"/>
            <a:ext cx="1207008" cy="274320"/>
          </a:xfrm>
          <a:prstGeom prst="rect">
            <a:avLst/>
          </a:prstGeom>
          <a:noFill/>
        </p:spPr>
        <p:txBody>
          <a:bodyPr wrap="square" lIns="0" rIns="0" tIns="0" bIns="0">
            <a:spAutoFit/>
          </a:bodyPr>
          <a:lstStyle/>
          <a:p>
            <a:pPr>
              <a:lnSpc>
                <a:spcPts val="1722"/>
              </a:lnSpc>
              <a:spcBef>
                <a:spcPts val="0"/>
              </a:spcBef>
              <a:spcAft>
                <a:spcPts val="0"/>
              </a:spcAft>
              <a:defRPr sz="1400" b="1">
                <a:solidFill>
                  <a:srgbClr val="FF6633"/>
                </a:solidFill>
                <a:latin typeface="Montserrat"/>
              </a:defRPr>
            </a:pPr>
          </a:p>
        </p:txBody>
      </p:sp>
      <p:sp>
        <p:nvSpPr>
          <p:cNvPr id="173" name="TextBox 172"/>
          <p:cNvSpPr txBox="1"/>
          <p:nvPr/>
        </p:nvSpPr>
        <p:spPr>
          <a:xfrm>
            <a:off x="2157984" y="5481827"/>
            <a:ext cx="5687568" cy="640080"/>
          </a:xfrm>
          <a:prstGeom prst="rect">
            <a:avLst/>
          </a:prstGeom>
          <a:noFill/>
        </p:spPr>
        <p:txBody>
          <a:bodyPr wrap="square" lIns="0" rIns="0" tIns="0" bIns="0">
            <a:spAutoFit/>
          </a:bodyPr>
          <a:lstStyle/>
          <a:p>
            <a:pPr>
              <a:lnSpc>
                <a:spcPts val="2350"/>
              </a:lnSpc>
              <a:spcBef>
                <a:spcPts val="0"/>
              </a:spcBef>
              <a:spcAft>
                <a:spcPts val="0"/>
              </a:spcAft>
              <a:defRPr sz="2400" b="0">
                <a:solidFill>
                  <a:srgbClr val="002C49"/>
                </a:solidFill>
                <a:latin typeface="Montserrat"/>
              </a:defRPr>
            </a:pPr>
            <a:r>
              <a:t>Les offres qui performent</a:t>
            </a:r>
          </a:p>
        </p:txBody>
      </p:sp>
      <p:cxnSp>
        <p:nvCxnSpPr>
          <p:cNvPr id="174" name="Connector 173"/>
          <p:cNvCxnSpPr/>
          <p:nvPr/>
        </p:nvCxnSpPr>
        <p:spPr>
          <a:xfrm>
            <a:off x="8101583" y="5417819"/>
            <a:ext cx="0" cy="640080"/>
          </a:xfrm>
          <a:prstGeom prst="line">
            <a:avLst/>
          </a:prstGeom>
          <a:ln w="8255">
            <a:solidFill>
              <a:srgbClr val="D9E2E7"/>
            </a:solidFill>
          </a:ln>
        </p:spPr>
      </p:cxnSp>
      <p:cxnSp>
        <p:nvCxnSpPr>
          <p:cNvPr id="175" name="Connector 174"/>
          <p:cNvCxnSpPr/>
          <p:nvPr/>
        </p:nvCxnSpPr>
        <p:spPr>
          <a:xfrm>
            <a:off x="8865108" y="5417819"/>
            <a:ext cx="0" cy="640080"/>
          </a:xfrm>
          <a:prstGeom prst="line">
            <a:avLst/>
          </a:prstGeom>
          <a:ln w="8255">
            <a:solidFill>
              <a:srgbClr val="D9E2E7"/>
            </a:solidFill>
          </a:ln>
        </p:spPr>
      </p:cxnSp>
      <p:cxnSp>
        <p:nvCxnSpPr>
          <p:cNvPr id="176" name="Connector 175"/>
          <p:cNvCxnSpPr/>
          <p:nvPr/>
        </p:nvCxnSpPr>
        <p:spPr>
          <a:xfrm>
            <a:off x="9628632" y="5417819"/>
            <a:ext cx="0" cy="640080"/>
          </a:xfrm>
          <a:prstGeom prst="line">
            <a:avLst/>
          </a:prstGeom>
          <a:ln w="8255">
            <a:solidFill>
              <a:srgbClr val="D9E2E7"/>
            </a:solidFill>
          </a:ln>
        </p:spPr>
      </p:cxnSp>
      <p:cxnSp>
        <p:nvCxnSpPr>
          <p:cNvPr id="177" name="Connector 176"/>
          <p:cNvCxnSpPr/>
          <p:nvPr/>
        </p:nvCxnSpPr>
        <p:spPr>
          <a:xfrm>
            <a:off x="10392155" y="5417819"/>
            <a:ext cx="0" cy="640080"/>
          </a:xfrm>
          <a:prstGeom prst="line">
            <a:avLst/>
          </a:prstGeom>
          <a:ln w="8255">
            <a:solidFill>
              <a:srgbClr val="D9E2E7"/>
            </a:solidFill>
          </a:ln>
        </p:spPr>
      </p:cxnSp>
      <p:cxnSp>
        <p:nvCxnSpPr>
          <p:cNvPr id="178" name="Connector 177"/>
          <p:cNvCxnSpPr/>
          <p:nvPr/>
        </p:nvCxnSpPr>
        <p:spPr>
          <a:xfrm>
            <a:off x="11155680" y="5417819"/>
            <a:ext cx="0" cy="640080"/>
          </a:xfrm>
          <a:prstGeom prst="line">
            <a:avLst/>
          </a:prstGeom>
          <a:ln w="8255">
            <a:solidFill>
              <a:srgbClr val="D9E2E7"/>
            </a:solidFill>
          </a:ln>
        </p:spPr>
      </p:cxnSp>
      <p:cxnSp>
        <p:nvCxnSpPr>
          <p:cNvPr id="179" name="Connector 178"/>
          <p:cNvCxnSpPr/>
          <p:nvPr/>
        </p:nvCxnSpPr>
        <p:spPr>
          <a:xfrm>
            <a:off x="11919204" y="5417819"/>
            <a:ext cx="0" cy="640080"/>
          </a:xfrm>
          <a:prstGeom prst="line">
            <a:avLst/>
          </a:prstGeom>
          <a:ln w="8255">
            <a:solidFill>
              <a:srgbClr val="D9E2E7"/>
            </a:solidFill>
          </a:ln>
        </p:spPr>
      </p:cxnSp>
      <p:cxnSp>
        <p:nvCxnSpPr>
          <p:cNvPr id="180" name="Connector 179"/>
          <p:cNvCxnSpPr/>
          <p:nvPr/>
        </p:nvCxnSpPr>
        <p:spPr>
          <a:xfrm>
            <a:off x="12682728" y="5417819"/>
            <a:ext cx="0" cy="640080"/>
          </a:xfrm>
          <a:prstGeom prst="line">
            <a:avLst/>
          </a:prstGeom>
          <a:ln w="8255">
            <a:solidFill>
              <a:srgbClr val="D9E2E7"/>
            </a:solidFill>
          </a:ln>
        </p:spPr>
      </p:cxnSp>
      <p:cxnSp>
        <p:nvCxnSpPr>
          <p:cNvPr id="181" name="Connector 180"/>
          <p:cNvCxnSpPr/>
          <p:nvPr/>
        </p:nvCxnSpPr>
        <p:spPr>
          <a:xfrm>
            <a:off x="13446251" y="5417819"/>
            <a:ext cx="0" cy="640080"/>
          </a:xfrm>
          <a:prstGeom prst="line">
            <a:avLst/>
          </a:prstGeom>
          <a:ln w="8255">
            <a:solidFill>
              <a:srgbClr val="D9E2E7"/>
            </a:solidFill>
          </a:ln>
        </p:spPr>
      </p:cxnSp>
      <p:cxnSp>
        <p:nvCxnSpPr>
          <p:cNvPr id="182" name="Connector 181"/>
          <p:cNvCxnSpPr/>
          <p:nvPr/>
        </p:nvCxnSpPr>
        <p:spPr>
          <a:xfrm>
            <a:off x="14209776" y="5417819"/>
            <a:ext cx="0" cy="640080"/>
          </a:xfrm>
          <a:prstGeom prst="line">
            <a:avLst/>
          </a:prstGeom>
          <a:ln w="8255">
            <a:solidFill>
              <a:srgbClr val="D9E2E7"/>
            </a:solidFill>
          </a:ln>
        </p:spPr>
      </p:cxnSp>
      <p:cxnSp>
        <p:nvCxnSpPr>
          <p:cNvPr id="183" name="Connector 182"/>
          <p:cNvCxnSpPr/>
          <p:nvPr/>
        </p:nvCxnSpPr>
        <p:spPr>
          <a:xfrm>
            <a:off x="14973300" y="5417819"/>
            <a:ext cx="0" cy="640080"/>
          </a:xfrm>
          <a:prstGeom prst="line">
            <a:avLst/>
          </a:prstGeom>
          <a:ln w="8255">
            <a:solidFill>
              <a:srgbClr val="D9E2E7"/>
            </a:solidFill>
          </a:ln>
        </p:spPr>
      </p:cxnSp>
      <p:cxnSp>
        <p:nvCxnSpPr>
          <p:cNvPr id="184" name="Connector 183"/>
          <p:cNvCxnSpPr/>
          <p:nvPr/>
        </p:nvCxnSpPr>
        <p:spPr>
          <a:xfrm>
            <a:off x="15736824" y="5417819"/>
            <a:ext cx="0" cy="640080"/>
          </a:xfrm>
          <a:prstGeom prst="line">
            <a:avLst/>
          </a:prstGeom>
          <a:ln w="8255">
            <a:solidFill>
              <a:srgbClr val="D9E2E7"/>
            </a:solidFill>
          </a:ln>
        </p:spPr>
      </p:cxnSp>
      <p:cxnSp>
        <p:nvCxnSpPr>
          <p:cNvPr id="185" name="Connector 184"/>
          <p:cNvCxnSpPr/>
          <p:nvPr/>
        </p:nvCxnSpPr>
        <p:spPr>
          <a:xfrm>
            <a:off x="16500347" y="5417819"/>
            <a:ext cx="0" cy="640080"/>
          </a:xfrm>
          <a:prstGeom prst="line">
            <a:avLst/>
          </a:prstGeom>
          <a:ln w="8255">
            <a:solidFill>
              <a:srgbClr val="D9E2E7"/>
            </a:solidFill>
          </a:ln>
        </p:spPr>
      </p:cxnSp>
      <p:cxnSp>
        <p:nvCxnSpPr>
          <p:cNvPr id="186" name="Connector 185"/>
          <p:cNvCxnSpPr/>
          <p:nvPr/>
        </p:nvCxnSpPr>
        <p:spPr>
          <a:xfrm>
            <a:off x="17263872" y="5417819"/>
            <a:ext cx="0" cy="640080"/>
          </a:xfrm>
          <a:prstGeom prst="line">
            <a:avLst/>
          </a:prstGeom>
          <a:ln w="8255">
            <a:solidFill>
              <a:srgbClr val="D9E2E7"/>
            </a:solidFill>
          </a:ln>
        </p:spPr>
      </p:cxnSp>
      <p:sp>
        <p:nvSpPr>
          <p:cNvPr id="187" name="Rectangle 186"/>
          <p:cNvSpPr/>
          <p:nvPr/>
        </p:nvSpPr>
        <p:spPr>
          <a:xfrm>
            <a:off x="10456163" y="5646419"/>
            <a:ext cx="1780793" cy="137160"/>
          </a:xfrm>
          <a:prstGeom prst="rect">
            <a:avLst/>
          </a:prstGeom>
          <a:solidFill>
            <a:srgbClr val="FF6633"/>
          </a:solidFill>
          <a:ln>
            <a:noFill/>
          </a:ln>
        </p:spPr>
        <p:txBody>
          <a:bodyPr rtlCol="0" anchor="ctr"/>
          <a:lstStyle/>
          <a:p>
            <a:pPr algn="ctr"/>
          </a:p>
        </p:txBody>
      </p:sp>
      <p:sp>
        <p:nvSpPr>
          <p:cNvPr id="188" name="Rectangle 187"/>
          <p:cNvSpPr/>
          <p:nvPr/>
        </p:nvSpPr>
        <p:spPr>
          <a:xfrm>
            <a:off x="13510259" y="5646419"/>
            <a:ext cx="2162556" cy="137160"/>
          </a:xfrm>
          <a:prstGeom prst="rect">
            <a:avLst/>
          </a:prstGeom>
          <a:solidFill>
            <a:srgbClr val="FF6633"/>
          </a:solidFill>
          <a:ln>
            <a:noFill/>
          </a:ln>
        </p:spPr>
        <p:txBody>
          <a:bodyPr rtlCol="0" anchor="ctr"/>
          <a:lstStyle/>
          <a:p>
            <a:pPr algn="ctr"/>
          </a:p>
        </p:txBody>
      </p:sp>
      <p:sp>
        <p:nvSpPr>
          <p:cNvPr id="189" name="Rectangle 188"/>
          <p:cNvSpPr/>
          <p:nvPr/>
        </p:nvSpPr>
        <p:spPr>
          <a:xfrm>
            <a:off x="822960" y="6057900"/>
            <a:ext cx="16642080" cy="617219"/>
          </a:xfrm>
          <a:prstGeom prst="rect">
            <a:avLst/>
          </a:prstGeom>
          <a:solidFill>
            <a:srgbClr val="F7F7F3"/>
          </a:solidFill>
          <a:ln>
            <a:noFill/>
          </a:ln>
        </p:spPr>
        <p:txBody>
          <a:bodyPr rtlCol="0" anchor="ctr"/>
          <a:lstStyle/>
          <a:p>
            <a:pPr algn="ctr"/>
          </a:p>
        </p:txBody>
      </p:sp>
      <p:sp>
        <p:nvSpPr>
          <p:cNvPr id="190" name="TextBox 189"/>
          <p:cNvSpPr txBox="1"/>
          <p:nvPr/>
        </p:nvSpPr>
        <p:spPr>
          <a:xfrm>
            <a:off x="905256" y="6176772"/>
            <a:ext cx="1207008" cy="274320"/>
          </a:xfrm>
          <a:prstGeom prst="rect">
            <a:avLst/>
          </a:prstGeom>
          <a:noFill/>
        </p:spPr>
        <p:txBody>
          <a:bodyPr wrap="square" lIns="0" rIns="0" tIns="0" bIns="0">
            <a:spAutoFit/>
          </a:bodyPr>
          <a:lstStyle/>
          <a:p>
            <a:pPr>
              <a:lnSpc>
                <a:spcPts val="1722"/>
              </a:lnSpc>
              <a:spcBef>
                <a:spcPts val="0"/>
              </a:spcBef>
              <a:spcAft>
                <a:spcPts val="0"/>
              </a:spcAft>
              <a:defRPr sz="1400" b="1">
                <a:solidFill>
                  <a:srgbClr val="FF6633"/>
                </a:solidFill>
                <a:latin typeface="Montserrat"/>
              </a:defRPr>
            </a:pPr>
          </a:p>
        </p:txBody>
      </p:sp>
      <p:sp>
        <p:nvSpPr>
          <p:cNvPr id="191" name="TextBox 190"/>
          <p:cNvSpPr txBox="1"/>
          <p:nvPr/>
        </p:nvSpPr>
        <p:spPr>
          <a:xfrm>
            <a:off x="2157984" y="6121908"/>
            <a:ext cx="5687568" cy="640080"/>
          </a:xfrm>
          <a:prstGeom prst="rect">
            <a:avLst/>
          </a:prstGeom>
          <a:noFill/>
        </p:spPr>
        <p:txBody>
          <a:bodyPr wrap="square" lIns="0" rIns="0" tIns="0" bIns="0">
            <a:spAutoFit/>
          </a:bodyPr>
          <a:lstStyle/>
          <a:p>
            <a:pPr>
              <a:lnSpc>
                <a:spcPts val="2350"/>
              </a:lnSpc>
              <a:spcBef>
                <a:spcPts val="0"/>
              </a:spcBef>
              <a:spcAft>
                <a:spcPts val="0"/>
              </a:spcAft>
              <a:defRPr sz="2400" b="0">
                <a:solidFill>
                  <a:srgbClr val="002C49"/>
                </a:solidFill>
                <a:latin typeface="Montserrat"/>
              </a:defRPr>
            </a:pPr>
            <a:r>
              <a:t>Déploiement Neoscreen agences</a:t>
            </a:r>
          </a:p>
        </p:txBody>
      </p:sp>
      <p:cxnSp>
        <p:nvCxnSpPr>
          <p:cNvPr id="192" name="Connector 191"/>
          <p:cNvCxnSpPr/>
          <p:nvPr/>
        </p:nvCxnSpPr>
        <p:spPr>
          <a:xfrm>
            <a:off x="8101583" y="6057900"/>
            <a:ext cx="0" cy="640080"/>
          </a:xfrm>
          <a:prstGeom prst="line">
            <a:avLst/>
          </a:prstGeom>
          <a:ln w="8255">
            <a:solidFill>
              <a:srgbClr val="D9E2E7"/>
            </a:solidFill>
          </a:ln>
        </p:spPr>
      </p:cxnSp>
      <p:cxnSp>
        <p:nvCxnSpPr>
          <p:cNvPr id="193" name="Connector 192"/>
          <p:cNvCxnSpPr/>
          <p:nvPr/>
        </p:nvCxnSpPr>
        <p:spPr>
          <a:xfrm>
            <a:off x="8865108" y="6057900"/>
            <a:ext cx="0" cy="640080"/>
          </a:xfrm>
          <a:prstGeom prst="line">
            <a:avLst/>
          </a:prstGeom>
          <a:ln w="8255">
            <a:solidFill>
              <a:srgbClr val="D9E2E7"/>
            </a:solidFill>
          </a:ln>
        </p:spPr>
      </p:cxnSp>
      <p:cxnSp>
        <p:nvCxnSpPr>
          <p:cNvPr id="194" name="Connector 193"/>
          <p:cNvCxnSpPr/>
          <p:nvPr/>
        </p:nvCxnSpPr>
        <p:spPr>
          <a:xfrm>
            <a:off x="9628632" y="6057900"/>
            <a:ext cx="0" cy="640080"/>
          </a:xfrm>
          <a:prstGeom prst="line">
            <a:avLst/>
          </a:prstGeom>
          <a:ln w="8255">
            <a:solidFill>
              <a:srgbClr val="D9E2E7"/>
            </a:solidFill>
          </a:ln>
        </p:spPr>
      </p:cxnSp>
      <p:cxnSp>
        <p:nvCxnSpPr>
          <p:cNvPr id="195" name="Connector 194"/>
          <p:cNvCxnSpPr/>
          <p:nvPr/>
        </p:nvCxnSpPr>
        <p:spPr>
          <a:xfrm>
            <a:off x="10392155" y="6057900"/>
            <a:ext cx="0" cy="640080"/>
          </a:xfrm>
          <a:prstGeom prst="line">
            <a:avLst/>
          </a:prstGeom>
          <a:ln w="8255">
            <a:solidFill>
              <a:srgbClr val="D9E2E7"/>
            </a:solidFill>
          </a:ln>
        </p:spPr>
      </p:cxnSp>
      <p:cxnSp>
        <p:nvCxnSpPr>
          <p:cNvPr id="196" name="Connector 195"/>
          <p:cNvCxnSpPr/>
          <p:nvPr/>
        </p:nvCxnSpPr>
        <p:spPr>
          <a:xfrm>
            <a:off x="11155680" y="6057900"/>
            <a:ext cx="0" cy="640080"/>
          </a:xfrm>
          <a:prstGeom prst="line">
            <a:avLst/>
          </a:prstGeom>
          <a:ln w="8255">
            <a:solidFill>
              <a:srgbClr val="D9E2E7"/>
            </a:solidFill>
          </a:ln>
        </p:spPr>
      </p:cxnSp>
      <p:cxnSp>
        <p:nvCxnSpPr>
          <p:cNvPr id="197" name="Connector 196"/>
          <p:cNvCxnSpPr/>
          <p:nvPr/>
        </p:nvCxnSpPr>
        <p:spPr>
          <a:xfrm>
            <a:off x="11919204" y="6057900"/>
            <a:ext cx="0" cy="640080"/>
          </a:xfrm>
          <a:prstGeom prst="line">
            <a:avLst/>
          </a:prstGeom>
          <a:ln w="8255">
            <a:solidFill>
              <a:srgbClr val="D9E2E7"/>
            </a:solidFill>
          </a:ln>
        </p:spPr>
      </p:cxnSp>
      <p:cxnSp>
        <p:nvCxnSpPr>
          <p:cNvPr id="198" name="Connector 197"/>
          <p:cNvCxnSpPr/>
          <p:nvPr/>
        </p:nvCxnSpPr>
        <p:spPr>
          <a:xfrm>
            <a:off x="12682728" y="6057900"/>
            <a:ext cx="0" cy="640080"/>
          </a:xfrm>
          <a:prstGeom prst="line">
            <a:avLst/>
          </a:prstGeom>
          <a:ln w="8255">
            <a:solidFill>
              <a:srgbClr val="D9E2E7"/>
            </a:solidFill>
          </a:ln>
        </p:spPr>
      </p:cxnSp>
      <p:cxnSp>
        <p:nvCxnSpPr>
          <p:cNvPr id="199" name="Connector 198"/>
          <p:cNvCxnSpPr/>
          <p:nvPr/>
        </p:nvCxnSpPr>
        <p:spPr>
          <a:xfrm>
            <a:off x="13446251" y="6057900"/>
            <a:ext cx="0" cy="640080"/>
          </a:xfrm>
          <a:prstGeom prst="line">
            <a:avLst/>
          </a:prstGeom>
          <a:ln w="8255">
            <a:solidFill>
              <a:srgbClr val="D9E2E7"/>
            </a:solidFill>
          </a:ln>
        </p:spPr>
      </p:cxnSp>
      <p:cxnSp>
        <p:nvCxnSpPr>
          <p:cNvPr id="200" name="Connector 199"/>
          <p:cNvCxnSpPr/>
          <p:nvPr/>
        </p:nvCxnSpPr>
        <p:spPr>
          <a:xfrm>
            <a:off x="14209776" y="6057900"/>
            <a:ext cx="0" cy="640080"/>
          </a:xfrm>
          <a:prstGeom prst="line">
            <a:avLst/>
          </a:prstGeom>
          <a:ln w="8255">
            <a:solidFill>
              <a:srgbClr val="D9E2E7"/>
            </a:solidFill>
          </a:ln>
        </p:spPr>
      </p:cxnSp>
      <p:cxnSp>
        <p:nvCxnSpPr>
          <p:cNvPr id="201" name="Connector 200"/>
          <p:cNvCxnSpPr/>
          <p:nvPr/>
        </p:nvCxnSpPr>
        <p:spPr>
          <a:xfrm>
            <a:off x="14973300" y="6057900"/>
            <a:ext cx="0" cy="640080"/>
          </a:xfrm>
          <a:prstGeom prst="line">
            <a:avLst/>
          </a:prstGeom>
          <a:ln w="8255">
            <a:solidFill>
              <a:srgbClr val="D9E2E7"/>
            </a:solidFill>
          </a:ln>
        </p:spPr>
      </p:cxnSp>
      <p:cxnSp>
        <p:nvCxnSpPr>
          <p:cNvPr id="202" name="Connector 201"/>
          <p:cNvCxnSpPr/>
          <p:nvPr/>
        </p:nvCxnSpPr>
        <p:spPr>
          <a:xfrm>
            <a:off x="15736824" y="6057900"/>
            <a:ext cx="0" cy="640080"/>
          </a:xfrm>
          <a:prstGeom prst="line">
            <a:avLst/>
          </a:prstGeom>
          <a:ln w="8255">
            <a:solidFill>
              <a:srgbClr val="D9E2E7"/>
            </a:solidFill>
          </a:ln>
        </p:spPr>
      </p:cxnSp>
      <p:cxnSp>
        <p:nvCxnSpPr>
          <p:cNvPr id="203" name="Connector 202"/>
          <p:cNvCxnSpPr/>
          <p:nvPr/>
        </p:nvCxnSpPr>
        <p:spPr>
          <a:xfrm>
            <a:off x="16500347" y="6057900"/>
            <a:ext cx="0" cy="640080"/>
          </a:xfrm>
          <a:prstGeom prst="line">
            <a:avLst/>
          </a:prstGeom>
          <a:ln w="8255">
            <a:solidFill>
              <a:srgbClr val="D9E2E7"/>
            </a:solidFill>
          </a:ln>
        </p:spPr>
      </p:cxnSp>
      <p:cxnSp>
        <p:nvCxnSpPr>
          <p:cNvPr id="204" name="Connector 203"/>
          <p:cNvCxnSpPr/>
          <p:nvPr/>
        </p:nvCxnSpPr>
        <p:spPr>
          <a:xfrm>
            <a:off x="17263872" y="6057900"/>
            <a:ext cx="0" cy="640080"/>
          </a:xfrm>
          <a:prstGeom prst="line">
            <a:avLst/>
          </a:prstGeom>
          <a:ln w="8255">
            <a:solidFill>
              <a:srgbClr val="D9E2E7"/>
            </a:solidFill>
          </a:ln>
        </p:spPr>
      </p:cxnSp>
      <p:sp>
        <p:nvSpPr>
          <p:cNvPr id="205" name="Oval 204"/>
          <p:cNvSpPr/>
          <p:nvPr/>
        </p:nvSpPr>
        <p:spPr>
          <a:xfrm>
            <a:off x="10700765" y="6281928"/>
            <a:ext cx="146304" cy="146304"/>
          </a:xfrm>
          <a:prstGeom prst="ellipse">
            <a:avLst/>
          </a:prstGeom>
          <a:solidFill>
            <a:srgbClr val="FF6633"/>
          </a:solidFill>
          <a:ln>
            <a:noFill/>
          </a:ln>
        </p:spPr>
        <p:txBody>
          <a:bodyPr rtlCol="0" anchor="ctr"/>
          <a:lstStyle/>
          <a:p>
            <a:pPr algn="ctr"/>
          </a:p>
        </p:txBody>
      </p:sp>
      <p:sp>
        <p:nvSpPr>
          <p:cNvPr id="206" name="TextBox 205"/>
          <p:cNvSpPr txBox="1"/>
          <p:nvPr/>
        </p:nvSpPr>
        <p:spPr>
          <a:xfrm>
            <a:off x="905256" y="6816852"/>
            <a:ext cx="1207008" cy="274320"/>
          </a:xfrm>
          <a:prstGeom prst="rect">
            <a:avLst/>
          </a:prstGeom>
          <a:noFill/>
        </p:spPr>
        <p:txBody>
          <a:bodyPr wrap="square" lIns="0" rIns="0" tIns="0" bIns="0">
            <a:spAutoFit/>
          </a:bodyPr>
          <a:lstStyle/>
          <a:p>
            <a:pPr>
              <a:lnSpc>
                <a:spcPts val="1722"/>
              </a:lnSpc>
              <a:spcBef>
                <a:spcPts val="0"/>
              </a:spcBef>
              <a:spcAft>
                <a:spcPts val="0"/>
              </a:spcAft>
              <a:defRPr sz="1400" b="1">
                <a:solidFill>
                  <a:srgbClr val="FF6633"/>
                </a:solidFill>
                <a:latin typeface="Montserrat"/>
              </a:defRPr>
            </a:pPr>
          </a:p>
        </p:txBody>
      </p:sp>
      <p:sp>
        <p:nvSpPr>
          <p:cNvPr id="207" name="TextBox 206"/>
          <p:cNvSpPr txBox="1"/>
          <p:nvPr/>
        </p:nvSpPr>
        <p:spPr>
          <a:xfrm>
            <a:off x="2157984" y="6761988"/>
            <a:ext cx="5687568" cy="640080"/>
          </a:xfrm>
          <a:prstGeom prst="rect">
            <a:avLst/>
          </a:prstGeom>
          <a:noFill/>
        </p:spPr>
        <p:txBody>
          <a:bodyPr wrap="square" lIns="0" rIns="0" tIns="0" bIns="0">
            <a:spAutoFit/>
          </a:bodyPr>
          <a:lstStyle/>
          <a:p>
            <a:pPr>
              <a:lnSpc>
                <a:spcPts val="2350"/>
              </a:lnSpc>
              <a:spcBef>
                <a:spcPts val="0"/>
              </a:spcBef>
              <a:spcAft>
                <a:spcPts val="0"/>
              </a:spcAft>
              <a:defRPr sz="2400" b="0">
                <a:solidFill>
                  <a:srgbClr val="002C49"/>
                </a:solidFill>
                <a:latin typeface="Montserrat"/>
              </a:defRPr>
            </a:pPr>
            <a:r>
              <a:t>Intranet • planning TBD</a:t>
            </a:r>
          </a:p>
        </p:txBody>
      </p:sp>
      <p:cxnSp>
        <p:nvCxnSpPr>
          <p:cNvPr id="208" name="Connector 207"/>
          <p:cNvCxnSpPr/>
          <p:nvPr/>
        </p:nvCxnSpPr>
        <p:spPr>
          <a:xfrm>
            <a:off x="8101583" y="6697979"/>
            <a:ext cx="0" cy="640080"/>
          </a:xfrm>
          <a:prstGeom prst="line">
            <a:avLst/>
          </a:prstGeom>
          <a:ln w="8255">
            <a:solidFill>
              <a:srgbClr val="D9E2E7"/>
            </a:solidFill>
          </a:ln>
        </p:spPr>
      </p:cxnSp>
      <p:cxnSp>
        <p:nvCxnSpPr>
          <p:cNvPr id="209" name="Connector 208"/>
          <p:cNvCxnSpPr/>
          <p:nvPr/>
        </p:nvCxnSpPr>
        <p:spPr>
          <a:xfrm>
            <a:off x="8865108" y="6697979"/>
            <a:ext cx="0" cy="640080"/>
          </a:xfrm>
          <a:prstGeom prst="line">
            <a:avLst/>
          </a:prstGeom>
          <a:ln w="8255">
            <a:solidFill>
              <a:srgbClr val="D9E2E7"/>
            </a:solidFill>
          </a:ln>
        </p:spPr>
      </p:cxnSp>
      <p:cxnSp>
        <p:nvCxnSpPr>
          <p:cNvPr id="210" name="Connector 209"/>
          <p:cNvCxnSpPr/>
          <p:nvPr/>
        </p:nvCxnSpPr>
        <p:spPr>
          <a:xfrm>
            <a:off x="9628632" y="6697979"/>
            <a:ext cx="0" cy="640080"/>
          </a:xfrm>
          <a:prstGeom prst="line">
            <a:avLst/>
          </a:prstGeom>
          <a:ln w="8255">
            <a:solidFill>
              <a:srgbClr val="D9E2E7"/>
            </a:solidFill>
          </a:ln>
        </p:spPr>
      </p:cxnSp>
      <p:cxnSp>
        <p:nvCxnSpPr>
          <p:cNvPr id="211" name="Connector 210"/>
          <p:cNvCxnSpPr/>
          <p:nvPr/>
        </p:nvCxnSpPr>
        <p:spPr>
          <a:xfrm>
            <a:off x="10392155" y="6697979"/>
            <a:ext cx="0" cy="640080"/>
          </a:xfrm>
          <a:prstGeom prst="line">
            <a:avLst/>
          </a:prstGeom>
          <a:ln w="8255">
            <a:solidFill>
              <a:srgbClr val="D9E2E7"/>
            </a:solidFill>
          </a:ln>
        </p:spPr>
      </p:cxnSp>
      <p:cxnSp>
        <p:nvCxnSpPr>
          <p:cNvPr id="212" name="Connector 211"/>
          <p:cNvCxnSpPr/>
          <p:nvPr/>
        </p:nvCxnSpPr>
        <p:spPr>
          <a:xfrm>
            <a:off x="11155680" y="6697979"/>
            <a:ext cx="0" cy="640080"/>
          </a:xfrm>
          <a:prstGeom prst="line">
            <a:avLst/>
          </a:prstGeom>
          <a:ln w="8255">
            <a:solidFill>
              <a:srgbClr val="D9E2E7"/>
            </a:solidFill>
          </a:ln>
        </p:spPr>
      </p:cxnSp>
      <p:cxnSp>
        <p:nvCxnSpPr>
          <p:cNvPr id="213" name="Connector 212"/>
          <p:cNvCxnSpPr/>
          <p:nvPr/>
        </p:nvCxnSpPr>
        <p:spPr>
          <a:xfrm>
            <a:off x="11919204" y="6697979"/>
            <a:ext cx="0" cy="640080"/>
          </a:xfrm>
          <a:prstGeom prst="line">
            <a:avLst/>
          </a:prstGeom>
          <a:ln w="8255">
            <a:solidFill>
              <a:srgbClr val="D9E2E7"/>
            </a:solidFill>
          </a:ln>
        </p:spPr>
      </p:cxnSp>
      <p:cxnSp>
        <p:nvCxnSpPr>
          <p:cNvPr id="214" name="Connector 213"/>
          <p:cNvCxnSpPr/>
          <p:nvPr/>
        </p:nvCxnSpPr>
        <p:spPr>
          <a:xfrm>
            <a:off x="12682728" y="6697979"/>
            <a:ext cx="0" cy="640080"/>
          </a:xfrm>
          <a:prstGeom prst="line">
            <a:avLst/>
          </a:prstGeom>
          <a:ln w="8255">
            <a:solidFill>
              <a:srgbClr val="D9E2E7"/>
            </a:solidFill>
          </a:ln>
        </p:spPr>
      </p:cxnSp>
      <p:cxnSp>
        <p:nvCxnSpPr>
          <p:cNvPr id="215" name="Connector 214"/>
          <p:cNvCxnSpPr/>
          <p:nvPr/>
        </p:nvCxnSpPr>
        <p:spPr>
          <a:xfrm>
            <a:off x="13446251" y="6697979"/>
            <a:ext cx="0" cy="640080"/>
          </a:xfrm>
          <a:prstGeom prst="line">
            <a:avLst/>
          </a:prstGeom>
          <a:ln w="8255">
            <a:solidFill>
              <a:srgbClr val="D9E2E7"/>
            </a:solidFill>
          </a:ln>
        </p:spPr>
      </p:cxnSp>
      <p:cxnSp>
        <p:nvCxnSpPr>
          <p:cNvPr id="216" name="Connector 215"/>
          <p:cNvCxnSpPr/>
          <p:nvPr/>
        </p:nvCxnSpPr>
        <p:spPr>
          <a:xfrm>
            <a:off x="14209776" y="6697979"/>
            <a:ext cx="0" cy="640080"/>
          </a:xfrm>
          <a:prstGeom prst="line">
            <a:avLst/>
          </a:prstGeom>
          <a:ln w="8255">
            <a:solidFill>
              <a:srgbClr val="D9E2E7"/>
            </a:solidFill>
          </a:ln>
        </p:spPr>
      </p:cxnSp>
      <p:cxnSp>
        <p:nvCxnSpPr>
          <p:cNvPr id="217" name="Connector 216"/>
          <p:cNvCxnSpPr/>
          <p:nvPr/>
        </p:nvCxnSpPr>
        <p:spPr>
          <a:xfrm>
            <a:off x="14973300" y="6697979"/>
            <a:ext cx="0" cy="640080"/>
          </a:xfrm>
          <a:prstGeom prst="line">
            <a:avLst/>
          </a:prstGeom>
          <a:ln w="8255">
            <a:solidFill>
              <a:srgbClr val="D9E2E7"/>
            </a:solidFill>
          </a:ln>
        </p:spPr>
      </p:cxnSp>
      <p:cxnSp>
        <p:nvCxnSpPr>
          <p:cNvPr id="218" name="Connector 217"/>
          <p:cNvCxnSpPr/>
          <p:nvPr/>
        </p:nvCxnSpPr>
        <p:spPr>
          <a:xfrm>
            <a:off x="15736824" y="6697979"/>
            <a:ext cx="0" cy="640080"/>
          </a:xfrm>
          <a:prstGeom prst="line">
            <a:avLst/>
          </a:prstGeom>
          <a:ln w="8255">
            <a:solidFill>
              <a:srgbClr val="D9E2E7"/>
            </a:solidFill>
          </a:ln>
        </p:spPr>
      </p:cxnSp>
      <p:cxnSp>
        <p:nvCxnSpPr>
          <p:cNvPr id="219" name="Connector 218"/>
          <p:cNvCxnSpPr/>
          <p:nvPr/>
        </p:nvCxnSpPr>
        <p:spPr>
          <a:xfrm>
            <a:off x="16500347" y="6697979"/>
            <a:ext cx="0" cy="640080"/>
          </a:xfrm>
          <a:prstGeom prst="line">
            <a:avLst/>
          </a:prstGeom>
          <a:ln w="8255">
            <a:solidFill>
              <a:srgbClr val="D9E2E7"/>
            </a:solidFill>
          </a:ln>
        </p:spPr>
      </p:cxnSp>
      <p:cxnSp>
        <p:nvCxnSpPr>
          <p:cNvPr id="220" name="Connector 219"/>
          <p:cNvCxnSpPr/>
          <p:nvPr/>
        </p:nvCxnSpPr>
        <p:spPr>
          <a:xfrm>
            <a:off x="17263872" y="6697979"/>
            <a:ext cx="0" cy="640080"/>
          </a:xfrm>
          <a:prstGeom prst="line">
            <a:avLst/>
          </a:prstGeom>
          <a:ln w="8255">
            <a:solidFill>
              <a:srgbClr val="D9E2E7"/>
            </a:solidFill>
          </a:ln>
        </p:spPr>
      </p:cxnSp>
      <p:sp>
        <p:nvSpPr>
          <p:cNvPr id="221" name="Rectangle 220"/>
          <p:cNvSpPr/>
          <p:nvPr/>
        </p:nvSpPr>
        <p:spPr>
          <a:xfrm>
            <a:off x="8165592" y="6987844"/>
            <a:ext cx="155448" cy="21945"/>
          </a:xfrm>
          <a:prstGeom prst="rect">
            <a:avLst/>
          </a:prstGeom>
          <a:solidFill>
            <a:srgbClr val="9DB0BD"/>
          </a:solidFill>
          <a:ln>
            <a:noFill/>
          </a:ln>
        </p:spPr>
        <p:txBody>
          <a:bodyPr rtlCol="0" anchor="ctr"/>
          <a:lstStyle/>
          <a:p>
            <a:pPr algn="ctr"/>
          </a:p>
        </p:txBody>
      </p:sp>
      <p:sp>
        <p:nvSpPr>
          <p:cNvPr id="222" name="Rectangle 221"/>
          <p:cNvSpPr/>
          <p:nvPr/>
        </p:nvSpPr>
        <p:spPr>
          <a:xfrm>
            <a:off x="8464600" y="6987844"/>
            <a:ext cx="155448" cy="21945"/>
          </a:xfrm>
          <a:prstGeom prst="rect">
            <a:avLst/>
          </a:prstGeom>
          <a:solidFill>
            <a:srgbClr val="9DB0BD"/>
          </a:solidFill>
          <a:ln>
            <a:noFill/>
          </a:ln>
        </p:spPr>
        <p:txBody>
          <a:bodyPr rtlCol="0" anchor="ctr"/>
          <a:lstStyle/>
          <a:p>
            <a:pPr algn="ctr"/>
          </a:p>
        </p:txBody>
      </p:sp>
      <p:sp>
        <p:nvSpPr>
          <p:cNvPr id="223" name="Rectangle 222"/>
          <p:cNvSpPr/>
          <p:nvPr/>
        </p:nvSpPr>
        <p:spPr>
          <a:xfrm>
            <a:off x="8763609" y="6987844"/>
            <a:ext cx="155448" cy="21945"/>
          </a:xfrm>
          <a:prstGeom prst="rect">
            <a:avLst/>
          </a:prstGeom>
          <a:solidFill>
            <a:srgbClr val="9DB0BD"/>
          </a:solidFill>
          <a:ln>
            <a:noFill/>
          </a:ln>
        </p:spPr>
        <p:txBody>
          <a:bodyPr rtlCol="0" anchor="ctr"/>
          <a:lstStyle/>
          <a:p>
            <a:pPr algn="ctr"/>
          </a:p>
        </p:txBody>
      </p:sp>
      <p:sp>
        <p:nvSpPr>
          <p:cNvPr id="224" name="Rectangle 223"/>
          <p:cNvSpPr/>
          <p:nvPr/>
        </p:nvSpPr>
        <p:spPr>
          <a:xfrm>
            <a:off x="9062618" y="6987844"/>
            <a:ext cx="155448" cy="21945"/>
          </a:xfrm>
          <a:prstGeom prst="rect">
            <a:avLst/>
          </a:prstGeom>
          <a:solidFill>
            <a:srgbClr val="9DB0BD"/>
          </a:solidFill>
          <a:ln>
            <a:noFill/>
          </a:ln>
        </p:spPr>
        <p:txBody>
          <a:bodyPr rtlCol="0" anchor="ctr"/>
          <a:lstStyle/>
          <a:p>
            <a:pPr algn="ctr"/>
          </a:p>
        </p:txBody>
      </p:sp>
      <p:sp>
        <p:nvSpPr>
          <p:cNvPr id="225" name="Rectangle 224"/>
          <p:cNvSpPr/>
          <p:nvPr/>
        </p:nvSpPr>
        <p:spPr>
          <a:xfrm>
            <a:off x="9361627" y="6987844"/>
            <a:ext cx="155448" cy="21945"/>
          </a:xfrm>
          <a:prstGeom prst="rect">
            <a:avLst/>
          </a:prstGeom>
          <a:solidFill>
            <a:srgbClr val="9DB0BD"/>
          </a:solidFill>
          <a:ln>
            <a:noFill/>
          </a:ln>
        </p:spPr>
        <p:txBody>
          <a:bodyPr rtlCol="0" anchor="ctr"/>
          <a:lstStyle/>
          <a:p>
            <a:pPr algn="ctr"/>
          </a:p>
        </p:txBody>
      </p:sp>
      <p:sp>
        <p:nvSpPr>
          <p:cNvPr id="226" name="Rectangle 225"/>
          <p:cNvSpPr/>
          <p:nvPr/>
        </p:nvSpPr>
        <p:spPr>
          <a:xfrm>
            <a:off x="9660636" y="6987844"/>
            <a:ext cx="155448" cy="21945"/>
          </a:xfrm>
          <a:prstGeom prst="rect">
            <a:avLst/>
          </a:prstGeom>
          <a:solidFill>
            <a:srgbClr val="9DB0BD"/>
          </a:solidFill>
          <a:ln>
            <a:noFill/>
          </a:ln>
        </p:spPr>
        <p:txBody>
          <a:bodyPr rtlCol="0" anchor="ctr"/>
          <a:lstStyle/>
          <a:p>
            <a:pPr algn="ctr"/>
          </a:p>
        </p:txBody>
      </p:sp>
      <p:sp>
        <p:nvSpPr>
          <p:cNvPr id="227" name="Rectangle 226"/>
          <p:cNvSpPr/>
          <p:nvPr/>
        </p:nvSpPr>
        <p:spPr>
          <a:xfrm>
            <a:off x="9959644" y="6987844"/>
            <a:ext cx="155448" cy="21945"/>
          </a:xfrm>
          <a:prstGeom prst="rect">
            <a:avLst/>
          </a:prstGeom>
          <a:solidFill>
            <a:srgbClr val="9DB0BD"/>
          </a:solidFill>
          <a:ln>
            <a:noFill/>
          </a:ln>
        </p:spPr>
        <p:txBody>
          <a:bodyPr rtlCol="0" anchor="ctr"/>
          <a:lstStyle/>
          <a:p>
            <a:pPr algn="ctr"/>
          </a:p>
        </p:txBody>
      </p:sp>
      <p:sp>
        <p:nvSpPr>
          <p:cNvPr id="228" name="Rectangle 227"/>
          <p:cNvSpPr/>
          <p:nvPr/>
        </p:nvSpPr>
        <p:spPr>
          <a:xfrm>
            <a:off x="10258653" y="6987844"/>
            <a:ext cx="155448" cy="21945"/>
          </a:xfrm>
          <a:prstGeom prst="rect">
            <a:avLst/>
          </a:prstGeom>
          <a:solidFill>
            <a:srgbClr val="9DB0BD"/>
          </a:solidFill>
          <a:ln>
            <a:noFill/>
          </a:ln>
        </p:spPr>
        <p:txBody>
          <a:bodyPr rtlCol="0" anchor="ctr"/>
          <a:lstStyle/>
          <a:p>
            <a:pPr algn="ctr"/>
          </a:p>
        </p:txBody>
      </p:sp>
      <p:sp>
        <p:nvSpPr>
          <p:cNvPr id="229" name="Rectangle 228"/>
          <p:cNvSpPr/>
          <p:nvPr/>
        </p:nvSpPr>
        <p:spPr>
          <a:xfrm>
            <a:off x="10557662" y="6987844"/>
            <a:ext cx="155448" cy="21945"/>
          </a:xfrm>
          <a:prstGeom prst="rect">
            <a:avLst/>
          </a:prstGeom>
          <a:solidFill>
            <a:srgbClr val="9DB0BD"/>
          </a:solidFill>
          <a:ln>
            <a:noFill/>
          </a:ln>
        </p:spPr>
        <p:txBody>
          <a:bodyPr rtlCol="0" anchor="ctr"/>
          <a:lstStyle/>
          <a:p>
            <a:pPr algn="ctr"/>
          </a:p>
        </p:txBody>
      </p:sp>
      <p:sp>
        <p:nvSpPr>
          <p:cNvPr id="230" name="Rectangle 229"/>
          <p:cNvSpPr/>
          <p:nvPr/>
        </p:nvSpPr>
        <p:spPr>
          <a:xfrm>
            <a:off x="10856671" y="6987844"/>
            <a:ext cx="155448" cy="21945"/>
          </a:xfrm>
          <a:prstGeom prst="rect">
            <a:avLst/>
          </a:prstGeom>
          <a:solidFill>
            <a:srgbClr val="9DB0BD"/>
          </a:solidFill>
          <a:ln>
            <a:noFill/>
          </a:ln>
        </p:spPr>
        <p:txBody>
          <a:bodyPr rtlCol="0" anchor="ctr"/>
          <a:lstStyle/>
          <a:p>
            <a:pPr algn="ctr"/>
          </a:p>
        </p:txBody>
      </p:sp>
      <p:sp>
        <p:nvSpPr>
          <p:cNvPr id="231" name="Rectangle 230"/>
          <p:cNvSpPr/>
          <p:nvPr/>
        </p:nvSpPr>
        <p:spPr>
          <a:xfrm>
            <a:off x="11155680" y="6987844"/>
            <a:ext cx="155448" cy="21945"/>
          </a:xfrm>
          <a:prstGeom prst="rect">
            <a:avLst/>
          </a:prstGeom>
          <a:solidFill>
            <a:srgbClr val="9DB0BD"/>
          </a:solidFill>
          <a:ln>
            <a:noFill/>
          </a:ln>
        </p:spPr>
        <p:txBody>
          <a:bodyPr rtlCol="0" anchor="ctr"/>
          <a:lstStyle/>
          <a:p>
            <a:pPr algn="ctr"/>
          </a:p>
        </p:txBody>
      </p:sp>
      <p:sp>
        <p:nvSpPr>
          <p:cNvPr id="232" name="Rectangle 231"/>
          <p:cNvSpPr/>
          <p:nvPr/>
        </p:nvSpPr>
        <p:spPr>
          <a:xfrm>
            <a:off x="11454688" y="6987844"/>
            <a:ext cx="155448" cy="21945"/>
          </a:xfrm>
          <a:prstGeom prst="rect">
            <a:avLst/>
          </a:prstGeom>
          <a:solidFill>
            <a:srgbClr val="9DB0BD"/>
          </a:solidFill>
          <a:ln>
            <a:noFill/>
          </a:ln>
        </p:spPr>
        <p:txBody>
          <a:bodyPr rtlCol="0" anchor="ctr"/>
          <a:lstStyle/>
          <a:p>
            <a:pPr algn="ctr"/>
          </a:p>
        </p:txBody>
      </p:sp>
      <p:sp>
        <p:nvSpPr>
          <p:cNvPr id="233" name="Rectangle 232"/>
          <p:cNvSpPr/>
          <p:nvPr/>
        </p:nvSpPr>
        <p:spPr>
          <a:xfrm>
            <a:off x="11753697" y="6987844"/>
            <a:ext cx="155448" cy="21945"/>
          </a:xfrm>
          <a:prstGeom prst="rect">
            <a:avLst/>
          </a:prstGeom>
          <a:solidFill>
            <a:srgbClr val="9DB0BD"/>
          </a:solidFill>
          <a:ln>
            <a:noFill/>
          </a:ln>
        </p:spPr>
        <p:txBody>
          <a:bodyPr rtlCol="0" anchor="ctr"/>
          <a:lstStyle/>
          <a:p>
            <a:pPr algn="ctr"/>
          </a:p>
        </p:txBody>
      </p:sp>
      <p:sp>
        <p:nvSpPr>
          <p:cNvPr id="234" name="Rectangle 233"/>
          <p:cNvSpPr/>
          <p:nvPr/>
        </p:nvSpPr>
        <p:spPr>
          <a:xfrm>
            <a:off x="12052706" y="6987844"/>
            <a:ext cx="155448" cy="21945"/>
          </a:xfrm>
          <a:prstGeom prst="rect">
            <a:avLst/>
          </a:prstGeom>
          <a:solidFill>
            <a:srgbClr val="9DB0BD"/>
          </a:solidFill>
          <a:ln>
            <a:noFill/>
          </a:ln>
        </p:spPr>
        <p:txBody>
          <a:bodyPr rtlCol="0" anchor="ctr"/>
          <a:lstStyle/>
          <a:p>
            <a:pPr algn="ctr"/>
          </a:p>
        </p:txBody>
      </p:sp>
      <p:sp>
        <p:nvSpPr>
          <p:cNvPr id="235" name="Rectangle 234"/>
          <p:cNvSpPr/>
          <p:nvPr/>
        </p:nvSpPr>
        <p:spPr>
          <a:xfrm>
            <a:off x="12351715" y="6987844"/>
            <a:ext cx="155448" cy="21945"/>
          </a:xfrm>
          <a:prstGeom prst="rect">
            <a:avLst/>
          </a:prstGeom>
          <a:solidFill>
            <a:srgbClr val="9DB0BD"/>
          </a:solidFill>
          <a:ln>
            <a:noFill/>
          </a:ln>
        </p:spPr>
        <p:txBody>
          <a:bodyPr rtlCol="0" anchor="ctr"/>
          <a:lstStyle/>
          <a:p>
            <a:pPr algn="ctr"/>
          </a:p>
        </p:txBody>
      </p:sp>
      <p:sp>
        <p:nvSpPr>
          <p:cNvPr id="236" name="Rectangle 235"/>
          <p:cNvSpPr/>
          <p:nvPr/>
        </p:nvSpPr>
        <p:spPr>
          <a:xfrm>
            <a:off x="12650724" y="6987844"/>
            <a:ext cx="155448" cy="21945"/>
          </a:xfrm>
          <a:prstGeom prst="rect">
            <a:avLst/>
          </a:prstGeom>
          <a:solidFill>
            <a:srgbClr val="9DB0BD"/>
          </a:solidFill>
          <a:ln>
            <a:noFill/>
          </a:ln>
        </p:spPr>
        <p:txBody>
          <a:bodyPr rtlCol="0" anchor="ctr"/>
          <a:lstStyle/>
          <a:p>
            <a:pPr algn="ctr"/>
          </a:p>
        </p:txBody>
      </p:sp>
      <p:sp>
        <p:nvSpPr>
          <p:cNvPr id="237" name="Rectangle 236"/>
          <p:cNvSpPr/>
          <p:nvPr/>
        </p:nvSpPr>
        <p:spPr>
          <a:xfrm>
            <a:off x="12949732" y="6987844"/>
            <a:ext cx="155448" cy="21945"/>
          </a:xfrm>
          <a:prstGeom prst="rect">
            <a:avLst/>
          </a:prstGeom>
          <a:solidFill>
            <a:srgbClr val="9DB0BD"/>
          </a:solidFill>
          <a:ln>
            <a:noFill/>
          </a:ln>
        </p:spPr>
        <p:txBody>
          <a:bodyPr rtlCol="0" anchor="ctr"/>
          <a:lstStyle/>
          <a:p>
            <a:pPr algn="ctr"/>
          </a:p>
        </p:txBody>
      </p:sp>
      <p:sp>
        <p:nvSpPr>
          <p:cNvPr id="238" name="Rectangle 237"/>
          <p:cNvSpPr/>
          <p:nvPr/>
        </p:nvSpPr>
        <p:spPr>
          <a:xfrm>
            <a:off x="13248741" y="6987844"/>
            <a:ext cx="155448" cy="21945"/>
          </a:xfrm>
          <a:prstGeom prst="rect">
            <a:avLst/>
          </a:prstGeom>
          <a:solidFill>
            <a:srgbClr val="9DB0BD"/>
          </a:solidFill>
          <a:ln>
            <a:noFill/>
          </a:ln>
        </p:spPr>
        <p:txBody>
          <a:bodyPr rtlCol="0" anchor="ctr"/>
          <a:lstStyle/>
          <a:p>
            <a:pPr algn="ctr"/>
          </a:p>
        </p:txBody>
      </p:sp>
      <p:sp>
        <p:nvSpPr>
          <p:cNvPr id="239" name="Rectangle 238"/>
          <p:cNvSpPr/>
          <p:nvPr/>
        </p:nvSpPr>
        <p:spPr>
          <a:xfrm>
            <a:off x="13547750" y="6987844"/>
            <a:ext cx="155448" cy="21945"/>
          </a:xfrm>
          <a:prstGeom prst="rect">
            <a:avLst/>
          </a:prstGeom>
          <a:solidFill>
            <a:srgbClr val="9DB0BD"/>
          </a:solidFill>
          <a:ln>
            <a:noFill/>
          </a:ln>
        </p:spPr>
        <p:txBody>
          <a:bodyPr rtlCol="0" anchor="ctr"/>
          <a:lstStyle/>
          <a:p>
            <a:pPr algn="ctr"/>
          </a:p>
        </p:txBody>
      </p:sp>
      <p:sp>
        <p:nvSpPr>
          <p:cNvPr id="240" name="Rectangle 239"/>
          <p:cNvSpPr/>
          <p:nvPr/>
        </p:nvSpPr>
        <p:spPr>
          <a:xfrm>
            <a:off x="13846759" y="6987844"/>
            <a:ext cx="155448" cy="21945"/>
          </a:xfrm>
          <a:prstGeom prst="rect">
            <a:avLst/>
          </a:prstGeom>
          <a:solidFill>
            <a:srgbClr val="9DB0BD"/>
          </a:solidFill>
          <a:ln>
            <a:noFill/>
          </a:ln>
        </p:spPr>
        <p:txBody>
          <a:bodyPr rtlCol="0" anchor="ctr"/>
          <a:lstStyle/>
          <a:p>
            <a:pPr algn="ctr"/>
          </a:p>
        </p:txBody>
      </p:sp>
      <p:sp>
        <p:nvSpPr>
          <p:cNvPr id="241" name="Rectangle 240"/>
          <p:cNvSpPr/>
          <p:nvPr/>
        </p:nvSpPr>
        <p:spPr>
          <a:xfrm>
            <a:off x="14145767" y="6987844"/>
            <a:ext cx="155448" cy="21945"/>
          </a:xfrm>
          <a:prstGeom prst="rect">
            <a:avLst/>
          </a:prstGeom>
          <a:solidFill>
            <a:srgbClr val="9DB0BD"/>
          </a:solidFill>
          <a:ln>
            <a:noFill/>
          </a:ln>
        </p:spPr>
        <p:txBody>
          <a:bodyPr rtlCol="0" anchor="ctr"/>
          <a:lstStyle/>
          <a:p>
            <a:pPr algn="ctr"/>
          </a:p>
        </p:txBody>
      </p:sp>
      <p:sp>
        <p:nvSpPr>
          <p:cNvPr id="242" name="Rectangle 241"/>
          <p:cNvSpPr/>
          <p:nvPr/>
        </p:nvSpPr>
        <p:spPr>
          <a:xfrm>
            <a:off x="14444776" y="6987844"/>
            <a:ext cx="155448" cy="21945"/>
          </a:xfrm>
          <a:prstGeom prst="rect">
            <a:avLst/>
          </a:prstGeom>
          <a:solidFill>
            <a:srgbClr val="9DB0BD"/>
          </a:solidFill>
          <a:ln>
            <a:noFill/>
          </a:ln>
        </p:spPr>
        <p:txBody>
          <a:bodyPr rtlCol="0" anchor="ctr"/>
          <a:lstStyle/>
          <a:p>
            <a:pPr algn="ctr"/>
          </a:p>
        </p:txBody>
      </p:sp>
      <p:sp>
        <p:nvSpPr>
          <p:cNvPr id="243" name="Rectangle 242"/>
          <p:cNvSpPr/>
          <p:nvPr/>
        </p:nvSpPr>
        <p:spPr>
          <a:xfrm>
            <a:off x="14743785" y="6987844"/>
            <a:ext cx="155448" cy="21945"/>
          </a:xfrm>
          <a:prstGeom prst="rect">
            <a:avLst/>
          </a:prstGeom>
          <a:solidFill>
            <a:srgbClr val="9DB0BD"/>
          </a:solidFill>
          <a:ln>
            <a:noFill/>
          </a:ln>
        </p:spPr>
        <p:txBody>
          <a:bodyPr rtlCol="0" anchor="ctr"/>
          <a:lstStyle/>
          <a:p>
            <a:pPr algn="ctr"/>
          </a:p>
        </p:txBody>
      </p:sp>
      <p:sp>
        <p:nvSpPr>
          <p:cNvPr id="244" name="Rectangle 243"/>
          <p:cNvSpPr/>
          <p:nvPr/>
        </p:nvSpPr>
        <p:spPr>
          <a:xfrm>
            <a:off x="15042794" y="6987844"/>
            <a:ext cx="155448" cy="21945"/>
          </a:xfrm>
          <a:prstGeom prst="rect">
            <a:avLst/>
          </a:prstGeom>
          <a:solidFill>
            <a:srgbClr val="9DB0BD"/>
          </a:solidFill>
          <a:ln>
            <a:noFill/>
          </a:ln>
        </p:spPr>
        <p:txBody>
          <a:bodyPr rtlCol="0" anchor="ctr"/>
          <a:lstStyle/>
          <a:p>
            <a:pPr algn="ctr"/>
          </a:p>
        </p:txBody>
      </p:sp>
      <p:sp>
        <p:nvSpPr>
          <p:cNvPr id="245" name="Rectangle 244"/>
          <p:cNvSpPr/>
          <p:nvPr/>
        </p:nvSpPr>
        <p:spPr>
          <a:xfrm>
            <a:off x="15341803" y="6987844"/>
            <a:ext cx="155448" cy="21945"/>
          </a:xfrm>
          <a:prstGeom prst="rect">
            <a:avLst/>
          </a:prstGeom>
          <a:solidFill>
            <a:srgbClr val="9DB0BD"/>
          </a:solidFill>
          <a:ln>
            <a:noFill/>
          </a:ln>
        </p:spPr>
        <p:txBody>
          <a:bodyPr rtlCol="0" anchor="ctr"/>
          <a:lstStyle/>
          <a:p>
            <a:pPr algn="ctr"/>
          </a:p>
        </p:txBody>
      </p:sp>
      <p:sp>
        <p:nvSpPr>
          <p:cNvPr id="246" name="Rectangle 245"/>
          <p:cNvSpPr/>
          <p:nvPr/>
        </p:nvSpPr>
        <p:spPr>
          <a:xfrm>
            <a:off x="15640812" y="6987844"/>
            <a:ext cx="155448" cy="21945"/>
          </a:xfrm>
          <a:prstGeom prst="rect">
            <a:avLst/>
          </a:prstGeom>
          <a:solidFill>
            <a:srgbClr val="9DB0BD"/>
          </a:solidFill>
          <a:ln>
            <a:noFill/>
          </a:ln>
        </p:spPr>
        <p:txBody>
          <a:bodyPr rtlCol="0" anchor="ctr"/>
          <a:lstStyle/>
          <a:p>
            <a:pPr algn="ctr"/>
          </a:p>
        </p:txBody>
      </p:sp>
      <p:sp>
        <p:nvSpPr>
          <p:cNvPr id="247" name="Rectangle 246"/>
          <p:cNvSpPr/>
          <p:nvPr/>
        </p:nvSpPr>
        <p:spPr>
          <a:xfrm>
            <a:off x="15939820" y="6987844"/>
            <a:ext cx="155448" cy="21945"/>
          </a:xfrm>
          <a:prstGeom prst="rect">
            <a:avLst/>
          </a:prstGeom>
          <a:solidFill>
            <a:srgbClr val="9DB0BD"/>
          </a:solidFill>
          <a:ln>
            <a:noFill/>
          </a:ln>
        </p:spPr>
        <p:txBody>
          <a:bodyPr rtlCol="0" anchor="ctr"/>
          <a:lstStyle/>
          <a:p>
            <a:pPr algn="ctr"/>
          </a:p>
        </p:txBody>
      </p:sp>
      <p:sp>
        <p:nvSpPr>
          <p:cNvPr id="248" name="Rectangle 247"/>
          <p:cNvSpPr/>
          <p:nvPr/>
        </p:nvSpPr>
        <p:spPr>
          <a:xfrm>
            <a:off x="16238829" y="6987844"/>
            <a:ext cx="155448" cy="21945"/>
          </a:xfrm>
          <a:prstGeom prst="rect">
            <a:avLst/>
          </a:prstGeom>
          <a:solidFill>
            <a:srgbClr val="9DB0BD"/>
          </a:solidFill>
          <a:ln>
            <a:noFill/>
          </a:ln>
        </p:spPr>
        <p:txBody>
          <a:bodyPr rtlCol="0" anchor="ctr"/>
          <a:lstStyle/>
          <a:p>
            <a:pPr algn="ctr"/>
          </a:p>
        </p:txBody>
      </p:sp>
      <p:sp>
        <p:nvSpPr>
          <p:cNvPr id="249" name="Rectangle 248"/>
          <p:cNvSpPr/>
          <p:nvPr/>
        </p:nvSpPr>
        <p:spPr>
          <a:xfrm>
            <a:off x="16537838" y="6987844"/>
            <a:ext cx="155448" cy="21945"/>
          </a:xfrm>
          <a:prstGeom prst="rect">
            <a:avLst/>
          </a:prstGeom>
          <a:solidFill>
            <a:srgbClr val="9DB0BD"/>
          </a:solidFill>
          <a:ln>
            <a:noFill/>
          </a:ln>
        </p:spPr>
        <p:txBody>
          <a:bodyPr rtlCol="0" anchor="ctr"/>
          <a:lstStyle/>
          <a:p>
            <a:pPr algn="ctr"/>
          </a:p>
        </p:txBody>
      </p:sp>
      <p:sp>
        <p:nvSpPr>
          <p:cNvPr id="250" name="Rectangle 249"/>
          <p:cNvSpPr/>
          <p:nvPr/>
        </p:nvSpPr>
        <p:spPr>
          <a:xfrm>
            <a:off x="16836847" y="6987844"/>
            <a:ext cx="155448" cy="21945"/>
          </a:xfrm>
          <a:prstGeom prst="rect">
            <a:avLst/>
          </a:prstGeom>
          <a:solidFill>
            <a:srgbClr val="9DB0BD"/>
          </a:solidFill>
          <a:ln>
            <a:noFill/>
          </a:ln>
        </p:spPr>
        <p:txBody>
          <a:bodyPr rtlCol="0" anchor="ctr"/>
          <a:lstStyle/>
          <a:p>
            <a:pPr algn="ctr"/>
          </a:p>
        </p:txBody>
      </p:sp>
      <p:sp>
        <p:nvSpPr>
          <p:cNvPr id="251" name="Rectangle 250"/>
          <p:cNvSpPr/>
          <p:nvPr/>
        </p:nvSpPr>
        <p:spPr>
          <a:xfrm>
            <a:off x="822960" y="7338059"/>
            <a:ext cx="16642080" cy="617219"/>
          </a:xfrm>
          <a:prstGeom prst="rect">
            <a:avLst/>
          </a:prstGeom>
          <a:solidFill>
            <a:srgbClr val="F7F7F3"/>
          </a:solidFill>
          <a:ln>
            <a:noFill/>
          </a:ln>
        </p:spPr>
        <p:txBody>
          <a:bodyPr rtlCol="0" anchor="ctr"/>
          <a:lstStyle/>
          <a:p>
            <a:pPr algn="ctr"/>
          </a:p>
        </p:txBody>
      </p:sp>
      <p:sp>
        <p:nvSpPr>
          <p:cNvPr id="252" name="TextBox 251"/>
          <p:cNvSpPr txBox="1"/>
          <p:nvPr/>
        </p:nvSpPr>
        <p:spPr>
          <a:xfrm>
            <a:off x="905256" y="7456931"/>
            <a:ext cx="1207008" cy="274320"/>
          </a:xfrm>
          <a:prstGeom prst="rect">
            <a:avLst/>
          </a:prstGeom>
          <a:noFill/>
        </p:spPr>
        <p:txBody>
          <a:bodyPr wrap="square" lIns="0" rIns="0" tIns="0" bIns="0">
            <a:spAutoFit/>
          </a:bodyPr>
          <a:lstStyle/>
          <a:p>
            <a:pPr>
              <a:lnSpc>
                <a:spcPts val="1722"/>
              </a:lnSpc>
              <a:spcBef>
                <a:spcPts val="0"/>
              </a:spcBef>
              <a:spcAft>
                <a:spcPts val="0"/>
              </a:spcAft>
              <a:defRPr sz="1400" b="1">
                <a:solidFill>
                  <a:srgbClr val="FF6633"/>
                </a:solidFill>
                <a:latin typeface="Montserrat"/>
              </a:defRPr>
            </a:pPr>
            <a:r>
              <a:t>BUSINESS</a:t>
            </a:r>
          </a:p>
        </p:txBody>
      </p:sp>
      <p:sp>
        <p:nvSpPr>
          <p:cNvPr id="253" name="TextBox 252"/>
          <p:cNvSpPr txBox="1"/>
          <p:nvPr/>
        </p:nvSpPr>
        <p:spPr>
          <a:xfrm>
            <a:off x="2157984" y="7402067"/>
            <a:ext cx="5687568" cy="640080"/>
          </a:xfrm>
          <a:prstGeom prst="rect">
            <a:avLst/>
          </a:prstGeom>
          <a:noFill/>
        </p:spPr>
        <p:txBody>
          <a:bodyPr wrap="square" lIns="0" rIns="0" tIns="0" bIns="0">
            <a:spAutoFit/>
          </a:bodyPr>
          <a:lstStyle/>
          <a:p>
            <a:pPr>
              <a:lnSpc>
                <a:spcPts val="2350"/>
              </a:lnSpc>
              <a:spcBef>
                <a:spcPts val="0"/>
              </a:spcBef>
              <a:spcAft>
                <a:spcPts val="0"/>
              </a:spcAft>
              <a:defRPr sz="2400" b="0">
                <a:solidFill>
                  <a:srgbClr val="002C49"/>
                </a:solidFill>
                <a:latin typeface="Montserrat"/>
              </a:defRPr>
            </a:pPr>
            <a:r>
              <a:t>Top Performers</a:t>
            </a:r>
          </a:p>
        </p:txBody>
      </p:sp>
      <p:cxnSp>
        <p:nvCxnSpPr>
          <p:cNvPr id="254" name="Connector 253"/>
          <p:cNvCxnSpPr/>
          <p:nvPr/>
        </p:nvCxnSpPr>
        <p:spPr>
          <a:xfrm>
            <a:off x="8101583" y="7338059"/>
            <a:ext cx="0" cy="640080"/>
          </a:xfrm>
          <a:prstGeom prst="line">
            <a:avLst/>
          </a:prstGeom>
          <a:ln w="8255">
            <a:solidFill>
              <a:srgbClr val="D9E2E7"/>
            </a:solidFill>
          </a:ln>
        </p:spPr>
      </p:cxnSp>
      <p:cxnSp>
        <p:nvCxnSpPr>
          <p:cNvPr id="255" name="Connector 254"/>
          <p:cNvCxnSpPr/>
          <p:nvPr/>
        </p:nvCxnSpPr>
        <p:spPr>
          <a:xfrm>
            <a:off x="8865108" y="7338059"/>
            <a:ext cx="0" cy="640080"/>
          </a:xfrm>
          <a:prstGeom prst="line">
            <a:avLst/>
          </a:prstGeom>
          <a:ln w="8255">
            <a:solidFill>
              <a:srgbClr val="D9E2E7"/>
            </a:solidFill>
          </a:ln>
        </p:spPr>
      </p:cxnSp>
      <p:cxnSp>
        <p:nvCxnSpPr>
          <p:cNvPr id="256" name="Connector 255"/>
          <p:cNvCxnSpPr/>
          <p:nvPr/>
        </p:nvCxnSpPr>
        <p:spPr>
          <a:xfrm>
            <a:off x="9628632" y="7338059"/>
            <a:ext cx="0" cy="640080"/>
          </a:xfrm>
          <a:prstGeom prst="line">
            <a:avLst/>
          </a:prstGeom>
          <a:ln w="8255">
            <a:solidFill>
              <a:srgbClr val="D9E2E7"/>
            </a:solidFill>
          </a:ln>
        </p:spPr>
      </p:cxnSp>
      <p:cxnSp>
        <p:nvCxnSpPr>
          <p:cNvPr id="257" name="Connector 256"/>
          <p:cNvCxnSpPr/>
          <p:nvPr/>
        </p:nvCxnSpPr>
        <p:spPr>
          <a:xfrm>
            <a:off x="10392155" y="7338059"/>
            <a:ext cx="0" cy="640080"/>
          </a:xfrm>
          <a:prstGeom prst="line">
            <a:avLst/>
          </a:prstGeom>
          <a:ln w="8255">
            <a:solidFill>
              <a:srgbClr val="D9E2E7"/>
            </a:solidFill>
          </a:ln>
        </p:spPr>
      </p:cxnSp>
      <p:cxnSp>
        <p:nvCxnSpPr>
          <p:cNvPr id="258" name="Connector 257"/>
          <p:cNvCxnSpPr/>
          <p:nvPr/>
        </p:nvCxnSpPr>
        <p:spPr>
          <a:xfrm>
            <a:off x="11155680" y="7338059"/>
            <a:ext cx="0" cy="640080"/>
          </a:xfrm>
          <a:prstGeom prst="line">
            <a:avLst/>
          </a:prstGeom>
          <a:ln w="8255">
            <a:solidFill>
              <a:srgbClr val="D9E2E7"/>
            </a:solidFill>
          </a:ln>
        </p:spPr>
      </p:cxnSp>
      <p:cxnSp>
        <p:nvCxnSpPr>
          <p:cNvPr id="259" name="Connector 258"/>
          <p:cNvCxnSpPr/>
          <p:nvPr/>
        </p:nvCxnSpPr>
        <p:spPr>
          <a:xfrm>
            <a:off x="11919204" y="7338059"/>
            <a:ext cx="0" cy="640080"/>
          </a:xfrm>
          <a:prstGeom prst="line">
            <a:avLst/>
          </a:prstGeom>
          <a:ln w="8255">
            <a:solidFill>
              <a:srgbClr val="D9E2E7"/>
            </a:solidFill>
          </a:ln>
        </p:spPr>
      </p:cxnSp>
      <p:cxnSp>
        <p:nvCxnSpPr>
          <p:cNvPr id="260" name="Connector 259"/>
          <p:cNvCxnSpPr/>
          <p:nvPr/>
        </p:nvCxnSpPr>
        <p:spPr>
          <a:xfrm>
            <a:off x="12682728" y="7338059"/>
            <a:ext cx="0" cy="640080"/>
          </a:xfrm>
          <a:prstGeom prst="line">
            <a:avLst/>
          </a:prstGeom>
          <a:ln w="8255">
            <a:solidFill>
              <a:srgbClr val="D9E2E7"/>
            </a:solidFill>
          </a:ln>
        </p:spPr>
      </p:cxnSp>
      <p:cxnSp>
        <p:nvCxnSpPr>
          <p:cNvPr id="261" name="Connector 260"/>
          <p:cNvCxnSpPr/>
          <p:nvPr/>
        </p:nvCxnSpPr>
        <p:spPr>
          <a:xfrm>
            <a:off x="13446251" y="7338059"/>
            <a:ext cx="0" cy="640080"/>
          </a:xfrm>
          <a:prstGeom prst="line">
            <a:avLst/>
          </a:prstGeom>
          <a:ln w="8255">
            <a:solidFill>
              <a:srgbClr val="D9E2E7"/>
            </a:solidFill>
          </a:ln>
        </p:spPr>
      </p:cxnSp>
      <p:cxnSp>
        <p:nvCxnSpPr>
          <p:cNvPr id="262" name="Connector 261"/>
          <p:cNvCxnSpPr/>
          <p:nvPr/>
        </p:nvCxnSpPr>
        <p:spPr>
          <a:xfrm>
            <a:off x="14209776" y="7338059"/>
            <a:ext cx="0" cy="640080"/>
          </a:xfrm>
          <a:prstGeom prst="line">
            <a:avLst/>
          </a:prstGeom>
          <a:ln w="8255">
            <a:solidFill>
              <a:srgbClr val="D9E2E7"/>
            </a:solidFill>
          </a:ln>
        </p:spPr>
      </p:cxnSp>
      <p:cxnSp>
        <p:nvCxnSpPr>
          <p:cNvPr id="263" name="Connector 262"/>
          <p:cNvCxnSpPr/>
          <p:nvPr/>
        </p:nvCxnSpPr>
        <p:spPr>
          <a:xfrm>
            <a:off x="14973300" y="7338059"/>
            <a:ext cx="0" cy="640080"/>
          </a:xfrm>
          <a:prstGeom prst="line">
            <a:avLst/>
          </a:prstGeom>
          <a:ln w="8255">
            <a:solidFill>
              <a:srgbClr val="D9E2E7"/>
            </a:solidFill>
          </a:ln>
        </p:spPr>
      </p:cxnSp>
      <p:cxnSp>
        <p:nvCxnSpPr>
          <p:cNvPr id="264" name="Connector 263"/>
          <p:cNvCxnSpPr/>
          <p:nvPr/>
        </p:nvCxnSpPr>
        <p:spPr>
          <a:xfrm>
            <a:off x="15736824" y="7338059"/>
            <a:ext cx="0" cy="640080"/>
          </a:xfrm>
          <a:prstGeom prst="line">
            <a:avLst/>
          </a:prstGeom>
          <a:ln w="8255">
            <a:solidFill>
              <a:srgbClr val="D9E2E7"/>
            </a:solidFill>
          </a:ln>
        </p:spPr>
      </p:cxnSp>
      <p:cxnSp>
        <p:nvCxnSpPr>
          <p:cNvPr id="265" name="Connector 264"/>
          <p:cNvCxnSpPr/>
          <p:nvPr/>
        </p:nvCxnSpPr>
        <p:spPr>
          <a:xfrm>
            <a:off x="16500347" y="7338059"/>
            <a:ext cx="0" cy="640080"/>
          </a:xfrm>
          <a:prstGeom prst="line">
            <a:avLst/>
          </a:prstGeom>
          <a:ln w="8255">
            <a:solidFill>
              <a:srgbClr val="D9E2E7"/>
            </a:solidFill>
          </a:ln>
        </p:spPr>
      </p:cxnSp>
      <p:cxnSp>
        <p:nvCxnSpPr>
          <p:cNvPr id="266" name="Connector 265"/>
          <p:cNvCxnSpPr/>
          <p:nvPr/>
        </p:nvCxnSpPr>
        <p:spPr>
          <a:xfrm>
            <a:off x="17263872" y="7338059"/>
            <a:ext cx="0" cy="640080"/>
          </a:xfrm>
          <a:prstGeom prst="line">
            <a:avLst/>
          </a:prstGeom>
          <a:ln w="8255">
            <a:solidFill>
              <a:srgbClr val="D9E2E7"/>
            </a:solidFill>
          </a:ln>
        </p:spPr>
      </p:cxnSp>
      <p:sp>
        <p:nvSpPr>
          <p:cNvPr id="267" name="Rectangle 266"/>
          <p:cNvSpPr/>
          <p:nvPr/>
        </p:nvSpPr>
        <p:spPr>
          <a:xfrm>
            <a:off x="10456163" y="7566660"/>
            <a:ext cx="1780793" cy="137160"/>
          </a:xfrm>
          <a:prstGeom prst="rect">
            <a:avLst/>
          </a:prstGeom>
          <a:solidFill>
            <a:srgbClr val="FF6633"/>
          </a:solidFill>
          <a:ln>
            <a:noFill/>
          </a:ln>
        </p:spPr>
        <p:txBody>
          <a:bodyPr rtlCol="0" anchor="ctr"/>
          <a:lstStyle/>
          <a:p>
            <a:pPr algn="ctr"/>
          </a:p>
        </p:txBody>
      </p:sp>
      <p:sp>
        <p:nvSpPr>
          <p:cNvPr id="268" name="Rectangle 267"/>
          <p:cNvSpPr/>
          <p:nvPr/>
        </p:nvSpPr>
        <p:spPr>
          <a:xfrm>
            <a:off x="13510259" y="7566660"/>
            <a:ext cx="2162556" cy="137160"/>
          </a:xfrm>
          <a:prstGeom prst="rect">
            <a:avLst/>
          </a:prstGeom>
          <a:solidFill>
            <a:srgbClr val="FF6633"/>
          </a:solidFill>
          <a:ln>
            <a:noFill/>
          </a:ln>
        </p:spPr>
        <p:txBody>
          <a:bodyPr rtlCol="0" anchor="ctr"/>
          <a:lstStyle/>
          <a:p>
            <a:pPr algn="ctr"/>
          </a:p>
        </p:txBody>
      </p:sp>
      <p:sp>
        <p:nvSpPr>
          <p:cNvPr id="269" name="TextBox 268"/>
          <p:cNvSpPr txBox="1"/>
          <p:nvPr/>
        </p:nvSpPr>
        <p:spPr>
          <a:xfrm>
            <a:off x="905256" y="8097012"/>
            <a:ext cx="1207008" cy="274320"/>
          </a:xfrm>
          <a:prstGeom prst="rect">
            <a:avLst/>
          </a:prstGeom>
          <a:noFill/>
        </p:spPr>
        <p:txBody>
          <a:bodyPr wrap="square" lIns="0" rIns="0" tIns="0" bIns="0">
            <a:spAutoFit/>
          </a:bodyPr>
          <a:lstStyle/>
          <a:p>
            <a:pPr>
              <a:lnSpc>
                <a:spcPts val="1722"/>
              </a:lnSpc>
              <a:spcBef>
                <a:spcPts val="0"/>
              </a:spcBef>
              <a:spcAft>
                <a:spcPts val="0"/>
              </a:spcAft>
              <a:defRPr sz="1400" b="1">
                <a:solidFill>
                  <a:srgbClr val="FF6633"/>
                </a:solidFill>
                <a:latin typeface="Montserrat"/>
              </a:defRPr>
            </a:pPr>
          </a:p>
        </p:txBody>
      </p:sp>
      <p:sp>
        <p:nvSpPr>
          <p:cNvPr id="270" name="TextBox 269"/>
          <p:cNvSpPr txBox="1"/>
          <p:nvPr/>
        </p:nvSpPr>
        <p:spPr>
          <a:xfrm>
            <a:off x="2157984" y="8042148"/>
            <a:ext cx="5687568" cy="640080"/>
          </a:xfrm>
          <a:prstGeom prst="rect">
            <a:avLst/>
          </a:prstGeom>
          <a:noFill/>
        </p:spPr>
        <p:txBody>
          <a:bodyPr wrap="square" lIns="0" rIns="0" tIns="0" bIns="0">
            <a:spAutoFit/>
          </a:bodyPr>
          <a:lstStyle/>
          <a:p>
            <a:pPr>
              <a:lnSpc>
                <a:spcPts val="2350"/>
              </a:lnSpc>
              <a:spcBef>
                <a:spcPts val="0"/>
              </a:spcBef>
              <a:spcAft>
                <a:spcPts val="0"/>
              </a:spcAft>
              <a:defRPr sz="2400" b="0">
                <a:solidFill>
                  <a:srgbClr val="002C49"/>
                </a:solidFill>
                <a:latin typeface="Montserrat"/>
              </a:defRPr>
            </a:pPr>
            <a:r>
              <a:t>Vidéo corporate Groupe • TBD</a:t>
            </a:r>
          </a:p>
        </p:txBody>
      </p:sp>
      <p:cxnSp>
        <p:nvCxnSpPr>
          <p:cNvPr id="271" name="Connector 270"/>
          <p:cNvCxnSpPr/>
          <p:nvPr/>
        </p:nvCxnSpPr>
        <p:spPr>
          <a:xfrm>
            <a:off x="8101583" y="7978140"/>
            <a:ext cx="0" cy="640079"/>
          </a:xfrm>
          <a:prstGeom prst="line">
            <a:avLst/>
          </a:prstGeom>
          <a:ln w="8255">
            <a:solidFill>
              <a:srgbClr val="D9E2E7"/>
            </a:solidFill>
          </a:ln>
        </p:spPr>
      </p:cxnSp>
      <p:cxnSp>
        <p:nvCxnSpPr>
          <p:cNvPr id="272" name="Connector 271"/>
          <p:cNvCxnSpPr/>
          <p:nvPr/>
        </p:nvCxnSpPr>
        <p:spPr>
          <a:xfrm>
            <a:off x="8865108" y="7978140"/>
            <a:ext cx="0" cy="640079"/>
          </a:xfrm>
          <a:prstGeom prst="line">
            <a:avLst/>
          </a:prstGeom>
          <a:ln w="8255">
            <a:solidFill>
              <a:srgbClr val="D9E2E7"/>
            </a:solidFill>
          </a:ln>
        </p:spPr>
      </p:cxnSp>
      <p:cxnSp>
        <p:nvCxnSpPr>
          <p:cNvPr id="273" name="Connector 272"/>
          <p:cNvCxnSpPr/>
          <p:nvPr/>
        </p:nvCxnSpPr>
        <p:spPr>
          <a:xfrm>
            <a:off x="9628632" y="7978140"/>
            <a:ext cx="0" cy="640079"/>
          </a:xfrm>
          <a:prstGeom prst="line">
            <a:avLst/>
          </a:prstGeom>
          <a:ln w="8255">
            <a:solidFill>
              <a:srgbClr val="D9E2E7"/>
            </a:solidFill>
          </a:ln>
        </p:spPr>
      </p:cxnSp>
      <p:cxnSp>
        <p:nvCxnSpPr>
          <p:cNvPr id="274" name="Connector 273"/>
          <p:cNvCxnSpPr/>
          <p:nvPr/>
        </p:nvCxnSpPr>
        <p:spPr>
          <a:xfrm>
            <a:off x="10392155" y="7978140"/>
            <a:ext cx="0" cy="640079"/>
          </a:xfrm>
          <a:prstGeom prst="line">
            <a:avLst/>
          </a:prstGeom>
          <a:ln w="8255">
            <a:solidFill>
              <a:srgbClr val="D9E2E7"/>
            </a:solidFill>
          </a:ln>
        </p:spPr>
      </p:cxnSp>
      <p:cxnSp>
        <p:nvCxnSpPr>
          <p:cNvPr id="275" name="Connector 274"/>
          <p:cNvCxnSpPr/>
          <p:nvPr/>
        </p:nvCxnSpPr>
        <p:spPr>
          <a:xfrm>
            <a:off x="11155680" y="7978140"/>
            <a:ext cx="0" cy="640079"/>
          </a:xfrm>
          <a:prstGeom prst="line">
            <a:avLst/>
          </a:prstGeom>
          <a:ln w="8255">
            <a:solidFill>
              <a:srgbClr val="D9E2E7"/>
            </a:solidFill>
          </a:ln>
        </p:spPr>
      </p:cxnSp>
      <p:cxnSp>
        <p:nvCxnSpPr>
          <p:cNvPr id="276" name="Connector 275"/>
          <p:cNvCxnSpPr/>
          <p:nvPr/>
        </p:nvCxnSpPr>
        <p:spPr>
          <a:xfrm>
            <a:off x="11919204" y="7978140"/>
            <a:ext cx="0" cy="640079"/>
          </a:xfrm>
          <a:prstGeom prst="line">
            <a:avLst/>
          </a:prstGeom>
          <a:ln w="8255">
            <a:solidFill>
              <a:srgbClr val="D9E2E7"/>
            </a:solidFill>
          </a:ln>
        </p:spPr>
      </p:cxnSp>
      <p:cxnSp>
        <p:nvCxnSpPr>
          <p:cNvPr id="277" name="Connector 276"/>
          <p:cNvCxnSpPr/>
          <p:nvPr/>
        </p:nvCxnSpPr>
        <p:spPr>
          <a:xfrm>
            <a:off x="12682728" y="7978140"/>
            <a:ext cx="0" cy="640079"/>
          </a:xfrm>
          <a:prstGeom prst="line">
            <a:avLst/>
          </a:prstGeom>
          <a:ln w="8255">
            <a:solidFill>
              <a:srgbClr val="D9E2E7"/>
            </a:solidFill>
          </a:ln>
        </p:spPr>
      </p:cxnSp>
      <p:cxnSp>
        <p:nvCxnSpPr>
          <p:cNvPr id="278" name="Connector 277"/>
          <p:cNvCxnSpPr/>
          <p:nvPr/>
        </p:nvCxnSpPr>
        <p:spPr>
          <a:xfrm>
            <a:off x="13446251" y="7978140"/>
            <a:ext cx="0" cy="640079"/>
          </a:xfrm>
          <a:prstGeom prst="line">
            <a:avLst/>
          </a:prstGeom>
          <a:ln w="8255">
            <a:solidFill>
              <a:srgbClr val="D9E2E7"/>
            </a:solidFill>
          </a:ln>
        </p:spPr>
      </p:cxnSp>
      <p:cxnSp>
        <p:nvCxnSpPr>
          <p:cNvPr id="279" name="Connector 278"/>
          <p:cNvCxnSpPr/>
          <p:nvPr/>
        </p:nvCxnSpPr>
        <p:spPr>
          <a:xfrm>
            <a:off x="14209776" y="7978140"/>
            <a:ext cx="0" cy="640079"/>
          </a:xfrm>
          <a:prstGeom prst="line">
            <a:avLst/>
          </a:prstGeom>
          <a:ln w="8255">
            <a:solidFill>
              <a:srgbClr val="D9E2E7"/>
            </a:solidFill>
          </a:ln>
        </p:spPr>
      </p:cxnSp>
      <p:cxnSp>
        <p:nvCxnSpPr>
          <p:cNvPr id="280" name="Connector 279"/>
          <p:cNvCxnSpPr/>
          <p:nvPr/>
        </p:nvCxnSpPr>
        <p:spPr>
          <a:xfrm>
            <a:off x="14973300" y="7978140"/>
            <a:ext cx="0" cy="640079"/>
          </a:xfrm>
          <a:prstGeom prst="line">
            <a:avLst/>
          </a:prstGeom>
          <a:ln w="8255">
            <a:solidFill>
              <a:srgbClr val="D9E2E7"/>
            </a:solidFill>
          </a:ln>
        </p:spPr>
      </p:cxnSp>
      <p:cxnSp>
        <p:nvCxnSpPr>
          <p:cNvPr id="281" name="Connector 280"/>
          <p:cNvCxnSpPr/>
          <p:nvPr/>
        </p:nvCxnSpPr>
        <p:spPr>
          <a:xfrm>
            <a:off x="15736824" y="7978140"/>
            <a:ext cx="0" cy="640079"/>
          </a:xfrm>
          <a:prstGeom prst="line">
            <a:avLst/>
          </a:prstGeom>
          <a:ln w="8255">
            <a:solidFill>
              <a:srgbClr val="D9E2E7"/>
            </a:solidFill>
          </a:ln>
        </p:spPr>
      </p:cxnSp>
      <p:cxnSp>
        <p:nvCxnSpPr>
          <p:cNvPr id="282" name="Connector 281"/>
          <p:cNvCxnSpPr/>
          <p:nvPr/>
        </p:nvCxnSpPr>
        <p:spPr>
          <a:xfrm>
            <a:off x="16500347" y="7978140"/>
            <a:ext cx="0" cy="640079"/>
          </a:xfrm>
          <a:prstGeom prst="line">
            <a:avLst/>
          </a:prstGeom>
          <a:ln w="8255">
            <a:solidFill>
              <a:srgbClr val="D9E2E7"/>
            </a:solidFill>
          </a:ln>
        </p:spPr>
      </p:cxnSp>
      <p:cxnSp>
        <p:nvCxnSpPr>
          <p:cNvPr id="283" name="Connector 282"/>
          <p:cNvCxnSpPr/>
          <p:nvPr/>
        </p:nvCxnSpPr>
        <p:spPr>
          <a:xfrm>
            <a:off x="17263872" y="7978140"/>
            <a:ext cx="0" cy="640079"/>
          </a:xfrm>
          <a:prstGeom prst="line">
            <a:avLst/>
          </a:prstGeom>
          <a:ln w="8255">
            <a:solidFill>
              <a:srgbClr val="D9E2E7"/>
            </a:solidFill>
          </a:ln>
        </p:spPr>
      </p:cxnSp>
      <p:sp>
        <p:nvSpPr>
          <p:cNvPr id="284" name="Rectangle 283"/>
          <p:cNvSpPr/>
          <p:nvPr/>
        </p:nvSpPr>
        <p:spPr>
          <a:xfrm>
            <a:off x="8165592" y="8268004"/>
            <a:ext cx="155448" cy="21945"/>
          </a:xfrm>
          <a:prstGeom prst="rect">
            <a:avLst/>
          </a:prstGeom>
          <a:solidFill>
            <a:srgbClr val="9DB0BD"/>
          </a:solidFill>
          <a:ln>
            <a:noFill/>
          </a:ln>
        </p:spPr>
        <p:txBody>
          <a:bodyPr rtlCol="0" anchor="ctr"/>
          <a:lstStyle/>
          <a:p>
            <a:pPr algn="ctr"/>
          </a:p>
        </p:txBody>
      </p:sp>
      <p:sp>
        <p:nvSpPr>
          <p:cNvPr id="285" name="Rectangle 284"/>
          <p:cNvSpPr/>
          <p:nvPr/>
        </p:nvSpPr>
        <p:spPr>
          <a:xfrm>
            <a:off x="8464600" y="8268004"/>
            <a:ext cx="155448" cy="21945"/>
          </a:xfrm>
          <a:prstGeom prst="rect">
            <a:avLst/>
          </a:prstGeom>
          <a:solidFill>
            <a:srgbClr val="9DB0BD"/>
          </a:solidFill>
          <a:ln>
            <a:noFill/>
          </a:ln>
        </p:spPr>
        <p:txBody>
          <a:bodyPr rtlCol="0" anchor="ctr"/>
          <a:lstStyle/>
          <a:p>
            <a:pPr algn="ctr"/>
          </a:p>
        </p:txBody>
      </p:sp>
      <p:sp>
        <p:nvSpPr>
          <p:cNvPr id="286" name="Rectangle 285"/>
          <p:cNvSpPr/>
          <p:nvPr/>
        </p:nvSpPr>
        <p:spPr>
          <a:xfrm>
            <a:off x="8763609" y="8268004"/>
            <a:ext cx="155448" cy="21945"/>
          </a:xfrm>
          <a:prstGeom prst="rect">
            <a:avLst/>
          </a:prstGeom>
          <a:solidFill>
            <a:srgbClr val="9DB0BD"/>
          </a:solidFill>
          <a:ln>
            <a:noFill/>
          </a:ln>
        </p:spPr>
        <p:txBody>
          <a:bodyPr rtlCol="0" anchor="ctr"/>
          <a:lstStyle/>
          <a:p>
            <a:pPr algn="ctr"/>
          </a:p>
        </p:txBody>
      </p:sp>
      <p:sp>
        <p:nvSpPr>
          <p:cNvPr id="287" name="Rectangle 286"/>
          <p:cNvSpPr/>
          <p:nvPr/>
        </p:nvSpPr>
        <p:spPr>
          <a:xfrm>
            <a:off x="9062618" y="8268004"/>
            <a:ext cx="155448" cy="21945"/>
          </a:xfrm>
          <a:prstGeom prst="rect">
            <a:avLst/>
          </a:prstGeom>
          <a:solidFill>
            <a:srgbClr val="9DB0BD"/>
          </a:solidFill>
          <a:ln>
            <a:noFill/>
          </a:ln>
        </p:spPr>
        <p:txBody>
          <a:bodyPr rtlCol="0" anchor="ctr"/>
          <a:lstStyle/>
          <a:p>
            <a:pPr algn="ctr"/>
          </a:p>
        </p:txBody>
      </p:sp>
      <p:sp>
        <p:nvSpPr>
          <p:cNvPr id="288" name="Rectangle 287"/>
          <p:cNvSpPr/>
          <p:nvPr/>
        </p:nvSpPr>
        <p:spPr>
          <a:xfrm>
            <a:off x="9361627" y="8268004"/>
            <a:ext cx="155448" cy="21945"/>
          </a:xfrm>
          <a:prstGeom prst="rect">
            <a:avLst/>
          </a:prstGeom>
          <a:solidFill>
            <a:srgbClr val="9DB0BD"/>
          </a:solidFill>
          <a:ln>
            <a:noFill/>
          </a:ln>
        </p:spPr>
        <p:txBody>
          <a:bodyPr rtlCol="0" anchor="ctr"/>
          <a:lstStyle/>
          <a:p>
            <a:pPr algn="ctr"/>
          </a:p>
        </p:txBody>
      </p:sp>
      <p:sp>
        <p:nvSpPr>
          <p:cNvPr id="289" name="Rectangle 288"/>
          <p:cNvSpPr/>
          <p:nvPr/>
        </p:nvSpPr>
        <p:spPr>
          <a:xfrm>
            <a:off x="9660636" y="8268004"/>
            <a:ext cx="155448" cy="21945"/>
          </a:xfrm>
          <a:prstGeom prst="rect">
            <a:avLst/>
          </a:prstGeom>
          <a:solidFill>
            <a:srgbClr val="9DB0BD"/>
          </a:solidFill>
          <a:ln>
            <a:noFill/>
          </a:ln>
        </p:spPr>
        <p:txBody>
          <a:bodyPr rtlCol="0" anchor="ctr"/>
          <a:lstStyle/>
          <a:p>
            <a:pPr algn="ctr"/>
          </a:p>
        </p:txBody>
      </p:sp>
      <p:sp>
        <p:nvSpPr>
          <p:cNvPr id="290" name="Rectangle 289"/>
          <p:cNvSpPr/>
          <p:nvPr/>
        </p:nvSpPr>
        <p:spPr>
          <a:xfrm>
            <a:off x="9959644" y="8268004"/>
            <a:ext cx="155448" cy="21945"/>
          </a:xfrm>
          <a:prstGeom prst="rect">
            <a:avLst/>
          </a:prstGeom>
          <a:solidFill>
            <a:srgbClr val="9DB0BD"/>
          </a:solidFill>
          <a:ln>
            <a:noFill/>
          </a:ln>
        </p:spPr>
        <p:txBody>
          <a:bodyPr rtlCol="0" anchor="ctr"/>
          <a:lstStyle/>
          <a:p>
            <a:pPr algn="ctr"/>
          </a:p>
        </p:txBody>
      </p:sp>
      <p:sp>
        <p:nvSpPr>
          <p:cNvPr id="291" name="Rectangle 290"/>
          <p:cNvSpPr/>
          <p:nvPr/>
        </p:nvSpPr>
        <p:spPr>
          <a:xfrm>
            <a:off x="10258653" y="8268004"/>
            <a:ext cx="155448" cy="21945"/>
          </a:xfrm>
          <a:prstGeom prst="rect">
            <a:avLst/>
          </a:prstGeom>
          <a:solidFill>
            <a:srgbClr val="9DB0BD"/>
          </a:solidFill>
          <a:ln>
            <a:noFill/>
          </a:ln>
        </p:spPr>
        <p:txBody>
          <a:bodyPr rtlCol="0" anchor="ctr"/>
          <a:lstStyle/>
          <a:p>
            <a:pPr algn="ctr"/>
          </a:p>
        </p:txBody>
      </p:sp>
      <p:sp>
        <p:nvSpPr>
          <p:cNvPr id="292" name="Rectangle 291"/>
          <p:cNvSpPr/>
          <p:nvPr/>
        </p:nvSpPr>
        <p:spPr>
          <a:xfrm>
            <a:off x="10557662" y="8268004"/>
            <a:ext cx="155448" cy="21945"/>
          </a:xfrm>
          <a:prstGeom prst="rect">
            <a:avLst/>
          </a:prstGeom>
          <a:solidFill>
            <a:srgbClr val="9DB0BD"/>
          </a:solidFill>
          <a:ln>
            <a:noFill/>
          </a:ln>
        </p:spPr>
        <p:txBody>
          <a:bodyPr rtlCol="0" anchor="ctr"/>
          <a:lstStyle/>
          <a:p>
            <a:pPr algn="ctr"/>
          </a:p>
        </p:txBody>
      </p:sp>
      <p:sp>
        <p:nvSpPr>
          <p:cNvPr id="293" name="Rectangle 292"/>
          <p:cNvSpPr/>
          <p:nvPr/>
        </p:nvSpPr>
        <p:spPr>
          <a:xfrm>
            <a:off x="10856671" y="8268004"/>
            <a:ext cx="155448" cy="21945"/>
          </a:xfrm>
          <a:prstGeom prst="rect">
            <a:avLst/>
          </a:prstGeom>
          <a:solidFill>
            <a:srgbClr val="9DB0BD"/>
          </a:solidFill>
          <a:ln>
            <a:noFill/>
          </a:ln>
        </p:spPr>
        <p:txBody>
          <a:bodyPr rtlCol="0" anchor="ctr"/>
          <a:lstStyle/>
          <a:p>
            <a:pPr algn="ctr"/>
          </a:p>
        </p:txBody>
      </p:sp>
      <p:sp>
        <p:nvSpPr>
          <p:cNvPr id="294" name="Rectangle 293"/>
          <p:cNvSpPr/>
          <p:nvPr/>
        </p:nvSpPr>
        <p:spPr>
          <a:xfrm>
            <a:off x="11155680" y="8268004"/>
            <a:ext cx="155448" cy="21945"/>
          </a:xfrm>
          <a:prstGeom prst="rect">
            <a:avLst/>
          </a:prstGeom>
          <a:solidFill>
            <a:srgbClr val="9DB0BD"/>
          </a:solidFill>
          <a:ln>
            <a:noFill/>
          </a:ln>
        </p:spPr>
        <p:txBody>
          <a:bodyPr rtlCol="0" anchor="ctr"/>
          <a:lstStyle/>
          <a:p>
            <a:pPr algn="ctr"/>
          </a:p>
        </p:txBody>
      </p:sp>
      <p:sp>
        <p:nvSpPr>
          <p:cNvPr id="295" name="Rectangle 294"/>
          <p:cNvSpPr/>
          <p:nvPr/>
        </p:nvSpPr>
        <p:spPr>
          <a:xfrm>
            <a:off x="11454688" y="8268004"/>
            <a:ext cx="155448" cy="21945"/>
          </a:xfrm>
          <a:prstGeom prst="rect">
            <a:avLst/>
          </a:prstGeom>
          <a:solidFill>
            <a:srgbClr val="9DB0BD"/>
          </a:solidFill>
          <a:ln>
            <a:noFill/>
          </a:ln>
        </p:spPr>
        <p:txBody>
          <a:bodyPr rtlCol="0" anchor="ctr"/>
          <a:lstStyle/>
          <a:p>
            <a:pPr algn="ctr"/>
          </a:p>
        </p:txBody>
      </p:sp>
      <p:sp>
        <p:nvSpPr>
          <p:cNvPr id="296" name="Rectangle 295"/>
          <p:cNvSpPr/>
          <p:nvPr/>
        </p:nvSpPr>
        <p:spPr>
          <a:xfrm>
            <a:off x="11753697" y="8268004"/>
            <a:ext cx="155448" cy="21945"/>
          </a:xfrm>
          <a:prstGeom prst="rect">
            <a:avLst/>
          </a:prstGeom>
          <a:solidFill>
            <a:srgbClr val="9DB0BD"/>
          </a:solidFill>
          <a:ln>
            <a:noFill/>
          </a:ln>
        </p:spPr>
        <p:txBody>
          <a:bodyPr rtlCol="0" anchor="ctr"/>
          <a:lstStyle/>
          <a:p>
            <a:pPr algn="ctr"/>
          </a:p>
        </p:txBody>
      </p:sp>
      <p:sp>
        <p:nvSpPr>
          <p:cNvPr id="297" name="Rectangle 296"/>
          <p:cNvSpPr/>
          <p:nvPr/>
        </p:nvSpPr>
        <p:spPr>
          <a:xfrm>
            <a:off x="12052706" y="8268004"/>
            <a:ext cx="155448" cy="21945"/>
          </a:xfrm>
          <a:prstGeom prst="rect">
            <a:avLst/>
          </a:prstGeom>
          <a:solidFill>
            <a:srgbClr val="9DB0BD"/>
          </a:solidFill>
          <a:ln>
            <a:noFill/>
          </a:ln>
        </p:spPr>
        <p:txBody>
          <a:bodyPr rtlCol="0" anchor="ctr"/>
          <a:lstStyle/>
          <a:p>
            <a:pPr algn="ctr"/>
          </a:p>
        </p:txBody>
      </p:sp>
      <p:sp>
        <p:nvSpPr>
          <p:cNvPr id="298" name="Rectangle 297"/>
          <p:cNvSpPr/>
          <p:nvPr/>
        </p:nvSpPr>
        <p:spPr>
          <a:xfrm>
            <a:off x="12351715" y="8268004"/>
            <a:ext cx="155448" cy="21945"/>
          </a:xfrm>
          <a:prstGeom prst="rect">
            <a:avLst/>
          </a:prstGeom>
          <a:solidFill>
            <a:srgbClr val="9DB0BD"/>
          </a:solidFill>
          <a:ln>
            <a:noFill/>
          </a:ln>
        </p:spPr>
        <p:txBody>
          <a:bodyPr rtlCol="0" anchor="ctr"/>
          <a:lstStyle/>
          <a:p>
            <a:pPr algn="ctr"/>
          </a:p>
        </p:txBody>
      </p:sp>
      <p:sp>
        <p:nvSpPr>
          <p:cNvPr id="299" name="Rectangle 298"/>
          <p:cNvSpPr/>
          <p:nvPr/>
        </p:nvSpPr>
        <p:spPr>
          <a:xfrm>
            <a:off x="12650724" y="8268004"/>
            <a:ext cx="155448" cy="21945"/>
          </a:xfrm>
          <a:prstGeom prst="rect">
            <a:avLst/>
          </a:prstGeom>
          <a:solidFill>
            <a:srgbClr val="9DB0BD"/>
          </a:solidFill>
          <a:ln>
            <a:noFill/>
          </a:ln>
        </p:spPr>
        <p:txBody>
          <a:bodyPr rtlCol="0" anchor="ctr"/>
          <a:lstStyle/>
          <a:p>
            <a:pPr algn="ctr"/>
          </a:p>
        </p:txBody>
      </p:sp>
      <p:sp>
        <p:nvSpPr>
          <p:cNvPr id="300" name="Rectangle 299"/>
          <p:cNvSpPr/>
          <p:nvPr/>
        </p:nvSpPr>
        <p:spPr>
          <a:xfrm>
            <a:off x="12949732" y="8268004"/>
            <a:ext cx="155448" cy="21945"/>
          </a:xfrm>
          <a:prstGeom prst="rect">
            <a:avLst/>
          </a:prstGeom>
          <a:solidFill>
            <a:srgbClr val="9DB0BD"/>
          </a:solidFill>
          <a:ln>
            <a:noFill/>
          </a:ln>
        </p:spPr>
        <p:txBody>
          <a:bodyPr rtlCol="0" anchor="ctr"/>
          <a:lstStyle/>
          <a:p>
            <a:pPr algn="ctr"/>
          </a:p>
        </p:txBody>
      </p:sp>
      <p:sp>
        <p:nvSpPr>
          <p:cNvPr id="301" name="Rectangle 300"/>
          <p:cNvSpPr/>
          <p:nvPr/>
        </p:nvSpPr>
        <p:spPr>
          <a:xfrm>
            <a:off x="13248741" y="8268004"/>
            <a:ext cx="155448" cy="21945"/>
          </a:xfrm>
          <a:prstGeom prst="rect">
            <a:avLst/>
          </a:prstGeom>
          <a:solidFill>
            <a:srgbClr val="9DB0BD"/>
          </a:solidFill>
          <a:ln>
            <a:noFill/>
          </a:ln>
        </p:spPr>
        <p:txBody>
          <a:bodyPr rtlCol="0" anchor="ctr"/>
          <a:lstStyle/>
          <a:p>
            <a:pPr algn="ctr"/>
          </a:p>
        </p:txBody>
      </p:sp>
      <p:sp>
        <p:nvSpPr>
          <p:cNvPr id="302" name="Rectangle 301"/>
          <p:cNvSpPr/>
          <p:nvPr/>
        </p:nvSpPr>
        <p:spPr>
          <a:xfrm>
            <a:off x="13547750" y="8268004"/>
            <a:ext cx="155448" cy="21945"/>
          </a:xfrm>
          <a:prstGeom prst="rect">
            <a:avLst/>
          </a:prstGeom>
          <a:solidFill>
            <a:srgbClr val="9DB0BD"/>
          </a:solidFill>
          <a:ln>
            <a:noFill/>
          </a:ln>
        </p:spPr>
        <p:txBody>
          <a:bodyPr rtlCol="0" anchor="ctr"/>
          <a:lstStyle/>
          <a:p>
            <a:pPr algn="ctr"/>
          </a:p>
        </p:txBody>
      </p:sp>
      <p:sp>
        <p:nvSpPr>
          <p:cNvPr id="303" name="Rectangle 302"/>
          <p:cNvSpPr/>
          <p:nvPr/>
        </p:nvSpPr>
        <p:spPr>
          <a:xfrm>
            <a:off x="13846759" y="8268004"/>
            <a:ext cx="155448" cy="21945"/>
          </a:xfrm>
          <a:prstGeom prst="rect">
            <a:avLst/>
          </a:prstGeom>
          <a:solidFill>
            <a:srgbClr val="9DB0BD"/>
          </a:solidFill>
          <a:ln>
            <a:noFill/>
          </a:ln>
        </p:spPr>
        <p:txBody>
          <a:bodyPr rtlCol="0" anchor="ctr"/>
          <a:lstStyle/>
          <a:p>
            <a:pPr algn="ctr"/>
          </a:p>
        </p:txBody>
      </p:sp>
      <p:sp>
        <p:nvSpPr>
          <p:cNvPr id="304" name="Rectangle 303"/>
          <p:cNvSpPr/>
          <p:nvPr/>
        </p:nvSpPr>
        <p:spPr>
          <a:xfrm>
            <a:off x="14145767" y="8268004"/>
            <a:ext cx="155448" cy="21945"/>
          </a:xfrm>
          <a:prstGeom prst="rect">
            <a:avLst/>
          </a:prstGeom>
          <a:solidFill>
            <a:srgbClr val="9DB0BD"/>
          </a:solidFill>
          <a:ln>
            <a:noFill/>
          </a:ln>
        </p:spPr>
        <p:txBody>
          <a:bodyPr rtlCol="0" anchor="ctr"/>
          <a:lstStyle/>
          <a:p>
            <a:pPr algn="ctr"/>
          </a:p>
        </p:txBody>
      </p:sp>
      <p:sp>
        <p:nvSpPr>
          <p:cNvPr id="305" name="Rectangle 304"/>
          <p:cNvSpPr/>
          <p:nvPr/>
        </p:nvSpPr>
        <p:spPr>
          <a:xfrm>
            <a:off x="14444776" y="8268004"/>
            <a:ext cx="155448" cy="21945"/>
          </a:xfrm>
          <a:prstGeom prst="rect">
            <a:avLst/>
          </a:prstGeom>
          <a:solidFill>
            <a:srgbClr val="9DB0BD"/>
          </a:solidFill>
          <a:ln>
            <a:noFill/>
          </a:ln>
        </p:spPr>
        <p:txBody>
          <a:bodyPr rtlCol="0" anchor="ctr"/>
          <a:lstStyle/>
          <a:p>
            <a:pPr algn="ctr"/>
          </a:p>
        </p:txBody>
      </p:sp>
      <p:sp>
        <p:nvSpPr>
          <p:cNvPr id="306" name="Rectangle 305"/>
          <p:cNvSpPr/>
          <p:nvPr/>
        </p:nvSpPr>
        <p:spPr>
          <a:xfrm>
            <a:off x="14743785" y="8268004"/>
            <a:ext cx="155448" cy="21945"/>
          </a:xfrm>
          <a:prstGeom prst="rect">
            <a:avLst/>
          </a:prstGeom>
          <a:solidFill>
            <a:srgbClr val="9DB0BD"/>
          </a:solidFill>
          <a:ln>
            <a:noFill/>
          </a:ln>
        </p:spPr>
        <p:txBody>
          <a:bodyPr rtlCol="0" anchor="ctr"/>
          <a:lstStyle/>
          <a:p>
            <a:pPr algn="ctr"/>
          </a:p>
        </p:txBody>
      </p:sp>
      <p:sp>
        <p:nvSpPr>
          <p:cNvPr id="307" name="Rectangle 306"/>
          <p:cNvSpPr/>
          <p:nvPr/>
        </p:nvSpPr>
        <p:spPr>
          <a:xfrm>
            <a:off x="15042794" y="8268004"/>
            <a:ext cx="155448" cy="21945"/>
          </a:xfrm>
          <a:prstGeom prst="rect">
            <a:avLst/>
          </a:prstGeom>
          <a:solidFill>
            <a:srgbClr val="9DB0BD"/>
          </a:solidFill>
          <a:ln>
            <a:noFill/>
          </a:ln>
        </p:spPr>
        <p:txBody>
          <a:bodyPr rtlCol="0" anchor="ctr"/>
          <a:lstStyle/>
          <a:p>
            <a:pPr algn="ctr"/>
          </a:p>
        </p:txBody>
      </p:sp>
      <p:sp>
        <p:nvSpPr>
          <p:cNvPr id="308" name="Rectangle 307"/>
          <p:cNvSpPr/>
          <p:nvPr/>
        </p:nvSpPr>
        <p:spPr>
          <a:xfrm>
            <a:off x="15341803" y="8268004"/>
            <a:ext cx="155448" cy="21945"/>
          </a:xfrm>
          <a:prstGeom prst="rect">
            <a:avLst/>
          </a:prstGeom>
          <a:solidFill>
            <a:srgbClr val="9DB0BD"/>
          </a:solidFill>
          <a:ln>
            <a:noFill/>
          </a:ln>
        </p:spPr>
        <p:txBody>
          <a:bodyPr rtlCol="0" anchor="ctr"/>
          <a:lstStyle/>
          <a:p>
            <a:pPr algn="ctr"/>
          </a:p>
        </p:txBody>
      </p:sp>
      <p:sp>
        <p:nvSpPr>
          <p:cNvPr id="309" name="Rectangle 308"/>
          <p:cNvSpPr/>
          <p:nvPr/>
        </p:nvSpPr>
        <p:spPr>
          <a:xfrm>
            <a:off x="15640812" y="8268004"/>
            <a:ext cx="155448" cy="21945"/>
          </a:xfrm>
          <a:prstGeom prst="rect">
            <a:avLst/>
          </a:prstGeom>
          <a:solidFill>
            <a:srgbClr val="9DB0BD"/>
          </a:solidFill>
          <a:ln>
            <a:noFill/>
          </a:ln>
        </p:spPr>
        <p:txBody>
          <a:bodyPr rtlCol="0" anchor="ctr"/>
          <a:lstStyle/>
          <a:p>
            <a:pPr algn="ctr"/>
          </a:p>
        </p:txBody>
      </p:sp>
      <p:sp>
        <p:nvSpPr>
          <p:cNvPr id="310" name="Rectangle 309"/>
          <p:cNvSpPr/>
          <p:nvPr/>
        </p:nvSpPr>
        <p:spPr>
          <a:xfrm>
            <a:off x="15939820" y="8268004"/>
            <a:ext cx="155448" cy="21945"/>
          </a:xfrm>
          <a:prstGeom prst="rect">
            <a:avLst/>
          </a:prstGeom>
          <a:solidFill>
            <a:srgbClr val="9DB0BD"/>
          </a:solidFill>
          <a:ln>
            <a:noFill/>
          </a:ln>
        </p:spPr>
        <p:txBody>
          <a:bodyPr rtlCol="0" anchor="ctr"/>
          <a:lstStyle/>
          <a:p>
            <a:pPr algn="ctr"/>
          </a:p>
        </p:txBody>
      </p:sp>
      <p:sp>
        <p:nvSpPr>
          <p:cNvPr id="311" name="Rectangle 310"/>
          <p:cNvSpPr/>
          <p:nvPr/>
        </p:nvSpPr>
        <p:spPr>
          <a:xfrm>
            <a:off x="16238829" y="8268004"/>
            <a:ext cx="155448" cy="21945"/>
          </a:xfrm>
          <a:prstGeom prst="rect">
            <a:avLst/>
          </a:prstGeom>
          <a:solidFill>
            <a:srgbClr val="9DB0BD"/>
          </a:solidFill>
          <a:ln>
            <a:noFill/>
          </a:ln>
        </p:spPr>
        <p:txBody>
          <a:bodyPr rtlCol="0" anchor="ctr"/>
          <a:lstStyle/>
          <a:p>
            <a:pPr algn="ctr"/>
          </a:p>
        </p:txBody>
      </p:sp>
      <p:sp>
        <p:nvSpPr>
          <p:cNvPr id="312" name="Rectangle 311"/>
          <p:cNvSpPr/>
          <p:nvPr/>
        </p:nvSpPr>
        <p:spPr>
          <a:xfrm>
            <a:off x="16537838" y="8268004"/>
            <a:ext cx="155448" cy="21945"/>
          </a:xfrm>
          <a:prstGeom prst="rect">
            <a:avLst/>
          </a:prstGeom>
          <a:solidFill>
            <a:srgbClr val="9DB0BD"/>
          </a:solidFill>
          <a:ln>
            <a:noFill/>
          </a:ln>
        </p:spPr>
        <p:txBody>
          <a:bodyPr rtlCol="0" anchor="ctr"/>
          <a:lstStyle/>
          <a:p>
            <a:pPr algn="ctr"/>
          </a:p>
        </p:txBody>
      </p:sp>
      <p:sp>
        <p:nvSpPr>
          <p:cNvPr id="313" name="Rectangle 312"/>
          <p:cNvSpPr/>
          <p:nvPr/>
        </p:nvSpPr>
        <p:spPr>
          <a:xfrm>
            <a:off x="16836847" y="8268004"/>
            <a:ext cx="155448" cy="21945"/>
          </a:xfrm>
          <a:prstGeom prst="rect">
            <a:avLst/>
          </a:prstGeom>
          <a:solidFill>
            <a:srgbClr val="9DB0BD"/>
          </a:solidFill>
          <a:ln>
            <a:noFill/>
          </a:ln>
        </p:spPr>
        <p:txBody>
          <a:bodyPr rtlCol="0" anchor="ctr"/>
          <a:lstStyle/>
          <a:p>
            <a:pPr algn="ctr"/>
          </a:p>
        </p:txBody>
      </p:sp>
      <p:sp>
        <p:nvSpPr>
          <p:cNvPr id="314" name="Rectangle 313"/>
          <p:cNvSpPr/>
          <p:nvPr/>
        </p:nvSpPr>
        <p:spPr>
          <a:xfrm>
            <a:off x="822960" y="8618219"/>
            <a:ext cx="16642080" cy="617219"/>
          </a:xfrm>
          <a:prstGeom prst="rect">
            <a:avLst/>
          </a:prstGeom>
          <a:solidFill>
            <a:srgbClr val="F7F7F3"/>
          </a:solidFill>
          <a:ln>
            <a:noFill/>
          </a:ln>
        </p:spPr>
        <p:txBody>
          <a:bodyPr rtlCol="0" anchor="ctr"/>
          <a:lstStyle/>
          <a:p>
            <a:pPr algn="ctr"/>
          </a:p>
        </p:txBody>
      </p:sp>
      <p:sp>
        <p:nvSpPr>
          <p:cNvPr id="315" name="TextBox 314"/>
          <p:cNvSpPr txBox="1"/>
          <p:nvPr/>
        </p:nvSpPr>
        <p:spPr>
          <a:xfrm>
            <a:off x="905256" y="8737092"/>
            <a:ext cx="1207008" cy="274320"/>
          </a:xfrm>
          <a:prstGeom prst="rect">
            <a:avLst/>
          </a:prstGeom>
          <a:noFill/>
        </p:spPr>
        <p:txBody>
          <a:bodyPr wrap="square" lIns="0" rIns="0" tIns="0" bIns="0">
            <a:spAutoFit/>
          </a:bodyPr>
          <a:lstStyle/>
          <a:p>
            <a:pPr>
              <a:lnSpc>
                <a:spcPts val="1722"/>
              </a:lnSpc>
              <a:spcBef>
                <a:spcPts val="0"/>
              </a:spcBef>
              <a:spcAft>
                <a:spcPts val="0"/>
              </a:spcAft>
              <a:defRPr sz="1400" b="1">
                <a:solidFill>
                  <a:srgbClr val="FF6633"/>
                </a:solidFill>
                <a:latin typeface="Montserrat"/>
              </a:defRPr>
            </a:pPr>
            <a:r>
              <a:t>PEOPLE</a:t>
            </a:r>
          </a:p>
        </p:txBody>
      </p:sp>
      <p:sp>
        <p:nvSpPr>
          <p:cNvPr id="316" name="TextBox 315"/>
          <p:cNvSpPr txBox="1"/>
          <p:nvPr/>
        </p:nvSpPr>
        <p:spPr>
          <a:xfrm>
            <a:off x="2157984" y="8682228"/>
            <a:ext cx="5687568" cy="640080"/>
          </a:xfrm>
          <a:prstGeom prst="rect">
            <a:avLst/>
          </a:prstGeom>
          <a:noFill/>
        </p:spPr>
        <p:txBody>
          <a:bodyPr wrap="square" lIns="0" rIns="0" tIns="0" bIns="0">
            <a:spAutoFit/>
          </a:bodyPr>
          <a:lstStyle/>
          <a:p>
            <a:pPr>
              <a:lnSpc>
                <a:spcPts val="2350"/>
              </a:lnSpc>
              <a:spcBef>
                <a:spcPts val="0"/>
              </a:spcBef>
              <a:spcAft>
                <a:spcPts val="0"/>
              </a:spcAft>
              <a:defRPr sz="2400" b="0">
                <a:solidFill>
                  <a:srgbClr val="002C49"/>
                </a:solidFill>
                <a:latin typeface="Montserrat"/>
              </a:defRPr>
            </a:pPr>
            <a:r>
              <a:t>Refonte onboarding Workelo</a:t>
            </a:r>
          </a:p>
        </p:txBody>
      </p:sp>
      <p:cxnSp>
        <p:nvCxnSpPr>
          <p:cNvPr id="317" name="Connector 316"/>
          <p:cNvCxnSpPr/>
          <p:nvPr/>
        </p:nvCxnSpPr>
        <p:spPr>
          <a:xfrm>
            <a:off x="8101583" y="8618219"/>
            <a:ext cx="0" cy="640080"/>
          </a:xfrm>
          <a:prstGeom prst="line">
            <a:avLst/>
          </a:prstGeom>
          <a:ln w="8255">
            <a:solidFill>
              <a:srgbClr val="D9E2E7"/>
            </a:solidFill>
          </a:ln>
        </p:spPr>
      </p:cxnSp>
      <p:cxnSp>
        <p:nvCxnSpPr>
          <p:cNvPr id="318" name="Connector 317"/>
          <p:cNvCxnSpPr/>
          <p:nvPr/>
        </p:nvCxnSpPr>
        <p:spPr>
          <a:xfrm>
            <a:off x="8865108" y="8618219"/>
            <a:ext cx="0" cy="640080"/>
          </a:xfrm>
          <a:prstGeom prst="line">
            <a:avLst/>
          </a:prstGeom>
          <a:ln w="8255">
            <a:solidFill>
              <a:srgbClr val="D9E2E7"/>
            </a:solidFill>
          </a:ln>
        </p:spPr>
      </p:cxnSp>
      <p:cxnSp>
        <p:nvCxnSpPr>
          <p:cNvPr id="319" name="Connector 318"/>
          <p:cNvCxnSpPr/>
          <p:nvPr/>
        </p:nvCxnSpPr>
        <p:spPr>
          <a:xfrm>
            <a:off x="9628632" y="8618219"/>
            <a:ext cx="0" cy="640080"/>
          </a:xfrm>
          <a:prstGeom prst="line">
            <a:avLst/>
          </a:prstGeom>
          <a:ln w="8255">
            <a:solidFill>
              <a:srgbClr val="D9E2E7"/>
            </a:solidFill>
          </a:ln>
        </p:spPr>
      </p:cxnSp>
      <p:cxnSp>
        <p:nvCxnSpPr>
          <p:cNvPr id="320" name="Connector 319"/>
          <p:cNvCxnSpPr/>
          <p:nvPr/>
        </p:nvCxnSpPr>
        <p:spPr>
          <a:xfrm>
            <a:off x="10392155" y="8618219"/>
            <a:ext cx="0" cy="640080"/>
          </a:xfrm>
          <a:prstGeom prst="line">
            <a:avLst/>
          </a:prstGeom>
          <a:ln w="8255">
            <a:solidFill>
              <a:srgbClr val="D9E2E7"/>
            </a:solidFill>
          </a:ln>
        </p:spPr>
      </p:cxnSp>
      <p:cxnSp>
        <p:nvCxnSpPr>
          <p:cNvPr id="321" name="Connector 320"/>
          <p:cNvCxnSpPr/>
          <p:nvPr/>
        </p:nvCxnSpPr>
        <p:spPr>
          <a:xfrm>
            <a:off x="11155680" y="8618219"/>
            <a:ext cx="0" cy="640080"/>
          </a:xfrm>
          <a:prstGeom prst="line">
            <a:avLst/>
          </a:prstGeom>
          <a:ln w="8255">
            <a:solidFill>
              <a:srgbClr val="D9E2E7"/>
            </a:solidFill>
          </a:ln>
        </p:spPr>
      </p:cxnSp>
      <p:cxnSp>
        <p:nvCxnSpPr>
          <p:cNvPr id="322" name="Connector 321"/>
          <p:cNvCxnSpPr/>
          <p:nvPr/>
        </p:nvCxnSpPr>
        <p:spPr>
          <a:xfrm>
            <a:off x="11919204" y="8618219"/>
            <a:ext cx="0" cy="640080"/>
          </a:xfrm>
          <a:prstGeom prst="line">
            <a:avLst/>
          </a:prstGeom>
          <a:ln w="8255">
            <a:solidFill>
              <a:srgbClr val="D9E2E7"/>
            </a:solidFill>
          </a:ln>
        </p:spPr>
      </p:cxnSp>
      <p:cxnSp>
        <p:nvCxnSpPr>
          <p:cNvPr id="323" name="Connector 322"/>
          <p:cNvCxnSpPr/>
          <p:nvPr/>
        </p:nvCxnSpPr>
        <p:spPr>
          <a:xfrm>
            <a:off x="12682728" y="8618219"/>
            <a:ext cx="0" cy="640080"/>
          </a:xfrm>
          <a:prstGeom prst="line">
            <a:avLst/>
          </a:prstGeom>
          <a:ln w="8255">
            <a:solidFill>
              <a:srgbClr val="D9E2E7"/>
            </a:solidFill>
          </a:ln>
        </p:spPr>
      </p:cxnSp>
      <p:cxnSp>
        <p:nvCxnSpPr>
          <p:cNvPr id="324" name="Connector 323"/>
          <p:cNvCxnSpPr/>
          <p:nvPr/>
        </p:nvCxnSpPr>
        <p:spPr>
          <a:xfrm>
            <a:off x="13446251" y="8618219"/>
            <a:ext cx="0" cy="640080"/>
          </a:xfrm>
          <a:prstGeom prst="line">
            <a:avLst/>
          </a:prstGeom>
          <a:ln w="8255">
            <a:solidFill>
              <a:srgbClr val="D9E2E7"/>
            </a:solidFill>
          </a:ln>
        </p:spPr>
      </p:cxnSp>
      <p:cxnSp>
        <p:nvCxnSpPr>
          <p:cNvPr id="325" name="Connector 324"/>
          <p:cNvCxnSpPr/>
          <p:nvPr/>
        </p:nvCxnSpPr>
        <p:spPr>
          <a:xfrm>
            <a:off x="14209776" y="8618219"/>
            <a:ext cx="0" cy="640080"/>
          </a:xfrm>
          <a:prstGeom prst="line">
            <a:avLst/>
          </a:prstGeom>
          <a:ln w="8255">
            <a:solidFill>
              <a:srgbClr val="D9E2E7"/>
            </a:solidFill>
          </a:ln>
        </p:spPr>
      </p:cxnSp>
      <p:cxnSp>
        <p:nvCxnSpPr>
          <p:cNvPr id="326" name="Connector 325"/>
          <p:cNvCxnSpPr/>
          <p:nvPr/>
        </p:nvCxnSpPr>
        <p:spPr>
          <a:xfrm>
            <a:off x="14973300" y="8618219"/>
            <a:ext cx="0" cy="640080"/>
          </a:xfrm>
          <a:prstGeom prst="line">
            <a:avLst/>
          </a:prstGeom>
          <a:ln w="8255">
            <a:solidFill>
              <a:srgbClr val="D9E2E7"/>
            </a:solidFill>
          </a:ln>
        </p:spPr>
      </p:cxnSp>
      <p:cxnSp>
        <p:nvCxnSpPr>
          <p:cNvPr id="327" name="Connector 326"/>
          <p:cNvCxnSpPr/>
          <p:nvPr/>
        </p:nvCxnSpPr>
        <p:spPr>
          <a:xfrm>
            <a:off x="15736824" y="8618219"/>
            <a:ext cx="0" cy="640080"/>
          </a:xfrm>
          <a:prstGeom prst="line">
            <a:avLst/>
          </a:prstGeom>
          <a:ln w="8255">
            <a:solidFill>
              <a:srgbClr val="D9E2E7"/>
            </a:solidFill>
          </a:ln>
        </p:spPr>
      </p:cxnSp>
      <p:cxnSp>
        <p:nvCxnSpPr>
          <p:cNvPr id="328" name="Connector 327"/>
          <p:cNvCxnSpPr/>
          <p:nvPr/>
        </p:nvCxnSpPr>
        <p:spPr>
          <a:xfrm>
            <a:off x="16500347" y="8618219"/>
            <a:ext cx="0" cy="640080"/>
          </a:xfrm>
          <a:prstGeom prst="line">
            <a:avLst/>
          </a:prstGeom>
          <a:ln w="8255">
            <a:solidFill>
              <a:srgbClr val="D9E2E7"/>
            </a:solidFill>
          </a:ln>
        </p:spPr>
      </p:cxnSp>
      <p:cxnSp>
        <p:nvCxnSpPr>
          <p:cNvPr id="329" name="Connector 328"/>
          <p:cNvCxnSpPr/>
          <p:nvPr/>
        </p:nvCxnSpPr>
        <p:spPr>
          <a:xfrm>
            <a:off x="17263872" y="8618219"/>
            <a:ext cx="0" cy="640080"/>
          </a:xfrm>
          <a:prstGeom prst="line">
            <a:avLst/>
          </a:prstGeom>
          <a:ln w="8255">
            <a:solidFill>
              <a:srgbClr val="D9E2E7"/>
            </a:solidFill>
          </a:ln>
        </p:spPr>
      </p:cxnSp>
      <p:sp>
        <p:nvSpPr>
          <p:cNvPr id="330" name="Rectangle 329"/>
          <p:cNvSpPr/>
          <p:nvPr/>
        </p:nvSpPr>
        <p:spPr>
          <a:xfrm>
            <a:off x="8165592" y="8908084"/>
            <a:ext cx="155448" cy="21945"/>
          </a:xfrm>
          <a:prstGeom prst="rect">
            <a:avLst/>
          </a:prstGeom>
          <a:solidFill>
            <a:srgbClr val="9DB0BD"/>
          </a:solidFill>
          <a:ln>
            <a:noFill/>
          </a:ln>
        </p:spPr>
        <p:txBody>
          <a:bodyPr rtlCol="0" anchor="ctr"/>
          <a:lstStyle/>
          <a:p>
            <a:pPr algn="ctr"/>
          </a:p>
        </p:txBody>
      </p:sp>
      <p:sp>
        <p:nvSpPr>
          <p:cNvPr id="331" name="Rectangle 330"/>
          <p:cNvSpPr/>
          <p:nvPr/>
        </p:nvSpPr>
        <p:spPr>
          <a:xfrm>
            <a:off x="8464600" y="8908084"/>
            <a:ext cx="155448" cy="21945"/>
          </a:xfrm>
          <a:prstGeom prst="rect">
            <a:avLst/>
          </a:prstGeom>
          <a:solidFill>
            <a:srgbClr val="9DB0BD"/>
          </a:solidFill>
          <a:ln>
            <a:noFill/>
          </a:ln>
        </p:spPr>
        <p:txBody>
          <a:bodyPr rtlCol="0" anchor="ctr"/>
          <a:lstStyle/>
          <a:p>
            <a:pPr algn="ctr"/>
          </a:p>
        </p:txBody>
      </p:sp>
      <p:sp>
        <p:nvSpPr>
          <p:cNvPr id="332" name="Rectangle 331"/>
          <p:cNvSpPr/>
          <p:nvPr/>
        </p:nvSpPr>
        <p:spPr>
          <a:xfrm>
            <a:off x="8763609" y="8908084"/>
            <a:ext cx="155448" cy="21945"/>
          </a:xfrm>
          <a:prstGeom prst="rect">
            <a:avLst/>
          </a:prstGeom>
          <a:solidFill>
            <a:srgbClr val="9DB0BD"/>
          </a:solidFill>
          <a:ln>
            <a:noFill/>
          </a:ln>
        </p:spPr>
        <p:txBody>
          <a:bodyPr rtlCol="0" anchor="ctr"/>
          <a:lstStyle/>
          <a:p>
            <a:pPr algn="ctr"/>
          </a:p>
        </p:txBody>
      </p:sp>
      <p:sp>
        <p:nvSpPr>
          <p:cNvPr id="333" name="Rectangle 332"/>
          <p:cNvSpPr/>
          <p:nvPr/>
        </p:nvSpPr>
        <p:spPr>
          <a:xfrm>
            <a:off x="9062618" y="8908084"/>
            <a:ext cx="155448" cy="21945"/>
          </a:xfrm>
          <a:prstGeom prst="rect">
            <a:avLst/>
          </a:prstGeom>
          <a:solidFill>
            <a:srgbClr val="9DB0BD"/>
          </a:solidFill>
          <a:ln>
            <a:noFill/>
          </a:ln>
        </p:spPr>
        <p:txBody>
          <a:bodyPr rtlCol="0" anchor="ctr"/>
          <a:lstStyle/>
          <a:p>
            <a:pPr algn="ctr"/>
          </a:p>
        </p:txBody>
      </p:sp>
      <p:sp>
        <p:nvSpPr>
          <p:cNvPr id="334" name="Rectangle 333"/>
          <p:cNvSpPr/>
          <p:nvPr/>
        </p:nvSpPr>
        <p:spPr>
          <a:xfrm>
            <a:off x="9361627" y="8908084"/>
            <a:ext cx="155448" cy="21945"/>
          </a:xfrm>
          <a:prstGeom prst="rect">
            <a:avLst/>
          </a:prstGeom>
          <a:solidFill>
            <a:srgbClr val="9DB0BD"/>
          </a:solidFill>
          <a:ln>
            <a:noFill/>
          </a:ln>
        </p:spPr>
        <p:txBody>
          <a:bodyPr rtlCol="0" anchor="ctr"/>
          <a:lstStyle/>
          <a:p>
            <a:pPr algn="ctr"/>
          </a:p>
        </p:txBody>
      </p:sp>
      <p:sp>
        <p:nvSpPr>
          <p:cNvPr id="335" name="Rectangle 334"/>
          <p:cNvSpPr/>
          <p:nvPr/>
        </p:nvSpPr>
        <p:spPr>
          <a:xfrm>
            <a:off x="9660636" y="8908084"/>
            <a:ext cx="155448" cy="21945"/>
          </a:xfrm>
          <a:prstGeom prst="rect">
            <a:avLst/>
          </a:prstGeom>
          <a:solidFill>
            <a:srgbClr val="9DB0BD"/>
          </a:solidFill>
          <a:ln>
            <a:noFill/>
          </a:ln>
        </p:spPr>
        <p:txBody>
          <a:bodyPr rtlCol="0" anchor="ctr"/>
          <a:lstStyle/>
          <a:p>
            <a:pPr algn="ctr"/>
          </a:p>
        </p:txBody>
      </p:sp>
      <p:sp>
        <p:nvSpPr>
          <p:cNvPr id="336" name="Rectangle 335"/>
          <p:cNvSpPr/>
          <p:nvPr/>
        </p:nvSpPr>
        <p:spPr>
          <a:xfrm>
            <a:off x="9959644" y="8908084"/>
            <a:ext cx="155448" cy="21945"/>
          </a:xfrm>
          <a:prstGeom prst="rect">
            <a:avLst/>
          </a:prstGeom>
          <a:solidFill>
            <a:srgbClr val="9DB0BD"/>
          </a:solidFill>
          <a:ln>
            <a:noFill/>
          </a:ln>
        </p:spPr>
        <p:txBody>
          <a:bodyPr rtlCol="0" anchor="ctr"/>
          <a:lstStyle/>
          <a:p>
            <a:pPr algn="ctr"/>
          </a:p>
        </p:txBody>
      </p:sp>
      <p:sp>
        <p:nvSpPr>
          <p:cNvPr id="337" name="Rectangle 336"/>
          <p:cNvSpPr/>
          <p:nvPr/>
        </p:nvSpPr>
        <p:spPr>
          <a:xfrm>
            <a:off x="10258653" y="8908084"/>
            <a:ext cx="155448" cy="21945"/>
          </a:xfrm>
          <a:prstGeom prst="rect">
            <a:avLst/>
          </a:prstGeom>
          <a:solidFill>
            <a:srgbClr val="9DB0BD"/>
          </a:solidFill>
          <a:ln>
            <a:noFill/>
          </a:ln>
        </p:spPr>
        <p:txBody>
          <a:bodyPr rtlCol="0" anchor="ctr"/>
          <a:lstStyle/>
          <a:p>
            <a:pPr algn="ctr"/>
          </a:p>
        </p:txBody>
      </p:sp>
      <p:sp>
        <p:nvSpPr>
          <p:cNvPr id="338" name="Rectangle 337"/>
          <p:cNvSpPr/>
          <p:nvPr/>
        </p:nvSpPr>
        <p:spPr>
          <a:xfrm>
            <a:off x="10557662" y="8908084"/>
            <a:ext cx="155448" cy="21945"/>
          </a:xfrm>
          <a:prstGeom prst="rect">
            <a:avLst/>
          </a:prstGeom>
          <a:solidFill>
            <a:srgbClr val="9DB0BD"/>
          </a:solidFill>
          <a:ln>
            <a:noFill/>
          </a:ln>
        </p:spPr>
        <p:txBody>
          <a:bodyPr rtlCol="0" anchor="ctr"/>
          <a:lstStyle/>
          <a:p>
            <a:pPr algn="ctr"/>
          </a:p>
        </p:txBody>
      </p:sp>
      <p:sp>
        <p:nvSpPr>
          <p:cNvPr id="339" name="Rectangle 338"/>
          <p:cNvSpPr/>
          <p:nvPr/>
        </p:nvSpPr>
        <p:spPr>
          <a:xfrm>
            <a:off x="10856671" y="8908084"/>
            <a:ext cx="155448" cy="21945"/>
          </a:xfrm>
          <a:prstGeom prst="rect">
            <a:avLst/>
          </a:prstGeom>
          <a:solidFill>
            <a:srgbClr val="9DB0BD"/>
          </a:solidFill>
          <a:ln>
            <a:noFill/>
          </a:ln>
        </p:spPr>
        <p:txBody>
          <a:bodyPr rtlCol="0" anchor="ctr"/>
          <a:lstStyle/>
          <a:p>
            <a:pPr algn="ctr"/>
          </a:p>
        </p:txBody>
      </p:sp>
      <p:sp>
        <p:nvSpPr>
          <p:cNvPr id="340" name="Rectangle 339"/>
          <p:cNvSpPr/>
          <p:nvPr/>
        </p:nvSpPr>
        <p:spPr>
          <a:xfrm>
            <a:off x="11155680" y="8908084"/>
            <a:ext cx="155448" cy="21945"/>
          </a:xfrm>
          <a:prstGeom prst="rect">
            <a:avLst/>
          </a:prstGeom>
          <a:solidFill>
            <a:srgbClr val="9DB0BD"/>
          </a:solidFill>
          <a:ln>
            <a:noFill/>
          </a:ln>
        </p:spPr>
        <p:txBody>
          <a:bodyPr rtlCol="0" anchor="ctr"/>
          <a:lstStyle/>
          <a:p>
            <a:pPr algn="ctr"/>
          </a:p>
        </p:txBody>
      </p:sp>
      <p:sp>
        <p:nvSpPr>
          <p:cNvPr id="341" name="Rectangle 340"/>
          <p:cNvSpPr/>
          <p:nvPr/>
        </p:nvSpPr>
        <p:spPr>
          <a:xfrm>
            <a:off x="11454688" y="8908084"/>
            <a:ext cx="155448" cy="21945"/>
          </a:xfrm>
          <a:prstGeom prst="rect">
            <a:avLst/>
          </a:prstGeom>
          <a:solidFill>
            <a:srgbClr val="9DB0BD"/>
          </a:solidFill>
          <a:ln>
            <a:noFill/>
          </a:ln>
        </p:spPr>
        <p:txBody>
          <a:bodyPr rtlCol="0" anchor="ctr"/>
          <a:lstStyle/>
          <a:p>
            <a:pPr algn="ctr"/>
          </a:p>
        </p:txBody>
      </p:sp>
      <p:sp>
        <p:nvSpPr>
          <p:cNvPr id="342" name="Rectangle 341"/>
          <p:cNvSpPr/>
          <p:nvPr/>
        </p:nvSpPr>
        <p:spPr>
          <a:xfrm>
            <a:off x="11753697" y="8908084"/>
            <a:ext cx="155448" cy="21945"/>
          </a:xfrm>
          <a:prstGeom prst="rect">
            <a:avLst/>
          </a:prstGeom>
          <a:solidFill>
            <a:srgbClr val="9DB0BD"/>
          </a:solidFill>
          <a:ln>
            <a:noFill/>
          </a:ln>
        </p:spPr>
        <p:txBody>
          <a:bodyPr rtlCol="0" anchor="ctr"/>
          <a:lstStyle/>
          <a:p>
            <a:pPr algn="ctr"/>
          </a:p>
        </p:txBody>
      </p:sp>
      <p:sp>
        <p:nvSpPr>
          <p:cNvPr id="343" name="Rectangle 342"/>
          <p:cNvSpPr/>
          <p:nvPr/>
        </p:nvSpPr>
        <p:spPr>
          <a:xfrm>
            <a:off x="12052706" y="8908084"/>
            <a:ext cx="155448" cy="21945"/>
          </a:xfrm>
          <a:prstGeom prst="rect">
            <a:avLst/>
          </a:prstGeom>
          <a:solidFill>
            <a:srgbClr val="9DB0BD"/>
          </a:solidFill>
          <a:ln>
            <a:noFill/>
          </a:ln>
        </p:spPr>
        <p:txBody>
          <a:bodyPr rtlCol="0" anchor="ctr"/>
          <a:lstStyle/>
          <a:p>
            <a:pPr algn="ctr"/>
          </a:p>
        </p:txBody>
      </p:sp>
      <p:sp>
        <p:nvSpPr>
          <p:cNvPr id="344" name="Rectangle 343"/>
          <p:cNvSpPr/>
          <p:nvPr/>
        </p:nvSpPr>
        <p:spPr>
          <a:xfrm>
            <a:off x="12351715" y="8908084"/>
            <a:ext cx="155448" cy="21945"/>
          </a:xfrm>
          <a:prstGeom prst="rect">
            <a:avLst/>
          </a:prstGeom>
          <a:solidFill>
            <a:srgbClr val="9DB0BD"/>
          </a:solidFill>
          <a:ln>
            <a:noFill/>
          </a:ln>
        </p:spPr>
        <p:txBody>
          <a:bodyPr rtlCol="0" anchor="ctr"/>
          <a:lstStyle/>
          <a:p>
            <a:pPr algn="ctr"/>
          </a:p>
        </p:txBody>
      </p:sp>
      <p:sp>
        <p:nvSpPr>
          <p:cNvPr id="345" name="Rectangle 344"/>
          <p:cNvSpPr/>
          <p:nvPr/>
        </p:nvSpPr>
        <p:spPr>
          <a:xfrm>
            <a:off x="12650724" y="8908084"/>
            <a:ext cx="155448" cy="21945"/>
          </a:xfrm>
          <a:prstGeom prst="rect">
            <a:avLst/>
          </a:prstGeom>
          <a:solidFill>
            <a:srgbClr val="9DB0BD"/>
          </a:solidFill>
          <a:ln>
            <a:noFill/>
          </a:ln>
        </p:spPr>
        <p:txBody>
          <a:bodyPr rtlCol="0" anchor="ctr"/>
          <a:lstStyle/>
          <a:p>
            <a:pPr algn="ctr"/>
          </a:p>
        </p:txBody>
      </p:sp>
      <p:sp>
        <p:nvSpPr>
          <p:cNvPr id="346" name="Rectangle 345"/>
          <p:cNvSpPr/>
          <p:nvPr/>
        </p:nvSpPr>
        <p:spPr>
          <a:xfrm>
            <a:off x="12949732" y="8908084"/>
            <a:ext cx="155448" cy="21945"/>
          </a:xfrm>
          <a:prstGeom prst="rect">
            <a:avLst/>
          </a:prstGeom>
          <a:solidFill>
            <a:srgbClr val="9DB0BD"/>
          </a:solidFill>
          <a:ln>
            <a:noFill/>
          </a:ln>
        </p:spPr>
        <p:txBody>
          <a:bodyPr rtlCol="0" anchor="ctr"/>
          <a:lstStyle/>
          <a:p>
            <a:pPr algn="ctr"/>
          </a:p>
        </p:txBody>
      </p:sp>
      <p:sp>
        <p:nvSpPr>
          <p:cNvPr id="347" name="Rectangle 346"/>
          <p:cNvSpPr/>
          <p:nvPr/>
        </p:nvSpPr>
        <p:spPr>
          <a:xfrm>
            <a:off x="13248741" y="8908084"/>
            <a:ext cx="155448" cy="21945"/>
          </a:xfrm>
          <a:prstGeom prst="rect">
            <a:avLst/>
          </a:prstGeom>
          <a:solidFill>
            <a:srgbClr val="9DB0BD"/>
          </a:solidFill>
          <a:ln>
            <a:noFill/>
          </a:ln>
        </p:spPr>
        <p:txBody>
          <a:bodyPr rtlCol="0" anchor="ctr"/>
          <a:lstStyle/>
          <a:p>
            <a:pPr algn="ctr"/>
          </a:p>
        </p:txBody>
      </p:sp>
      <p:sp>
        <p:nvSpPr>
          <p:cNvPr id="348" name="Rectangle 347"/>
          <p:cNvSpPr/>
          <p:nvPr/>
        </p:nvSpPr>
        <p:spPr>
          <a:xfrm>
            <a:off x="13547750" y="8908084"/>
            <a:ext cx="155448" cy="21945"/>
          </a:xfrm>
          <a:prstGeom prst="rect">
            <a:avLst/>
          </a:prstGeom>
          <a:solidFill>
            <a:srgbClr val="9DB0BD"/>
          </a:solidFill>
          <a:ln>
            <a:noFill/>
          </a:ln>
        </p:spPr>
        <p:txBody>
          <a:bodyPr rtlCol="0" anchor="ctr"/>
          <a:lstStyle/>
          <a:p>
            <a:pPr algn="ctr"/>
          </a:p>
        </p:txBody>
      </p:sp>
      <p:sp>
        <p:nvSpPr>
          <p:cNvPr id="349" name="Rectangle 348"/>
          <p:cNvSpPr/>
          <p:nvPr/>
        </p:nvSpPr>
        <p:spPr>
          <a:xfrm>
            <a:off x="13846759" y="8908084"/>
            <a:ext cx="155448" cy="21945"/>
          </a:xfrm>
          <a:prstGeom prst="rect">
            <a:avLst/>
          </a:prstGeom>
          <a:solidFill>
            <a:srgbClr val="9DB0BD"/>
          </a:solidFill>
          <a:ln>
            <a:noFill/>
          </a:ln>
        </p:spPr>
        <p:txBody>
          <a:bodyPr rtlCol="0" anchor="ctr"/>
          <a:lstStyle/>
          <a:p>
            <a:pPr algn="ctr"/>
          </a:p>
        </p:txBody>
      </p:sp>
      <p:sp>
        <p:nvSpPr>
          <p:cNvPr id="350" name="Rectangle 349"/>
          <p:cNvSpPr/>
          <p:nvPr/>
        </p:nvSpPr>
        <p:spPr>
          <a:xfrm>
            <a:off x="14145767" y="8908084"/>
            <a:ext cx="155448" cy="21945"/>
          </a:xfrm>
          <a:prstGeom prst="rect">
            <a:avLst/>
          </a:prstGeom>
          <a:solidFill>
            <a:srgbClr val="9DB0BD"/>
          </a:solidFill>
          <a:ln>
            <a:noFill/>
          </a:ln>
        </p:spPr>
        <p:txBody>
          <a:bodyPr rtlCol="0" anchor="ctr"/>
          <a:lstStyle/>
          <a:p>
            <a:pPr algn="ctr"/>
          </a:p>
        </p:txBody>
      </p:sp>
      <p:sp>
        <p:nvSpPr>
          <p:cNvPr id="351" name="Rectangle 350"/>
          <p:cNvSpPr/>
          <p:nvPr/>
        </p:nvSpPr>
        <p:spPr>
          <a:xfrm>
            <a:off x="14444776" y="8908084"/>
            <a:ext cx="155448" cy="21945"/>
          </a:xfrm>
          <a:prstGeom prst="rect">
            <a:avLst/>
          </a:prstGeom>
          <a:solidFill>
            <a:srgbClr val="9DB0BD"/>
          </a:solidFill>
          <a:ln>
            <a:noFill/>
          </a:ln>
        </p:spPr>
        <p:txBody>
          <a:bodyPr rtlCol="0" anchor="ctr"/>
          <a:lstStyle/>
          <a:p>
            <a:pPr algn="ctr"/>
          </a:p>
        </p:txBody>
      </p:sp>
      <p:sp>
        <p:nvSpPr>
          <p:cNvPr id="352" name="Rectangle 351"/>
          <p:cNvSpPr/>
          <p:nvPr/>
        </p:nvSpPr>
        <p:spPr>
          <a:xfrm>
            <a:off x="14743785" y="8908084"/>
            <a:ext cx="155448" cy="21945"/>
          </a:xfrm>
          <a:prstGeom prst="rect">
            <a:avLst/>
          </a:prstGeom>
          <a:solidFill>
            <a:srgbClr val="9DB0BD"/>
          </a:solidFill>
          <a:ln>
            <a:noFill/>
          </a:ln>
        </p:spPr>
        <p:txBody>
          <a:bodyPr rtlCol="0" anchor="ctr"/>
          <a:lstStyle/>
          <a:p>
            <a:pPr algn="ctr"/>
          </a:p>
        </p:txBody>
      </p:sp>
      <p:sp>
        <p:nvSpPr>
          <p:cNvPr id="353" name="Rectangle 352"/>
          <p:cNvSpPr/>
          <p:nvPr/>
        </p:nvSpPr>
        <p:spPr>
          <a:xfrm>
            <a:off x="15042794" y="8908084"/>
            <a:ext cx="155448" cy="21945"/>
          </a:xfrm>
          <a:prstGeom prst="rect">
            <a:avLst/>
          </a:prstGeom>
          <a:solidFill>
            <a:srgbClr val="9DB0BD"/>
          </a:solidFill>
          <a:ln>
            <a:noFill/>
          </a:ln>
        </p:spPr>
        <p:txBody>
          <a:bodyPr rtlCol="0" anchor="ctr"/>
          <a:lstStyle/>
          <a:p>
            <a:pPr algn="ctr"/>
          </a:p>
        </p:txBody>
      </p:sp>
      <p:sp>
        <p:nvSpPr>
          <p:cNvPr id="354" name="Rectangle 353"/>
          <p:cNvSpPr/>
          <p:nvPr/>
        </p:nvSpPr>
        <p:spPr>
          <a:xfrm>
            <a:off x="15341803" y="8908084"/>
            <a:ext cx="155448" cy="21945"/>
          </a:xfrm>
          <a:prstGeom prst="rect">
            <a:avLst/>
          </a:prstGeom>
          <a:solidFill>
            <a:srgbClr val="9DB0BD"/>
          </a:solidFill>
          <a:ln>
            <a:noFill/>
          </a:ln>
        </p:spPr>
        <p:txBody>
          <a:bodyPr rtlCol="0" anchor="ctr"/>
          <a:lstStyle/>
          <a:p>
            <a:pPr algn="ctr"/>
          </a:p>
        </p:txBody>
      </p:sp>
      <p:sp>
        <p:nvSpPr>
          <p:cNvPr id="355" name="Rectangle 354"/>
          <p:cNvSpPr/>
          <p:nvPr/>
        </p:nvSpPr>
        <p:spPr>
          <a:xfrm>
            <a:off x="15640812" y="8908084"/>
            <a:ext cx="155448" cy="21945"/>
          </a:xfrm>
          <a:prstGeom prst="rect">
            <a:avLst/>
          </a:prstGeom>
          <a:solidFill>
            <a:srgbClr val="9DB0BD"/>
          </a:solidFill>
          <a:ln>
            <a:noFill/>
          </a:ln>
        </p:spPr>
        <p:txBody>
          <a:bodyPr rtlCol="0" anchor="ctr"/>
          <a:lstStyle/>
          <a:p>
            <a:pPr algn="ctr"/>
          </a:p>
        </p:txBody>
      </p:sp>
      <p:sp>
        <p:nvSpPr>
          <p:cNvPr id="356" name="Rectangle 355"/>
          <p:cNvSpPr/>
          <p:nvPr/>
        </p:nvSpPr>
        <p:spPr>
          <a:xfrm>
            <a:off x="15939820" y="8908084"/>
            <a:ext cx="155448" cy="21945"/>
          </a:xfrm>
          <a:prstGeom prst="rect">
            <a:avLst/>
          </a:prstGeom>
          <a:solidFill>
            <a:srgbClr val="9DB0BD"/>
          </a:solidFill>
          <a:ln>
            <a:noFill/>
          </a:ln>
        </p:spPr>
        <p:txBody>
          <a:bodyPr rtlCol="0" anchor="ctr"/>
          <a:lstStyle/>
          <a:p>
            <a:pPr algn="ctr"/>
          </a:p>
        </p:txBody>
      </p:sp>
      <p:sp>
        <p:nvSpPr>
          <p:cNvPr id="357" name="Rectangle 356"/>
          <p:cNvSpPr/>
          <p:nvPr/>
        </p:nvSpPr>
        <p:spPr>
          <a:xfrm>
            <a:off x="16238829" y="8908084"/>
            <a:ext cx="155448" cy="21945"/>
          </a:xfrm>
          <a:prstGeom prst="rect">
            <a:avLst/>
          </a:prstGeom>
          <a:solidFill>
            <a:srgbClr val="9DB0BD"/>
          </a:solidFill>
          <a:ln>
            <a:noFill/>
          </a:ln>
        </p:spPr>
        <p:txBody>
          <a:bodyPr rtlCol="0" anchor="ctr"/>
          <a:lstStyle/>
          <a:p>
            <a:pPr algn="ctr"/>
          </a:p>
        </p:txBody>
      </p:sp>
      <p:sp>
        <p:nvSpPr>
          <p:cNvPr id="358" name="Rectangle 357"/>
          <p:cNvSpPr/>
          <p:nvPr/>
        </p:nvSpPr>
        <p:spPr>
          <a:xfrm>
            <a:off x="16537838" y="8908084"/>
            <a:ext cx="155448" cy="21945"/>
          </a:xfrm>
          <a:prstGeom prst="rect">
            <a:avLst/>
          </a:prstGeom>
          <a:solidFill>
            <a:srgbClr val="9DB0BD"/>
          </a:solidFill>
          <a:ln>
            <a:noFill/>
          </a:ln>
        </p:spPr>
        <p:txBody>
          <a:bodyPr rtlCol="0" anchor="ctr"/>
          <a:lstStyle/>
          <a:p>
            <a:pPr algn="ctr"/>
          </a:p>
        </p:txBody>
      </p:sp>
      <p:sp>
        <p:nvSpPr>
          <p:cNvPr id="359" name="Rectangle 358"/>
          <p:cNvSpPr/>
          <p:nvPr/>
        </p:nvSpPr>
        <p:spPr>
          <a:xfrm>
            <a:off x="16836847" y="8908084"/>
            <a:ext cx="155448" cy="21945"/>
          </a:xfrm>
          <a:prstGeom prst="rect">
            <a:avLst/>
          </a:prstGeom>
          <a:solidFill>
            <a:srgbClr val="9DB0BD"/>
          </a:solidFill>
          <a:ln>
            <a:noFill/>
          </a:ln>
        </p:spPr>
        <p:txBody>
          <a:bodyPr rtlCol="0" anchor="ctr"/>
          <a:lstStyle/>
          <a:p>
            <a:pPr algn="ctr"/>
          </a:p>
        </p:txBody>
      </p:sp>
      <p:sp>
        <p:nvSpPr>
          <p:cNvPr id="360" name="TextBox 359"/>
          <p:cNvSpPr txBox="1"/>
          <p:nvPr/>
        </p:nvSpPr>
        <p:spPr>
          <a:xfrm>
            <a:off x="896112" y="9326880"/>
            <a:ext cx="16477488" cy="338328"/>
          </a:xfrm>
          <a:prstGeom prst="rect">
            <a:avLst/>
          </a:prstGeom>
          <a:noFill/>
        </p:spPr>
        <p:txBody>
          <a:bodyPr wrap="square" lIns="0" rIns="0" tIns="0" bIns="0">
            <a:spAutoFit/>
          </a:bodyPr>
          <a:lstStyle/>
          <a:p>
            <a:pPr>
              <a:lnSpc>
                <a:spcPts val="2700"/>
              </a:lnSpc>
              <a:spcBef>
                <a:spcPts val="0"/>
              </a:spcBef>
              <a:spcAft>
                <a:spcPts val="0"/>
              </a:spcAft>
              <a:defRPr sz="2300" b="0">
                <a:solidFill>
                  <a:srgbClr val="526777"/>
                </a:solidFill>
                <a:latin typeface="Montserrat"/>
              </a:defRPr>
            </a:pPr>
            <a:r>
              <a:t>Zoom IA : TBD • Pack IA : fin FY • Neoscreen : dès octobre • Vacances : rythme réduit.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3.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08 / ROADMAP JUILLET 2026 – JUIN 2027</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Rituels et fils rouges : maintenir la continuité.</a:t>
            </a:r>
          </a:p>
        </p:txBody>
      </p:sp>
      <p:sp>
        <p:nvSpPr>
          <p:cNvPr id="5" name="TextBox 4"/>
          <p:cNvSpPr txBox="1"/>
          <p:nvPr/>
        </p:nvSpPr>
        <p:spPr>
          <a:xfrm>
            <a:off x="868680" y="2742285"/>
            <a:ext cx="16504920" cy="54864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Concentration des temps forts : octobre, janvier, mars, avril et fin FY ; sans mesure de charge.</a:t>
            </a:r>
          </a:p>
        </p:txBody>
      </p:sp>
      <p:sp>
        <p:nvSpPr>
          <p:cNvPr id="6" name="Rectangle 5"/>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7" name="TextBox 6"/>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8" name="TextBox 7"/>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17</a:t>
            </a:r>
          </a:p>
        </p:txBody>
      </p:sp>
      <p:sp>
        <p:nvSpPr>
          <p:cNvPr id="9" name="TextBox 8"/>
          <p:cNvSpPr txBox="1"/>
          <p:nvPr/>
        </p:nvSpPr>
        <p:spPr>
          <a:xfrm>
            <a:off x="877824" y="3319272"/>
            <a:ext cx="1188720" cy="256032"/>
          </a:xfrm>
          <a:prstGeom prst="rect">
            <a:avLst/>
          </a:prstGeom>
          <a:noFill/>
        </p:spPr>
        <p:txBody>
          <a:bodyPr wrap="square" lIns="0" rIns="0" tIns="0" bIns="0">
            <a:spAutoFit/>
          </a:bodyPr>
          <a:lstStyle/>
          <a:p>
            <a:pPr>
              <a:lnSpc>
                <a:spcPts val="1722"/>
              </a:lnSpc>
              <a:spcBef>
                <a:spcPts val="0"/>
              </a:spcBef>
              <a:spcAft>
                <a:spcPts val="0"/>
              </a:spcAft>
              <a:defRPr sz="1400" b="1">
                <a:solidFill>
                  <a:srgbClr val="526777"/>
                </a:solidFill>
                <a:latin typeface="Montserrat"/>
              </a:defRPr>
            </a:pPr>
            <a:r>
              <a:t>PILIER</a:t>
            </a:r>
          </a:p>
        </p:txBody>
      </p:sp>
      <p:sp>
        <p:nvSpPr>
          <p:cNvPr id="10" name="TextBox 9"/>
          <p:cNvSpPr txBox="1"/>
          <p:nvPr/>
        </p:nvSpPr>
        <p:spPr>
          <a:xfrm>
            <a:off x="2157984" y="3319272"/>
            <a:ext cx="4297680" cy="256032"/>
          </a:xfrm>
          <a:prstGeom prst="rect">
            <a:avLst/>
          </a:prstGeom>
          <a:noFill/>
        </p:spPr>
        <p:txBody>
          <a:bodyPr wrap="square" lIns="0" rIns="0" tIns="0" bIns="0">
            <a:spAutoFit/>
          </a:bodyPr>
          <a:lstStyle/>
          <a:p>
            <a:pPr>
              <a:lnSpc>
                <a:spcPts val="1722"/>
              </a:lnSpc>
              <a:spcBef>
                <a:spcPts val="0"/>
              </a:spcBef>
              <a:spcAft>
                <a:spcPts val="0"/>
              </a:spcAft>
              <a:defRPr sz="1400" b="1">
                <a:solidFill>
                  <a:srgbClr val="526777"/>
                </a:solidFill>
                <a:latin typeface="Montserrat"/>
              </a:defRPr>
            </a:pPr>
            <a:r>
              <a:t>PROJET / DISPOSITIF</a:t>
            </a:r>
          </a:p>
        </p:txBody>
      </p:sp>
      <p:sp>
        <p:nvSpPr>
          <p:cNvPr id="11" name="Rectangle 10"/>
          <p:cNvSpPr/>
          <p:nvPr/>
        </p:nvSpPr>
        <p:spPr>
          <a:xfrm>
            <a:off x="8101583" y="3227832"/>
            <a:ext cx="752551" cy="338328"/>
          </a:xfrm>
          <a:prstGeom prst="rect">
            <a:avLst/>
          </a:prstGeom>
          <a:solidFill>
            <a:srgbClr val="002C49"/>
          </a:solidFill>
          <a:ln>
            <a:noFill/>
          </a:ln>
        </p:spPr>
        <p:txBody>
          <a:bodyPr rtlCol="0" anchor="ctr"/>
          <a:lstStyle/>
          <a:p>
            <a:pPr algn="ctr"/>
          </a:p>
        </p:txBody>
      </p:sp>
      <p:sp>
        <p:nvSpPr>
          <p:cNvPr id="12" name="TextBox 11"/>
          <p:cNvSpPr txBox="1"/>
          <p:nvPr/>
        </p:nvSpPr>
        <p:spPr>
          <a:xfrm>
            <a:off x="8119871" y="3291840"/>
            <a:ext cx="726947" cy="256032"/>
          </a:xfrm>
          <a:prstGeom prst="rect">
            <a:avLst/>
          </a:prstGeom>
          <a:noFill/>
        </p:spPr>
        <p:txBody>
          <a:bodyPr wrap="square" lIns="0" rIns="0" tIns="0" bIns="0">
            <a:spAutoFit/>
          </a:bodyPr>
          <a:lstStyle/>
          <a:p>
            <a:pPr>
              <a:lnSpc>
                <a:spcPts val="1600"/>
              </a:lnSpc>
              <a:spcBef>
                <a:spcPts val="0"/>
              </a:spcBef>
              <a:spcAft>
                <a:spcPts val="0"/>
              </a:spcAft>
              <a:defRPr sz="1800" b="1">
                <a:solidFill>
                  <a:srgbClr val="FFFFFF"/>
                </a:solidFill>
                <a:latin typeface="Montserrat"/>
              </a:defRPr>
            </a:pPr>
            <a:r>
              <a:t>JUIL.</a:t>
            </a:r>
          </a:p>
        </p:txBody>
      </p:sp>
      <p:sp>
        <p:nvSpPr>
          <p:cNvPr id="13" name="Rectangle 12"/>
          <p:cNvSpPr/>
          <p:nvPr/>
        </p:nvSpPr>
        <p:spPr>
          <a:xfrm>
            <a:off x="8865108" y="3227832"/>
            <a:ext cx="752551" cy="338328"/>
          </a:xfrm>
          <a:prstGeom prst="rect">
            <a:avLst/>
          </a:prstGeom>
          <a:solidFill>
            <a:srgbClr val="002C49"/>
          </a:solidFill>
          <a:ln>
            <a:noFill/>
          </a:ln>
        </p:spPr>
        <p:txBody>
          <a:bodyPr rtlCol="0" anchor="ctr"/>
          <a:lstStyle/>
          <a:p>
            <a:pPr algn="ctr"/>
          </a:p>
        </p:txBody>
      </p:sp>
      <p:sp>
        <p:nvSpPr>
          <p:cNvPr id="14" name="TextBox 13"/>
          <p:cNvSpPr txBox="1"/>
          <p:nvPr/>
        </p:nvSpPr>
        <p:spPr>
          <a:xfrm>
            <a:off x="8883396" y="3291840"/>
            <a:ext cx="726947" cy="256032"/>
          </a:xfrm>
          <a:prstGeom prst="rect">
            <a:avLst/>
          </a:prstGeom>
          <a:noFill/>
        </p:spPr>
        <p:txBody>
          <a:bodyPr wrap="square" lIns="0" rIns="0" tIns="0" bIns="0">
            <a:spAutoFit/>
          </a:bodyPr>
          <a:lstStyle/>
          <a:p>
            <a:pPr>
              <a:lnSpc>
                <a:spcPts val="1600"/>
              </a:lnSpc>
              <a:spcBef>
                <a:spcPts val="0"/>
              </a:spcBef>
              <a:spcAft>
                <a:spcPts val="0"/>
              </a:spcAft>
              <a:defRPr sz="1800" b="1">
                <a:solidFill>
                  <a:srgbClr val="FFFFFF"/>
                </a:solidFill>
                <a:latin typeface="Montserrat"/>
              </a:defRPr>
            </a:pPr>
            <a:r>
              <a:t>AOÛT</a:t>
            </a:r>
          </a:p>
        </p:txBody>
      </p:sp>
      <p:sp>
        <p:nvSpPr>
          <p:cNvPr id="15" name="Rectangle 14"/>
          <p:cNvSpPr/>
          <p:nvPr/>
        </p:nvSpPr>
        <p:spPr>
          <a:xfrm>
            <a:off x="9628632" y="3227832"/>
            <a:ext cx="752551" cy="338328"/>
          </a:xfrm>
          <a:prstGeom prst="rect">
            <a:avLst/>
          </a:prstGeom>
          <a:solidFill>
            <a:srgbClr val="002C49"/>
          </a:solidFill>
          <a:ln>
            <a:noFill/>
          </a:ln>
        </p:spPr>
        <p:txBody>
          <a:bodyPr rtlCol="0" anchor="ctr"/>
          <a:lstStyle/>
          <a:p>
            <a:pPr algn="ctr"/>
          </a:p>
        </p:txBody>
      </p:sp>
      <p:sp>
        <p:nvSpPr>
          <p:cNvPr id="16" name="TextBox 15"/>
          <p:cNvSpPr txBox="1"/>
          <p:nvPr/>
        </p:nvSpPr>
        <p:spPr>
          <a:xfrm>
            <a:off x="9646919" y="3291840"/>
            <a:ext cx="726947" cy="256032"/>
          </a:xfrm>
          <a:prstGeom prst="rect">
            <a:avLst/>
          </a:prstGeom>
          <a:noFill/>
        </p:spPr>
        <p:txBody>
          <a:bodyPr wrap="square" lIns="0" rIns="0" tIns="0" bIns="0">
            <a:spAutoFit/>
          </a:bodyPr>
          <a:lstStyle/>
          <a:p>
            <a:pPr>
              <a:lnSpc>
                <a:spcPts val="1600"/>
              </a:lnSpc>
              <a:spcBef>
                <a:spcPts val="0"/>
              </a:spcBef>
              <a:spcAft>
                <a:spcPts val="0"/>
              </a:spcAft>
              <a:defRPr sz="1800" b="1">
                <a:solidFill>
                  <a:srgbClr val="FFFFFF"/>
                </a:solidFill>
                <a:latin typeface="Montserrat"/>
              </a:defRPr>
            </a:pPr>
            <a:r>
              <a:t>SEPT.</a:t>
            </a:r>
          </a:p>
        </p:txBody>
      </p:sp>
      <p:sp>
        <p:nvSpPr>
          <p:cNvPr id="17" name="Rectangle 16"/>
          <p:cNvSpPr/>
          <p:nvPr/>
        </p:nvSpPr>
        <p:spPr>
          <a:xfrm>
            <a:off x="10392155" y="3227832"/>
            <a:ext cx="752551" cy="338328"/>
          </a:xfrm>
          <a:prstGeom prst="rect">
            <a:avLst/>
          </a:prstGeom>
          <a:solidFill>
            <a:srgbClr val="002C49"/>
          </a:solidFill>
          <a:ln>
            <a:noFill/>
          </a:ln>
        </p:spPr>
        <p:txBody>
          <a:bodyPr rtlCol="0" anchor="ctr"/>
          <a:lstStyle/>
          <a:p>
            <a:pPr algn="ctr"/>
          </a:p>
        </p:txBody>
      </p:sp>
      <p:sp>
        <p:nvSpPr>
          <p:cNvPr id="18" name="TextBox 17"/>
          <p:cNvSpPr txBox="1"/>
          <p:nvPr/>
        </p:nvSpPr>
        <p:spPr>
          <a:xfrm>
            <a:off x="10410443" y="3291840"/>
            <a:ext cx="726947" cy="256032"/>
          </a:xfrm>
          <a:prstGeom prst="rect">
            <a:avLst/>
          </a:prstGeom>
          <a:noFill/>
        </p:spPr>
        <p:txBody>
          <a:bodyPr wrap="square" lIns="0" rIns="0" tIns="0" bIns="0">
            <a:spAutoFit/>
          </a:bodyPr>
          <a:lstStyle/>
          <a:p>
            <a:pPr>
              <a:lnSpc>
                <a:spcPts val="1600"/>
              </a:lnSpc>
              <a:spcBef>
                <a:spcPts val="0"/>
              </a:spcBef>
              <a:spcAft>
                <a:spcPts val="0"/>
              </a:spcAft>
              <a:defRPr sz="1800" b="1">
                <a:solidFill>
                  <a:srgbClr val="FFFFFF"/>
                </a:solidFill>
                <a:latin typeface="Montserrat"/>
              </a:defRPr>
            </a:pPr>
            <a:r>
              <a:t>OCT.</a:t>
            </a:r>
          </a:p>
        </p:txBody>
      </p:sp>
      <p:sp>
        <p:nvSpPr>
          <p:cNvPr id="19" name="Rectangle 18"/>
          <p:cNvSpPr/>
          <p:nvPr/>
        </p:nvSpPr>
        <p:spPr>
          <a:xfrm>
            <a:off x="11155680" y="3227832"/>
            <a:ext cx="752551" cy="338328"/>
          </a:xfrm>
          <a:prstGeom prst="rect">
            <a:avLst/>
          </a:prstGeom>
          <a:solidFill>
            <a:srgbClr val="002C49"/>
          </a:solidFill>
          <a:ln>
            <a:noFill/>
          </a:ln>
        </p:spPr>
        <p:txBody>
          <a:bodyPr rtlCol="0" anchor="ctr"/>
          <a:lstStyle/>
          <a:p>
            <a:pPr algn="ctr"/>
          </a:p>
        </p:txBody>
      </p:sp>
      <p:sp>
        <p:nvSpPr>
          <p:cNvPr id="20" name="TextBox 19"/>
          <p:cNvSpPr txBox="1"/>
          <p:nvPr/>
        </p:nvSpPr>
        <p:spPr>
          <a:xfrm>
            <a:off x="11173967" y="3291840"/>
            <a:ext cx="726947" cy="256032"/>
          </a:xfrm>
          <a:prstGeom prst="rect">
            <a:avLst/>
          </a:prstGeom>
          <a:noFill/>
        </p:spPr>
        <p:txBody>
          <a:bodyPr wrap="square" lIns="0" rIns="0" tIns="0" bIns="0">
            <a:spAutoFit/>
          </a:bodyPr>
          <a:lstStyle/>
          <a:p>
            <a:pPr>
              <a:lnSpc>
                <a:spcPts val="1600"/>
              </a:lnSpc>
              <a:spcBef>
                <a:spcPts val="0"/>
              </a:spcBef>
              <a:spcAft>
                <a:spcPts val="0"/>
              </a:spcAft>
              <a:defRPr sz="1800" b="1">
                <a:solidFill>
                  <a:srgbClr val="FFFFFF"/>
                </a:solidFill>
                <a:latin typeface="Montserrat"/>
              </a:defRPr>
            </a:pPr>
            <a:r>
              <a:t>NOV.</a:t>
            </a:r>
          </a:p>
        </p:txBody>
      </p:sp>
      <p:sp>
        <p:nvSpPr>
          <p:cNvPr id="21" name="Rectangle 20"/>
          <p:cNvSpPr/>
          <p:nvPr/>
        </p:nvSpPr>
        <p:spPr>
          <a:xfrm>
            <a:off x="11919204" y="3227832"/>
            <a:ext cx="752551" cy="338328"/>
          </a:xfrm>
          <a:prstGeom prst="rect">
            <a:avLst/>
          </a:prstGeom>
          <a:solidFill>
            <a:srgbClr val="002C49"/>
          </a:solidFill>
          <a:ln>
            <a:noFill/>
          </a:ln>
        </p:spPr>
        <p:txBody>
          <a:bodyPr rtlCol="0" anchor="ctr"/>
          <a:lstStyle/>
          <a:p>
            <a:pPr algn="ctr"/>
          </a:p>
        </p:txBody>
      </p:sp>
      <p:sp>
        <p:nvSpPr>
          <p:cNvPr id="22" name="TextBox 21"/>
          <p:cNvSpPr txBox="1"/>
          <p:nvPr/>
        </p:nvSpPr>
        <p:spPr>
          <a:xfrm>
            <a:off x="11937492" y="3291840"/>
            <a:ext cx="726947" cy="256032"/>
          </a:xfrm>
          <a:prstGeom prst="rect">
            <a:avLst/>
          </a:prstGeom>
          <a:noFill/>
        </p:spPr>
        <p:txBody>
          <a:bodyPr wrap="square" lIns="0" rIns="0" tIns="0" bIns="0">
            <a:spAutoFit/>
          </a:bodyPr>
          <a:lstStyle/>
          <a:p>
            <a:pPr>
              <a:lnSpc>
                <a:spcPts val="1600"/>
              </a:lnSpc>
              <a:spcBef>
                <a:spcPts val="0"/>
              </a:spcBef>
              <a:spcAft>
                <a:spcPts val="0"/>
              </a:spcAft>
              <a:defRPr sz="1800" b="1">
                <a:solidFill>
                  <a:srgbClr val="FFFFFF"/>
                </a:solidFill>
                <a:latin typeface="Montserrat"/>
              </a:defRPr>
            </a:pPr>
            <a:r>
              <a:t>DÉC.</a:t>
            </a:r>
          </a:p>
        </p:txBody>
      </p:sp>
      <p:sp>
        <p:nvSpPr>
          <p:cNvPr id="23" name="Rectangle 22"/>
          <p:cNvSpPr/>
          <p:nvPr/>
        </p:nvSpPr>
        <p:spPr>
          <a:xfrm>
            <a:off x="12682728" y="3227832"/>
            <a:ext cx="752551" cy="338328"/>
          </a:xfrm>
          <a:prstGeom prst="rect">
            <a:avLst/>
          </a:prstGeom>
          <a:solidFill>
            <a:srgbClr val="002C49"/>
          </a:solidFill>
          <a:ln>
            <a:noFill/>
          </a:ln>
        </p:spPr>
        <p:txBody>
          <a:bodyPr rtlCol="0" anchor="ctr"/>
          <a:lstStyle/>
          <a:p>
            <a:pPr algn="ctr"/>
          </a:p>
        </p:txBody>
      </p:sp>
      <p:sp>
        <p:nvSpPr>
          <p:cNvPr id="24" name="TextBox 23"/>
          <p:cNvSpPr txBox="1"/>
          <p:nvPr/>
        </p:nvSpPr>
        <p:spPr>
          <a:xfrm>
            <a:off x="12701015" y="3291840"/>
            <a:ext cx="726947" cy="256032"/>
          </a:xfrm>
          <a:prstGeom prst="rect">
            <a:avLst/>
          </a:prstGeom>
          <a:noFill/>
        </p:spPr>
        <p:txBody>
          <a:bodyPr wrap="square" lIns="0" rIns="0" tIns="0" bIns="0">
            <a:spAutoFit/>
          </a:bodyPr>
          <a:lstStyle/>
          <a:p>
            <a:pPr>
              <a:lnSpc>
                <a:spcPts val="1600"/>
              </a:lnSpc>
              <a:spcBef>
                <a:spcPts val="0"/>
              </a:spcBef>
              <a:spcAft>
                <a:spcPts val="0"/>
              </a:spcAft>
              <a:defRPr sz="1800" b="1">
                <a:solidFill>
                  <a:srgbClr val="FFFFFF"/>
                </a:solidFill>
                <a:latin typeface="Montserrat"/>
              </a:defRPr>
            </a:pPr>
            <a:r>
              <a:t>JANV.</a:t>
            </a:r>
          </a:p>
        </p:txBody>
      </p:sp>
      <p:sp>
        <p:nvSpPr>
          <p:cNvPr id="25" name="Rectangle 24"/>
          <p:cNvSpPr/>
          <p:nvPr/>
        </p:nvSpPr>
        <p:spPr>
          <a:xfrm>
            <a:off x="13446251" y="3227832"/>
            <a:ext cx="752551" cy="338328"/>
          </a:xfrm>
          <a:prstGeom prst="rect">
            <a:avLst/>
          </a:prstGeom>
          <a:solidFill>
            <a:srgbClr val="002C49"/>
          </a:solidFill>
          <a:ln>
            <a:noFill/>
          </a:ln>
        </p:spPr>
        <p:txBody>
          <a:bodyPr rtlCol="0" anchor="ctr"/>
          <a:lstStyle/>
          <a:p>
            <a:pPr algn="ctr"/>
          </a:p>
        </p:txBody>
      </p:sp>
      <p:sp>
        <p:nvSpPr>
          <p:cNvPr id="26" name="TextBox 25"/>
          <p:cNvSpPr txBox="1"/>
          <p:nvPr/>
        </p:nvSpPr>
        <p:spPr>
          <a:xfrm>
            <a:off x="13464539" y="3291840"/>
            <a:ext cx="726947" cy="256032"/>
          </a:xfrm>
          <a:prstGeom prst="rect">
            <a:avLst/>
          </a:prstGeom>
          <a:noFill/>
        </p:spPr>
        <p:txBody>
          <a:bodyPr wrap="square" lIns="0" rIns="0" tIns="0" bIns="0">
            <a:spAutoFit/>
          </a:bodyPr>
          <a:lstStyle/>
          <a:p>
            <a:pPr>
              <a:lnSpc>
                <a:spcPts val="1600"/>
              </a:lnSpc>
              <a:spcBef>
                <a:spcPts val="0"/>
              </a:spcBef>
              <a:spcAft>
                <a:spcPts val="0"/>
              </a:spcAft>
              <a:defRPr sz="1800" b="1">
                <a:solidFill>
                  <a:srgbClr val="FFFFFF"/>
                </a:solidFill>
                <a:latin typeface="Montserrat"/>
              </a:defRPr>
            </a:pPr>
            <a:r>
              <a:t>FÉV.</a:t>
            </a:r>
          </a:p>
        </p:txBody>
      </p:sp>
      <p:sp>
        <p:nvSpPr>
          <p:cNvPr id="27" name="Rectangle 26"/>
          <p:cNvSpPr/>
          <p:nvPr/>
        </p:nvSpPr>
        <p:spPr>
          <a:xfrm>
            <a:off x="14209776" y="3227832"/>
            <a:ext cx="752551" cy="338328"/>
          </a:xfrm>
          <a:prstGeom prst="rect">
            <a:avLst/>
          </a:prstGeom>
          <a:solidFill>
            <a:srgbClr val="002C49"/>
          </a:solidFill>
          <a:ln>
            <a:noFill/>
          </a:ln>
        </p:spPr>
        <p:txBody>
          <a:bodyPr rtlCol="0" anchor="ctr"/>
          <a:lstStyle/>
          <a:p>
            <a:pPr algn="ctr"/>
          </a:p>
        </p:txBody>
      </p:sp>
      <p:sp>
        <p:nvSpPr>
          <p:cNvPr id="28" name="TextBox 27"/>
          <p:cNvSpPr txBox="1"/>
          <p:nvPr/>
        </p:nvSpPr>
        <p:spPr>
          <a:xfrm>
            <a:off x="14228063" y="3291840"/>
            <a:ext cx="726947" cy="256032"/>
          </a:xfrm>
          <a:prstGeom prst="rect">
            <a:avLst/>
          </a:prstGeom>
          <a:noFill/>
        </p:spPr>
        <p:txBody>
          <a:bodyPr wrap="square" lIns="0" rIns="0" tIns="0" bIns="0">
            <a:spAutoFit/>
          </a:bodyPr>
          <a:lstStyle/>
          <a:p>
            <a:pPr>
              <a:lnSpc>
                <a:spcPts val="1600"/>
              </a:lnSpc>
              <a:spcBef>
                <a:spcPts val="0"/>
              </a:spcBef>
              <a:spcAft>
                <a:spcPts val="0"/>
              </a:spcAft>
              <a:defRPr sz="1800" b="1">
                <a:solidFill>
                  <a:srgbClr val="FFFFFF"/>
                </a:solidFill>
                <a:latin typeface="Montserrat"/>
              </a:defRPr>
            </a:pPr>
            <a:r>
              <a:t>MARS</a:t>
            </a:r>
          </a:p>
        </p:txBody>
      </p:sp>
      <p:sp>
        <p:nvSpPr>
          <p:cNvPr id="29" name="Rectangle 28"/>
          <p:cNvSpPr/>
          <p:nvPr/>
        </p:nvSpPr>
        <p:spPr>
          <a:xfrm>
            <a:off x="14973300" y="3227832"/>
            <a:ext cx="752551" cy="338328"/>
          </a:xfrm>
          <a:prstGeom prst="rect">
            <a:avLst/>
          </a:prstGeom>
          <a:solidFill>
            <a:srgbClr val="002C49"/>
          </a:solidFill>
          <a:ln>
            <a:noFill/>
          </a:ln>
        </p:spPr>
        <p:txBody>
          <a:bodyPr rtlCol="0" anchor="ctr"/>
          <a:lstStyle/>
          <a:p>
            <a:pPr algn="ctr"/>
          </a:p>
        </p:txBody>
      </p:sp>
      <p:sp>
        <p:nvSpPr>
          <p:cNvPr id="30" name="TextBox 29"/>
          <p:cNvSpPr txBox="1"/>
          <p:nvPr/>
        </p:nvSpPr>
        <p:spPr>
          <a:xfrm>
            <a:off x="14991588" y="3291840"/>
            <a:ext cx="726947" cy="256032"/>
          </a:xfrm>
          <a:prstGeom prst="rect">
            <a:avLst/>
          </a:prstGeom>
          <a:noFill/>
        </p:spPr>
        <p:txBody>
          <a:bodyPr wrap="square" lIns="0" rIns="0" tIns="0" bIns="0">
            <a:spAutoFit/>
          </a:bodyPr>
          <a:lstStyle/>
          <a:p>
            <a:pPr>
              <a:lnSpc>
                <a:spcPts val="1600"/>
              </a:lnSpc>
              <a:spcBef>
                <a:spcPts val="0"/>
              </a:spcBef>
              <a:spcAft>
                <a:spcPts val="0"/>
              </a:spcAft>
              <a:defRPr sz="1800" b="1">
                <a:solidFill>
                  <a:srgbClr val="FFFFFF"/>
                </a:solidFill>
                <a:latin typeface="Montserrat"/>
              </a:defRPr>
            </a:pPr>
            <a:r>
              <a:t>AVR.</a:t>
            </a:r>
          </a:p>
        </p:txBody>
      </p:sp>
      <p:sp>
        <p:nvSpPr>
          <p:cNvPr id="31" name="Rectangle 30"/>
          <p:cNvSpPr/>
          <p:nvPr/>
        </p:nvSpPr>
        <p:spPr>
          <a:xfrm>
            <a:off x="15736824" y="3227832"/>
            <a:ext cx="752551" cy="338328"/>
          </a:xfrm>
          <a:prstGeom prst="rect">
            <a:avLst/>
          </a:prstGeom>
          <a:solidFill>
            <a:srgbClr val="002C49"/>
          </a:solidFill>
          <a:ln>
            <a:noFill/>
          </a:ln>
        </p:spPr>
        <p:txBody>
          <a:bodyPr rtlCol="0" anchor="ctr"/>
          <a:lstStyle/>
          <a:p>
            <a:pPr algn="ctr"/>
          </a:p>
        </p:txBody>
      </p:sp>
      <p:sp>
        <p:nvSpPr>
          <p:cNvPr id="32" name="TextBox 31"/>
          <p:cNvSpPr txBox="1"/>
          <p:nvPr/>
        </p:nvSpPr>
        <p:spPr>
          <a:xfrm>
            <a:off x="15755112" y="3291840"/>
            <a:ext cx="726947" cy="256032"/>
          </a:xfrm>
          <a:prstGeom prst="rect">
            <a:avLst/>
          </a:prstGeom>
          <a:noFill/>
        </p:spPr>
        <p:txBody>
          <a:bodyPr wrap="square" lIns="0" rIns="0" tIns="0" bIns="0">
            <a:spAutoFit/>
          </a:bodyPr>
          <a:lstStyle/>
          <a:p>
            <a:pPr>
              <a:lnSpc>
                <a:spcPts val="1600"/>
              </a:lnSpc>
              <a:spcBef>
                <a:spcPts val="0"/>
              </a:spcBef>
              <a:spcAft>
                <a:spcPts val="0"/>
              </a:spcAft>
              <a:defRPr sz="1800" b="1">
                <a:solidFill>
                  <a:srgbClr val="FFFFFF"/>
                </a:solidFill>
                <a:latin typeface="Montserrat"/>
              </a:defRPr>
            </a:pPr>
            <a:r>
              <a:t>MAI</a:t>
            </a:r>
          </a:p>
        </p:txBody>
      </p:sp>
      <p:sp>
        <p:nvSpPr>
          <p:cNvPr id="33" name="Rectangle 32"/>
          <p:cNvSpPr/>
          <p:nvPr/>
        </p:nvSpPr>
        <p:spPr>
          <a:xfrm>
            <a:off x="16500347" y="3227832"/>
            <a:ext cx="752551" cy="338328"/>
          </a:xfrm>
          <a:prstGeom prst="rect">
            <a:avLst/>
          </a:prstGeom>
          <a:solidFill>
            <a:srgbClr val="002C49"/>
          </a:solidFill>
          <a:ln>
            <a:noFill/>
          </a:ln>
        </p:spPr>
        <p:txBody>
          <a:bodyPr rtlCol="0" anchor="ctr"/>
          <a:lstStyle/>
          <a:p>
            <a:pPr algn="ctr"/>
          </a:p>
        </p:txBody>
      </p:sp>
      <p:sp>
        <p:nvSpPr>
          <p:cNvPr id="34" name="TextBox 33"/>
          <p:cNvSpPr txBox="1"/>
          <p:nvPr/>
        </p:nvSpPr>
        <p:spPr>
          <a:xfrm>
            <a:off x="16518635" y="3291840"/>
            <a:ext cx="726947" cy="256032"/>
          </a:xfrm>
          <a:prstGeom prst="rect">
            <a:avLst/>
          </a:prstGeom>
          <a:noFill/>
        </p:spPr>
        <p:txBody>
          <a:bodyPr wrap="square" lIns="0" rIns="0" tIns="0" bIns="0">
            <a:spAutoFit/>
          </a:bodyPr>
          <a:lstStyle/>
          <a:p>
            <a:pPr>
              <a:lnSpc>
                <a:spcPts val="1600"/>
              </a:lnSpc>
              <a:spcBef>
                <a:spcPts val="0"/>
              </a:spcBef>
              <a:spcAft>
                <a:spcPts val="0"/>
              </a:spcAft>
              <a:defRPr sz="1800" b="1">
                <a:solidFill>
                  <a:srgbClr val="FFFFFF"/>
                </a:solidFill>
                <a:latin typeface="Montserrat"/>
              </a:defRPr>
            </a:pPr>
            <a:r>
              <a:t>JUIN</a:t>
            </a:r>
          </a:p>
        </p:txBody>
      </p:sp>
      <p:sp>
        <p:nvSpPr>
          <p:cNvPr id="35" name="Rectangle 34"/>
          <p:cNvSpPr/>
          <p:nvPr/>
        </p:nvSpPr>
        <p:spPr>
          <a:xfrm>
            <a:off x="822960" y="3497580"/>
            <a:ext cx="16642080" cy="617219"/>
          </a:xfrm>
          <a:prstGeom prst="rect">
            <a:avLst/>
          </a:prstGeom>
          <a:solidFill>
            <a:srgbClr val="F7F7F3"/>
          </a:solidFill>
          <a:ln>
            <a:noFill/>
          </a:ln>
        </p:spPr>
        <p:txBody>
          <a:bodyPr rtlCol="0" anchor="ctr"/>
          <a:lstStyle/>
          <a:p>
            <a:pPr algn="ctr"/>
          </a:p>
        </p:txBody>
      </p:sp>
      <p:sp>
        <p:nvSpPr>
          <p:cNvPr id="36" name="TextBox 35"/>
          <p:cNvSpPr txBox="1"/>
          <p:nvPr/>
        </p:nvSpPr>
        <p:spPr>
          <a:xfrm>
            <a:off x="905256" y="3616452"/>
            <a:ext cx="1207008" cy="274320"/>
          </a:xfrm>
          <a:prstGeom prst="rect">
            <a:avLst/>
          </a:prstGeom>
          <a:noFill/>
        </p:spPr>
        <p:txBody>
          <a:bodyPr wrap="square" lIns="0" rIns="0" tIns="0" bIns="0">
            <a:spAutoFit/>
          </a:bodyPr>
          <a:lstStyle/>
          <a:p>
            <a:pPr>
              <a:lnSpc>
                <a:spcPts val="1722"/>
              </a:lnSpc>
              <a:spcBef>
                <a:spcPts val="0"/>
              </a:spcBef>
              <a:spcAft>
                <a:spcPts val="0"/>
              </a:spcAft>
              <a:defRPr sz="1400" b="1">
                <a:solidFill>
                  <a:srgbClr val="FF6633"/>
                </a:solidFill>
                <a:latin typeface="Montserrat"/>
              </a:defRPr>
            </a:pPr>
            <a:r>
              <a:t>CHANGE</a:t>
            </a:r>
          </a:p>
        </p:txBody>
      </p:sp>
      <p:sp>
        <p:nvSpPr>
          <p:cNvPr id="37" name="TextBox 36"/>
          <p:cNvSpPr txBox="1"/>
          <p:nvPr/>
        </p:nvSpPr>
        <p:spPr>
          <a:xfrm>
            <a:off x="2157984" y="3561588"/>
            <a:ext cx="5687568" cy="640080"/>
          </a:xfrm>
          <a:prstGeom prst="rect">
            <a:avLst/>
          </a:prstGeom>
          <a:noFill/>
        </p:spPr>
        <p:txBody>
          <a:bodyPr wrap="square" lIns="0" rIns="0" tIns="0" bIns="0">
            <a:spAutoFit/>
          </a:bodyPr>
          <a:lstStyle/>
          <a:p>
            <a:pPr>
              <a:lnSpc>
                <a:spcPts val="2350"/>
              </a:lnSpc>
              <a:spcBef>
                <a:spcPts val="0"/>
              </a:spcBef>
              <a:spcAft>
                <a:spcPts val="0"/>
              </a:spcAft>
              <a:defRPr sz="2400" b="0">
                <a:solidFill>
                  <a:srgbClr val="002C49"/>
                </a:solidFill>
                <a:latin typeface="Montserrat"/>
              </a:defRPr>
            </a:pPr>
            <a:r>
              <a:t>Relais de la performance</a:t>
            </a:r>
          </a:p>
          <a:p>
            <a:pPr>
              <a:lnSpc>
                <a:spcPts val="2350"/>
              </a:lnSpc>
              <a:spcBef>
                <a:spcPts val="0"/>
              </a:spcBef>
              <a:spcAft>
                <a:spcPts val="0"/>
              </a:spcAft>
              <a:defRPr sz="2400" b="0">
                <a:solidFill>
                  <a:srgbClr val="002C49"/>
                </a:solidFill>
                <a:latin typeface="Montserrat"/>
              </a:defRPr>
            </a:pPr>
            <a:r>
              <a:t>post-All Staff</a:t>
            </a:r>
          </a:p>
        </p:txBody>
      </p:sp>
      <p:cxnSp>
        <p:nvCxnSpPr>
          <p:cNvPr id="38" name="Connector 37"/>
          <p:cNvCxnSpPr/>
          <p:nvPr/>
        </p:nvCxnSpPr>
        <p:spPr>
          <a:xfrm>
            <a:off x="8101583" y="3497580"/>
            <a:ext cx="0" cy="640079"/>
          </a:xfrm>
          <a:prstGeom prst="line">
            <a:avLst/>
          </a:prstGeom>
          <a:ln w="8255">
            <a:solidFill>
              <a:srgbClr val="D9E2E7"/>
            </a:solidFill>
          </a:ln>
        </p:spPr>
      </p:cxnSp>
      <p:cxnSp>
        <p:nvCxnSpPr>
          <p:cNvPr id="39" name="Connector 38"/>
          <p:cNvCxnSpPr/>
          <p:nvPr/>
        </p:nvCxnSpPr>
        <p:spPr>
          <a:xfrm>
            <a:off x="8865108" y="3497580"/>
            <a:ext cx="0" cy="640079"/>
          </a:xfrm>
          <a:prstGeom prst="line">
            <a:avLst/>
          </a:prstGeom>
          <a:ln w="8255">
            <a:solidFill>
              <a:srgbClr val="D9E2E7"/>
            </a:solidFill>
          </a:ln>
        </p:spPr>
      </p:cxnSp>
      <p:cxnSp>
        <p:nvCxnSpPr>
          <p:cNvPr id="40" name="Connector 39"/>
          <p:cNvCxnSpPr/>
          <p:nvPr/>
        </p:nvCxnSpPr>
        <p:spPr>
          <a:xfrm>
            <a:off x="9628632" y="3497580"/>
            <a:ext cx="0" cy="640079"/>
          </a:xfrm>
          <a:prstGeom prst="line">
            <a:avLst/>
          </a:prstGeom>
          <a:ln w="8255">
            <a:solidFill>
              <a:srgbClr val="D9E2E7"/>
            </a:solidFill>
          </a:ln>
        </p:spPr>
      </p:cxnSp>
      <p:cxnSp>
        <p:nvCxnSpPr>
          <p:cNvPr id="41" name="Connector 40"/>
          <p:cNvCxnSpPr/>
          <p:nvPr/>
        </p:nvCxnSpPr>
        <p:spPr>
          <a:xfrm>
            <a:off x="10392155" y="3497580"/>
            <a:ext cx="0" cy="640079"/>
          </a:xfrm>
          <a:prstGeom prst="line">
            <a:avLst/>
          </a:prstGeom>
          <a:ln w="8255">
            <a:solidFill>
              <a:srgbClr val="D9E2E7"/>
            </a:solidFill>
          </a:ln>
        </p:spPr>
      </p:cxnSp>
      <p:cxnSp>
        <p:nvCxnSpPr>
          <p:cNvPr id="42" name="Connector 41"/>
          <p:cNvCxnSpPr/>
          <p:nvPr/>
        </p:nvCxnSpPr>
        <p:spPr>
          <a:xfrm>
            <a:off x="11155680" y="3497580"/>
            <a:ext cx="0" cy="640079"/>
          </a:xfrm>
          <a:prstGeom prst="line">
            <a:avLst/>
          </a:prstGeom>
          <a:ln w="8255">
            <a:solidFill>
              <a:srgbClr val="D9E2E7"/>
            </a:solidFill>
          </a:ln>
        </p:spPr>
      </p:cxnSp>
      <p:cxnSp>
        <p:nvCxnSpPr>
          <p:cNvPr id="43" name="Connector 42"/>
          <p:cNvCxnSpPr/>
          <p:nvPr/>
        </p:nvCxnSpPr>
        <p:spPr>
          <a:xfrm>
            <a:off x="11919204" y="3497580"/>
            <a:ext cx="0" cy="640079"/>
          </a:xfrm>
          <a:prstGeom prst="line">
            <a:avLst/>
          </a:prstGeom>
          <a:ln w="8255">
            <a:solidFill>
              <a:srgbClr val="D9E2E7"/>
            </a:solidFill>
          </a:ln>
        </p:spPr>
      </p:cxnSp>
      <p:cxnSp>
        <p:nvCxnSpPr>
          <p:cNvPr id="44" name="Connector 43"/>
          <p:cNvCxnSpPr/>
          <p:nvPr/>
        </p:nvCxnSpPr>
        <p:spPr>
          <a:xfrm>
            <a:off x="12682728" y="3497580"/>
            <a:ext cx="0" cy="640079"/>
          </a:xfrm>
          <a:prstGeom prst="line">
            <a:avLst/>
          </a:prstGeom>
          <a:ln w="8255">
            <a:solidFill>
              <a:srgbClr val="D9E2E7"/>
            </a:solidFill>
          </a:ln>
        </p:spPr>
      </p:cxnSp>
      <p:cxnSp>
        <p:nvCxnSpPr>
          <p:cNvPr id="45" name="Connector 44"/>
          <p:cNvCxnSpPr/>
          <p:nvPr/>
        </p:nvCxnSpPr>
        <p:spPr>
          <a:xfrm>
            <a:off x="13446251" y="3497580"/>
            <a:ext cx="0" cy="640079"/>
          </a:xfrm>
          <a:prstGeom prst="line">
            <a:avLst/>
          </a:prstGeom>
          <a:ln w="8255">
            <a:solidFill>
              <a:srgbClr val="D9E2E7"/>
            </a:solidFill>
          </a:ln>
        </p:spPr>
      </p:cxnSp>
      <p:cxnSp>
        <p:nvCxnSpPr>
          <p:cNvPr id="46" name="Connector 45"/>
          <p:cNvCxnSpPr/>
          <p:nvPr/>
        </p:nvCxnSpPr>
        <p:spPr>
          <a:xfrm>
            <a:off x="14209776" y="3497580"/>
            <a:ext cx="0" cy="640079"/>
          </a:xfrm>
          <a:prstGeom prst="line">
            <a:avLst/>
          </a:prstGeom>
          <a:ln w="8255">
            <a:solidFill>
              <a:srgbClr val="D9E2E7"/>
            </a:solidFill>
          </a:ln>
        </p:spPr>
      </p:cxnSp>
      <p:cxnSp>
        <p:nvCxnSpPr>
          <p:cNvPr id="47" name="Connector 46"/>
          <p:cNvCxnSpPr/>
          <p:nvPr/>
        </p:nvCxnSpPr>
        <p:spPr>
          <a:xfrm>
            <a:off x="14973300" y="3497580"/>
            <a:ext cx="0" cy="640079"/>
          </a:xfrm>
          <a:prstGeom prst="line">
            <a:avLst/>
          </a:prstGeom>
          <a:ln w="8255">
            <a:solidFill>
              <a:srgbClr val="D9E2E7"/>
            </a:solidFill>
          </a:ln>
        </p:spPr>
      </p:cxnSp>
      <p:cxnSp>
        <p:nvCxnSpPr>
          <p:cNvPr id="48" name="Connector 47"/>
          <p:cNvCxnSpPr/>
          <p:nvPr/>
        </p:nvCxnSpPr>
        <p:spPr>
          <a:xfrm>
            <a:off x="15736824" y="3497580"/>
            <a:ext cx="0" cy="640079"/>
          </a:xfrm>
          <a:prstGeom prst="line">
            <a:avLst/>
          </a:prstGeom>
          <a:ln w="8255">
            <a:solidFill>
              <a:srgbClr val="D9E2E7"/>
            </a:solidFill>
          </a:ln>
        </p:spPr>
      </p:cxnSp>
      <p:cxnSp>
        <p:nvCxnSpPr>
          <p:cNvPr id="49" name="Connector 48"/>
          <p:cNvCxnSpPr/>
          <p:nvPr/>
        </p:nvCxnSpPr>
        <p:spPr>
          <a:xfrm>
            <a:off x="16500347" y="3497580"/>
            <a:ext cx="0" cy="640079"/>
          </a:xfrm>
          <a:prstGeom prst="line">
            <a:avLst/>
          </a:prstGeom>
          <a:ln w="8255">
            <a:solidFill>
              <a:srgbClr val="D9E2E7"/>
            </a:solidFill>
          </a:ln>
        </p:spPr>
      </p:cxnSp>
      <p:cxnSp>
        <p:nvCxnSpPr>
          <p:cNvPr id="50" name="Connector 49"/>
          <p:cNvCxnSpPr/>
          <p:nvPr/>
        </p:nvCxnSpPr>
        <p:spPr>
          <a:xfrm>
            <a:off x="17263872" y="3497580"/>
            <a:ext cx="0" cy="640079"/>
          </a:xfrm>
          <a:prstGeom prst="line">
            <a:avLst/>
          </a:prstGeom>
          <a:ln w="8255">
            <a:solidFill>
              <a:srgbClr val="D9E2E7"/>
            </a:solidFill>
          </a:ln>
        </p:spPr>
      </p:cxnSp>
      <p:sp>
        <p:nvSpPr>
          <p:cNvPr id="51" name="Oval 50"/>
          <p:cNvSpPr/>
          <p:nvPr/>
        </p:nvSpPr>
        <p:spPr>
          <a:xfrm>
            <a:off x="10700765" y="3721608"/>
            <a:ext cx="146304" cy="146304"/>
          </a:xfrm>
          <a:prstGeom prst="ellipse">
            <a:avLst/>
          </a:prstGeom>
          <a:solidFill>
            <a:srgbClr val="FF6633"/>
          </a:solidFill>
          <a:ln>
            <a:noFill/>
          </a:ln>
        </p:spPr>
        <p:txBody>
          <a:bodyPr rtlCol="0" anchor="ctr"/>
          <a:lstStyle/>
          <a:p>
            <a:pPr algn="ctr"/>
          </a:p>
        </p:txBody>
      </p:sp>
      <p:sp>
        <p:nvSpPr>
          <p:cNvPr id="52" name="Oval 51"/>
          <p:cNvSpPr/>
          <p:nvPr/>
        </p:nvSpPr>
        <p:spPr>
          <a:xfrm>
            <a:off x="12991338" y="3721608"/>
            <a:ext cx="146304" cy="146304"/>
          </a:xfrm>
          <a:prstGeom prst="ellipse">
            <a:avLst/>
          </a:prstGeom>
          <a:solidFill>
            <a:srgbClr val="FF6633"/>
          </a:solidFill>
          <a:ln>
            <a:noFill/>
          </a:ln>
        </p:spPr>
        <p:txBody>
          <a:bodyPr rtlCol="0" anchor="ctr"/>
          <a:lstStyle/>
          <a:p>
            <a:pPr algn="ctr"/>
          </a:p>
        </p:txBody>
      </p:sp>
      <p:sp>
        <p:nvSpPr>
          <p:cNvPr id="53" name="Oval 52"/>
          <p:cNvSpPr/>
          <p:nvPr/>
        </p:nvSpPr>
        <p:spPr>
          <a:xfrm>
            <a:off x="15281909" y="3721608"/>
            <a:ext cx="146304" cy="146304"/>
          </a:xfrm>
          <a:prstGeom prst="ellipse">
            <a:avLst/>
          </a:prstGeom>
          <a:solidFill>
            <a:srgbClr val="FF6633"/>
          </a:solidFill>
          <a:ln>
            <a:noFill/>
          </a:ln>
        </p:spPr>
        <p:txBody>
          <a:bodyPr rtlCol="0" anchor="ctr"/>
          <a:lstStyle/>
          <a:p>
            <a:pPr algn="ctr"/>
          </a:p>
        </p:txBody>
      </p:sp>
      <p:sp>
        <p:nvSpPr>
          <p:cNvPr id="54" name="Rectangle 53"/>
          <p:cNvSpPr/>
          <p:nvPr/>
        </p:nvSpPr>
        <p:spPr>
          <a:xfrm>
            <a:off x="16546067" y="3584448"/>
            <a:ext cx="658368" cy="393192"/>
          </a:xfrm>
          <a:prstGeom prst="rect">
            <a:avLst/>
          </a:prstGeom>
          <a:solidFill>
            <a:srgbClr val="EAF0F3"/>
          </a:solidFill>
          <a:ln>
            <a:noFill/>
          </a:ln>
        </p:spPr>
        <p:txBody>
          <a:bodyPr rtlCol="0" anchor="ctr"/>
          <a:lstStyle/>
          <a:p>
            <a:pPr algn="ctr"/>
          </a:p>
        </p:txBody>
      </p:sp>
      <p:sp>
        <p:nvSpPr>
          <p:cNvPr id="55" name="TextBox 54"/>
          <p:cNvSpPr txBox="1"/>
          <p:nvPr/>
        </p:nvSpPr>
        <p:spPr>
          <a:xfrm>
            <a:off x="16664939" y="3666744"/>
            <a:ext cx="420623" cy="237744"/>
          </a:xfrm>
          <a:prstGeom prst="rect">
            <a:avLst/>
          </a:prstGeom>
          <a:noFill/>
        </p:spPr>
        <p:txBody>
          <a:bodyPr wrap="square" lIns="0" rIns="0" tIns="0" bIns="0">
            <a:spAutoFit/>
          </a:bodyPr>
          <a:lstStyle/>
          <a:p>
            <a:pPr>
              <a:lnSpc>
                <a:spcPts val="1722"/>
              </a:lnSpc>
              <a:spcBef>
                <a:spcPts val="0"/>
              </a:spcBef>
              <a:spcAft>
                <a:spcPts val="0"/>
              </a:spcAft>
              <a:defRPr sz="1400" b="1">
                <a:solidFill>
                  <a:srgbClr val="526777"/>
                </a:solidFill>
                <a:latin typeface="Montserrat"/>
              </a:defRPr>
            </a:pPr>
            <a:r>
              <a:t>FY*</a:t>
            </a:r>
          </a:p>
        </p:txBody>
      </p:sp>
      <p:sp>
        <p:nvSpPr>
          <p:cNvPr id="56" name="TextBox 55"/>
          <p:cNvSpPr txBox="1"/>
          <p:nvPr/>
        </p:nvSpPr>
        <p:spPr>
          <a:xfrm>
            <a:off x="905256" y="4256532"/>
            <a:ext cx="1207008" cy="274320"/>
          </a:xfrm>
          <a:prstGeom prst="rect">
            <a:avLst/>
          </a:prstGeom>
          <a:noFill/>
        </p:spPr>
        <p:txBody>
          <a:bodyPr wrap="square" lIns="0" rIns="0" tIns="0" bIns="0">
            <a:spAutoFit/>
          </a:bodyPr>
          <a:lstStyle/>
          <a:p>
            <a:pPr>
              <a:lnSpc>
                <a:spcPts val="1722"/>
              </a:lnSpc>
              <a:spcBef>
                <a:spcPts val="0"/>
              </a:spcBef>
              <a:spcAft>
                <a:spcPts val="0"/>
              </a:spcAft>
              <a:defRPr sz="1400" b="1">
                <a:solidFill>
                  <a:srgbClr val="FF6633"/>
                </a:solidFill>
                <a:latin typeface="Montserrat"/>
              </a:defRPr>
            </a:pPr>
            <a:r>
              <a:t>BUSINESS</a:t>
            </a:r>
          </a:p>
        </p:txBody>
      </p:sp>
      <p:sp>
        <p:nvSpPr>
          <p:cNvPr id="57" name="TextBox 56"/>
          <p:cNvSpPr txBox="1"/>
          <p:nvPr/>
        </p:nvSpPr>
        <p:spPr>
          <a:xfrm>
            <a:off x="2157984" y="4201668"/>
            <a:ext cx="5687568" cy="640080"/>
          </a:xfrm>
          <a:prstGeom prst="rect">
            <a:avLst/>
          </a:prstGeom>
          <a:noFill/>
        </p:spPr>
        <p:txBody>
          <a:bodyPr wrap="square" lIns="0" rIns="0" tIns="0" bIns="0">
            <a:spAutoFit/>
          </a:bodyPr>
          <a:lstStyle/>
          <a:p>
            <a:pPr>
              <a:lnSpc>
                <a:spcPts val="2350"/>
              </a:lnSpc>
              <a:spcBef>
                <a:spcPts val="0"/>
              </a:spcBef>
              <a:spcAft>
                <a:spcPts val="0"/>
              </a:spcAft>
              <a:defRPr sz="2400" b="0">
                <a:solidFill>
                  <a:srgbClr val="002C49"/>
                </a:solidFill>
                <a:latin typeface="Montserrat"/>
              </a:defRPr>
            </a:pPr>
            <a:r>
              <a:t>Témoignages / outils /</a:t>
            </a:r>
          </a:p>
          <a:p>
            <a:pPr>
              <a:lnSpc>
                <a:spcPts val="2350"/>
              </a:lnSpc>
              <a:spcBef>
                <a:spcPts val="0"/>
              </a:spcBef>
              <a:spcAft>
                <a:spcPts val="0"/>
              </a:spcAft>
              <a:defRPr sz="2400" b="0">
                <a:solidFill>
                  <a:srgbClr val="002C49"/>
                </a:solidFill>
                <a:latin typeface="Montserrat"/>
              </a:defRPr>
            </a:pPr>
            <a:r>
              <a:t>nouvelles offres</a:t>
            </a:r>
          </a:p>
        </p:txBody>
      </p:sp>
      <p:cxnSp>
        <p:nvCxnSpPr>
          <p:cNvPr id="58" name="Connector 57"/>
          <p:cNvCxnSpPr/>
          <p:nvPr/>
        </p:nvCxnSpPr>
        <p:spPr>
          <a:xfrm>
            <a:off x="8101583" y="4137659"/>
            <a:ext cx="0" cy="640081"/>
          </a:xfrm>
          <a:prstGeom prst="line">
            <a:avLst/>
          </a:prstGeom>
          <a:ln w="8255">
            <a:solidFill>
              <a:srgbClr val="D9E2E7"/>
            </a:solidFill>
          </a:ln>
        </p:spPr>
      </p:cxnSp>
      <p:cxnSp>
        <p:nvCxnSpPr>
          <p:cNvPr id="59" name="Connector 58"/>
          <p:cNvCxnSpPr/>
          <p:nvPr/>
        </p:nvCxnSpPr>
        <p:spPr>
          <a:xfrm>
            <a:off x="8865108" y="4137659"/>
            <a:ext cx="0" cy="640081"/>
          </a:xfrm>
          <a:prstGeom prst="line">
            <a:avLst/>
          </a:prstGeom>
          <a:ln w="8255">
            <a:solidFill>
              <a:srgbClr val="D9E2E7"/>
            </a:solidFill>
          </a:ln>
        </p:spPr>
      </p:cxnSp>
      <p:cxnSp>
        <p:nvCxnSpPr>
          <p:cNvPr id="60" name="Connector 59"/>
          <p:cNvCxnSpPr/>
          <p:nvPr/>
        </p:nvCxnSpPr>
        <p:spPr>
          <a:xfrm>
            <a:off x="9628632" y="4137659"/>
            <a:ext cx="0" cy="640081"/>
          </a:xfrm>
          <a:prstGeom prst="line">
            <a:avLst/>
          </a:prstGeom>
          <a:ln w="8255">
            <a:solidFill>
              <a:srgbClr val="D9E2E7"/>
            </a:solidFill>
          </a:ln>
        </p:spPr>
      </p:cxnSp>
      <p:cxnSp>
        <p:nvCxnSpPr>
          <p:cNvPr id="61" name="Connector 60"/>
          <p:cNvCxnSpPr/>
          <p:nvPr/>
        </p:nvCxnSpPr>
        <p:spPr>
          <a:xfrm>
            <a:off x="10392155" y="4137659"/>
            <a:ext cx="0" cy="640081"/>
          </a:xfrm>
          <a:prstGeom prst="line">
            <a:avLst/>
          </a:prstGeom>
          <a:ln w="8255">
            <a:solidFill>
              <a:srgbClr val="D9E2E7"/>
            </a:solidFill>
          </a:ln>
        </p:spPr>
      </p:cxnSp>
      <p:cxnSp>
        <p:nvCxnSpPr>
          <p:cNvPr id="62" name="Connector 61"/>
          <p:cNvCxnSpPr/>
          <p:nvPr/>
        </p:nvCxnSpPr>
        <p:spPr>
          <a:xfrm>
            <a:off x="11155680" y="4137659"/>
            <a:ext cx="0" cy="640081"/>
          </a:xfrm>
          <a:prstGeom prst="line">
            <a:avLst/>
          </a:prstGeom>
          <a:ln w="8255">
            <a:solidFill>
              <a:srgbClr val="D9E2E7"/>
            </a:solidFill>
          </a:ln>
        </p:spPr>
      </p:cxnSp>
      <p:cxnSp>
        <p:nvCxnSpPr>
          <p:cNvPr id="63" name="Connector 62"/>
          <p:cNvCxnSpPr/>
          <p:nvPr/>
        </p:nvCxnSpPr>
        <p:spPr>
          <a:xfrm>
            <a:off x="11919204" y="4137659"/>
            <a:ext cx="0" cy="640081"/>
          </a:xfrm>
          <a:prstGeom prst="line">
            <a:avLst/>
          </a:prstGeom>
          <a:ln w="8255">
            <a:solidFill>
              <a:srgbClr val="D9E2E7"/>
            </a:solidFill>
          </a:ln>
        </p:spPr>
      </p:cxnSp>
      <p:cxnSp>
        <p:nvCxnSpPr>
          <p:cNvPr id="64" name="Connector 63"/>
          <p:cNvCxnSpPr/>
          <p:nvPr/>
        </p:nvCxnSpPr>
        <p:spPr>
          <a:xfrm>
            <a:off x="12682728" y="4137659"/>
            <a:ext cx="0" cy="640081"/>
          </a:xfrm>
          <a:prstGeom prst="line">
            <a:avLst/>
          </a:prstGeom>
          <a:ln w="8255">
            <a:solidFill>
              <a:srgbClr val="D9E2E7"/>
            </a:solidFill>
          </a:ln>
        </p:spPr>
      </p:cxnSp>
      <p:cxnSp>
        <p:nvCxnSpPr>
          <p:cNvPr id="65" name="Connector 64"/>
          <p:cNvCxnSpPr/>
          <p:nvPr/>
        </p:nvCxnSpPr>
        <p:spPr>
          <a:xfrm>
            <a:off x="13446251" y="4137659"/>
            <a:ext cx="0" cy="640081"/>
          </a:xfrm>
          <a:prstGeom prst="line">
            <a:avLst/>
          </a:prstGeom>
          <a:ln w="8255">
            <a:solidFill>
              <a:srgbClr val="D9E2E7"/>
            </a:solidFill>
          </a:ln>
        </p:spPr>
      </p:cxnSp>
      <p:cxnSp>
        <p:nvCxnSpPr>
          <p:cNvPr id="66" name="Connector 65"/>
          <p:cNvCxnSpPr/>
          <p:nvPr/>
        </p:nvCxnSpPr>
        <p:spPr>
          <a:xfrm>
            <a:off x="14209776" y="4137659"/>
            <a:ext cx="0" cy="640081"/>
          </a:xfrm>
          <a:prstGeom prst="line">
            <a:avLst/>
          </a:prstGeom>
          <a:ln w="8255">
            <a:solidFill>
              <a:srgbClr val="D9E2E7"/>
            </a:solidFill>
          </a:ln>
        </p:spPr>
      </p:cxnSp>
      <p:cxnSp>
        <p:nvCxnSpPr>
          <p:cNvPr id="67" name="Connector 66"/>
          <p:cNvCxnSpPr/>
          <p:nvPr/>
        </p:nvCxnSpPr>
        <p:spPr>
          <a:xfrm>
            <a:off x="14973300" y="4137659"/>
            <a:ext cx="0" cy="640081"/>
          </a:xfrm>
          <a:prstGeom prst="line">
            <a:avLst/>
          </a:prstGeom>
          <a:ln w="8255">
            <a:solidFill>
              <a:srgbClr val="D9E2E7"/>
            </a:solidFill>
          </a:ln>
        </p:spPr>
      </p:cxnSp>
      <p:cxnSp>
        <p:nvCxnSpPr>
          <p:cNvPr id="68" name="Connector 67"/>
          <p:cNvCxnSpPr/>
          <p:nvPr/>
        </p:nvCxnSpPr>
        <p:spPr>
          <a:xfrm>
            <a:off x="15736824" y="4137659"/>
            <a:ext cx="0" cy="640081"/>
          </a:xfrm>
          <a:prstGeom prst="line">
            <a:avLst/>
          </a:prstGeom>
          <a:ln w="8255">
            <a:solidFill>
              <a:srgbClr val="D9E2E7"/>
            </a:solidFill>
          </a:ln>
        </p:spPr>
      </p:cxnSp>
      <p:cxnSp>
        <p:nvCxnSpPr>
          <p:cNvPr id="69" name="Connector 68"/>
          <p:cNvCxnSpPr/>
          <p:nvPr/>
        </p:nvCxnSpPr>
        <p:spPr>
          <a:xfrm>
            <a:off x="16500347" y="4137659"/>
            <a:ext cx="0" cy="640081"/>
          </a:xfrm>
          <a:prstGeom prst="line">
            <a:avLst/>
          </a:prstGeom>
          <a:ln w="8255">
            <a:solidFill>
              <a:srgbClr val="D9E2E7"/>
            </a:solidFill>
          </a:ln>
        </p:spPr>
      </p:cxnSp>
      <p:cxnSp>
        <p:nvCxnSpPr>
          <p:cNvPr id="70" name="Connector 69"/>
          <p:cNvCxnSpPr/>
          <p:nvPr/>
        </p:nvCxnSpPr>
        <p:spPr>
          <a:xfrm>
            <a:off x="17263872" y="4137659"/>
            <a:ext cx="0" cy="640081"/>
          </a:xfrm>
          <a:prstGeom prst="line">
            <a:avLst/>
          </a:prstGeom>
          <a:ln w="8255">
            <a:solidFill>
              <a:srgbClr val="D9E2E7"/>
            </a:solidFill>
          </a:ln>
        </p:spPr>
      </p:cxnSp>
      <p:sp>
        <p:nvSpPr>
          <p:cNvPr id="71" name="Rectangle 70"/>
          <p:cNvSpPr/>
          <p:nvPr/>
        </p:nvSpPr>
        <p:spPr>
          <a:xfrm>
            <a:off x="8165592" y="4427524"/>
            <a:ext cx="155448" cy="21945"/>
          </a:xfrm>
          <a:prstGeom prst="rect">
            <a:avLst/>
          </a:prstGeom>
          <a:solidFill>
            <a:srgbClr val="9DB0BD"/>
          </a:solidFill>
          <a:ln>
            <a:noFill/>
          </a:ln>
        </p:spPr>
        <p:txBody>
          <a:bodyPr rtlCol="0" anchor="ctr"/>
          <a:lstStyle/>
          <a:p>
            <a:pPr algn="ctr"/>
          </a:p>
        </p:txBody>
      </p:sp>
      <p:sp>
        <p:nvSpPr>
          <p:cNvPr id="72" name="Rectangle 71"/>
          <p:cNvSpPr/>
          <p:nvPr/>
        </p:nvSpPr>
        <p:spPr>
          <a:xfrm>
            <a:off x="8464600" y="4427524"/>
            <a:ext cx="155448" cy="21945"/>
          </a:xfrm>
          <a:prstGeom prst="rect">
            <a:avLst/>
          </a:prstGeom>
          <a:solidFill>
            <a:srgbClr val="9DB0BD"/>
          </a:solidFill>
          <a:ln>
            <a:noFill/>
          </a:ln>
        </p:spPr>
        <p:txBody>
          <a:bodyPr rtlCol="0" anchor="ctr"/>
          <a:lstStyle/>
          <a:p>
            <a:pPr algn="ctr"/>
          </a:p>
        </p:txBody>
      </p:sp>
      <p:sp>
        <p:nvSpPr>
          <p:cNvPr id="73" name="Rectangle 72"/>
          <p:cNvSpPr/>
          <p:nvPr/>
        </p:nvSpPr>
        <p:spPr>
          <a:xfrm>
            <a:off x="8763609" y="4427524"/>
            <a:ext cx="155448" cy="21945"/>
          </a:xfrm>
          <a:prstGeom prst="rect">
            <a:avLst/>
          </a:prstGeom>
          <a:solidFill>
            <a:srgbClr val="9DB0BD"/>
          </a:solidFill>
          <a:ln>
            <a:noFill/>
          </a:ln>
        </p:spPr>
        <p:txBody>
          <a:bodyPr rtlCol="0" anchor="ctr"/>
          <a:lstStyle/>
          <a:p>
            <a:pPr algn="ctr"/>
          </a:p>
        </p:txBody>
      </p:sp>
      <p:sp>
        <p:nvSpPr>
          <p:cNvPr id="74" name="Rectangle 73"/>
          <p:cNvSpPr/>
          <p:nvPr/>
        </p:nvSpPr>
        <p:spPr>
          <a:xfrm>
            <a:off x="9062618" y="4427524"/>
            <a:ext cx="155448" cy="21945"/>
          </a:xfrm>
          <a:prstGeom prst="rect">
            <a:avLst/>
          </a:prstGeom>
          <a:solidFill>
            <a:srgbClr val="9DB0BD"/>
          </a:solidFill>
          <a:ln>
            <a:noFill/>
          </a:ln>
        </p:spPr>
        <p:txBody>
          <a:bodyPr rtlCol="0" anchor="ctr"/>
          <a:lstStyle/>
          <a:p>
            <a:pPr algn="ctr"/>
          </a:p>
        </p:txBody>
      </p:sp>
      <p:sp>
        <p:nvSpPr>
          <p:cNvPr id="75" name="Rectangle 74"/>
          <p:cNvSpPr/>
          <p:nvPr/>
        </p:nvSpPr>
        <p:spPr>
          <a:xfrm>
            <a:off x="9361627" y="4427524"/>
            <a:ext cx="155448" cy="21945"/>
          </a:xfrm>
          <a:prstGeom prst="rect">
            <a:avLst/>
          </a:prstGeom>
          <a:solidFill>
            <a:srgbClr val="9DB0BD"/>
          </a:solidFill>
          <a:ln>
            <a:noFill/>
          </a:ln>
        </p:spPr>
        <p:txBody>
          <a:bodyPr rtlCol="0" anchor="ctr"/>
          <a:lstStyle/>
          <a:p>
            <a:pPr algn="ctr"/>
          </a:p>
        </p:txBody>
      </p:sp>
      <p:sp>
        <p:nvSpPr>
          <p:cNvPr id="76" name="Rectangle 75"/>
          <p:cNvSpPr/>
          <p:nvPr/>
        </p:nvSpPr>
        <p:spPr>
          <a:xfrm>
            <a:off x="9660636" y="4427524"/>
            <a:ext cx="155448" cy="21945"/>
          </a:xfrm>
          <a:prstGeom prst="rect">
            <a:avLst/>
          </a:prstGeom>
          <a:solidFill>
            <a:srgbClr val="9DB0BD"/>
          </a:solidFill>
          <a:ln>
            <a:noFill/>
          </a:ln>
        </p:spPr>
        <p:txBody>
          <a:bodyPr rtlCol="0" anchor="ctr"/>
          <a:lstStyle/>
          <a:p>
            <a:pPr algn="ctr"/>
          </a:p>
        </p:txBody>
      </p:sp>
      <p:sp>
        <p:nvSpPr>
          <p:cNvPr id="77" name="Rectangle 76"/>
          <p:cNvSpPr/>
          <p:nvPr/>
        </p:nvSpPr>
        <p:spPr>
          <a:xfrm>
            <a:off x="9959644" y="4427524"/>
            <a:ext cx="155448" cy="21945"/>
          </a:xfrm>
          <a:prstGeom prst="rect">
            <a:avLst/>
          </a:prstGeom>
          <a:solidFill>
            <a:srgbClr val="9DB0BD"/>
          </a:solidFill>
          <a:ln>
            <a:noFill/>
          </a:ln>
        </p:spPr>
        <p:txBody>
          <a:bodyPr rtlCol="0" anchor="ctr"/>
          <a:lstStyle/>
          <a:p>
            <a:pPr algn="ctr"/>
          </a:p>
        </p:txBody>
      </p:sp>
      <p:sp>
        <p:nvSpPr>
          <p:cNvPr id="78" name="Rectangle 77"/>
          <p:cNvSpPr/>
          <p:nvPr/>
        </p:nvSpPr>
        <p:spPr>
          <a:xfrm>
            <a:off x="10258653" y="4427524"/>
            <a:ext cx="155448" cy="21945"/>
          </a:xfrm>
          <a:prstGeom prst="rect">
            <a:avLst/>
          </a:prstGeom>
          <a:solidFill>
            <a:srgbClr val="9DB0BD"/>
          </a:solidFill>
          <a:ln>
            <a:noFill/>
          </a:ln>
        </p:spPr>
        <p:txBody>
          <a:bodyPr rtlCol="0" anchor="ctr"/>
          <a:lstStyle/>
          <a:p>
            <a:pPr algn="ctr"/>
          </a:p>
        </p:txBody>
      </p:sp>
      <p:sp>
        <p:nvSpPr>
          <p:cNvPr id="79" name="Rectangle 78"/>
          <p:cNvSpPr/>
          <p:nvPr/>
        </p:nvSpPr>
        <p:spPr>
          <a:xfrm>
            <a:off x="10557662" y="4427524"/>
            <a:ext cx="155448" cy="21945"/>
          </a:xfrm>
          <a:prstGeom prst="rect">
            <a:avLst/>
          </a:prstGeom>
          <a:solidFill>
            <a:srgbClr val="9DB0BD"/>
          </a:solidFill>
          <a:ln>
            <a:noFill/>
          </a:ln>
        </p:spPr>
        <p:txBody>
          <a:bodyPr rtlCol="0" anchor="ctr"/>
          <a:lstStyle/>
          <a:p>
            <a:pPr algn="ctr"/>
          </a:p>
        </p:txBody>
      </p:sp>
      <p:sp>
        <p:nvSpPr>
          <p:cNvPr id="80" name="Rectangle 79"/>
          <p:cNvSpPr/>
          <p:nvPr/>
        </p:nvSpPr>
        <p:spPr>
          <a:xfrm>
            <a:off x="10856671" y="4427524"/>
            <a:ext cx="155448" cy="21945"/>
          </a:xfrm>
          <a:prstGeom prst="rect">
            <a:avLst/>
          </a:prstGeom>
          <a:solidFill>
            <a:srgbClr val="9DB0BD"/>
          </a:solidFill>
          <a:ln>
            <a:noFill/>
          </a:ln>
        </p:spPr>
        <p:txBody>
          <a:bodyPr rtlCol="0" anchor="ctr"/>
          <a:lstStyle/>
          <a:p>
            <a:pPr algn="ctr"/>
          </a:p>
        </p:txBody>
      </p:sp>
      <p:sp>
        <p:nvSpPr>
          <p:cNvPr id="81" name="Rectangle 80"/>
          <p:cNvSpPr/>
          <p:nvPr/>
        </p:nvSpPr>
        <p:spPr>
          <a:xfrm>
            <a:off x="11155680" y="4427524"/>
            <a:ext cx="155448" cy="21945"/>
          </a:xfrm>
          <a:prstGeom prst="rect">
            <a:avLst/>
          </a:prstGeom>
          <a:solidFill>
            <a:srgbClr val="9DB0BD"/>
          </a:solidFill>
          <a:ln>
            <a:noFill/>
          </a:ln>
        </p:spPr>
        <p:txBody>
          <a:bodyPr rtlCol="0" anchor="ctr"/>
          <a:lstStyle/>
          <a:p>
            <a:pPr algn="ctr"/>
          </a:p>
        </p:txBody>
      </p:sp>
      <p:sp>
        <p:nvSpPr>
          <p:cNvPr id="82" name="Rectangle 81"/>
          <p:cNvSpPr/>
          <p:nvPr/>
        </p:nvSpPr>
        <p:spPr>
          <a:xfrm>
            <a:off x="11454688" y="4427524"/>
            <a:ext cx="155448" cy="21945"/>
          </a:xfrm>
          <a:prstGeom prst="rect">
            <a:avLst/>
          </a:prstGeom>
          <a:solidFill>
            <a:srgbClr val="9DB0BD"/>
          </a:solidFill>
          <a:ln>
            <a:noFill/>
          </a:ln>
        </p:spPr>
        <p:txBody>
          <a:bodyPr rtlCol="0" anchor="ctr"/>
          <a:lstStyle/>
          <a:p>
            <a:pPr algn="ctr"/>
          </a:p>
        </p:txBody>
      </p:sp>
      <p:sp>
        <p:nvSpPr>
          <p:cNvPr id="83" name="Rectangle 82"/>
          <p:cNvSpPr/>
          <p:nvPr/>
        </p:nvSpPr>
        <p:spPr>
          <a:xfrm>
            <a:off x="11753697" y="4427524"/>
            <a:ext cx="155448" cy="21945"/>
          </a:xfrm>
          <a:prstGeom prst="rect">
            <a:avLst/>
          </a:prstGeom>
          <a:solidFill>
            <a:srgbClr val="9DB0BD"/>
          </a:solidFill>
          <a:ln>
            <a:noFill/>
          </a:ln>
        </p:spPr>
        <p:txBody>
          <a:bodyPr rtlCol="0" anchor="ctr"/>
          <a:lstStyle/>
          <a:p>
            <a:pPr algn="ctr"/>
          </a:p>
        </p:txBody>
      </p:sp>
      <p:sp>
        <p:nvSpPr>
          <p:cNvPr id="84" name="Rectangle 83"/>
          <p:cNvSpPr/>
          <p:nvPr/>
        </p:nvSpPr>
        <p:spPr>
          <a:xfrm>
            <a:off x="12052706" y="4427524"/>
            <a:ext cx="155448" cy="21945"/>
          </a:xfrm>
          <a:prstGeom prst="rect">
            <a:avLst/>
          </a:prstGeom>
          <a:solidFill>
            <a:srgbClr val="9DB0BD"/>
          </a:solidFill>
          <a:ln>
            <a:noFill/>
          </a:ln>
        </p:spPr>
        <p:txBody>
          <a:bodyPr rtlCol="0" anchor="ctr"/>
          <a:lstStyle/>
          <a:p>
            <a:pPr algn="ctr"/>
          </a:p>
        </p:txBody>
      </p:sp>
      <p:sp>
        <p:nvSpPr>
          <p:cNvPr id="85" name="Rectangle 84"/>
          <p:cNvSpPr/>
          <p:nvPr/>
        </p:nvSpPr>
        <p:spPr>
          <a:xfrm>
            <a:off x="12351715" y="4427524"/>
            <a:ext cx="155448" cy="21945"/>
          </a:xfrm>
          <a:prstGeom prst="rect">
            <a:avLst/>
          </a:prstGeom>
          <a:solidFill>
            <a:srgbClr val="9DB0BD"/>
          </a:solidFill>
          <a:ln>
            <a:noFill/>
          </a:ln>
        </p:spPr>
        <p:txBody>
          <a:bodyPr rtlCol="0" anchor="ctr"/>
          <a:lstStyle/>
          <a:p>
            <a:pPr algn="ctr"/>
          </a:p>
        </p:txBody>
      </p:sp>
      <p:sp>
        <p:nvSpPr>
          <p:cNvPr id="86" name="Rectangle 85"/>
          <p:cNvSpPr/>
          <p:nvPr/>
        </p:nvSpPr>
        <p:spPr>
          <a:xfrm>
            <a:off x="12650724" y="4427524"/>
            <a:ext cx="155448" cy="21945"/>
          </a:xfrm>
          <a:prstGeom prst="rect">
            <a:avLst/>
          </a:prstGeom>
          <a:solidFill>
            <a:srgbClr val="9DB0BD"/>
          </a:solidFill>
          <a:ln>
            <a:noFill/>
          </a:ln>
        </p:spPr>
        <p:txBody>
          <a:bodyPr rtlCol="0" anchor="ctr"/>
          <a:lstStyle/>
          <a:p>
            <a:pPr algn="ctr"/>
          </a:p>
        </p:txBody>
      </p:sp>
      <p:sp>
        <p:nvSpPr>
          <p:cNvPr id="87" name="Rectangle 86"/>
          <p:cNvSpPr/>
          <p:nvPr/>
        </p:nvSpPr>
        <p:spPr>
          <a:xfrm>
            <a:off x="12949732" y="4427524"/>
            <a:ext cx="155448" cy="21945"/>
          </a:xfrm>
          <a:prstGeom prst="rect">
            <a:avLst/>
          </a:prstGeom>
          <a:solidFill>
            <a:srgbClr val="9DB0BD"/>
          </a:solidFill>
          <a:ln>
            <a:noFill/>
          </a:ln>
        </p:spPr>
        <p:txBody>
          <a:bodyPr rtlCol="0" anchor="ctr"/>
          <a:lstStyle/>
          <a:p>
            <a:pPr algn="ctr"/>
          </a:p>
        </p:txBody>
      </p:sp>
      <p:sp>
        <p:nvSpPr>
          <p:cNvPr id="88" name="Rectangle 87"/>
          <p:cNvSpPr/>
          <p:nvPr/>
        </p:nvSpPr>
        <p:spPr>
          <a:xfrm>
            <a:off x="13248741" y="4427524"/>
            <a:ext cx="155448" cy="21945"/>
          </a:xfrm>
          <a:prstGeom prst="rect">
            <a:avLst/>
          </a:prstGeom>
          <a:solidFill>
            <a:srgbClr val="9DB0BD"/>
          </a:solidFill>
          <a:ln>
            <a:noFill/>
          </a:ln>
        </p:spPr>
        <p:txBody>
          <a:bodyPr rtlCol="0" anchor="ctr"/>
          <a:lstStyle/>
          <a:p>
            <a:pPr algn="ctr"/>
          </a:p>
        </p:txBody>
      </p:sp>
      <p:sp>
        <p:nvSpPr>
          <p:cNvPr id="89" name="Rectangle 88"/>
          <p:cNvSpPr/>
          <p:nvPr/>
        </p:nvSpPr>
        <p:spPr>
          <a:xfrm>
            <a:off x="13547750" y="4427524"/>
            <a:ext cx="155448" cy="21945"/>
          </a:xfrm>
          <a:prstGeom prst="rect">
            <a:avLst/>
          </a:prstGeom>
          <a:solidFill>
            <a:srgbClr val="9DB0BD"/>
          </a:solidFill>
          <a:ln>
            <a:noFill/>
          </a:ln>
        </p:spPr>
        <p:txBody>
          <a:bodyPr rtlCol="0" anchor="ctr"/>
          <a:lstStyle/>
          <a:p>
            <a:pPr algn="ctr"/>
          </a:p>
        </p:txBody>
      </p:sp>
      <p:sp>
        <p:nvSpPr>
          <p:cNvPr id="90" name="Rectangle 89"/>
          <p:cNvSpPr/>
          <p:nvPr/>
        </p:nvSpPr>
        <p:spPr>
          <a:xfrm>
            <a:off x="13846759" y="4427524"/>
            <a:ext cx="155448" cy="21945"/>
          </a:xfrm>
          <a:prstGeom prst="rect">
            <a:avLst/>
          </a:prstGeom>
          <a:solidFill>
            <a:srgbClr val="9DB0BD"/>
          </a:solidFill>
          <a:ln>
            <a:noFill/>
          </a:ln>
        </p:spPr>
        <p:txBody>
          <a:bodyPr rtlCol="0" anchor="ctr"/>
          <a:lstStyle/>
          <a:p>
            <a:pPr algn="ctr"/>
          </a:p>
        </p:txBody>
      </p:sp>
      <p:sp>
        <p:nvSpPr>
          <p:cNvPr id="91" name="Rectangle 90"/>
          <p:cNvSpPr/>
          <p:nvPr/>
        </p:nvSpPr>
        <p:spPr>
          <a:xfrm>
            <a:off x="14145767" y="4427524"/>
            <a:ext cx="155448" cy="21945"/>
          </a:xfrm>
          <a:prstGeom prst="rect">
            <a:avLst/>
          </a:prstGeom>
          <a:solidFill>
            <a:srgbClr val="9DB0BD"/>
          </a:solidFill>
          <a:ln>
            <a:noFill/>
          </a:ln>
        </p:spPr>
        <p:txBody>
          <a:bodyPr rtlCol="0" anchor="ctr"/>
          <a:lstStyle/>
          <a:p>
            <a:pPr algn="ctr"/>
          </a:p>
        </p:txBody>
      </p:sp>
      <p:sp>
        <p:nvSpPr>
          <p:cNvPr id="92" name="Rectangle 91"/>
          <p:cNvSpPr/>
          <p:nvPr/>
        </p:nvSpPr>
        <p:spPr>
          <a:xfrm>
            <a:off x="14444776" y="4427524"/>
            <a:ext cx="155448" cy="21945"/>
          </a:xfrm>
          <a:prstGeom prst="rect">
            <a:avLst/>
          </a:prstGeom>
          <a:solidFill>
            <a:srgbClr val="9DB0BD"/>
          </a:solidFill>
          <a:ln>
            <a:noFill/>
          </a:ln>
        </p:spPr>
        <p:txBody>
          <a:bodyPr rtlCol="0" anchor="ctr"/>
          <a:lstStyle/>
          <a:p>
            <a:pPr algn="ctr"/>
          </a:p>
        </p:txBody>
      </p:sp>
      <p:sp>
        <p:nvSpPr>
          <p:cNvPr id="93" name="Rectangle 92"/>
          <p:cNvSpPr/>
          <p:nvPr/>
        </p:nvSpPr>
        <p:spPr>
          <a:xfrm>
            <a:off x="14743785" y="4427524"/>
            <a:ext cx="155448" cy="21945"/>
          </a:xfrm>
          <a:prstGeom prst="rect">
            <a:avLst/>
          </a:prstGeom>
          <a:solidFill>
            <a:srgbClr val="9DB0BD"/>
          </a:solidFill>
          <a:ln>
            <a:noFill/>
          </a:ln>
        </p:spPr>
        <p:txBody>
          <a:bodyPr rtlCol="0" anchor="ctr"/>
          <a:lstStyle/>
          <a:p>
            <a:pPr algn="ctr"/>
          </a:p>
        </p:txBody>
      </p:sp>
      <p:sp>
        <p:nvSpPr>
          <p:cNvPr id="94" name="Rectangle 93"/>
          <p:cNvSpPr/>
          <p:nvPr/>
        </p:nvSpPr>
        <p:spPr>
          <a:xfrm>
            <a:off x="15042794" y="4427524"/>
            <a:ext cx="155448" cy="21945"/>
          </a:xfrm>
          <a:prstGeom prst="rect">
            <a:avLst/>
          </a:prstGeom>
          <a:solidFill>
            <a:srgbClr val="9DB0BD"/>
          </a:solidFill>
          <a:ln>
            <a:noFill/>
          </a:ln>
        </p:spPr>
        <p:txBody>
          <a:bodyPr rtlCol="0" anchor="ctr"/>
          <a:lstStyle/>
          <a:p>
            <a:pPr algn="ctr"/>
          </a:p>
        </p:txBody>
      </p:sp>
      <p:sp>
        <p:nvSpPr>
          <p:cNvPr id="95" name="Rectangle 94"/>
          <p:cNvSpPr/>
          <p:nvPr/>
        </p:nvSpPr>
        <p:spPr>
          <a:xfrm>
            <a:off x="15341803" y="4427524"/>
            <a:ext cx="155448" cy="21945"/>
          </a:xfrm>
          <a:prstGeom prst="rect">
            <a:avLst/>
          </a:prstGeom>
          <a:solidFill>
            <a:srgbClr val="9DB0BD"/>
          </a:solidFill>
          <a:ln>
            <a:noFill/>
          </a:ln>
        </p:spPr>
        <p:txBody>
          <a:bodyPr rtlCol="0" anchor="ctr"/>
          <a:lstStyle/>
          <a:p>
            <a:pPr algn="ctr"/>
          </a:p>
        </p:txBody>
      </p:sp>
      <p:sp>
        <p:nvSpPr>
          <p:cNvPr id="96" name="Rectangle 95"/>
          <p:cNvSpPr/>
          <p:nvPr/>
        </p:nvSpPr>
        <p:spPr>
          <a:xfrm>
            <a:off x="15640812" y="4427524"/>
            <a:ext cx="155448" cy="21945"/>
          </a:xfrm>
          <a:prstGeom prst="rect">
            <a:avLst/>
          </a:prstGeom>
          <a:solidFill>
            <a:srgbClr val="9DB0BD"/>
          </a:solidFill>
          <a:ln>
            <a:noFill/>
          </a:ln>
        </p:spPr>
        <p:txBody>
          <a:bodyPr rtlCol="0" anchor="ctr"/>
          <a:lstStyle/>
          <a:p>
            <a:pPr algn="ctr"/>
          </a:p>
        </p:txBody>
      </p:sp>
      <p:sp>
        <p:nvSpPr>
          <p:cNvPr id="97" name="Rectangle 96"/>
          <p:cNvSpPr/>
          <p:nvPr/>
        </p:nvSpPr>
        <p:spPr>
          <a:xfrm>
            <a:off x="15939820" y="4427524"/>
            <a:ext cx="155448" cy="21945"/>
          </a:xfrm>
          <a:prstGeom prst="rect">
            <a:avLst/>
          </a:prstGeom>
          <a:solidFill>
            <a:srgbClr val="9DB0BD"/>
          </a:solidFill>
          <a:ln>
            <a:noFill/>
          </a:ln>
        </p:spPr>
        <p:txBody>
          <a:bodyPr rtlCol="0" anchor="ctr"/>
          <a:lstStyle/>
          <a:p>
            <a:pPr algn="ctr"/>
          </a:p>
        </p:txBody>
      </p:sp>
      <p:sp>
        <p:nvSpPr>
          <p:cNvPr id="98" name="Rectangle 97"/>
          <p:cNvSpPr/>
          <p:nvPr/>
        </p:nvSpPr>
        <p:spPr>
          <a:xfrm>
            <a:off x="16238829" y="4427524"/>
            <a:ext cx="155448" cy="21945"/>
          </a:xfrm>
          <a:prstGeom prst="rect">
            <a:avLst/>
          </a:prstGeom>
          <a:solidFill>
            <a:srgbClr val="9DB0BD"/>
          </a:solidFill>
          <a:ln>
            <a:noFill/>
          </a:ln>
        </p:spPr>
        <p:txBody>
          <a:bodyPr rtlCol="0" anchor="ctr"/>
          <a:lstStyle/>
          <a:p>
            <a:pPr algn="ctr"/>
          </a:p>
        </p:txBody>
      </p:sp>
      <p:sp>
        <p:nvSpPr>
          <p:cNvPr id="99" name="Rectangle 98"/>
          <p:cNvSpPr/>
          <p:nvPr/>
        </p:nvSpPr>
        <p:spPr>
          <a:xfrm>
            <a:off x="16537838" y="4427524"/>
            <a:ext cx="155448" cy="21945"/>
          </a:xfrm>
          <a:prstGeom prst="rect">
            <a:avLst/>
          </a:prstGeom>
          <a:solidFill>
            <a:srgbClr val="9DB0BD"/>
          </a:solidFill>
          <a:ln>
            <a:noFill/>
          </a:ln>
        </p:spPr>
        <p:txBody>
          <a:bodyPr rtlCol="0" anchor="ctr"/>
          <a:lstStyle/>
          <a:p>
            <a:pPr algn="ctr"/>
          </a:p>
        </p:txBody>
      </p:sp>
      <p:sp>
        <p:nvSpPr>
          <p:cNvPr id="100" name="Rectangle 99"/>
          <p:cNvSpPr/>
          <p:nvPr/>
        </p:nvSpPr>
        <p:spPr>
          <a:xfrm>
            <a:off x="16836847" y="4427524"/>
            <a:ext cx="155448" cy="21945"/>
          </a:xfrm>
          <a:prstGeom prst="rect">
            <a:avLst/>
          </a:prstGeom>
          <a:solidFill>
            <a:srgbClr val="9DB0BD"/>
          </a:solidFill>
          <a:ln>
            <a:noFill/>
          </a:ln>
        </p:spPr>
        <p:txBody>
          <a:bodyPr rtlCol="0" anchor="ctr"/>
          <a:lstStyle/>
          <a:p>
            <a:pPr algn="ctr"/>
          </a:p>
        </p:txBody>
      </p:sp>
      <p:sp>
        <p:nvSpPr>
          <p:cNvPr id="101" name="Rectangle 100"/>
          <p:cNvSpPr/>
          <p:nvPr/>
        </p:nvSpPr>
        <p:spPr>
          <a:xfrm>
            <a:off x="822960" y="4777740"/>
            <a:ext cx="16642080" cy="617219"/>
          </a:xfrm>
          <a:prstGeom prst="rect">
            <a:avLst/>
          </a:prstGeom>
          <a:solidFill>
            <a:srgbClr val="F7F7F3"/>
          </a:solidFill>
          <a:ln>
            <a:noFill/>
          </a:ln>
        </p:spPr>
        <p:txBody>
          <a:bodyPr rtlCol="0" anchor="ctr"/>
          <a:lstStyle/>
          <a:p>
            <a:pPr algn="ctr"/>
          </a:p>
        </p:txBody>
      </p:sp>
      <p:sp>
        <p:nvSpPr>
          <p:cNvPr id="102" name="TextBox 101"/>
          <p:cNvSpPr txBox="1"/>
          <p:nvPr/>
        </p:nvSpPr>
        <p:spPr>
          <a:xfrm>
            <a:off x="905256" y="4896612"/>
            <a:ext cx="1207008" cy="274320"/>
          </a:xfrm>
          <a:prstGeom prst="rect">
            <a:avLst/>
          </a:prstGeom>
          <a:noFill/>
        </p:spPr>
        <p:txBody>
          <a:bodyPr wrap="square" lIns="0" rIns="0" tIns="0" bIns="0">
            <a:spAutoFit/>
          </a:bodyPr>
          <a:lstStyle/>
          <a:p>
            <a:pPr>
              <a:lnSpc>
                <a:spcPts val="1722"/>
              </a:lnSpc>
              <a:spcBef>
                <a:spcPts val="0"/>
              </a:spcBef>
              <a:spcAft>
                <a:spcPts val="0"/>
              </a:spcAft>
              <a:defRPr sz="1400" b="1">
                <a:solidFill>
                  <a:srgbClr val="FF6633"/>
                </a:solidFill>
                <a:latin typeface="Montserrat"/>
              </a:defRPr>
            </a:pPr>
            <a:r>
              <a:t>PEOPLE</a:t>
            </a:r>
          </a:p>
        </p:txBody>
      </p:sp>
      <p:sp>
        <p:nvSpPr>
          <p:cNvPr id="103" name="TextBox 102"/>
          <p:cNvSpPr txBox="1"/>
          <p:nvPr/>
        </p:nvSpPr>
        <p:spPr>
          <a:xfrm>
            <a:off x="2157984" y="4841748"/>
            <a:ext cx="5687568" cy="640080"/>
          </a:xfrm>
          <a:prstGeom prst="rect">
            <a:avLst/>
          </a:prstGeom>
          <a:noFill/>
        </p:spPr>
        <p:txBody>
          <a:bodyPr wrap="square" lIns="0" rIns="0" tIns="0" bIns="0">
            <a:spAutoFit/>
          </a:bodyPr>
          <a:lstStyle/>
          <a:p>
            <a:pPr>
              <a:lnSpc>
                <a:spcPts val="2350"/>
              </a:lnSpc>
              <a:spcBef>
                <a:spcPts val="0"/>
              </a:spcBef>
              <a:spcAft>
                <a:spcPts val="0"/>
              </a:spcAft>
              <a:defRPr sz="2400" b="0">
                <a:solidFill>
                  <a:srgbClr val="002C49"/>
                </a:solidFill>
                <a:latin typeface="Montserrat"/>
              </a:defRPr>
            </a:pPr>
            <a:r>
              <a:t>All Staff France</a:t>
            </a:r>
          </a:p>
        </p:txBody>
      </p:sp>
      <p:cxnSp>
        <p:nvCxnSpPr>
          <p:cNvPr id="104" name="Connector 103"/>
          <p:cNvCxnSpPr/>
          <p:nvPr/>
        </p:nvCxnSpPr>
        <p:spPr>
          <a:xfrm>
            <a:off x="8101583" y="4777740"/>
            <a:ext cx="0" cy="640080"/>
          </a:xfrm>
          <a:prstGeom prst="line">
            <a:avLst/>
          </a:prstGeom>
          <a:ln w="8255">
            <a:solidFill>
              <a:srgbClr val="D9E2E7"/>
            </a:solidFill>
          </a:ln>
        </p:spPr>
      </p:cxnSp>
      <p:cxnSp>
        <p:nvCxnSpPr>
          <p:cNvPr id="105" name="Connector 104"/>
          <p:cNvCxnSpPr/>
          <p:nvPr/>
        </p:nvCxnSpPr>
        <p:spPr>
          <a:xfrm>
            <a:off x="8865108" y="4777740"/>
            <a:ext cx="0" cy="640080"/>
          </a:xfrm>
          <a:prstGeom prst="line">
            <a:avLst/>
          </a:prstGeom>
          <a:ln w="8255">
            <a:solidFill>
              <a:srgbClr val="D9E2E7"/>
            </a:solidFill>
          </a:ln>
        </p:spPr>
      </p:cxnSp>
      <p:cxnSp>
        <p:nvCxnSpPr>
          <p:cNvPr id="106" name="Connector 105"/>
          <p:cNvCxnSpPr/>
          <p:nvPr/>
        </p:nvCxnSpPr>
        <p:spPr>
          <a:xfrm>
            <a:off x="9628632" y="4777740"/>
            <a:ext cx="0" cy="640080"/>
          </a:xfrm>
          <a:prstGeom prst="line">
            <a:avLst/>
          </a:prstGeom>
          <a:ln w="8255">
            <a:solidFill>
              <a:srgbClr val="D9E2E7"/>
            </a:solidFill>
          </a:ln>
        </p:spPr>
      </p:cxnSp>
      <p:cxnSp>
        <p:nvCxnSpPr>
          <p:cNvPr id="107" name="Connector 106"/>
          <p:cNvCxnSpPr/>
          <p:nvPr/>
        </p:nvCxnSpPr>
        <p:spPr>
          <a:xfrm>
            <a:off x="10392155" y="4777740"/>
            <a:ext cx="0" cy="640080"/>
          </a:xfrm>
          <a:prstGeom prst="line">
            <a:avLst/>
          </a:prstGeom>
          <a:ln w="8255">
            <a:solidFill>
              <a:srgbClr val="D9E2E7"/>
            </a:solidFill>
          </a:ln>
        </p:spPr>
      </p:cxnSp>
      <p:cxnSp>
        <p:nvCxnSpPr>
          <p:cNvPr id="108" name="Connector 107"/>
          <p:cNvCxnSpPr/>
          <p:nvPr/>
        </p:nvCxnSpPr>
        <p:spPr>
          <a:xfrm>
            <a:off x="11155680" y="4777740"/>
            <a:ext cx="0" cy="640080"/>
          </a:xfrm>
          <a:prstGeom prst="line">
            <a:avLst/>
          </a:prstGeom>
          <a:ln w="8255">
            <a:solidFill>
              <a:srgbClr val="D9E2E7"/>
            </a:solidFill>
          </a:ln>
        </p:spPr>
      </p:cxnSp>
      <p:cxnSp>
        <p:nvCxnSpPr>
          <p:cNvPr id="109" name="Connector 108"/>
          <p:cNvCxnSpPr/>
          <p:nvPr/>
        </p:nvCxnSpPr>
        <p:spPr>
          <a:xfrm>
            <a:off x="11919204" y="4777740"/>
            <a:ext cx="0" cy="640080"/>
          </a:xfrm>
          <a:prstGeom prst="line">
            <a:avLst/>
          </a:prstGeom>
          <a:ln w="8255">
            <a:solidFill>
              <a:srgbClr val="D9E2E7"/>
            </a:solidFill>
          </a:ln>
        </p:spPr>
      </p:cxnSp>
      <p:cxnSp>
        <p:nvCxnSpPr>
          <p:cNvPr id="110" name="Connector 109"/>
          <p:cNvCxnSpPr/>
          <p:nvPr/>
        </p:nvCxnSpPr>
        <p:spPr>
          <a:xfrm>
            <a:off x="12682728" y="4777740"/>
            <a:ext cx="0" cy="640080"/>
          </a:xfrm>
          <a:prstGeom prst="line">
            <a:avLst/>
          </a:prstGeom>
          <a:ln w="8255">
            <a:solidFill>
              <a:srgbClr val="D9E2E7"/>
            </a:solidFill>
          </a:ln>
        </p:spPr>
      </p:cxnSp>
      <p:cxnSp>
        <p:nvCxnSpPr>
          <p:cNvPr id="111" name="Connector 110"/>
          <p:cNvCxnSpPr/>
          <p:nvPr/>
        </p:nvCxnSpPr>
        <p:spPr>
          <a:xfrm>
            <a:off x="13446251" y="4777740"/>
            <a:ext cx="0" cy="640080"/>
          </a:xfrm>
          <a:prstGeom prst="line">
            <a:avLst/>
          </a:prstGeom>
          <a:ln w="8255">
            <a:solidFill>
              <a:srgbClr val="D9E2E7"/>
            </a:solidFill>
          </a:ln>
        </p:spPr>
      </p:cxnSp>
      <p:cxnSp>
        <p:nvCxnSpPr>
          <p:cNvPr id="112" name="Connector 111"/>
          <p:cNvCxnSpPr/>
          <p:nvPr/>
        </p:nvCxnSpPr>
        <p:spPr>
          <a:xfrm>
            <a:off x="14209776" y="4777740"/>
            <a:ext cx="0" cy="640080"/>
          </a:xfrm>
          <a:prstGeom prst="line">
            <a:avLst/>
          </a:prstGeom>
          <a:ln w="8255">
            <a:solidFill>
              <a:srgbClr val="D9E2E7"/>
            </a:solidFill>
          </a:ln>
        </p:spPr>
      </p:cxnSp>
      <p:cxnSp>
        <p:nvCxnSpPr>
          <p:cNvPr id="113" name="Connector 112"/>
          <p:cNvCxnSpPr/>
          <p:nvPr/>
        </p:nvCxnSpPr>
        <p:spPr>
          <a:xfrm>
            <a:off x="14973300" y="4777740"/>
            <a:ext cx="0" cy="640080"/>
          </a:xfrm>
          <a:prstGeom prst="line">
            <a:avLst/>
          </a:prstGeom>
          <a:ln w="8255">
            <a:solidFill>
              <a:srgbClr val="D9E2E7"/>
            </a:solidFill>
          </a:ln>
        </p:spPr>
      </p:cxnSp>
      <p:cxnSp>
        <p:nvCxnSpPr>
          <p:cNvPr id="114" name="Connector 113"/>
          <p:cNvCxnSpPr/>
          <p:nvPr/>
        </p:nvCxnSpPr>
        <p:spPr>
          <a:xfrm>
            <a:off x="15736824" y="4777740"/>
            <a:ext cx="0" cy="640080"/>
          </a:xfrm>
          <a:prstGeom prst="line">
            <a:avLst/>
          </a:prstGeom>
          <a:ln w="8255">
            <a:solidFill>
              <a:srgbClr val="D9E2E7"/>
            </a:solidFill>
          </a:ln>
        </p:spPr>
      </p:cxnSp>
      <p:cxnSp>
        <p:nvCxnSpPr>
          <p:cNvPr id="115" name="Connector 114"/>
          <p:cNvCxnSpPr/>
          <p:nvPr/>
        </p:nvCxnSpPr>
        <p:spPr>
          <a:xfrm>
            <a:off x="16500347" y="4777740"/>
            <a:ext cx="0" cy="640080"/>
          </a:xfrm>
          <a:prstGeom prst="line">
            <a:avLst/>
          </a:prstGeom>
          <a:ln w="8255">
            <a:solidFill>
              <a:srgbClr val="D9E2E7"/>
            </a:solidFill>
          </a:ln>
        </p:spPr>
      </p:cxnSp>
      <p:cxnSp>
        <p:nvCxnSpPr>
          <p:cNvPr id="116" name="Connector 115"/>
          <p:cNvCxnSpPr/>
          <p:nvPr/>
        </p:nvCxnSpPr>
        <p:spPr>
          <a:xfrm>
            <a:off x="17263872" y="4777740"/>
            <a:ext cx="0" cy="640080"/>
          </a:xfrm>
          <a:prstGeom prst="line">
            <a:avLst/>
          </a:prstGeom>
          <a:ln w="8255">
            <a:solidFill>
              <a:srgbClr val="D9E2E7"/>
            </a:solidFill>
          </a:ln>
        </p:spPr>
      </p:cxnSp>
      <p:sp>
        <p:nvSpPr>
          <p:cNvPr id="117" name="Oval 116"/>
          <p:cNvSpPr/>
          <p:nvPr/>
        </p:nvSpPr>
        <p:spPr>
          <a:xfrm>
            <a:off x="10700765" y="5001768"/>
            <a:ext cx="146304" cy="146304"/>
          </a:xfrm>
          <a:prstGeom prst="ellipse">
            <a:avLst/>
          </a:prstGeom>
          <a:solidFill>
            <a:srgbClr val="FF6633"/>
          </a:solidFill>
          <a:ln>
            <a:noFill/>
          </a:ln>
        </p:spPr>
        <p:txBody>
          <a:bodyPr rtlCol="0" anchor="ctr"/>
          <a:lstStyle/>
          <a:p>
            <a:pPr algn="ctr"/>
          </a:p>
        </p:txBody>
      </p:sp>
      <p:sp>
        <p:nvSpPr>
          <p:cNvPr id="118" name="Oval 117"/>
          <p:cNvSpPr/>
          <p:nvPr/>
        </p:nvSpPr>
        <p:spPr>
          <a:xfrm>
            <a:off x="12991338" y="5001768"/>
            <a:ext cx="146304" cy="146304"/>
          </a:xfrm>
          <a:prstGeom prst="ellipse">
            <a:avLst/>
          </a:prstGeom>
          <a:solidFill>
            <a:srgbClr val="FF6633"/>
          </a:solidFill>
          <a:ln>
            <a:noFill/>
          </a:ln>
        </p:spPr>
        <p:txBody>
          <a:bodyPr rtlCol="0" anchor="ctr"/>
          <a:lstStyle/>
          <a:p>
            <a:pPr algn="ctr"/>
          </a:p>
        </p:txBody>
      </p:sp>
      <p:sp>
        <p:nvSpPr>
          <p:cNvPr id="119" name="Oval 118"/>
          <p:cNvSpPr/>
          <p:nvPr/>
        </p:nvSpPr>
        <p:spPr>
          <a:xfrm>
            <a:off x="15281909" y="5001768"/>
            <a:ext cx="146304" cy="146304"/>
          </a:xfrm>
          <a:prstGeom prst="ellipse">
            <a:avLst/>
          </a:prstGeom>
          <a:solidFill>
            <a:srgbClr val="FF6633"/>
          </a:solidFill>
          <a:ln>
            <a:noFill/>
          </a:ln>
        </p:spPr>
        <p:txBody>
          <a:bodyPr rtlCol="0" anchor="ctr"/>
          <a:lstStyle/>
          <a:p>
            <a:pPr algn="ctr"/>
          </a:p>
        </p:txBody>
      </p:sp>
      <p:sp>
        <p:nvSpPr>
          <p:cNvPr id="120" name="Rectangle 119"/>
          <p:cNvSpPr/>
          <p:nvPr/>
        </p:nvSpPr>
        <p:spPr>
          <a:xfrm>
            <a:off x="16546067" y="4864608"/>
            <a:ext cx="658368" cy="393192"/>
          </a:xfrm>
          <a:prstGeom prst="rect">
            <a:avLst/>
          </a:prstGeom>
          <a:solidFill>
            <a:srgbClr val="EAF0F3"/>
          </a:solidFill>
          <a:ln>
            <a:noFill/>
          </a:ln>
        </p:spPr>
        <p:txBody>
          <a:bodyPr rtlCol="0" anchor="ctr"/>
          <a:lstStyle/>
          <a:p>
            <a:pPr algn="ctr"/>
          </a:p>
        </p:txBody>
      </p:sp>
      <p:sp>
        <p:nvSpPr>
          <p:cNvPr id="121" name="TextBox 120"/>
          <p:cNvSpPr txBox="1"/>
          <p:nvPr/>
        </p:nvSpPr>
        <p:spPr>
          <a:xfrm>
            <a:off x="16664939" y="4946904"/>
            <a:ext cx="420623" cy="237744"/>
          </a:xfrm>
          <a:prstGeom prst="rect">
            <a:avLst/>
          </a:prstGeom>
          <a:noFill/>
        </p:spPr>
        <p:txBody>
          <a:bodyPr wrap="square" lIns="0" rIns="0" tIns="0" bIns="0">
            <a:spAutoFit/>
          </a:bodyPr>
          <a:lstStyle/>
          <a:p>
            <a:pPr>
              <a:lnSpc>
                <a:spcPts val="1722"/>
              </a:lnSpc>
              <a:spcBef>
                <a:spcPts val="0"/>
              </a:spcBef>
              <a:spcAft>
                <a:spcPts val="0"/>
              </a:spcAft>
              <a:defRPr sz="1400" b="1">
                <a:solidFill>
                  <a:srgbClr val="526777"/>
                </a:solidFill>
                <a:latin typeface="Montserrat"/>
              </a:defRPr>
            </a:pPr>
            <a:r>
              <a:t>FY*</a:t>
            </a:r>
          </a:p>
        </p:txBody>
      </p:sp>
      <p:sp>
        <p:nvSpPr>
          <p:cNvPr id="122" name="TextBox 121"/>
          <p:cNvSpPr txBox="1"/>
          <p:nvPr/>
        </p:nvSpPr>
        <p:spPr>
          <a:xfrm>
            <a:off x="905256" y="5536692"/>
            <a:ext cx="1207008" cy="274320"/>
          </a:xfrm>
          <a:prstGeom prst="rect">
            <a:avLst/>
          </a:prstGeom>
          <a:noFill/>
        </p:spPr>
        <p:txBody>
          <a:bodyPr wrap="square" lIns="0" rIns="0" tIns="0" bIns="0">
            <a:spAutoFit/>
          </a:bodyPr>
          <a:lstStyle/>
          <a:p>
            <a:pPr>
              <a:lnSpc>
                <a:spcPts val="1722"/>
              </a:lnSpc>
              <a:spcBef>
                <a:spcPts val="0"/>
              </a:spcBef>
              <a:spcAft>
                <a:spcPts val="0"/>
              </a:spcAft>
              <a:defRPr sz="1400" b="1">
                <a:solidFill>
                  <a:srgbClr val="FF6633"/>
                </a:solidFill>
                <a:latin typeface="Montserrat"/>
              </a:defRPr>
            </a:pPr>
          </a:p>
        </p:txBody>
      </p:sp>
      <p:sp>
        <p:nvSpPr>
          <p:cNvPr id="123" name="TextBox 122"/>
          <p:cNvSpPr txBox="1"/>
          <p:nvPr/>
        </p:nvSpPr>
        <p:spPr>
          <a:xfrm>
            <a:off x="2157984" y="5481827"/>
            <a:ext cx="5687568" cy="640080"/>
          </a:xfrm>
          <a:prstGeom prst="rect">
            <a:avLst/>
          </a:prstGeom>
          <a:noFill/>
        </p:spPr>
        <p:txBody>
          <a:bodyPr wrap="square" lIns="0" rIns="0" tIns="0" bIns="0">
            <a:spAutoFit/>
          </a:bodyPr>
          <a:lstStyle/>
          <a:p>
            <a:pPr>
              <a:lnSpc>
                <a:spcPts val="2350"/>
              </a:lnSpc>
              <a:spcBef>
                <a:spcPts val="0"/>
              </a:spcBef>
              <a:spcAft>
                <a:spcPts val="0"/>
              </a:spcAft>
              <a:defRPr sz="2400" b="0">
                <a:solidFill>
                  <a:srgbClr val="002C49"/>
                </a:solidFill>
                <a:latin typeface="Montserrat"/>
              </a:defRPr>
            </a:pPr>
            <a:r>
              <a:t>La Leytonienne</a:t>
            </a:r>
          </a:p>
        </p:txBody>
      </p:sp>
      <p:cxnSp>
        <p:nvCxnSpPr>
          <p:cNvPr id="124" name="Connector 123"/>
          <p:cNvCxnSpPr/>
          <p:nvPr/>
        </p:nvCxnSpPr>
        <p:spPr>
          <a:xfrm>
            <a:off x="8101583" y="5417819"/>
            <a:ext cx="0" cy="640080"/>
          </a:xfrm>
          <a:prstGeom prst="line">
            <a:avLst/>
          </a:prstGeom>
          <a:ln w="8255">
            <a:solidFill>
              <a:srgbClr val="D9E2E7"/>
            </a:solidFill>
          </a:ln>
        </p:spPr>
      </p:cxnSp>
      <p:cxnSp>
        <p:nvCxnSpPr>
          <p:cNvPr id="125" name="Connector 124"/>
          <p:cNvCxnSpPr/>
          <p:nvPr/>
        </p:nvCxnSpPr>
        <p:spPr>
          <a:xfrm>
            <a:off x="8865108" y="5417819"/>
            <a:ext cx="0" cy="640080"/>
          </a:xfrm>
          <a:prstGeom prst="line">
            <a:avLst/>
          </a:prstGeom>
          <a:ln w="8255">
            <a:solidFill>
              <a:srgbClr val="D9E2E7"/>
            </a:solidFill>
          </a:ln>
        </p:spPr>
      </p:cxnSp>
      <p:cxnSp>
        <p:nvCxnSpPr>
          <p:cNvPr id="126" name="Connector 125"/>
          <p:cNvCxnSpPr/>
          <p:nvPr/>
        </p:nvCxnSpPr>
        <p:spPr>
          <a:xfrm>
            <a:off x="9628632" y="5417819"/>
            <a:ext cx="0" cy="640080"/>
          </a:xfrm>
          <a:prstGeom prst="line">
            <a:avLst/>
          </a:prstGeom>
          <a:ln w="8255">
            <a:solidFill>
              <a:srgbClr val="D9E2E7"/>
            </a:solidFill>
          </a:ln>
        </p:spPr>
      </p:cxnSp>
      <p:cxnSp>
        <p:nvCxnSpPr>
          <p:cNvPr id="127" name="Connector 126"/>
          <p:cNvCxnSpPr/>
          <p:nvPr/>
        </p:nvCxnSpPr>
        <p:spPr>
          <a:xfrm>
            <a:off x="10392155" y="5417819"/>
            <a:ext cx="0" cy="640080"/>
          </a:xfrm>
          <a:prstGeom prst="line">
            <a:avLst/>
          </a:prstGeom>
          <a:ln w="8255">
            <a:solidFill>
              <a:srgbClr val="D9E2E7"/>
            </a:solidFill>
          </a:ln>
        </p:spPr>
      </p:cxnSp>
      <p:cxnSp>
        <p:nvCxnSpPr>
          <p:cNvPr id="128" name="Connector 127"/>
          <p:cNvCxnSpPr/>
          <p:nvPr/>
        </p:nvCxnSpPr>
        <p:spPr>
          <a:xfrm>
            <a:off x="11155680" y="5417819"/>
            <a:ext cx="0" cy="640080"/>
          </a:xfrm>
          <a:prstGeom prst="line">
            <a:avLst/>
          </a:prstGeom>
          <a:ln w="8255">
            <a:solidFill>
              <a:srgbClr val="D9E2E7"/>
            </a:solidFill>
          </a:ln>
        </p:spPr>
      </p:cxnSp>
      <p:cxnSp>
        <p:nvCxnSpPr>
          <p:cNvPr id="129" name="Connector 128"/>
          <p:cNvCxnSpPr/>
          <p:nvPr/>
        </p:nvCxnSpPr>
        <p:spPr>
          <a:xfrm>
            <a:off x="11919204" y="5417819"/>
            <a:ext cx="0" cy="640080"/>
          </a:xfrm>
          <a:prstGeom prst="line">
            <a:avLst/>
          </a:prstGeom>
          <a:ln w="8255">
            <a:solidFill>
              <a:srgbClr val="D9E2E7"/>
            </a:solidFill>
          </a:ln>
        </p:spPr>
      </p:cxnSp>
      <p:cxnSp>
        <p:nvCxnSpPr>
          <p:cNvPr id="130" name="Connector 129"/>
          <p:cNvCxnSpPr/>
          <p:nvPr/>
        </p:nvCxnSpPr>
        <p:spPr>
          <a:xfrm>
            <a:off x="12682728" y="5417819"/>
            <a:ext cx="0" cy="640080"/>
          </a:xfrm>
          <a:prstGeom prst="line">
            <a:avLst/>
          </a:prstGeom>
          <a:ln w="8255">
            <a:solidFill>
              <a:srgbClr val="D9E2E7"/>
            </a:solidFill>
          </a:ln>
        </p:spPr>
      </p:cxnSp>
      <p:cxnSp>
        <p:nvCxnSpPr>
          <p:cNvPr id="131" name="Connector 130"/>
          <p:cNvCxnSpPr/>
          <p:nvPr/>
        </p:nvCxnSpPr>
        <p:spPr>
          <a:xfrm>
            <a:off x="13446251" y="5417819"/>
            <a:ext cx="0" cy="640080"/>
          </a:xfrm>
          <a:prstGeom prst="line">
            <a:avLst/>
          </a:prstGeom>
          <a:ln w="8255">
            <a:solidFill>
              <a:srgbClr val="D9E2E7"/>
            </a:solidFill>
          </a:ln>
        </p:spPr>
      </p:cxnSp>
      <p:cxnSp>
        <p:nvCxnSpPr>
          <p:cNvPr id="132" name="Connector 131"/>
          <p:cNvCxnSpPr/>
          <p:nvPr/>
        </p:nvCxnSpPr>
        <p:spPr>
          <a:xfrm>
            <a:off x="14209776" y="5417819"/>
            <a:ext cx="0" cy="640080"/>
          </a:xfrm>
          <a:prstGeom prst="line">
            <a:avLst/>
          </a:prstGeom>
          <a:ln w="8255">
            <a:solidFill>
              <a:srgbClr val="D9E2E7"/>
            </a:solidFill>
          </a:ln>
        </p:spPr>
      </p:cxnSp>
      <p:cxnSp>
        <p:nvCxnSpPr>
          <p:cNvPr id="133" name="Connector 132"/>
          <p:cNvCxnSpPr/>
          <p:nvPr/>
        </p:nvCxnSpPr>
        <p:spPr>
          <a:xfrm>
            <a:off x="14973300" y="5417819"/>
            <a:ext cx="0" cy="640080"/>
          </a:xfrm>
          <a:prstGeom prst="line">
            <a:avLst/>
          </a:prstGeom>
          <a:ln w="8255">
            <a:solidFill>
              <a:srgbClr val="D9E2E7"/>
            </a:solidFill>
          </a:ln>
        </p:spPr>
      </p:cxnSp>
      <p:cxnSp>
        <p:nvCxnSpPr>
          <p:cNvPr id="134" name="Connector 133"/>
          <p:cNvCxnSpPr/>
          <p:nvPr/>
        </p:nvCxnSpPr>
        <p:spPr>
          <a:xfrm>
            <a:off x="15736824" y="5417819"/>
            <a:ext cx="0" cy="640080"/>
          </a:xfrm>
          <a:prstGeom prst="line">
            <a:avLst/>
          </a:prstGeom>
          <a:ln w="8255">
            <a:solidFill>
              <a:srgbClr val="D9E2E7"/>
            </a:solidFill>
          </a:ln>
        </p:spPr>
      </p:cxnSp>
      <p:cxnSp>
        <p:nvCxnSpPr>
          <p:cNvPr id="135" name="Connector 134"/>
          <p:cNvCxnSpPr/>
          <p:nvPr/>
        </p:nvCxnSpPr>
        <p:spPr>
          <a:xfrm>
            <a:off x="16500347" y="5417819"/>
            <a:ext cx="0" cy="640080"/>
          </a:xfrm>
          <a:prstGeom prst="line">
            <a:avLst/>
          </a:prstGeom>
          <a:ln w="8255">
            <a:solidFill>
              <a:srgbClr val="D9E2E7"/>
            </a:solidFill>
          </a:ln>
        </p:spPr>
      </p:cxnSp>
      <p:cxnSp>
        <p:nvCxnSpPr>
          <p:cNvPr id="136" name="Connector 135"/>
          <p:cNvCxnSpPr/>
          <p:nvPr/>
        </p:nvCxnSpPr>
        <p:spPr>
          <a:xfrm>
            <a:off x="17263872" y="5417819"/>
            <a:ext cx="0" cy="640080"/>
          </a:xfrm>
          <a:prstGeom prst="line">
            <a:avLst/>
          </a:prstGeom>
          <a:ln w="8255">
            <a:solidFill>
              <a:srgbClr val="D9E2E7"/>
            </a:solidFill>
          </a:ln>
        </p:spPr>
      </p:cxnSp>
      <p:sp>
        <p:nvSpPr>
          <p:cNvPr id="137" name="Rectangle 136"/>
          <p:cNvSpPr/>
          <p:nvPr/>
        </p:nvSpPr>
        <p:spPr>
          <a:xfrm>
            <a:off x="15800832" y="5646419"/>
            <a:ext cx="1399031" cy="137160"/>
          </a:xfrm>
          <a:prstGeom prst="rect">
            <a:avLst/>
          </a:prstGeom>
          <a:solidFill>
            <a:srgbClr val="FF6633"/>
          </a:solidFill>
          <a:ln>
            <a:noFill/>
          </a:ln>
        </p:spPr>
        <p:txBody>
          <a:bodyPr rtlCol="0" anchor="ctr"/>
          <a:lstStyle/>
          <a:p>
            <a:pPr algn="ctr"/>
          </a:p>
        </p:txBody>
      </p:sp>
      <p:sp>
        <p:nvSpPr>
          <p:cNvPr id="138" name="Oval 137"/>
          <p:cNvSpPr/>
          <p:nvPr/>
        </p:nvSpPr>
        <p:spPr>
          <a:xfrm>
            <a:off x="12991338" y="5641847"/>
            <a:ext cx="146304" cy="146304"/>
          </a:xfrm>
          <a:prstGeom prst="ellipse">
            <a:avLst/>
          </a:prstGeom>
          <a:solidFill>
            <a:srgbClr val="FF6633"/>
          </a:solidFill>
          <a:ln>
            <a:noFill/>
          </a:ln>
        </p:spPr>
        <p:txBody>
          <a:bodyPr rtlCol="0" anchor="ctr"/>
          <a:lstStyle/>
          <a:p>
            <a:pPr algn="ctr"/>
          </a:p>
        </p:txBody>
      </p:sp>
      <p:sp>
        <p:nvSpPr>
          <p:cNvPr id="139" name="Rectangle 138"/>
          <p:cNvSpPr/>
          <p:nvPr/>
        </p:nvSpPr>
        <p:spPr>
          <a:xfrm>
            <a:off x="822960" y="6057900"/>
            <a:ext cx="16642080" cy="617219"/>
          </a:xfrm>
          <a:prstGeom prst="rect">
            <a:avLst/>
          </a:prstGeom>
          <a:solidFill>
            <a:srgbClr val="F7F7F3"/>
          </a:solidFill>
          <a:ln>
            <a:noFill/>
          </a:ln>
        </p:spPr>
        <p:txBody>
          <a:bodyPr rtlCol="0" anchor="ctr"/>
          <a:lstStyle/>
          <a:p>
            <a:pPr algn="ctr"/>
          </a:p>
        </p:txBody>
      </p:sp>
      <p:sp>
        <p:nvSpPr>
          <p:cNvPr id="140" name="TextBox 139"/>
          <p:cNvSpPr txBox="1"/>
          <p:nvPr/>
        </p:nvSpPr>
        <p:spPr>
          <a:xfrm>
            <a:off x="905256" y="6176772"/>
            <a:ext cx="1207008" cy="274320"/>
          </a:xfrm>
          <a:prstGeom prst="rect">
            <a:avLst/>
          </a:prstGeom>
          <a:noFill/>
        </p:spPr>
        <p:txBody>
          <a:bodyPr wrap="square" lIns="0" rIns="0" tIns="0" bIns="0">
            <a:spAutoFit/>
          </a:bodyPr>
          <a:lstStyle/>
          <a:p>
            <a:pPr>
              <a:lnSpc>
                <a:spcPts val="1722"/>
              </a:lnSpc>
              <a:spcBef>
                <a:spcPts val="0"/>
              </a:spcBef>
              <a:spcAft>
                <a:spcPts val="0"/>
              </a:spcAft>
              <a:defRPr sz="1400" b="1">
                <a:solidFill>
                  <a:srgbClr val="FF6633"/>
                </a:solidFill>
                <a:latin typeface="Montserrat"/>
              </a:defRPr>
            </a:pPr>
          </a:p>
        </p:txBody>
      </p:sp>
      <p:sp>
        <p:nvSpPr>
          <p:cNvPr id="141" name="TextBox 140"/>
          <p:cNvSpPr txBox="1"/>
          <p:nvPr/>
        </p:nvSpPr>
        <p:spPr>
          <a:xfrm>
            <a:off x="2157984" y="6121908"/>
            <a:ext cx="5687568" cy="640080"/>
          </a:xfrm>
          <a:prstGeom prst="rect">
            <a:avLst/>
          </a:prstGeom>
          <a:noFill/>
        </p:spPr>
        <p:txBody>
          <a:bodyPr wrap="square" lIns="0" rIns="0" tIns="0" bIns="0">
            <a:spAutoFit/>
          </a:bodyPr>
          <a:lstStyle/>
          <a:p>
            <a:pPr>
              <a:lnSpc>
                <a:spcPts val="2350"/>
              </a:lnSpc>
              <a:spcBef>
                <a:spcPts val="0"/>
              </a:spcBef>
              <a:spcAft>
                <a:spcPts val="0"/>
              </a:spcAft>
              <a:defRPr sz="2400" b="0">
                <a:solidFill>
                  <a:srgbClr val="002C49"/>
                </a:solidFill>
                <a:latin typeface="Montserrat"/>
              </a:defRPr>
            </a:pPr>
            <a:r>
              <a:t>Rendez-vous collaborateurs /</a:t>
            </a:r>
          </a:p>
          <a:p>
            <a:pPr>
              <a:lnSpc>
                <a:spcPts val="2350"/>
              </a:lnSpc>
              <a:spcBef>
                <a:spcPts val="0"/>
              </a:spcBef>
              <a:spcAft>
                <a:spcPts val="0"/>
              </a:spcAft>
              <a:defRPr sz="2400" b="0">
                <a:solidFill>
                  <a:srgbClr val="002C49"/>
                </a:solidFill>
                <a:latin typeface="Montserrat"/>
              </a:defRPr>
            </a:pPr>
            <a:r>
              <a:t>Programme RSE</a:t>
            </a:r>
          </a:p>
        </p:txBody>
      </p:sp>
      <p:cxnSp>
        <p:nvCxnSpPr>
          <p:cNvPr id="142" name="Connector 141"/>
          <p:cNvCxnSpPr/>
          <p:nvPr/>
        </p:nvCxnSpPr>
        <p:spPr>
          <a:xfrm>
            <a:off x="8101583" y="6057900"/>
            <a:ext cx="0" cy="640080"/>
          </a:xfrm>
          <a:prstGeom prst="line">
            <a:avLst/>
          </a:prstGeom>
          <a:ln w="8255">
            <a:solidFill>
              <a:srgbClr val="D9E2E7"/>
            </a:solidFill>
          </a:ln>
        </p:spPr>
      </p:cxnSp>
      <p:cxnSp>
        <p:nvCxnSpPr>
          <p:cNvPr id="143" name="Connector 142"/>
          <p:cNvCxnSpPr/>
          <p:nvPr/>
        </p:nvCxnSpPr>
        <p:spPr>
          <a:xfrm>
            <a:off x="8865108" y="6057900"/>
            <a:ext cx="0" cy="640080"/>
          </a:xfrm>
          <a:prstGeom prst="line">
            <a:avLst/>
          </a:prstGeom>
          <a:ln w="8255">
            <a:solidFill>
              <a:srgbClr val="D9E2E7"/>
            </a:solidFill>
          </a:ln>
        </p:spPr>
      </p:cxnSp>
      <p:cxnSp>
        <p:nvCxnSpPr>
          <p:cNvPr id="144" name="Connector 143"/>
          <p:cNvCxnSpPr/>
          <p:nvPr/>
        </p:nvCxnSpPr>
        <p:spPr>
          <a:xfrm>
            <a:off x="9628632" y="6057900"/>
            <a:ext cx="0" cy="640080"/>
          </a:xfrm>
          <a:prstGeom prst="line">
            <a:avLst/>
          </a:prstGeom>
          <a:ln w="8255">
            <a:solidFill>
              <a:srgbClr val="D9E2E7"/>
            </a:solidFill>
          </a:ln>
        </p:spPr>
      </p:cxnSp>
      <p:cxnSp>
        <p:nvCxnSpPr>
          <p:cNvPr id="145" name="Connector 144"/>
          <p:cNvCxnSpPr/>
          <p:nvPr/>
        </p:nvCxnSpPr>
        <p:spPr>
          <a:xfrm>
            <a:off x="10392155" y="6057900"/>
            <a:ext cx="0" cy="640080"/>
          </a:xfrm>
          <a:prstGeom prst="line">
            <a:avLst/>
          </a:prstGeom>
          <a:ln w="8255">
            <a:solidFill>
              <a:srgbClr val="D9E2E7"/>
            </a:solidFill>
          </a:ln>
        </p:spPr>
      </p:cxnSp>
      <p:cxnSp>
        <p:nvCxnSpPr>
          <p:cNvPr id="146" name="Connector 145"/>
          <p:cNvCxnSpPr/>
          <p:nvPr/>
        </p:nvCxnSpPr>
        <p:spPr>
          <a:xfrm>
            <a:off x="11155680" y="6057900"/>
            <a:ext cx="0" cy="640080"/>
          </a:xfrm>
          <a:prstGeom prst="line">
            <a:avLst/>
          </a:prstGeom>
          <a:ln w="8255">
            <a:solidFill>
              <a:srgbClr val="D9E2E7"/>
            </a:solidFill>
          </a:ln>
        </p:spPr>
      </p:cxnSp>
      <p:cxnSp>
        <p:nvCxnSpPr>
          <p:cNvPr id="147" name="Connector 146"/>
          <p:cNvCxnSpPr/>
          <p:nvPr/>
        </p:nvCxnSpPr>
        <p:spPr>
          <a:xfrm>
            <a:off x="11919204" y="6057900"/>
            <a:ext cx="0" cy="640080"/>
          </a:xfrm>
          <a:prstGeom prst="line">
            <a:avLst/>
          </a:prstGeom>
          <a:ln w="8255">
            <a:solidFill>
              <a:srgbClr val="D9E2E7"/>
            </a:solidFill>
          </a:ln>
        </p:spPr>
      </p:cxnSp>
      <p:cxnSp>
        <p:nvCxnSpPr>
          <p:cNvPr id="148" name="Connector 147"/>
          <p:cNvCxnSpPr/>
          <p:nvPr/>
        </p:nvCxnSpPr>
        <p:spPr>
          <a:xfrm>
            <a:off x="12682728" y="6057900"/>
            <a:ext cx="0" cy="640080"/>
          </a:xfrm>
          <a:prstGeom prst="line">
            <a:avLst/>
          </a:prstGeom>
          <a:ln w="8255">
            <a:solidFill>
              <a:srgbClr val="D9E2E7"/>
            </a:solidFill>
          </a:ln>
        </p:spPr>
      </p:cxnSp>
      <p:cxnSp>
        <p:nvCxnSpPr>
          <p:cNvPr id="149" name="Connector 148"/>
          <p:cNvCxnSpPr/>
          <p:nvPr/>
        </p:nvCxnSpPr>
        <p:spPr>
          <a:xfrm>
            <a:off x="13446251" y="6057900"/>
            <a:ext cx="0" cy="640080"/>
          </a:xfrm>
          <a:prstGeom prst="line">
            <a:avLst/>
          </a:prstGeom>
          <a:ln w="8255">
            <a:solidFill>
              <a:srgbClr val="D9E2E7"/>
            </a:solidFill>
          </a:ln>
        </p:spPr>
      </p:cxnSp>
      <p:cxnSp>
        <p:nvCxnSpPr>
          <p:cNvPr id="150" name="Connector 149"/>
          <p:cNvCxnSpPr/>
          <p:nvPr/>
        </p:nvCxnSpPr>
        <p:spPr>
          <a:xfrm>
            <a:off x="14209776" y="6057900"/>
            <a:ext cx="0" cy="640080"/>
          </a:xfrm>
          <a:prstGeom prst="line">
            <a:avLst/>
          </a:prstGeom>
          <a:ln w="8255">
            <a:solidFill>
              <a:srgbClr val="D9E2E7"/>
            </a:solidFill>
          </a:ln>
        </p:spPr>
      </p:cxnSp>
      <p:cxnSp>
        <p:nvCxnSpPr>
          <p:cNvPr id="151" name="Connector 150"/>
          <p:cNvCxnSpPr/>
          <p:nvPr/>
        </p:nvCxnSpPr>
        <p:spPr>
          <a:xfrm>
            <a:off x="14973300" y="6057900"/>
            <a:ext cx="0" cy="640080"/>
          </a:xfrm>
          <a:prstGeom prst="line">
            <a:avLst/>
          </a:prstGeom>
          <a:ln w="8255">
            <a:solidFill>
              <a:srgbClr val="D9E2E7"/>
            </a:solidFill>
          </a:ln>
        </p:spPr>
      </p:cxnSp>
      <p:cxnSp>
        <p:nvCxnSpPr>
          <p:cNvPr id="152" name="Connector 151"/>
          <p:cNvCxnSpPr/>
          <p:nvPr/>
        </p:nvCxnSpPr>
        <p:spPr>
          <a:xfrm>
            <a:off x="15736824" y="6057900"/>
            <a:ext cx="0" cy="640080"/>
          </a:xfrm>
          <a:prstGeom prst="line">
            <a:avLst/>
          </a:prstGeom>
          <a:ln w="8255">
            <a:solidFill>
              <a:srgbClr val="D9E2E7"/>
            </a:solidFill>
          </a:ln>
        </p:spPr>
      </p:cxnSp>
      <p:cxnSp>
        <p:nvCxnSpPr>
          <p:cNvPr id="153" name="Connector 152"/>
          <p:cNvCxnSpPr/>
          <p:nvPr/>
        </p:nvCxnSpPr>
        <p:spPr>
          <a:xfrm>
            <a:off x="16500347" y="6057900"/>
            <a:ext cx="0" cy="640080"/>
          </a:xfrm>
          <a:prstGeom prst="line">
            <a:avLst/>
          </a:prstGeom>
          <a:ln w="8255">
            <a:solidFill>
              <a:srgbClr val="D9E2E7"/>
            </a:solidFill>
          </a:ln>
        </p:spPr>
      </p:cxnSp>
      <p:cxnSp>
        <p:nvCxnSpPr>
          <p:cNvPr id="154" name="Connector 153"/>
          <p:cNvCxnSpPr/>
          <p:nvPr/>
        </p:nvCxnSpPr>
        <p:spPr>
          <a:xfrm>
            <a:off x="17263872" y="6057900"/>
            <a:ext cx="0" cy="640080"/>
          </a:xfrm>
          <a:prstGeom prst="line">
            <a:avLst/>
          </a:prstGeom>
          <a:ln w="8255">
            <a:solidFill>
              <a:srgbClr val="D9E2E7"/>
            </a:solidFill>
          </a:ln>
        </p:spPr>
      </p:cxnSp>
      <p:sp>
        <p:nvSpPr>
          <p:cNvPr id="155" name="Oval 154"/>
          <p:cNvSpPr/>
          <p:nvPr/>
        </p:nvSpPr>
        <p:spPr>
          <a:xfrm>
            <a:off x="8410194" y="6281928"/>
            <a:ext cx="146304" cy="146304"/>
          </a:xfrm>
          <a:prstGeom prst="ellipse">
            <a:avLst/>
          </a:prstGeom>
          <a:solidFill>
            <a:srgbClr val="FF6633"/>
          </a:solidFill>
          <a:ln>
            <a:noFill/>
          </a:ln>
        </p:spPr>
        <p:txBody>
          <a:bodyPr rtlCol="0" anchor="ctr"/>
          <a:lstStyle/>
          <a:p>
            <a:pPr algn="ctr"/>
          </a:p>
        </p:txBody>
      </p:sp>
      <p:sp>
        <p:nvSpPr>
          <p:cNvPr id="156" name="Oval 155"/>
          <p:cNvSpPr/>
          <p:nvPr/>
        </p:nvSpPr>
        <p:spPr>
          <a:xfrm>
            <a:off x="9173717" y="6281928"/>
            <a:ext cx="146304" cy="146304"/>
          </a:xfrm>
          <a:prstGeom prst="ellipse">
            <a:avLst/>
          </a:prstGeom>
          <a:solidFill>
            <a:srgbClr val="FF6633"/>
          </a:solidFill>
          <a:ln>
            <a:noFill/>
          </a:ln>
        </p:spPr>
        <p:txBody>
          <a:bodyPr rtlCol="0" anchor="ctr"/>
          <a:lstStyle/>
          <a:p>
            <a:pPr algn="ctr"/>
          </a:p>
        </p:txBody>
      </p:sp>
      <p:sp>
        <p:nvSpPr>
          <p:cNvPr id="157" name="Oval 156"/>
          <p:cNvSpPr/>
          <p:nvPr/>
        </p:nvSpPr>
        <p:spPr>
          <a:xfrm>
            <a:off x="9937242" y="6281928"/>
            <a:ext cx="146304" cy="146304"/>
          </a:xfrm>
          <a:prstGeom prst="ellipse">
            <a:avLst/>
          </a:prstGeom>
          <a:solidFill>
            <a:srgbClr val="FF6633"/>
          </a:solidFill>
          <a:ln>
            <a:noFill/>
          </a:ln>
        </p:spPr>
        <p:txBody>
          <a:bodyPr rtlCol="0" anchor="ctr"/>
          <a:lstStyle/>
          <a:p>
            <a:pPr algn="ctr"/>
          </a:p>
        </p:txBody>
      </p:sp>
      <p:sp>
        <p:nvSpPr>
          <p:cNvPr id="158" name="Oval 157"/>
          <p:cNvSpPr/>
          <p:nvPr/>
        </p:nvSpPr>
        <p:spPr>
          <a:xfrm>
            <a:off x="10700765" y="6281928"/>
            <a:ext cx="146304" cy="146304"/>
          </a:xfrm>
          <a:prstGeom prst="ellipse">
            <a:avLst/>
          </a:prstGeom>
          <a:solidFill>
            <a:srgbClr val="FF6633"/>
          </a:solidFill>
          <a:ln>
            <a:noFill/>
          </a:ln>
        </p:spPr>
        <p:txBody>
          <a:bodyPr rtlCol="0" anchor="ctr"/>
          <a:lstStyle/>
          <a:p>
            <a:pPr algn="ctr"/>
          </a:p>
        </p:txBody>
      </p:sp>
      <p:sp>
        <p:nvSpPr>
          <p:cNvPr id="159" name="Oval 158"/>
          <p:cNvSpPr/>
          <p:nvPr/>
        </p:nvSpPr>
        <p:spPr>
          <a:xfrm>
            <a:off x="11464290" y="6281928"/>
            <a:ext cx="146304" cy="146304"/>
          </a:xfrm>
          <a:prstGeom prst="ellipse">
            <a:avLst/>
          </a:prstGeom>
          <a:solidFill>
            <a:srgbClr val="FF6633"/>
          </a:solidFill>
          <a:ln>
            <a:noFill/>
          </a:ln>
        </p:spPr>
        <p:txBody>
          <a:bodyPr rtlCol="0" anchor="ctr"/>
          <a:lstStyle/>
          <a:p>
            <a:pPr algn="ctr"/>
          </a:p>
        </p:txBody>
      </p:sp>
      <p:sp>
        <p:nvSpPr>
          <p:cNvPr id="160" name="Oval 159"/>
          <p:cNvSpPr/>
          <p:nvPr/>
        </p:nvSpPr>
        <p:spPr>
          <a:xfrm>
            <a:off x="12227813" y="6281928"/>
            <a:ext cx="146304" cy="146304"/>
          </a:xfrm>
          <a:prstGeom prst="ellipse">
            <a:avLst/>
          </a:prstGeom>
          <a:solidFill>
            <a:srgbClr val="FF6633"/>
          </a:solidFill>
          <a:ln>
            <a:noFill/>
          </a:ln>
        </p:spPr>
        <p:txBody>
          <a:bodyPr rtlCol="0" anchor="ctr"/>
          <a:lstStyle/>
          <a:p>
            <a:pPr algn="ctr"/>
          </a:p>
        </p:txBody>
      </p:sp>
      <p:sp>
        <p:nvSpPr>
          <p:cNvPr id="161" name="Oval 160"/>
          <p:cNvSpPr/>
          <p:nvPr/>
        </p:nvSpPr>
        <p:spPr>
          <a:xfrm>
            <a:off x="12991338" y="6281928"/>
            <a:ext cx="146304" cy="146304"/>
          </a:xfrm>
          <a:prstGeom prst="ellipse">
            <a:avLst/>
          </a:prstGeom>
          <a:solidFill>
            <a:srgbClr val="FF6633"/>
          </a:solidFill>
          <a:ln>
            <a:noFill/>
          </a:ln>
        </p:spPr>
        <p:txBody>
          <a:bodyPr rtlCol="0" anchor="ctr"/>
          <a:lstStyle/>
          <a:p>
            <a:pPr algn="ctr"/>
          </a:p>
        </p:txBody>
      </p:sp>
      <p:sp>
        <p:nvSpPr>
          <p:cNvPr id="162" name="Oval 161"/>
          <p:cNvSpPr/>
          <p:nvPr/>
        </p:nvSpPr>
        <p:spPr>
          <a:xfrm>
            <a:off x="13754861" y="6281928"/>
            <a:ext cx="146304" cy="146304"/>
          </a:xfrm>
          <a:prstGeom prst="ellipse">
            <a:avLst/>
          </a:prstGeom>
          <a:solidFill>
            <a:srgbClr val="FF6633"/>
          </a:solidFill>
          <a:ln>
            <a:noFill/>
          </a:ln>
        </p:spPr>
        <p:txBody>
          <a:bodyPr rtlCol="0" anchor="ctr"/>
          <a:lstStyle/>
          <a:p>
            <a:pPr algn="ctr"/>
          </a:p>
        </p:txBody>
      </p:sp>
      <p:sp>
        <p:nvSpPr>
          <p:cNvPr id="163" name="Oval 162"/>
          <p:cNvSpPr/>
          <p:nvPr/>
        </p:nvSpPr>
        <p:spPr>
          <a:xfrm>
            <a:off x="14518386" y="6281928"/>
            <a:ext cx="146304" cy="146304"/>
          </a:xfrm>
          <a:prstGeom prst="ellipse">
            <a:avLst/>
          </a:prstGeom>
          <a:solidFill>
            <a:srgbClr val="FF6633"/>
          </a:solidFill>
          <a:ln>
            <a:noFill/>
          </a:ln>
        </p:spPr>
        <p:txBody>
          <a:bodyPr rtlCol="0" anchor="ctr"/>
          <a:lstStyle/>
          <a:p>
            <a:pPr algn="ctr"/>
          </a:p>
        </p:txBody>
      </p:sp>
      <p:sp>
        <p:nvSpPr>
          <p:cNvPr id="164" name="Oval 163"/>
          <p:cNvSpPr/>
          <p:nvPr/>
        </p:nvSpPr>
        <p:spPr>
          <a:xfrm>
            <a:off x="15281909" y="6281928"/>
            <a:ext cx="146304" cy="146304"/>
          </a:xfrm>
          <a:prstGeom prst="ellipse">
            <a:avLst/>
          </a:prstGeom>
          <a:solidFill>
            <a:srgbClr val="FF6633"/>
          </a:solidFill>
          <a:ln>
            <a:noFill/>
          </a:ln>
        </p:spPr>
        <p:txBody>
          <a:bodyPr rtlCol="0" anchor="ctr"/>
          <a:lstStyle/>
          <a:p>
            <a:pPr algn="ctr"/>
          </a:p>
        </p:txBody>
      </p:sp>
      <p:sp>
        <p:nvSpPr>
          <p:cNvPr id="165" name="Oval 164"/>
          <p:cNvSpPr/>
          <p:nvPr/>
        </p:nvSpPr>
        <p:spPr>
          <a:xfrm>
            <a:off x="16045434" y="6281928"/>
            <a:ext cx="146304" cy="146304"/>
          </a:xfrm>
          <a:prstGeom prst="ellipse">
            <a:avLst/>
          </a:prstGeom>
          <a:solidFill>
            <a:srgbClr val="FF6633"/>
          </a:solidFill>
          <a:ln>
            <a:noFill/>
          </a:ln>
        </p:spPr>
        <p:txBody>
          <a:bodyPr rtlCol="0" anchor="ctr"/>
          <a:lstStyle/>
          <a:p>
            <a:pPr algn="ctr"/>
          </a:p>
        </p:txBody>
      </p:sp>
      <p:sp>
        <p:nvSpPr>
          <p:cNvPr id="166" name="Oval 165"/>
          <p:cNvSpPr/>
          <p:nvPr/>
        </p:nvSpPr>
        <p:spPr>
          <a:xfrm>
            <a:off x="16808958" y="6281928"/>
            <a:ext cx="146304" cy="146304"/>
          </a:xfrm>
          <a:prstGeom prst="ellipse">
            <a:avLst/>
          </a:prstGeom>
          <a:solidFill>
            <a:srgbClr val="FF6633"/>
          </a:solidFill>
          <a:ln>
            <a:noFill/>
          </a:ln>
        </p:spPr>
        <p:txBody>
          <a:bodyPr rtlCol="0" anchor="ctr"/>
          <a:lstStyle/>
          <a:p>
            <a:pPr algn="ctr"/>
          </a:p>
        </p:txBody>
      </p:sp>
      <p:sp>
        <p:nvSpPr>
          <p:cNvPr id="167" name="TextBox 166"/>
          <p:cNvSpPr txBox="1"/>
          <p:nvPr/>
        </p:nvSpPr>
        <p:spPr>
          <a:xfrm>
            <a:off x="905256" y="6816852"/>
            <a:ext cx="1207008" cy="274320"/>
          </a:xfrm>
          <a:prstGeom prst="rect">
            <a:avLst/>
          </a:prstGeom>
          <a:noFill/>
        </p:spPr>
        <p:txBody>
          <a:bodyPr wrap="square" lIns="0" rIns="0" tIns="0" bIns="0">
            <a:spAutoFit/>
          </a:bodyPr>
          <a:lstStyle/>
          <a:p>
            <a:pPr>
              <a:lnSpc>
                <a:spcPts val="1722"/>
              </a:lnSpc>
              <a:spcBef>
                <a:spcPts val="0"/>
              </a:spcBef>
              <a:spcAft>
                <a:spcPts val="0"/>
              </a:spcAft>
              <a:defRPr sz="1400" b="1">
                <a:solidFill>
                  <a:srgbClr val="FF6633"/>
                </a:solidFill>
                <a:latin typeface="Montserrat"/>
              </a:defRPr>
            </a:pPr>
          </a:p>
        </p:txBody>
      </p:sp>
      <p:sp>
        <p:nvSpPr>
          <p:cNvPr id="168" name="TextBox 167"/>
          <p:cNvSpPr txBox="1"/>
          <p:nvPr/>
        </p:nvSpPr>
        <p:spPr>
          <a:xfrm>
            <a:off x="2157984" y="6761988"/>
            <a:ext cx="5687568" cy="640080"/>
          </a:xfrm>
          <a:prstGeom prst="rect">
            <a:avLst/>
          </a:prstGeom>
          <a:noFill/>
        </p:spPr>
        <p:txBody>
          <a:bodyPr wrap="square" lIns="0" rIns="0" tIns="0" bIns="0">
            <a:spAutoFit/>
          </a:bodyPr>
          <a:lstStyle/>
          <a:p>
            <a:pPr>
              <a:lnSpc>
                <a:spcPts val="2350"/>
              </a:lnSpc>
              <a:spcBef>
                <a:spcPts val="0"/>
              </a:spcBef>
              <a:spcAft>
                <a:spcPts val="0"/>
              </a:spcAft>
              <a:defRPr sz="2400" b="0">
                <a:solidFill>
                  <a:srgbClr val="002C49"/>
                </a:solidFill>
                <a:latin typeface="Montserrat"/>
              </a:defRPr>
            </a:pPr>
            <a:r>
              <a:t>Leadership au féminin</a:t>
            </a:r>
          </a:p>
        </p:txBody>
      </p:sp>
      <p:cxnSp>
        <p:nvCxnSpPr>
          <p:cNvPr id="169" name="Connector 168"/>
          <p:cNvCxnSpPr/>
          <p:nvPr/>
        </p:nvCxnSpPr>
        <p:spPr>
          <a:xfrm>
            <a:off x="8101583" y="6697979"/>
            <a:ext cx="0" cy="640080"/>
          </a:xfrm>
          <a:prstGeom prst="line">
            <a:avLst/>
          </a:prstGeom>
          <a:ln w="8255">
            <a:solidFill>
              <a:srgbClr val="D9E2E7"/>
            </a:solidFill>
          </a:ln>
        </p:spPr>
      </p:cxnSp>
      <p:cxnSp>
        <p:nvCxnSpPr>
          <p:cNvPr id="170" name="Connector 169"/>
          <p:cNvCxnSpPr/>
          <p:nvPr/>
        </p:nvCxnSpPr>
        <p:spPr>
          <a:xfrm>
            <a:off x="8865108" y="6697979"/>
            <a:ext cx="0" cy="640080"/>
          </a:xfrm>
          <a:prstGeom prst="line">
            <a:avLst/>
          </a:prstGeom>
          <a:ln w="8255">
            <a:solidFill>
              <a:srgbClr val="D9E2E7"/>
            </a:solidFill>
          </a:ln>
        </p:spPr>
      </p:cxnSp>
      <p:cxnSp>
        <p:nvCxnSpPr>
          <p:cNvPr id="171" name="Connector 170"/>
          <p:cNvCxnSpPr/>
          <p:nvPr/>
        </p:nvCxnSpPr>
        <p:spPr>
          <a:xfrm>
            <a:off x="9628632" y="6697979"/>
            <a:ext cx="0" cy="640080"/>
          </a:xfrm>
          <a:prstGeom prst="line">
            <a:avLst/>
          </a:prstGeom>
          <a:ln w="8255">
            <a:solidFill>
              <a:srgbClr val="D9E2E7"/>
            </a:solidFill>
          </a:ln>
        </p:spPr>
      </p:cxnSp>
      <p:cxnSp>
        <p:nvCxnSpPr>
          <p:cNvPr id="172" name="Connector 171"/>
          <p:cNvCxnSpPr/>
          <p:nvPr/>
        </p:nvCxnSpPr>
        <p:spPr>
          <a:xfrm>
            <a:off x="10392155" y="6697979"/>
            <a:ext cx="0" cy="640080"/>
          </a:xfrm>
          <a:prstGeom prst="line">
            <a:avLst/>
          </a:prstGeom>
          <a:ln w="8255">
            <a:solidFill>
              <a:srgbClr val="D9E2E7"/>
            </a:solidFill>
          </a:ln>
        </p:spPr>
      </p:cxnSp>
      <p:cxnSp>
        <p:nvCxnSpPr>
          <p:cNvPr id="173" name="Connector 172"/>
          <p:cNvCxnSpPr/>
          <p:nvPr/>
        </p:nvCxnSpPr>
        <p:spPr>
          <a:xfrm>
            <a:off x="11155680" y="6697979"/>
            <a:ext cx="0" cy="640080"/>
          </a:xfrm>
          <a:prstGeom prst="line">
            <a:avLst/>
          </a:prstGeom>
          <a:ln w="8255">
            <a:solidFill>
              <a:srgbClr val="D9E2E7"/>
            </a:solidFill>
          </a:ln>
        </p:spPr>
      </p:cxnSp>
      <p:cxnSp>
        <p:nvCxnSpPr>
          <p:cNvPr id="174" name="Connector 173"/>
          <p:cNvCxnSpPr/>
          <p:nvPr/>
        </p:nvCxnSpPr>
        <p:spPr>
          <a:xfrm>
            <a:off x="11919204" y="6697979"/>
            <a:ext cx="0" cy="640080"/>
          </a:xfrm>
          <a:prstGeom prst="line">
            <a:avLst/>
          </a:prstGeom>
          <a:ln w="8255">
            <a:solidFill>
              <a:srgbClr val="D9E2E7"/>
            </a:solidFill>
          </a:ln>
        </p:spPr>
      </p:cxnSp>
      <p:cxnSp>
        <p:nvCxnSpPr>
          <p:cNvPr id="175" name="Connector 174"/>
          <p:cNvCxnSpPr/>
          <p:nvPr/>
        </p:nvCxnSpPr>
        <p:spPr>
          <a:xfrm>
            <a:off x="12682728" y="6697979"/>
            <a:ext cx="0" cy="640080"/>
          </a:xfrm>
          <a:prstGeom prst="line">
            <a:avLst/>
          </a:prstGeom>
          <a:ln w="8255">
            <a:solidFill>
              <a:srgbClr val="D9E2E7"/>
            </a:solidFill>
          </a:ln>
        </p:spPr>
      </p:cxnSp>
      <p:cxnSp>
        <p:nvCxnSpPr>
          <p:cNvPr id="176" name="Connector 175"/>
          <p:cNvCxnSpPr/>
          <p:nvPr/>
        </p:nvCxnSpPr>
        <p:spPr>
          <a:xfrm>
            <a:off x="13446251" y="6697979"/>
            <a:ext cx="0" cy="640080"/>
          </a:xfrm>
          <a:prstGeom prst="line">
            <a:avLst/>
          </a:prstGeom>
          <a:ln w="8255">
            <a:solidFill>
              <a:srgbClr val="D9E2E7"/>
            </a:solidFill>
          </a:ln>
        </p:spPr>
      </p:cxnSp>
      <p:cxnSp>
        <p:nvCxnSpPr>
          <p:cNvPr id="177" name="Connector 176"/>
          <p:cNvCxnSpPr/>
          <p:nvPr/>
        </p:nvCxnSpPr>
        <p:spPr>
          <a:xfrm>
            <a:off x="14209776" y="6697979"/>
            <a:ext cx="0" cy="640080"/>
          </a:xfrm>
          <a:prstGeom prst="line">
            <a:avLst/>
          </a:prstGeom>
          <a:ln w="8255">
            <a:solidFill>
              <a:srgbClr val="D9E2E7"/>
            </a:solidFill>
          </a:ln>
        </p:spPr>
      </p:cxnSp>
      <p:cxnSp>
        <p:nvCxnSpPr>
          <p:cNvPr id="178" name="Connector 177"/>
          <p:cNvCxnSpPr/>
          <p:nvPr/>
        </p:nvCxnSpPr>
        <p:spPr>
          <a:xfrm>
            <a:off x="14973300" y="6697979"/>
            <a:ext cx="0" cy="640080"/>
          </a:xfrm>
          <a:prstGeom prst="line">
            <a:avLst/>
          </a:prstGeom>
          <a:ln w="8255">
            <a:solidFill>
              <a:srgbClr val="D9E2E7"/>
            </a:solidFill>
          </a:ln>
        </p:spPr>
      </p:cxnSp>
      <p:cxnSp>
        <p:nvCxnSpPr>
          <p:cNvPr id="179" name="Connector 178"/>
          <p:cNvCxnSpPr/>
          <p:nvPr/>
        </p:nvCxnSpPr>
        <p:spPr>
          <a:xfrm>
            <a:off x="15736824" y="6697979"/>
            <a:ext cx="0" cy="640080"/>
          </a:xfrm>
          <a:prstGeom prst="line">
            <a:avLst/>
          </a:prstGeom>
          <a:ln w="8255">
            <a:solidFill>
              <a:srgbClr val="D9E2E7"/>
            </a:solidFill>
          </a:ln>
        </p:spPr>
      </p:cxnSp>
      <p:cxnSp>
        <p:nvCxnSpPr>
          <p:cNvPr id="180" name="Connector 179"/>
          <p:cNvCxnSpPr/>
          <p:nvPr/>
        </p:nvCxnSpPr>
        <p:spPr>
          <a:xfrm>
            <a:off x="16500347" y="6697979"/>
            <a:ext cx="0" cy="640080"/>
          </a:xfrm>
          <a:prstGeom prst="line">
            <a:avLst/>
          </a:prstGeom>
          <a:ln w="8255">
            <a:solidFill>
              <a:srgbClr val="D9E2E7"/>
            </a:solidFill>
          </a:ln>
        </p:spPr>
      </p:cxnSp>
      <p:cxnSp>
        <p:nvCxnSpPr>
          <p:cNvPr id="181" name="Connector 180"/>
          <p:cNvCxnSpPr/>
          <p:nvPr/>
        </p:nvCxnSpPr>
        <p:spPr>
          <a:xfrm>
            <a:off x="17263872" y="6697979"/>
            <a:ext cx="0" cy="640080"/>
          </a:xfrm>
          <a:prstGeom prst="line">
            <a:avLst/>
          </a:prstGeom>
          <a:ln w="8255">
            <a:solidFill>
              <a:srgbClr val="D9E2E7"/>
            </a:solidFill>
          </a:ln>
        </p:spPr>
      </p:cxnSp>
      <p:sp>
        <p:nvSpPr>
          <p:cNvPr id="182" name="Rectangle 181"/>
          <p:cNvSpPr/>
          <p:nvPr/>
        </p:nvSpPr>
        <p:spPr>
          <a:xfrm>
            <a:off x="8165592" y="6980529"/>
            <a:ext cx="9034272" cy="36576"/>
          </a:xfrm>
          <a:prstGeom prst="rect">
            <a:avLst/>
          </a:prstGeom>
          <a:solidFill>
            <a:srgbClr val="002C49"/>
          </a:solidFill>
          <a:ln>
            <a:noFill/>
          </a:ln>
        </p:spPr>
        <p:txBody>
          <a:bodyPr rtlCol="0" anchor="ctr"/>
          <a:lstStyle/>
          <a:p>
            <a:pPr algn="ctr"/>
          </a:p>
        </p:txBody>
      </p:sp>
      <p:sp>
        <p:nvSpPr>
          <p:cNvPr id="183" name="Oval 182"/>
          <p:cNvSpPr/>
          <p:nvPr/>
        </p:nvSpPr>
        <p:spPr>
          <a:xfrm>
            <a:off x="14518386" y="6922007"/>
            <a:ext cx="146304" cy="146304"/>
          </a:xfrm>
          <a:prstGeom prst="ellipse">
            <a:avLst/>
          </a:prstGeom>
          <a:solidFill>
            <a:srgbClr val="FF6633"/>
          </a:solidFill>
          <a:ln>
            <a:noFill/>
          </a:ln>
        </p:spPr>
        <p:txBody>
          <a:bodyPr rtlCol="0" anchor="ctr"/>
          <a:lstStyle/>
          <a:p>
            <a:pPr algn="ctr"/>
          </a:p>
        </p:txBody>
      </p:sp>
      <p:sp>
        <p:nvSpPr>
          <p:cNvPr id="184" name="Rectangle 183"/>
          <p:cNvSpPr/>
          <p:nvPr/>
        </p:nvSpPr>
        <p:spPr>
          <a:xfrm>
            <a:off x="822960" y="7338059"/>
            <a:ext cx="16642080" cy="617219"/>
          </a:xfrm>
          <a:prstGeom prst="rect">
            <a:avLst/>
          </a:prstGeom>
          <a:solidFill>
            <a:srgbClr val="F7F7F3"/>
          </a:solidFill>
          <a:ln>
            <a:noFill/>
          </a:ln>
        </p:spPr>
        <p:txBody>
          <a:bodyPr rtlCol="0" anchor="ctr"/>
          <a:lstStyle/>
          <a:p>
            <a:pPr algn="ctr"/>
          </a:p>
        </p:txBody>
      </p:sp>
      <p:sp>
        <p:nvSpPr>
          <p:cNvPr id="185" name="TextBox 184"/>
          <p:cNvSpPr txBox="1"/>
          <p:nvPr/>
        </p:nvSpPr>
        <p:spPr>
          <a:xfrm>
            <a:off x="905256" y="7456931"/>
            <a:ext cx="1207008" cy="274320"/>
          </a:xfrm>
          <a:prstGeom prst="rect">
            <a:avLst/>
          </a:prstGeom>
          <a:noFill/>
        </p:spPr>
        <p:txBody>
          <a:bodyPr wrap="square" lIns="0" rIns="0" tIns="0" bIns="0">
            <a:spAutoFit/>
          </a:bodyPr>
          <a:lstStyle/>
          <a:p>
            <a:pPr>
              <a:lnSpc>
                <a:spcPts val="1722"/>
              </a:lnSpc>
              <a:spcBef>
                <a:spcPts val="0"/>
              </a:spcBef>
              <a:spcAft>
                <a:spcPts val="0"/>
              </a:spcAft>
              <a:defRPr sz="1400" b="1">
                <a:solidFill>
                  <a:srgbClr val="FF6633"/>
                </a:solidFill>
                <a:latin typeface="Montserrat"/>
              </a:defRPr>
            </a:pPr>
          </a:p>
        </p:txBody>
      </p:sp>
      <p:sp>
        <p:nvSpPr>
          <p:cNvPr id="186" name="TextBox 185"/>
          <p:cNvSpPr txBox="1"/>
          <p:nvPr/>
        </p:nvSpPr>
        <p:spPr>
          <a:xfrm>
            <a:off x="2157984" y="7402067"/>
            <a:ext cx="5687568" cy="640080"/>
          </a:xfrm>
          <a:prstGeom prst="rect">
            <a:avLst/>
          </a:prstGeom>
          <a:noFill/>
        </p:spPr>
        <p:txBody>
          <a:bodyPr wrap="square" lIns="0" rIns="0" tIns="0" bIns="0">
            <a:spAutoFit/>
          </a:bodyPr>
          <a:lstStyle/>
          <a:p>
            <a:pPr>
              <a:lnSpc>
                <a:spcPts val="2350"/>
              </a:lnSpc>
              <a:spcBef>
                <a:spcPts val="0"/>
              </a:spcBef>
              <a:spcAft>
                <a:spcPts val="0"/>
              </a:spcAft>
              <a:defRPr sz="2400" b="0">
                <a:solidFill>
                  <a:srgbClr val="002C49"/>
                </a:solidFill>
                <a:latin typeface="Montserrat"/>
              </a:defRPr>
            </a:pPr>
            <a:r>
              <a:t>LinkedIn corporate / Culture Leyton</a:t>
            </a:r>
          </a:p>
        </p:txBody>
      </p:sp>
      <p:cxnSp>
        <p:nvCxnSpPr>
          <p:cNvPr id="187" name="Connector 186"/>
          <p:cNvCxnSpPr/>
          <p:nvPr/>
        </p:nvCxnSpPr>
        <p:spPr>
          <a:xfrm>
            <a:off x="8101583" y="7338059"/>
            <a:ext cx="0" cy="640080"/>
          </a:xfrm>
          <a:prstGeom prst="line">
            <a:avLst/>
          </a:prstGeom>
          <a:ln w="8255">
            <a:solidFill>
              <a:srgbClr val="D9E2E7"/>
            </a:solidFill>
          </a:ln>
        </p:spPr>
      </p:cxnSp>
      <p:cxnSp>
        <p:nvCxnSpPr>
          <p:cNvPr id="188" name="Connector 187"/>
          <p:cNvCxnSpPr/>
          <p:nvPr/>
        </p:nvCxnSpPr>
        <p:spPr>
          <a:xfrm>
            <a:off x="8865108" y="7338059"/>
            <a:ext cx="0" cy="640080"/>
          </a:xfrm>
          <a:prstGeom prst="line">
            <a:avLst/>
          </a:prstGeom>
          <a:ln w="8255">
            <a:solidFill>
              <a:srgbClr val="D9E2E7"/>
            </a:solidFill>
          </a:ln>
        </p:spPr>
      </p:cxnSp>
      <p:cxnSp>
        <p:nvCxnSpPr>
          <p:cNvPr id="189" name="Connector 188"/>
          <p:cNvCxnSpPr/>
          <p:nvPr/>
        </p:nvCxnSpPr>
        <p:spPr>
          <a:xfrm>
            <a:off x="9628632" y="7338059"/>
            <a:ext cx="0" cy="640080"/>
          </a:xfrm>
          <a:prstGeom prst="line">
            <a:avLst/>
          </a:prstGeom>
          <a:ln w="8255">
            <a:solidFill>
              <a:srgbClr val="D9E2E7"/>
            </a:solidFill>
          </a:ln>
        </p:spPr>
      </p:cxnSp>
      <p:cxnSp>
        <p:nvCxnSpPr>
          <p:cNvPr id="190" name="Connector 189"/>
          <p:cNvCxnSpPr/>
          <p:nvPr/>
        </p:nvCxnSpPr>
        <p:spPr>
          <a:xfrm>
            <a:off x="10392155" y="7338059"/>
            <a:ext cx="0" cy="640080"/>
          </a:xfrm>
          <a:prstGeom prst="line">
            <a:avLst/>
          </a:prstGeom>
          <a:ln w="8255">
            <a:solidFill>
              <a:srgbClr val="D9E2E7"/>
            </a:solidFill>
          </a:ln>
        </p:spPr>
      </p:cxnSp>
      <p:cxnSp>
        <p:nvCxnSpPr>
          <p:cNvPr id="191" name="Connector 190"/>
          <p:cNvCxnSpPr/>
          <p:nvPr/>
        </p:nvCxnSpPr>
        <p:spPr>
          <a:xfrm>
            <a:off x="11155680" y="7338059"/>
            <a:ext cx="0" cy="640080"/>
          </a:xfrm>
          <a:prstGeom prst="line">
            <a:avLst/>
          </a:prstGeom>
          <a:ln w="8255">
            <a:solidFill>
              <a:srgbClr val="D9E2E7"/>
            </a:solidFill>
          </a:ln>
        </p:spPr>
      </p:cxnSp>
      <p:cxnSp>
        <p:nvCxnSpPr>
          <p:cNvPr id="192" name="Connector 191"/>
          <p:cNvCxnSpPr/>
          <p:nvPr/>
        </p:nvCxnSpPr>
        <p:spPr>
          <a:xfrm>
            <a:off x="11919204" y="7338059"/>
            <a:ext cx="0" cy="640080"/>
          </a:xfrm>
          <a:prstGeom prst="line">
            <a:avLst/>
          </a:prstGeom>
          <a:ln w="8255">
            <a:solidFill>
              <a:srgbClr val="D9E2E7"/>
            </a:solidFill>
          </a:ln>
        </p:spPr>
      </p:cxnSp>
      <p:cxnSp>
        <p:nvCxnSpPr>
          <p:cNvPr id="193" name="Connector 192"/>
          <p:cNvCxnSpPr/>
          <p:nvPr/>
        </p:nvCxnSpPr>
        <p:spPr>
          <a:xfrm>
            <a:off x="12682728" y="7338059"/>
            <a:ext cx="0" cy="640080"/>
          </a:xfrm>
          <a:prstGeom prst="line">
            <a:avLst/>
          </a:prstGeom>
          <a:ln w="8255">
            <a:solidFill>
              <a:srgbClr val="D9E2E7"/>
            </a:solidFill>
          </a:ln>
        </p:spPr>
      </p:cxnSp>
      <p:cxnSp>
        <p:nvCxnSpPr>
          <p:cNvPr id="194" name="Connector 193"/>
          <p:cNvCxnSpPr/>
          <p:nvPr/>
        </p:nvCxnSpPr>
        <p:spPr>
          <a:xfrm>
            <a:off x="13446251" y="7338059"/>
            <a:ext cx="0" cy="640080"/>
          </a:xfrm>
          <a:prstGeom prst="line">
            <a:avLst/>
          </a:prstGeom>
          <a:ln w="8255">
            <a:solidFill>
              <a:srgbClr val="D9E2E7"/>
            </a:solidFill>
          </a:ln>
        </p:spPr>
      </p:cxnSp>
      <p:cxnSp>
        <p:nvCxnSpPr>
          <p:cNvPr id="195" name="Connector 194"/>
          <p:cNvCxnSpPr/>
          <p:nvPr/>
        </p:nvCxnSpPr>
        <p:spPr>
          <a:xfrm>
            <a:off x="14209776" y="7338059"/>
            <a:ext cx="0" cy="640080"/>
          </a:xfrm>
          <a:prstGeom prst="line">
            <a:avLst/>
          </a:prstGeom>
          <a:ln w="8255">
            <a:solidFill>
              <a:srgbClr val="D9E2E7"/>
            </a:solidFill>
          </a:ln>
        </p:spPr>
      </p:cxnSp>
      <p:cxnSp>
        <p:nvCxnSpPr>
          <p:cNvPr id="196" name="Connector 195"/>
          <p:cNvCxnSpPr/>
          <p:nvPr/>
        </p:nvCxnSpPr>
        <p:spPr>
          <a:xfrm>
            <a:off x="14973300" y="7338059"/>
            <a:ext cx="0" cy="640080"/>
          </a:xfrm>
          <a:prstGeom prst="line">
            <a:avLst/>
          </a:prstGeom>
          <a:ln w="8255">
            <a:solidFill>
              <a:srgbClr val="D9E2E7"/>
            </a:solidFill>
          </a:ln>
        </p:spPr>
      </p:cxnSp>
      <p:cxnSp>
        <p:nvCxnSpPr>
          <p:cNvPr id="197" name="Connector 196"/>
          <p:cNvCxnSpPr/>
          <p:nvPr/>
        </p:nvCxnSpPr>
        <p:spPr>
          <a:xfrm>
            <a:off x="15736824" y="7338059"/>
            <a:ext cx="0" cy="640080"/>
          </a:xfrm>
          <a:prstGeom prst="line">
            <a:avLst/>
          </a:prstGeom>
          <a:ln w="8255">
            <a:solidFill>
              <a:srgbClr val="D9E2E7"/>
            </a:solidFill>
          </a:ln>
        </p:spPr>
      </p:cxnSp>
      <p:cxnSp>
        <p:nvCxnSpPr>
          <p:cNvPr id="198" name="Connector 197"/>
          <p:cNvCxnSpPr/>
          <p:nvPr/>
        </p:nvCxnSpPr>
        <p:spPr>
          <a:xfrm>
            <a:off x="16500347" y="7338059"/>
            <a:ext cx="0" cy="640080"/>
          </a:xfrm>
          <a:prstGeom prst="line">
            <a:avLst/>
          </a:prstGeom>
          <a:ln w="8255">
            <a:solidFill>
              <a:srgbClr val="D9E2E7"/>
            </a:solidFill>
          </a:ln>
        </p:spPr>
      </p:cxnSp>
      <p:cxnSp>
        <p:nvCxnSpPr>
          <p:cNvPr id="199" name="Connector 198"/>
          <p:cNvCxnSpPr/>
          <p:nvPr/>
        </p:nvCxnSpPr>
        <p:spPr>
          <a:xfrm>
            <a:off x="17263872" y="7338059"/>
            <a:ext cx="0" cy="640080"/>
          </a:xfrm>
          <a:prstGeom prst="line">
            <a:avLst/>
          </a:prstGeom>
          <a:ln w="8255">
            <a:solidFill>
              <a:srgbClr val="D9E2E7"/>
            </a:solidFill>
          </a:ln>
        </p:spPr>
      </p:cxnSp>
      <p:sp>
        <p:nvSpPr>
          <p:cNvPr id="200" name="Rectangle 199"/>
          <p:cNvSpPr/>
          <p:nvPr/>
        </p:nvSpPr>
        <p:spPr>
          <a:xfrm>
            <a:off x="8165592" y="7620609"/>
            <a:ext cx="9034272" cy="36576"/>
          </a:xfrm>
          <a:prstGeom prst="rect">
            <a:avLst/>
          </a:prstGeom>
          <a:solidFill>
            <a:srgbClr val="002C49"/>
          </a:solidFill>
          <a:ln>
            <a:noFill/>
          </a:ln>
        </p:spPr>
        <p:txBody>
          <a:bodyPr rtlCol="0" anchor="ctr"/>
          <a:lstStyle/>
          <a:p>
            <a:pPr algn="ctr"/>
          </a:p>
        </p:txBody>
      </p:sp>
      <p:sp>
        <p:nvSpPr>
          <p:cNvPr id="201" name="TextBox 200"/>
          <p:cNvSpPr txBox="1"/>
          <p:nvPr/>
        </p:nvSpPr>
        <p:spPr>
          <a:xfrm>
            <a:off x="905256" y="8097012"/>
            <a:ext cx="1207008" cy="274320"/>
          </a:xfrm>
          <a:prstGeom prst="rect">
            <a:avLst/>
          </a:prstGeom>
          <a:noFill/>
        </p:spPr>
        <p:txBody>
          <a:bodyPr wrap="square" lIns="0" rIns="0" tIns="0" bIns="0">
            <a:spAutoFit/>
          </a:bodyPr>
          <a:lstStyle/>
          <a:p>
            <a:pPr>
              <a:lnSpc>
                <a:spcPts val="1722"/>
              </a:lnSpc>
              <a:spcBef>
                <a:spcPts val="0"/>
              </a:spcBef>
              <a:spcAft>
                <a:spcPts val="0"/>
              </a:spcAft>
              <a:defRPr sz="1400" b="1">
                <a:solidFill>
                  <a:srgbClr val="FF6633"/>
                </a:solidFill>
                <a:latin typeface="Montserrat"/>
              </a:defRPr>
            </a:pPr>
          </a:p>
        </p:txBody>
      </p:sp>
      <p:sp>
        <p:nvSpPr>
          <p:cNvPr id="202" name="TextBox 201"/>
          <p:cNvSpPr txBox="1"/>
          <p:nvPr/>
        </p:nvSpPr>
        <p:spPr>
          <a:xfrm>
            <a:off x="2157984" y="8042148"/>
            <a:ext cx="5687568" cy="640080"/>
          </a:xfrm>
          <a:prstGeom prst="rect">
            <a:avLst/>
          </a:prstGeom>
          <a:noFill/>
        </p:spPr>
        <p:txBody>
          <a:bodyPr wrap="square" lIns="0" rIns="0" tIns="0" bIns="0">
            <a:spAutoFit/>
          </a:bodyPr>
          <a:lstStyle/>
          <a:p>
            <a:pPr>
              <a:lnSpc>
                <a:spcPts val="2350"/>
              </a:lnSpc>
              <a:spcBef>
                <a:spcPts val="0"/>
              </a:spcBef>
              <a:spcAft>
                <a:spcPts val="0"/>
              </a:spcAft>
              <a:defRPr sz="2400" b="0">
                <a:solidFill>
                  <a:srgbClr val="002C49"/>
                </a:solidFill>
                <a:latin typeface="Montserrat"/>
              </a:defRPr>
            </a:pPr>
            <a:r>
              <a:t>GPTW / CARE • en cours</a:t>
            </a:r>
          </a:p>
        </p:txBody>
      </p:sp>
      <p:cxnSp>
        <p:nvCxnSpPr>
          <p:cNvPr id="203" name="Connector 202"/>
          <p:cNvCxnSpPr/>
          <p:nvPr/>
        </p:nvCxnSpPr>
        <p:spPr>
          <a:xfrm>
            <a:off x="8101583" y="7978140"/>
            <a:ext cx="0" cy="640079"/>
          </a:xfrm>
          <a:prstGeom prst="line">
            <a:avLst/>
          </a:prstGeom>
          <a:ln w="8255">
            <a:solidFill>
              <a:srgbClr val="D9E2E7"/>
            </a:solidFill>
          </a:ln>
        </p:spPr>
      </p:cxnSp>
      <p:cxnSp>
        <p:nvCxnSpPr>
          <p:cNvPr id="204" name="Connector 203"/>
          <p:cNvCxnSpPr/>
          <p:nvPr/>
        </p:nvCxnSpPr>
        <p:spPr>
          <a:xfrm>
            <a:off x="8865108" y="7978140"/>
            <a:ext cx="0" cy="640079"/>
          </a:xfrm>
          <a:prstGeom prst="line">
            <a:avLst/>
          </a:prstGeom>
          <a:ln w="8255">
            <a:solidFill>
              <a:srgbClr val="D9E2E7"/>
            </a:solidFill>
          </a:ln>
        </p:spPr>
      </p:cxnSp>
      <p:cxnSp>
        <p:nvCxnSpPr>
          <p:cNvPr id="205" name="Connector 204"/>
          <p:cNvCxnSpPr/>
          <p:nvPr/>
        </p:nvCxnSpPr>
        <p:spPr>
          <a:xfrm>
            <a:off x="9628632" y="7978140"/>
            <a:ext cx="0" cy="640079"/>
          </a:xfrm>
          <a:prstGeom prst="line">
            <a:avLst/>
          </a:prstGeom>
          <a:ln w="8255">
            <a:solidFill>
              <a:srgbClr val="D9E2E7"/>
            </a:solidFill>
          </a:ln>
        </p:spPr>
      </p:cxnSp>
      <p:cxnSp>
        <p:nvCxnSpPr>
          <p:cNvPr id="206" name="Connector 205"/>
          <p:cNvCxnSpPr/>
          <p:nvPr/>
        </p:nvCxnSpPr>
        <p:spPr>
          <a:xfrm>
            <a:off x="10392155" y="7978140"/>
            <a:ext cx="0" cy="640079"/>
          </a:xfrm>
          <a:prstGeom prst="line">
            <a:avLst/>
          </a:prstGeom>
          <a:ln w="8255">
            <a:solidFill>
              <a:srgbClr val="D9E2E7"/>
            </a:solidFill>
          </a:ln>
        </p:spPr>
      </p:cxnSp>
      <p:cxnSp>
        <p:nvCxnSpPr>
          <p:cNvPr id="207" name="Connector 206"/>
          <p:cNvCxnSpPr/>
          <p:nvPr/>
        </p:nvCxnSpPr>
        <p:spPr>
          <a:xfrm>
            <a:off x="11155680" y="7978140"/>
            <a:ext cx="0" cy="640079"/>
          </a:xfrm>
          <a:prstGeom prst="line">
            <a:avLst/>
          </a:prstGeom>
          <a:ln w="8255">
            <a:solidFill>
              <a:srgbClr val="D9E2E7"/>
            </a:solidFill>
          </a:ln>
        </p:spPr>
      </p:cxnSp>
      <p:cxnSp>
        <p:nvCxnSpPr>
          <p:cNvPr id="208" name="Connector 207"/>
          <p:cNvCxnSpPr/>
          <p:nvPr/>
        </p:nvCxnSpPr>
        <p:spPr>
          <a:xfrm>
            <a:off x="11919204" y="7978140"/>
            <a:ext cx="0" cy="640079"/>
          </a:xfrm>
          <a:prstGeom prst="line">
            <a:avLst/>
          </a:prstGeom>
          <a:ln w="8255">
            <a:solidFill>
              <a:srgbClr val="D9E2E7"/>
            </a:solidFill>
          </a:ln>
        </p:spPr>
      </p:cxnSp>
      <p:cxnSp>
        <p:nvCxnSpPr>
          <p:cNvPr id="209" name="Connector 208"/>
          <p:cNvCxnSpPr/>
          <p:nvPr/>
        </p:nvCxnSpPr>
        <p:spPr>
          <a:xfrm>
            <a:off x="12682728" y="7978140"/>
            <a:ext cx="0" cy="640079"/>
          </a:xfrm>
          <a:prstGeom prst="line">
            <a:avLst/>
          </a:prstGeom>
          <a:ln w="8255">
            <a:solidFill>
              <a:srgbClr val="D9E2E7"/>
            </a:solidFill>
          </a:ln>
        </p:spPr>
      </p:cxnSp>
      <p:cxnSp>
        <p:nvCxnSpPr>
          <p:cNvPr id="210" name="Connector 209"/>
          <p:cNvCxnSpPr/>
          <p:nvPr/>
        </p:nvCxnSpPr>
        <p:spPr>
          <a:xfrm>
            <a:off x="13446251" y="7978140"/>
            <a:ext cx="0" cy="640079"/>
          </a:xfrm>
          <a:prstGeom prst="line">
            <a:avLst/>
          </a:prstGeom>
          <a:ln w="8255">
            <a:solidFill>
              <a:srgbClr val="D9E2E7"/>
            </a:solidFill>
          </a:ln>
        </p:spPr>
      </p:cxnSp>
      <p:cxnSp>
        <p:nvCxnSpPr>
          <p:cNvPr id="211" name="Connector 210"/>
          <p:cNvCxnSpPr/>
          <p:nvPr/>
        </p:nvCxnSpPr>
        <p:spPr>
          <a:xfrm>
            <a:off x="14209776" y="7978140"/>
            <a:ext cx="0" cy="640079"/>
          </a:xfrm>
          <a:prstGeom prst="line">
            <a:avLst/>
          </a:prstGeom>
          <a:ln w="8255">
            <a:solidFill>
              <a:srgbClr val="D9E2E7"/>
            </a:solidFill>
          </a:ln>
        </p:spPr>
      </p:cxnSp>
      <p:cxnSp>
        <p:nvCxnSpPr>
          <p:cNvPr id="212" name="Connector 211"/>
          <p:cNvCxnSpPr/>
          <p:nvPr/>
        </p:nvCxnSpPr>
        <p:spPr>
          <a:xfrm>
            <a:off x="14973300" y="7978140"/>
            <a:ext cx="0" cy="640079"/>
          </a:xfrm>
          <a:prstGeom prst="line">
            <a:avLst/>
          </a:prstGeom>
          <a:ln w="8255">
            <a:solidFill>
              <a:srgbClr val="D9E2E7"/>
            </a:solidFill>
          </a:ln>
        </p:spPr>
      </p:cxnSp>
      <p:cxnSp>
        <p:nvCxnSpPr>
          <p:cNvPr id="213" name="Connector 212"/>
          <p:cNvCxnSpPr/>
          <p:nvPr/>
        </p:nvCxnSpPr>
        <p:spPr>
          <a:xfrm>
            <a:off x="15736824" y="7978140"/>
            <a:ext cx="0" cy="640079"/>
          </a:xfrm>
          <a:prstGeom prst="line">
            <a:avLst/>
          </a:prstGeom>
          <a:ln w="8255">
            <a:solidFill>
              <a:srgbClr val="D9E2E7"/>
            </a:solidFill>
          </a:ln>
        </p:spPr>
      </p:cxnSp>
      <p:cxnSp>
        <p:nvCxnSpPr>
          <p:cNvPr id="214" name="Connector 213"/>
          <p:cNvCxnSpPr/>
          <p:nvPr/>
        </p:nvCxnSpPr>
        <p:spPr>
          <a:xfrm>
            <a:off x="16500347" y="7978140"/>
            <a:ext cx="0" cy="640079"/>
          </a:xfrm>
          <a:prstGeom prst="line">
            <a:avLst/>
          </a:prstGeom>
          <a:ln w="8255">
            <a:solidFill>
              <a:srgbClr val="D9E2E7"/>
            </a:solidFill>
          </a:ln>
        </p:spPr>
      </p:cxnSp>
      <p:cxnSp>
        <p:nvCxnSpPr>
          <p:cNvPr id="215" name="Connector 214"/>
          <p:cNvCxnSpPr/>
          <p:nvPr/>
        </p:nvCxnSpPr>
        <p:spPr>
          <a:xfrm>
            <a:off x="17263872" y="7978140"/>
            <a:ext cx="0" cy="640079"/>
          </a:xfrm>
          <a:prstGeom prst="line">
            <a:avLst/>
          </a:prstGeom>
          <a:ln w="8255">
            <a:solidFill>
              <a:srgbClr val="D9E2E7"/>
            </a:solidFill>
          </a:ln>
        </p:spPr>
      </p:cxnSp>
      <p:sp>
        <p:nvSpPr>
          <p:cNvPr id="216" name="Rectangle 215"/>
          <p:cNvSpPr/>
          <p:nvPr/>
        </p:nvSpPr>
        <p:spPr>
          <a:xfrm>
            <a:off x="8165592" y="8268004"/>
            <a:ext cx="155448" cy="21945"/>
          </a:xfrm>
          <a:prstGeom prst="rect">
            <a:avLst/>
          </a:prstGeom>
          <a:solidFill>
            <a:srgbClr val="9DB0BD"/>
          </a:solidFill>
          <a:ln>
            <a:noFill/>
          </a:ln>
        </p:spPr>
        <p:txBody>
          <a:bodyPr rtlCol="0" anchor="ctr"/>
          <a:lstStyle/>
          <a:p>
            <a:pPr algn="ctr"/>
          </a:p>
        </p:txBody>
      </p:sp>
      <p:sp>
        <p:nvSpPr>
          <p:cNvPr id="217" name="Rectangle 216"/>
          <p:cNvSpPr/>
          <p:nvPr/>
        </p:nvSpPr>
        <p:spPr>
          <a:xfrm>
            <a:off x="8464600" y="8268004"/>
            <a:ext cx="155448" cy="21945"/>
          </a:xfrm>
          <a:prstGeom prst="rect">
            <a:avLst/>
          </a:prstGeom>
          <a:solidFill>
            <a:srgbClr val="9DB0BD"/>
          </a:solidFill>
          <a:ln>
            <a:noFill/>
          </a:ln>
        </p:spPr>
        <p:txBody>
          <a:bodyPr rtlCol="0" anchor="ctr"/>
          <a:lstStyle/>
          <a:p>
            <a:pPr algn="ctr"/>
          </a:p>
        </p:txBody>
      </p:sp>
      <p:sp>
        <p:nvSpPr>
          <p:cNvPr id="218" name="Rectangle 217"/>
          <p:cNvSpPr/>
          <p:nvPr/>
        </p:nvSpPr>
        <p:spPr>
          <a:xfrm>
            <a:off x="8763609" y="8268004"/>
            <a:ext cx="155448" cy="21945"/>
          </a:xfrm>
          <a:prstGeom prst="rect">
            <a:avLst/>
          </a:prstGeom>
          <a:solidFill>
            <a:srgbClr val="9DB0BD"/>
          </a:solidFill>
          <a:ln>
            <a:noFill/>
          </a:ln>
        </p:spPr>
        <p:txBody>
          <a:bodyPr rtlCol="0" anchor="ctr"/>
          <a:lstStyle/>
          <a:p>
            <a:pPr algn="ctr"/>
          </a:p>
        </p:txBody>
      </p:sp>
      <p:sp>
        <p:nvSpPr>
          <p:cNvPr id="219" name="Rectangle 218"/>
          <p:cNvSpPr/>
          <p:nvPr/>
        </p:nvSpPr>
        <p:spPr>
          <a:xfrm>
            <a:off x="9062618" y="8268004"/>
            <a:ext cx="155448" cy="21945"/>
          </a:xfrm>
          <a:prstGeom prst="rect">
            <a:avLst/>
          </a:prstGeom>
          <a:solidFill>
            <a:srgbClr val="9DB0BD"/>
          </a:solidFill>
          <a:ln>
            <a:noFill/>
          </a:ln>
        </p:spPr>
        <p:txBody>
          <a:bodyPr rtlCol="0" anchor="ctr"/>
          <a:lstStyle/>
          <a:p>
            <a:pPr algn="ctr"/>
          </a:p>
        </p:txBody>
      </p:sp>
      <p:sp>
        <p:nvSpPr>
          <p:cNvPr id="220" name="Rectangle 219"/>
          <p:cNvSpPr/>
          <p:nvPr/>
        </p:nvSpPr>
        <p:spPr>
          <a:xfrm>
            <a:off x="9361627" y="8268004"/>
            <a:ext cx="155448" cy="21945"/>
          </a:xfrm>
          <a:prstGeom prst="rect">
            <a:avLst/>
          </a:prstGeom>
          <a:solidFill>
            <a:srgbClr val="9DB0BD"/>
          </a:solidFill>
          <a:ln>
            <a:noFill/>
          </a:ln>
        </p:spPr>
        <p:txBody>
          <a:bodyPr rtlCol="0" anchor="ctr"/>
          <a:lstStyle/>
          <a:p>
            <a:pPr algn="ctr"/>
          </a:p>
        </p:txBody>
      </p:sp>
      <p:sp>
        <p:nvSpPr>
          <p:cNvPr id="221" name="Rectangle 220"/>
          <p:cNvSpPr/>
          <p:nvPr/>
        </p:nvSpPr>
        <p:spPr>
          <a:xfrm>
            <a:off x="9660636" y="8268004"/>
            <a:ext cx="155448" cy="21945"/>
          </a:xfrm>
          <a:prstGeom prst="rect">
            <a:avLst/>
          </a:prstGeom>
          <a:solidFill>
            <a:srgbClr val="9DB0BD"/>
          </a:solidFill>
          <a:ln>
            <a:noFill/>
          </a:ln>
        </p:spPr>
        <p:txBody>
          <a:bodyPr rtlCol="0" anchor="ctr"/>
          <a:lstStyle/>
          <a:p>
            <a:pPr algn="ctr"/>
          </a:p>
        </p:txBody>
      </p:sp>
      <p:sp>
        <p:nvSpPr>
          <p:cNvPr id="222" name="Rectangle 221"/>
          <p:cNvSpPr/>
          <p:nvPr/>
        </p:nvSpPr>
        <p:spPr>
          <a:xfrm>
            <a:off x="9959644" y="8268004"/>
            <a:ext cx="155448" cy="21945"/>
          </a:xfrm>
          <a:prstGeom prst="rect">
            <a:avLst/>
          </a:prstGeom>
          <a:solidFill>
            <a:srgbClr val="9DB0BD"/>
          </a:solidFill>
          <a:ln>
            <a:noFill/>
          </a:ln>
        </p:spPr>
        <p:txBody>
          <a:bodyPr rtlCol="0" anchor="ctr"/>
          <a:lstStyle/>
          <a:p>
            <a:pPr algn="ctr"/>
          </a:p>
        </p:txBody>
      </p:sp>
      <p:sp>
        <p:nvSpPr>
          <p:cNvPr id="223" name="Rectangle 222"/>
          <p:cNvSpPr/>
          <p:nvPr/>
        </p:nvSpPr>
        <p:spPr>
          <a:xfrm>
            <a:off x="10258653" y="8268004"/>
            <a:ext cx="155448" cy="21945"/>
          </a:xfrm>
          <a:prstGeom prst="rect">
            <a:avLst/>
          </a:prstGeom>
          <a:solidFill>
            <a:srgbClr val="9DB0BD"/>
          </a:solidFill>
          <a:ln>
            <a:noFill/>
          </a:ln>
        </p:spPr>
        <p:txBody>
          <a:bodyPr rtlCol="0" anchor="ctr"/>
          <a:lstStyle/>
          <a:p>
            <a:pPr algn="ctr"/>
          </a:p>
        </p:txBody>
      </p:sp>
      <p:sp>
        <p:nvSpPr>
          <p:cNvPr id="224" name="Rectangle 223"/>
          <p:cNvSpPr/>
          <p:nvPr/>
        </p:nvSpPr>
        <p:spPr>
          <a:xfrm>
            <a:off x="10557662" y="8268004"/>
            <a:ext cx="155448" cy="21945"/>
          </a:xfrm>
          <a:prstGeom prst="rect">
            <a:avLst/>
          </a:prstGeom>
          <a:solidFill>
            <a:srgbClr val="9DB0BD"/>
          </a:solidFill>
          <a:ln>
            <a:noFill/>
          </a:ln>
        </p:spPr>
        <p:txBody>
          <a:bodyPr rtlCol="0" anchor="ctr"/>
          <a:lstStyle/>
          <a:p>
            <a:pPr algn="ctr"/>
          </a:p>
        </p:txBody>
      </p:sp>
      <p:sp>
        <p:nvSpPr>
          <p:cNvPr id="225" name="Rectangle 224"/>
          <p:cNvSpPr/>
          <p:nvPr/>
        </p:nvSpPr>
        <p:spPr>
          <a:xfrm>
            <a:off x="10856671" y="8268004"/>
            <a:ext cx="155448" cy="21945"/>
          </a:xfrm>
          <a:prstGeom prst="rect">
            <a:avLst/>
          </a:prstGeom>
          <a:solidFill>
            <a:srgbClr val="9DB0BD"/>
          </a:solidFill>
          <a:ln>
            <a:noFill/>
          </a:ln>
        </p:spPr>
        <p:txBody>
          <a:bodyPr rtlCol="0" anchor="ctr"/>
          <a:lstStyle/>
          <a:p>
            <a:pPr algn="ctr"/>
          </a:p>
        </p:txBody>
      </p:sp>
      <p:sp>
        <p:nvSpPr>
          <p:cNvPr id="226" name="Rectangle 225"/>
          <p:cNvSpPr/>
          <p:nvPr/>
        </p:nvSpPr>
        <p:spPr>
          <a:xfrm>
            <a:off x="11155680" y="8268004"/>
            <a:ext cx="155448" cy="21945"/>
          </a:xfrm>
          <a:prstGeom prst="rect">
            <a:avLst/>
          </a:prstGeom>
          <a:solidFill>
            <a:srgbClr val="9DB0BD"/>
          </a:solidFill>
          <a:ln>
            <a:noFill/>
          </a:ln>
        </p:spPr>
        <p:txBody>
          <a:bodyPr rtlCol="0" anchor="ctr"/>
          <a:lstStyle/>
          <a:p>
            <a:pPr algn="ctr"/>
          </a:p>
        </p:txBody>
      </p:sp>
      <p:sp>
        <p:nvSpPr>
          <p:cNvPr id="227" name="Rectangle 226"/>
          <p:cNvSpPr/>
          <p:nvPr/>
        </p:nvSpPr>
        <p:spPr>
          <a:xfrm>
            <a:off x="11454688" y="8268004"/>
            <a:ext cx="155448" cy="21945"/>
          </a:xfrm>
          <a:prstGeom prst="rect">
            <a:avLst/>
          </a:prstGeom>
          <a:solidFill>
            <a:srgbClr val="9DB0BD"/>
          </a:solidFill>
          <a:ln>
            <a:noFill/>
          </a:ln>
        </p:spPr>
        <p:txBody>
          <a:bodyPr rtlCol="0" anchor="ctr"/>
          <a:lstStyle/>
          <a:p>
            <a:pPr algn="ctr"/>
          </a:p>
        </p:txBody>
      </p:sp>
      <p:sp>
        <p:nvSpPr>
          <p:cNvPr id="228" name="Rectangle 227"/>
          <p:cNvSpPr/>
          <p:nvPr/>
        </p:nvSpPr>
        <p:spPr>
          <a:xfrm>
            <a:off x="11753697" y="8268004"/>
            <a:ext cx="155448" cy="21945"/>
          </a:xfrm>
          <a:prstGeom prst="rect">
            <a:avLst/>
          </a:prstGeom>
          <a:solidFill>
            <a:srgbClr val="9DB0BD"/>
          </a:solidFill>
          <a:ln>
            <a:noFill/>
          </a:ln>
        </p:spPr>
        <p:txBody>
          <a:bodyPr rtlCol="0" anchor="ctr"/>
          <a:lstStyle/>
          <a:p>
            <a:pPr algn="ctr"/>
          </a:p>
        </p:txBody>
      </p:sp>
      <p:sp>
        <p:nvSpPr>
          <p:cNvPr id="229" name="Rectangle 228"/>
          <p:cNvSpPr/>
          <p:nvPr/>
        </p:nvSpPr>
        <p:spPr>
          <a:xfrm>
            <a:off x="12052706" y="8268004"/>
            <a:ext cx="155448" cy="21945"/>
          </a:xfrm>
          <a:prstGeom prst="rect">
            <a:avLst/>
          </a:prstGeom>
          <a:solidFill>
            <a:srgbClr val="9DB0BD"/>
          </a:solidFill>
          <a:ln>
            <a:noFill/>
          </a:ln>
        </p:spPr>
        <p:txBody>
          <a:bodyPr rtlCol="0" anchor="ctr"/>
          <a:lstStyle/>
          <a:p>
            <a:pPr algn="ctr"/>
          </a:p>
        </p:txBody>
      </p:sp>
      <p:sp>
        <p:nvSpPr>
          <p:cNvPr id="230" name="Rectangle 229"/>
          <p:cNvSpPr/>
          <p:nvPr/>
        </p:nvSpPr>
        <p:spPr>
          <a:xfrm>
            <a:off x="12351715" y="8268004"/>
            <a:ext cx="155448" cy="21945"/>
          </a:xfrm>
          <a:prstGeom prst="rect">
            <a:avLst/>
          </a:prstGeom>
          <a:solidFill>
            <a:srgbClr val="9DB0BD"/>
          </a:solidFill>
          <a:ln>
            <a:noFill/>
          </a:ln>
        </p:spPr>
        <p:txBody>
          <a:bodyPr rtlCol="0" anchor="ctr"/>
          <a:lstStyle/>
          <a:p>
            <a:pPr algn="ctr"/>
          </a:p>
        </p:txBody>
      </p:sp>
      <p:sp>
        <p:nvSpPr>
          <p:cNvPr id="231" name="Rectangle 230"/>
          <p:cNvSpPr/>
          <p:nvPr/>
        </p:nvSpPr>
        <p:spPr>
          <a:xfrm>
            <a:off x="12650724" y="8268004"/>
            <a:ext cx="155448" cy="21945"/>
          </a:xfrm>
          <a:prstGeom prst="rect">
            <a:avLst/>
          </a:prstGeom>
          <a:solidFill>
            <a:srgbClr val="9DB0BD"/>
          </a:solidFill>
          <a:ln>
            <a:noFill/>
          </a:ln>
        </p:spPr>
        <p:txBody>
          <a:bodyPr rtlCol="0" anchor="ctr"/>
          <a:lstStyle/>
          <a:p>
            <a:pPr algn="ctr"/>
          </a:p>
        </p:txBody>
      </p:sp>
      <p:sp>
        <p:nvSpPr>
          <p:cNvPr id="232" name="Rectangle 231"/>
          <p:cNvSpPr/>
          <p:nvPr/>
        </p:nvSpPr>
        <p:spPr>
          <a:xfrm>
            <a:off x="12949732" y="8268004"/>
            <a:ext cx="155448" cy="21945"/>
          </a:xfrm>
          <a:prstGeom prst="rect">
            <a:avLst/>
          </a:prstGeom>
          <a:solidFill>
            <a:srgbClr val="9DB0BD"/>
          </a:solidFill>
          <a:ln>
            <a:noFill/>
          </a:ln>
        </p:spPr>
        <p:txBody>
          <a:bodyPr rtlCol="0" anchor="ctr"/>
          <a:lstStyle/>
          <a:p>
            <a:pPr algn="ctr"/>
          </a:p>
        </p:txBody>
      </p:sp>
      <p:sp>
        <p:nvSpPr>
          <p:cNvPr id="233" name="Rectangle 232"/>
          <p:cNvSpPr/>
          <p:nvPr/>
        </p:nvSpPr>
        <p:spPr>
          <a:xfrm>
            <a:off x="13248741" y="8268004"/>
            <a:ext cx="155448" cy="21945"/>
          </a:xfrm>
          <a:prstGeom prst="rect">
            <a:avLst/>
          </a:prstGeom>
          <a:solidFill>
            <a:srgbClr val="9DB0BD"/>
          </a:solidFill>
          <a:ln>
            <a:noFill/>
          </a:ln>
        </p:spPr>
        <p:txBody>
          <a:bodyPr rtlCol="0" anchor="ctr"/>
          <a:lstStyle/>
          <a:p>
            <a:pPr algn="ctr"/>
          </a:p>
        </p:txBody>
      </p:sp>
      <p:sp>
        <p:nvSpPr>
          <p:cNvPr id="234" name="Rectangle 233"/>
          <p:cNvSpPr/>
          <p:nvPr/>
        </p:nvSpPr>
        <p:spPr>
          <a:xfrm>
            <a:off x="13547750" y="8268004"/>
            <a:ext cx="155448" cy="21945"/>
          </a:xfrm>
          <a:prstGeom prst="rect">
            <a:avLst/>
          </a:prstGeom>
          <a:solidFill>
            <a:srgbClr val="9DB0BD"/>
          </a:solidFill>
          <a:ln>
            <a:noFill/>
          </a:ln>
        </p:spPr>
        <p:txBody>
          <a:bodyPr rtlCol="0" anchor="ctr"/>
          <a:lstStyle/>
          <a:p>
            <a:pPr algn="ctr"/>
          </a:p>
        </p:txBody>
      </p:sp>
      <p:sp>
        <p:nvSpPr>
          <p:cNvPr id="235" name="Rectangle 234"/>
          <p:cNvSpPr/>
          <p:nvPr/>
        </p:nvSpPr>
        <p:spPr>
          <a:xfrm>
            <a:off x="13846759" y="8268004"/>
            <a:ext cx="155448" cy="21945"/>
          </a:xfrm>
          <a:prstGeom prst="rect">
            <a:avLst/>
          </a:prstGeom>
          <a:solidFill>
            <a:srgbClr val="9DB0BD"/>
          </a:solidFill>
          <a:ln>
            <a:noFill/>
          </a:ln>
        </p:spPr>
        <p:txBody>
          <a:bodyPr rtlCol="0" anchor="ctr"/>
          <a:lstStyle/>
          <a:p>
            <a:pPr algn="ctr"/>
          </a:p>
        </p:txBody>
      </p:sp>
      <p:sp>
        <p:nvSpPr>
          <p:cNvPr id="236" name="Rectangle 235"/>
          <p:cNvSpPr/>
          <p:nvPr/>
        </p:nvSpPr>
        <p:spPr>
          <a:xfrm>
            <a:off x="14145767" y="8268004"/>
            <a:ext cx="155448" cy="21945"/>
          </a:xfrm>
          <a:prstGeom prst="rect">
            <a:avLst/>
          </a:prstGeom>
          <a:solidFill>
            <a:srgbClr val="9DB0BD"/>
          </a:solidFill>
          <a:ln>
            <a:noFill/>
          </a:ln>
        </p:spPr>
        <p:txBody>
          <a:bodyPr rtlCol="0" anchor="ctr"/>
          <a:lstStyle/>
          <a:p>
            <a:pPr algn="ctr"/>
          </a:p>
        </p:txBody>
      </p:sp>
      <p:sp>
        <p:nvSpPr>
          <p:cNvPr id="237" name="Rectangle 236"/>
          <p:cNvSpPr/>
          <p:nvPr/>
        </p:nvSpPr>
        <p:spPr>
          <a:xfrm>
            <a:off x="14444776" y="8268004"/>
            <a:ext cx="155448" cy="21945"/>
          </a:xfrm>
          <a:prstGeom prst="rect">
            <a:avLst/>
          </a:prstGeom>
          <a:solidFill>
            <a:srgbClr val="9DB0BD"/>
          </a:solidFill>
          <a:ln>
            <a:noFill/>
          </a:ln>
        </p:spPr>
        <p:txBody>
          <a:bodyPr rtlCol="0" anchor="ctr"/>
          <a:lstStyle/>
          <a:p>
            <a:pPr algn="ctr"/>
          </a:p>
        </p:txBody>
      </p:sp>
      <p:sp>
        <p:nvSpPr>
          <p:cNvPr id="238" name="Rectangle 237"/>
          <p:cNvSpPr/>
          <p:nvPr/>
        </p:nvSpPr>
        <p:spPr>
          <a:xfrm>
            <a:off x="14743785" y="8268004"/>
            <a:ext cx="155448" cy="21945"/>
          </a:xfrm>
          <a:prstGeom prst="rect">
            <a:avLst/>
          </a:prstGeom>
          <a:solidFill>
            <a:srgbClr val="9DB0BD"/>
          </a:solidFill>
          <a:ln>
            <a:noFill/>
          </a:ln>
        </p:spPr>
        <p:txBody>
          <a:bodyPr rtlCol="0" anchor="ctr"/>
          <a:lstStyle/>
          <a:p>
            <a:pPr algn="ctr"/>
          </a:p>
        </p:txBody>
      </p:sp>
      <p:sp>
        <p:nvSpPr>
          <p:cNvPr id="239" name="Rectangle 238"/>
          <p:cNvSpPr/>
          <p:nvPr/>
        </p:nvSpPr>
        <p:spPr>
          <a:xfrm>
            <a:off x="15042794" y="8268004"/>
            <a:ext cx="155448" cy="21945"/>
          </a:xfrm>
          <a:prstGeom prst="rect">
            <a:avLst/>
          </a:prstGeom>
          <a:solidFill>
            <a:srgbClr val="9DB0BD"/>
          </a:solidFill>
          <a:ln>
            <a:noFill/>
          </a:ln>
        </p:spPr>
        <p:txBody>
          <a:bodyPr rtlCol="0" anchor="ctr"/>
          <a:lstStyle/>
          <a:p>
            <a:pPr algn="ctr"/>
          </a:p>
        </p:txBody>
      </p:sp>
      <p:sp>
        <p:nvSpPr>
          <p:cNvPr id="240" name="Rectangle 239"/>
          <p:cNvSpPr/>
          <p:nvPr/>
        </p:nvSpPr>
        <p:spPr>
          <a:xfrm>
            <a:off x="15341803" y="8268004"/>
            <a:ext cx="155448" cy="21945"/>
          </a:xfrm>
          <a:prstGeom prst="rect">
            <a:avLst/>
          </a:prstGeom>
          <a:solidFill>
            <a:srgbClr val="9DB0BD"/>
          </a:solidFill>
          <a:ln>
            <a:noFill/>
          </a:ln>
        </p:spPr>
        <p:txBody>
          <a:bodyPr rtlCol="0" anchor="ctr"/>
          <a:lstStyle/>
          <a:p>
            <a:pPr algn="ctr"/>
          </a:p>
        </p:txBody>
      </p:sp>
      <p:sp>
        <p:nvSpPr>
          <p:cNvPr id="241" name="Rectangle 240"/>
          <p:cNvSpPr/>
          <p:nvPr/>
        </p:nvSpPr>
        <p:spPr>
          <a:xfrm>
            <a:off x="15640812" y="8268004"/>
            <a:ext cx="155448" cy="21945"/>
          </a:xfrm>
          <a:prstGeom prst="rect">
            <a:avLst/>
          </a:prstGeom>
          <a:solidFill>
            <a:srgbClr val="9DB0BD"/>
          </a:solidFill>
          <a:ln>
            <a:noFill/>
          </a:ln>
        </p:spPr>
        <p:txBody>
          <a:bodyPr rtlCol="0" anchor="ctr"/>
          <a:lstStyle/>
          <a:p>
            <a:pPr algn="ctr"/>
          </a:p>
        </p:txBody>
      </p:sp>
      <p:sp>
        <p:nvSpPr>
          <p:cNvPr id="242" name="Rectangle 241"/>
          <p:cNvSpPr/>
          <p:nvPr/>
        </p:nvSpPr>
        <p:spPr>
          <a:xfrm>
            <a:off x="15939820" y="8268004"/>
            <a:ext cx="155448" cy="21945"/>
          </a:xfrm>
          <a:prstGeom prst="rect">
            <a:avLst/>
          </a:prstGeom>
          <a:solidFill>
            <a:srgbClr val="9DB0BD"/>
          </a:solidFill>
          <a:ln>
            <a:noFill/>
          </a:ln>
        </p:spPr>
        <p:txBody>
          <a:bodyPr rtlCol="0" anchor="ctr"/>
          <a:lstStyle/>
          <a:p>
            <a:pPr algn="ctr"/>
          </a:p>
        </p:txBody>
      </p:sp>
      <p:sp>
        <p:nvSpPr>
          <p:cNvPr id="243" name="Rectangle 242"/>
          <p:cNvSpPr/>
          <p:nvPr/>
        </p:nvSpPr>
        <p:spPr>
          <a:xfrm>
            <a:off x="16238829" y="8268004"/>
            <a:ext cx="155448" cy="21945"/>
          </a:xfrm>
          <a:prstGeom prst="rect">
            <a:avLst/>
          </a:prstGeom>
          <a:solidFill>
            <a:srgbClr val="9DB0BD"/>
          </a:solidFill>
          <a:ln>
            <a:noFill/>
          </a:ln>
        </p:spPr>
        <p:txBody>
          <a:bodyPr rtlCol="0" anchor="ctr"/>
          <a:lstStyle/>
          <a:p>
            <a:pPr algn="ctr"/>
          </a:p>
        </p:txBody>
      </p:sp>
      <p:sp>
        <p:nvSpPr>
          <p:cNvPr id="244" name="Rectangle 243"/>
          <p:cNvSpPr/>
          <p:nvPr/>
        </p:nvSpPr>
        <p:spPr>
          <a:xfrm>
            <a:off x="16537838" y="8268004"/>
            <a:ext cx="155448" cy="21945"/>
          </a:xfrm>
          <a:prstGeom prst="rect">
            <a:avLst/>
          </a:prstGeom>
          <a:solidFill>
            <a:srgbClr val="9DB0BD"/>
          </a:solidFill>
          <a:ln>
            <a:noFill/>
          </a:ln>
        </p:spPr>
        <p:txBody>
          <a:bodyPr rtlCol="0" anchor="ctr"/>
          <a:lstStyle/>
          <a:p>
            <a:pPr algn="ctr"/>
          </a:p>
        </p:txBody>
      </p:sp>
      <p:sp>
        <p:nvSpPr>
          <p:cNvPr id="245" name="Rectangle 244"/>
          <p:cNvSpPr/>
          <p:nvPr/>
        </p:nvSpPr>
        <p:spPr>
          <a:xfrm>
            <a:off x="16836847" y="8268004"/>
            <a:ext cx="155448" cy="21945"/>
          </a:xfrm>
          <a:prstGeom prst="rect">
            <a:avLst/>
          </a:prstGeom>
          <a:solidFill>
            <a:srgbClr val="9DB0BD"/>
          </a:solidFill>
          <a:ln>
            <a:noFill/>
          </a:ln>
        </p:spPr>
        <p:txBody>
          <a:bodyPr rtlCol="0" anchor="ctr"/>
          <a:lstStyle/>
          <a:p>
            <a:pPr algn="ctr"/>
          </a:p>
        </p:txBody>
      </p:sp>
      <p:sp>
        <p:nvSpPr>
          <p:cNvPr id="246" name="Rectangle 245"/>
          <p:cNvSpPr/>
          <p:nvPr/>
        </p:nvSpPr>
        <p:spPr>
          <a:xfrm>
            <a:off x="822960" y="8618219"/>
            <a:ext cx="16642080" cy="617219"/>
          </a:xfrm>
          <a:prstGeom prst="rect">
            <a:avLst/>
          </a:prstGeom>
          <a:solidFill>
            <a:srgbClr val="F7F7F3"/>
          </a:solidFill>
          <a:ln>
            <a:noFill/>
          </a:ln>
        </p:spPr>
        <p:txBody>
          <a:bodyPr rtlCol="0" anchor="ctr"/>
          <a:lstStyle/>
          <a:p>
            <a:pPr algn="ctr"/>
          </a:p>
        </p:txBody>
      </p:sp>
      <p:sp>
        <p:nvSpPr>
          <p:cNvPr id="247" name="TextBox 246"/>
          <p:cNvSpPr txBox="1"/>
          <p:nvPr/>
        </p:nvSpPr>
        <p:spPr>
          <a:xfrm>
            <a:off x="905256" y="8737092"/>
            <a:ext cx="1207008" cy="274320"/>
          </a:xfrm>
          <a:prstGeom prst="rect">
            <a:avLst/>
          </a:prstGeom>
          <a:noFill/>
        </p:spPr>
        <p:txBody>
          <a:bodyPr wrap="square" lIns="0" rIns="0" tIns="0" bIns="0">
            <a:spAutoFit/>
          </a:bodyPr>
          <a:lstStyle/>
          <a:p>
            <a:pPr>
              <a:lnSpc>
                <a:spcPts val="1722"/>
              </a:lnSpc>
              <a:spcBef>
                <a:spcPts val="0"/>
              </a:spcBef>
              <a:spcAft>
                <a:spcPts val="0"/>
              </a:spcAft>
              <a:defRPr sz="1400" b="1">
                <a:solidFill>
                  <a:srgbClr val="FF6633"/>
                </a:solidFill>
                <a:latin typeface="Montserrat"/>
              </a:defRPr>
            </a:pPr>
          </a:p>
        </p:txBody>
      </p:sp>
      <p:sp>
        <p:nvSpPr>
          <p:cNvPr id="248" name="TextBox 247"/>
          <p:cNvSpPr txBox="1"/>
          <p:nvPr/>
        </p:nvSpPr>
        <p:spPr>
          <a:xfrm>
            <a:off x="2157984" y="8682228"/>
            <a:ext cx="5687568" cy="640080"/>
          </a:xfrm>
          <a:prstGeom prst="rect">
            <a:avLst/>
          </a:prstGeom>
          <a:noFill/>
        </p:spPr>
        <p:txBody>
          <a:bodyPr wrap="square" lIns="0" rIns="0" tIns="0" bIns="0">
            <a:spAutoFit/>
          </a:bodyPr>
          <a:lstStyle/>
          <a:p>
            <a:pPr>
              <a:lnSpc>
                <a:spcPts val="2350"/>
              </a:lnSpc>
              <a:spcBef>
                <a:spcPts val="0"/>
              </a:spcBef>
              <a:spcAft>
                <a:spcPts val="0"/>
              </a:spcAft>
              <a:defRPr sz="2400" b="0">
                <a:solidFill>
                  <a:srgbClr val="002C49"/>
                </a:solidFill>
                <a:latin typeface="Montserrat"/>
              </a:defRPr>
            </a:pPr>
            <a:r>
              <a:t>Temps forts collectifs • TBD</a:t>
            </a:r>
          </a:p>
        </p:txBody>
      </p:sp>
      <p:cxnSp>
        <p:nvCxnSpPr>
          <p:cNvPr id="249" name="Connector 248"/>
          <p:cNvCxnSpPr/>
          <p:nvPr/>
        </p:nvCxnSpPr>
        <p:spPr>
          <a:xfrm>
            <a:off x="8101583" y="8618219"/>
            <a:ext cx="0" cy="640080"/>
          </a:xfrm>
          <a:prstGeom prst="line">
            <a:avLst/>
          </a:prstGeom>
          <a:ln w="8255">
            <a:solidFill>
              <a:srgbClr val="D9E2E7"/>
            </a:solidFill>
          </a:ln>
        </p:spPr>
      </p:cxnSp>
      <p:cxnSp>
        <p:nvCxnSpPr>
          <p:cNvPr id="250" name="Connector 249"/>
          <p:cNvCxnSpPr/>
          <p:nvPr/>
        </p:nvCxnSpPr>
        <p:spPr>
          <a:xfrm>
            <a:off x="8865108" y="8618219"/>
            <a:ext cx="0" cy="640080"/>
          </a:xfrm>
          <a:prstGeom prst="line">
            <a:avLst/>
          </a:prstGeom>
          <a:ln w="8255">
            <a:solidFill>
              <a:srgbClr val="D9E2E7"/>
            </a:solidFill>
          </a:ln>
        </p:spPr>
      </p:cxnSp>
      <p:cxnSp>
        <p:nvCxnSpPr>
          <p:cNvPr id="251" name="Connector 250"/>
          <p:cNvCxnSpPr/>
          <p:nvPr/>
        </p:nvCxnSpPr>
        <p:spPr>
          <a:xfrm>
            <a:off x="9628632" y="8618219"/>
            <a:ext cx="0" cy="640080"/>
          </a:xfrm>
          <a:prstGeom prst="line">
            <a:avLst/>
          </a:prstGeom>
          <a:ln w="8255">
            <a:solidFill>
              <a:srgbClr val="D9E2E7"/>
            </a:solidFill>
          </a:ln>
        </p:spPr>
      </p:cxnSp>
      <p:cxnSp>
        <p:nvCxnSpPr>
          <p:cNvPr id="252" name="Connector 251"/>
          <p:cNvCxnSpPr/>
          <p:nvPr/>
        </p:nvCxnSpPr>
        <p:spPr>
          <a:xfrm>
            <a:off x="10392155" y="8618219"/>
            <a:ext cx="0" cy="640080"/>
          </a:xfrm>
          <a:prstGeom prst="line">
            <a:avLst/>
          </a:prstGeom>
          <a:ln w="8255">
            <a:solidFill>
              <a:srgbClr val="D9E2E7"/>
            </a:solidFill>
          </a:ln>
        </p:spPr>
      </p:cxnSp>
      <p:cxnSp>
        <p:nvCxnSpPr>
          <p:cNvPr id="253" name="Connector 252"/>
          <p:cNvCxnSpPr/>
          <p:nvPr/>
        </p:nvCxnSpPr>
        <p:spPr>
          <a:xfrm>
            <a:off x="11155680" y="8618219"/>
            <a:ext cx="0" cy="640080"/>
          </a:xfrm>
          <a:prstGeom prst="line">
            <a:avLst/>
          </a:prstGeom>
          <a:ln w="8255">
            <a:solidFill>
              <a:srgbClr val="D9E2E7"/>
            </a:solidFill>
          </a:ln>
        </p:spPr>
      </p:cxnSp>
      <p:cxnSp>
        <p:nvCxnSpPr>
          <p:cNvPr id="254" name="Connector 253"/>
          <p:cNvCxnSpPr/>
          <p:nvPr/>
        </p:nvCxnSpPr>
        <p:spPr>
          <a:xfrm>
            <a:off x="11919204" y="8618219"/>
            <a:ext cx="0" cy="640080"/>
          </a:xfrm>
          <a:prstGeom prst="line">
            <a:avLst/>
          </a:prstGeom>
          <a:ln w="8255">
            <a:solidFill>
              <a:srgbClr val="D9E2E7"/>
            </a:solidFill>
          </a:ln>
        </p:spPr>
      </p:cxnSp>
      <p:cxnSp>
        <p:nvCxnSpPr>
          <p:cNvPr id="255" name="Connector 254"/>
          <p:cNvCxnSpPr/>
          <p:nvPr/>
        </p:nvCxnSpPr>
        <p:spPr>
          <a:xfrm>
            <a:off x="12682728" y="8618219"/>
            <a:ext cx="0" cy="640080"/>
          </a:xfrm>
          <a:prstGeom prst="line">
            <a:avLst/>
          </a:prstGeom>
          <a:ln w="8255">
            <a:solidFill>
              <a:srgbClr val="D9E2E7"/>
            </a:solidFill>
          </a:ln>
        </p:spPr>
      </p:cxnSp>
      <p:cxnSp>
        <p:nvCxnSpPr>
          <p:cNvPr id="256" name="Connector 255"/>
          <p:cNvCxnSpPr/>
          <p:nvPr/>
        </p:nvCxnSpPr>
        <p:spPr>
          <a:xfrm>
            <a:off x="13446251" y="8618219"/>
            <a:ext cx="0" cy="640080"/>
          </a:xfrm>
          <a:prstGeom prst="line">
            <a:avLst/>
          </a:prstGeom>
          <a:ln w="8255">
            <a:solidFill>
              <a:srgbClr val="D9E2E7"/>
            </a:solidFill>
          </a:ln>
        </p:spPr>
      </p:cxnSp>
      <p:cxnSp>
        <p:nvCxnSpPr>
          <p:cNvPr id="257" name="Connector 256"/>
          <p:cNvCxnSpPr/>
          <p:nvPr/>
        </p:nvCxnSpPr>
        <p:spPr>
          <a:xfrm>
            <a:off x="14209776" y="8618219"/>
            <a:ext cx="0" cy="640080"/>
          </a:xfrm>
          <a:prstGeom prst="line">
            <a:avLst/>
          </a:prstGeom>
          <a:ln w="8255">
            <a:solidFill>
              <a:srgbClr val="D9E2E7"/>
            </a:solidFill>
          </a:ln>
        </p:spPr>
      </p:cxnSp>
      <p:cxnSp>
        <p:nvCxnSpPr>
          <p:cNvPr id="258" name="Connector 257"/>
          <p:cNvCxnSpPr/>
          <p:nvPr/>
        </p:nvCxnSpPr>
        <p:spPr>
          <a:xfrm>
            <a:off x="14973300" y="8618219"/>
            <a:ext cx="0" cy="640080"/>
          </a:xfrm>
          <a:prstGeom prst="line">
            <a:avLst/>
          </a:prstGeom>
          <a:ln w="8255">
            <a:solidFill>
              <a:srgbClr val="D9E2E7"/>
            </a:solidFill>
          </a:ln>
        </p:spPr>
      </p:cxnSp>
      <p:cxnSp>
        <p:nvCxnSpPr>
          <p:cNvPr id="259" name="Connector 258"/>
          <p:cNvCxnSpPr/>
          <p:nvPr/>
        </p:nvCxnSpPr>
        <p:spPr>
          <a:xfrm>
            <a:off x="15736824" y="8618219"/>
            <a:ext cx="0" cy="640080"/>
          </a:xfrm>
          <a:prstGeom prst="line">
            <a:avLst/>
          </a:prstGeom>
          <a:ln w="8255">
            <a:solidFill>
              <a:srgbClr val="D9E2E7"/>
            </a:solidFill>
          </a:ln>
        </p:spPr>
      </p:cxnSp>
      <p:cxnSp>
        <p:nvCxnSpPr>
          <p:cNvPr id="260" name="Connector 259"/>
          <p:cNvCxnSpPr/>
          <p:nvPr/>
        </p:nvCxnSpPr>
        <p:spPr>
          <a:xfrm>
            <a:off x="16500347" y="8618219"/>
            <a:ext cx="0" cy="640080"/>
          </a:xfrm>
          <a:prstGeom prst="line">
            <a:avLst/>
          </a:prstGeom>
          <a:ln w="8255">
            <a:solidFill>
              <a:srgbClr val="D9E2E7"/>
            </a:solidFill>
          </a:ln>
        </p:spPr>
      </p:cxnSp>
      <p:cxnSp>
        <p:nvCxnSpPr>
          <p:cNvPr id="261" name="Connector 260"/>
          <p:cNvCxnSpPr/>
          <p:nvPr/>
        </p:nvCxnSpPr>
        <p:spPr>
          <a:xfrm>
            <a:off x="17263872" y="8618219"/>
            <a:ext cx="0" cy="640080"/>
          </a:xfrm>
          <a:prstGeom prst="line">
            <a:avLst/>
          </a:prstGeom>
          <a:ln w="8255">
            <a:solidFill>
              <a:srgbClr val="D9E2E7"/>
            </a:solidFill>
          </a:ln>
        </p:spPr>
      </p:cxnSp>
      <p:sp>
        <p:nvSpPr>
          <p:cNvPr id="262" name="Rectangle 261"/>
          <p:cNvSpPr/>
          <p:nvPr/>
        </p:nvSpPr>
        <p:spPr>
          <a:xfrm>
            <a:off x="8165592" y="8908084"/>
            <a:ext cx="155448" cy="21945"/>
          </a:xfrm>
          <a:prstGeom prst="rect">
            <a:avLst/>
          </a:prstGeom>
          <a:solidFill>
            <a:srgbClr val="9DB0BD"/>
          </a:solidFill>
          <a:ln>
            <a:noFill/>
          </a:ln>
        </p:spPr>
        <p:txBody>
          <a:bodyPr rtlCol="0" anchor="ctr"/>
          <a:lstStyle/>
          <a:p>
            <a:pPr algn="ctr"/>
          </a:p>
        </p:txBody>
      </p:sp>
      <p:sp>
        <p:nvSpPr>
          <p:cNvPr id="263" name="Rectangle 262"/>
          <p:cNvSpPr/>
          <p:nvPr/>
        </p:nvSpPr>
        <p:spPr>
          <a:xfrm>
            <a:off x="8464600" y="8908084"/>
            <a:ext cx="155448" cy="21945"/>
          </a:xfrm>
          <a:prstGeom prst="rect">
            <a:avLst/>
          </a:prstGeom>
          <a:solidFill>
            <a:srgbClr val="9DB0BD"/>
          </a:solidFill>
          <a:ln>
            <a:noFill/>
          </a:ln>
        </p:spPr>
        <p:txBody>
          <a:bodyPr rtlCol="0" anchor="ctr"/>
          <a:lstStyle/>
          <a:p>
            <a:pPr algn="ctr"/>
          </a:p>
        </p:txBody>
      </p:sp>
      <p:sp>
        <p:nvSpPr>
          <p:cNvPr id="264" name="Rectangle 263"/>
          <p:cNvSpPr/>
          <p:nvPr/>
        </p:nvSpPr>
        <p:spPr>
          <a:xfrm>
            <a:off x="8763609" y="8908084"/>
            <a:ext cx="155448" cy="21945"/>
          </a:xfrm>
          <a:prstGeom prst="rect">
            <a:avLst/>
          </a:prstGeom>
          <a:solidFill>
            <a:srgbClr val="9DB0BD"/>
          </a:solidFill>
          <a:ln>
            <a:noFill/>
          </a:ln>
        </p:spPr>
        <p:txBody>
          <a:bodyPr rtlCol="0" anchor="ctr"/>
          <a:lstStyle/>
          <a:p>
            <a:pPr algn="ctr"/>
          </a:p>
        </p:txBody>
      </p:sp>
      <p:sp>
        <p:nvSpPr>
          <p:cNvPr id="265" name="Rectangle 264"/>
          <p:cNvSpPr/>
          <p:nvPr/>
        </p:nvSpPr>
        <p:spPr>
          <a:xfrm>
            <a:off x="9062618" y="8908084"/>
            <a:ext cx="155448" cy="21945"/>
          </a:xfrm>
          <a:prstGeom prst="rect">
            <a:avLst/>
          </a:prstGeom>
          <a:solidFill>
            <a:srgbClr val="9DB0BD"/>
          </a:solidFill>
          <a:ln>
            <a:noFill/>
          </a:ln>
        </p:spPr>
        <p:txBody>
          <a:bodyPr rtlCol="0" anchor="ctr"/>
          <a:lstStyle/>
          <a:p>
            <a:pPr algn="ctr"/>
          </a:p>
        </p:txBody>
      </p:sp>
      <p:sp>
        <p:nvSpPr>
          <p:cNvPr id="266" name="Rectangle 265"/>
          <p:cNvSpPr/>
          <p:nvPr/>
        </p:nvSpPr>
        <p:spPr>
          <a:xfrm>
            <a:off x="9361627" y="8908084"/>
            <a:ext cx="155448" cy="21945"/>
          </a:xfrm>
          <a:prstGeom prst="rect">
            <a:avLst/>
          </a:prstGeom>
          <a:solidFill>
            <a:srgbClr val="9DB0BD"/>
          </a:solidFill>
          <a:ln>
            <a:noFill/>
          </a:ln>
        </p:spPr>
        <p:txBody>
          <a:bodyPr rtlCol="0" anchor="ctr"/>
          <a:lstStyle/>
          <a:p>
            <a:pPr algn="ctr"/>
          </a:p>
        </p:txBody>
      </p:sp>
      <p:sp>
        <p:nvSpPr>
          <p:cNvPr id="267" name="Rectangle 266"/>
          <p:cNvSpPr/>
          <p:nvPr/>
        </p:nvSpPr>
        <p:spPr>
          <a:xfrm>
            <a:off x="9660636" y="8908084"/>
            <a:ext cx="155448" cy="21945"/>
          </a:xfrm>
          <a:prstGeom prst="rect">
            <a:avLst/>
          </a:prstGeom>
          <a:solidFill>
            <a:srgbClr val="9DB0BD"/>
          </a:solidFill>
          <a:ln>
            <a:noFill/>
          </a:ln>
        </p:spPr>
        <p:txBody>
          <a:bodyPr rtlCol="0" anchor="ctr"/>
          <a:lstStyle/>
          <a:p>
            <a:pPr algn="ctr"/>
          </a:p>
        </p:txBody>
      </p:sp>
      <p:sp>
        <p:nvSpPr>
          <p:cNvPr id="268" name="Rectangle 267"/>
          <p:cNvSpPr/>
          <p:nvPr/>
        </p:nvSpPr>
        <p:spPr>
          <a:xfrm>
            <a:off x="9959644" y="8908084"/>
            <a:ext cx="155448" cy="21945"/>
          </a:xfrm>
          <a:prstGeom prst="rect">
            <a:avLst/>
          </a:prstGeom>
          <a:solidFill>
            <a:srgbClr val="9DB0BD"/>
          </a:solidFill>
          <a:ln>
            <a:noFill/>
          </a:ln>
        </p:spPr>
        <p:txBody>
          <a:bodyPr rtlCol="0" anchor="ctr"/>
          <a:lstStyle/>
          <a:p>
            <a:pPr algn="ctr"/>
          </a:p>
        </p:txBody>
      </p:sp>
      <p:sp>
        <p:nvSpPr>
          <p:cNvPr id="269" name="Rectangle 268"/>
          <p:cNvSpPr/>
          <p:nvPr/>
        </p:nvSpPr>
        <p:spPr>
          <a:xfrm>
            <a:off x="10258653" y="8908084"/>
            <a:ext cx="155448" cy="21945"/>
          </a:xfrm>
          <a:prstGeom prst="rect">
            <a:avLst/>
          </a:prstGeom>
          <a:solidFill>
            <a:srgbClr val="9DB0BD"/>
          </a:solidFill>
          <a:ln>
            <a:noFill/>
          </a:ln>
        </p:spPr>
        <p:txBody>
          <a:bodyPr rtlCol="0" anchor="ctr"/>
          <a:lstStyle/>
          <a:p>
            <a:pPr algn="ctr"/>
          </a:p>
        </p:txBody>
      </p:sp>
      <p:sp>
        <p:nvSpPr>
          <p:cNvPr id="270" name="Rectangle 269"/>
          <p:cNvSpPr/>
          <p:nvPr/>
        </p:nvSpPr>
        <p:spPr>
          <a:xfrm>
            <a:off x="10557662" y="8908084"/>
            <a:ext cx="155448" cy="21945"/>
          </a:xfrm>
          <a:prstGeom prst="rect">
            <a:avLst/>
          </a:prstGeom>
          <a:solidFill>
            <a:srgbClr val="9DB0BD"/>
          </a:solidFill>
          <a:ln>
            <a:noFill/>
          </a:ln>
        </p:spPr>
        <p:txBody>
          <a:bodyPr rtlCol="0" anchor="ctr"/>
          <a:lstStyle/>
          <a:p>
            <a:pPr algn="ctr"/>
          </a:p>
        </p:txBody>
      </p:sp>
      <p:sp>
        <p:nvSpPr>
          <p:cNvPr id="271" name="Rectangle 270"/>
          <p:cNvSpPr/>
          <p:nvPr/>
        </p:nvSpPr>
        <p:spPr>
          <a:xfrm>
            <a:off x="10856671" y="8908084"/>
            <a:ext cx="155448" cy="21945"/>
          </a:xfrm>
          <a:prstGeom prst="rect">
            <a:avLst/>
          </a:prstGeom>
          <a:solidFill>
            <a:srgbClr val="9DB0BD"/>
          </a:solidFill>
          <a:ln>
            <a:noFill/>
          </a:ln>
        </p:spPr>
        <p:txBody>
          <a:bodyPr rtlCol="0" anchor="ctr"/>
          <a:lstStyle/>
          <a:p>
            <a:pPr algn="ctr"/>
          </a:p>
        </p:txBody>
      </p:sp>
      <p:sp>
        <p:nvSpPr>
          <p:cNvPr id="272" name="Rectangle 271"/>
          <p:cNvSpPr/>
          <p:nvPr/>
        </p:nvSpPr>
        <p:spPr>
          <a:xfrm>
            <a:off x="11155680" y="8908084"/>
            <a:ext cx="155448" cy="21945"/>
          </a:xfrm>
          <a:prstGeom prst="rect">
            <a:avLst/>
          </a:prstGeom>
          <a:solidFill>
            <a:srgbClr val="9DB0BD"/>
          </a:solidFill>
          <a:ln>
            <a:noFill/>
          </a:ln>
        </p:spPr>
        <p:txBody>
          <a:bodyPr rtlCol="0" anchor="ctr"/>
          <a:lstStyle/>
          <a:p>
            <a:pPr algn="ctr"/>
          </a:p>
        </p:txBody>
      </p:sp>
      <p:sp>
        <p:nvSpPr>
          <p:cNvPr id="273" name="Rectangle 272"/>
          <p:cNvSpPr/>
          <p:nvPr/>
        </p:nvSpPr>
        <p:spPr>
          <a:xfrm>
            <a:off x="11454688" y="8908084"/>
            <a:ext cx="155448" cy="21945"/>
          </a:xfrm>
          <a:prstGeom prst="rect">
            <a:avLst/>
          </a:prstGeom>
          <a:solidFill>
            <a:srgbClr val="9DB0BD"/>
          </a:solidFill>
          <a:ln>
            <a:noFill/>
          </a:ln>
        </p:spPr>
        <p:txBody>
          <a:bodyPr rtlCol="0" anchor="ctr"/>
          <a:lstStyle/>
          <a:p>
            <a:pPr algn="ctr"/>
          </a:p>
        </p:txBody>
      </p:sp>
      <p:sp>
        <p:nvSpPr>
          <p:cNvPr id="274" name="Rectangle 273"/>
          <p:cNvSpPr/>
          <p:nvPr/>
        </p:nvSpPr>
        <p:spPr>
          <a:xfrm>
            <a:off x="11753697" y="8908084"/>
            <a:ext cx="155448" cy="21945"/>
          </a:xfrm>
          <a:prstGeom prst="rect">
            <a:avLst/>
          </a:prstGeom>
          <a:solidFill>
            <a:srgbClr val="9DB0BD"/>
          </a:solidFill>
          <a:ln>
            <a:noFill/>
          </a:ln>
        </p:spPr>
        <p:txBody>
          <a:bodyPr rtlCol="0" anchor="ctr"/>
          <a:lstStyle/>
          <a:p>
            <a:pPr algn="ctr"/>
          </a:p>
        </p:txBody>
      </p:sp>
      <p:sp>
        <p:nvSpPr>
          <p:cNvPr id="275" name="Rectangle 274"/>
          <p:cNvSpPr/>
          <p:nvPr/>
        </p:nvSpPr>
        <p:spPr>
          <a:xfrm>
            <a:off x="12052706" y="8908084"/>
            <a:ext cx="155448" cy="21945"/>
          </a:xfrm>
          <a:prstGeom prst="rect">
            <a:avLst/>
          </a:prstGeom>
          <a:solidFill>
            <a:srgbClr val="9DB0BD"/>
          </a:solidFill>
          <a:ln>
            <a:noFill/>
          </a:ln>
        </p:spPr>
        <p:txBody>
          <a:bodyPr rtlCol="0" anchor="ctr"/>
          <a:lstStyle/>
          <a:p>
            <a:pPr algn="ctr"/>
          </a:p>
        </p:txBody>
      </p:sp>
      <p:sp>
        <p:nvSpPr>
          <p:cNvPr id="276" name="Rectangle 275"/>
          <p:cNvSpPr/>
          <p:nvPr/>
        </p:nvSpPr>
        <p:spPr>
          <a:xfrm>
            <a:off x="12351715" y="8908084"/>
            <a:ext cx="155448" cy="21945"/>
          </a:xfrm>
          <a:prstGeom prst="rect">
            <a:avLst/>
          </a:prstGeom>
          <a:solidFill>
            <a:srgbClr val="9DB0BD"/>
          </a:solidFill>
          <a:ln>
            <a:noFill/>
          </a:ln>
        </p:spPr>
        <p:txBody>
          <a:bodyPr rtlCol="0" anchor="ctr"/>
          <a:lstStyle/>
          <a:p>
            <a:pPr algn="ctr"/>
          </a:p>
        </p:txBody>
      </p:sp>
      <p:sp>
        <p:nvSpPr>
          <p:cNvPr id="277" name="Rectangle 276"/>
          <p:cNvSpPr/>
          <p:nvPr/>
        </p:nvSpPr>
        <p:spPr>
          <a:xfrm>
            <a:off x="12650724" y="8908084"/>
            <a:ext cx="155448" cy="21945"/>
          </a:xfrm>
          <a:prstGeom prst="rect">
            <a:avLst/>
          </a:prstGeom>
          <a:solidFill>
            <a:srgbClr val="9DB0BD"/>
          </a:solidFill>
          <a:ln>
            <a:noFill/>
          </a:ln>
        </p:spPr>
        <p:txBody>
          <a:bodyPr rtlCol="0" anchor="ctr"/>
          <a:lstStyle/>
          <a:p>
            <a:pPr algn="ctr"/>
          </a:p>
        </p:txBody>
      </p:sp>
      <p:sp>
        <p:nvSpPr>
          <p:cNvPr id="278" name="Rectangle 277"/>
          <p:cNvSpPr/>
          <p:nvPr/>
        </p:nvSpPr>
        <p:spPr>
          <a:xfrm>
            <a:off x="12949732" y="8908084"/>
            <a:ext cx="155448" cy="21945"/>
          </a:xfrm>
          <a:prstGeom prst="rect">
            <a:avLst/>
          </a:prstGeom>
          <a:solidFill>
            <a:srgbClr val="9DB0BD"/>
          </a:solidFill>
          <a:ln>
            <a:noFill/>
          </a:ln>
        </p:spPr>
        <p:txBody>
          <a:bodyPr rtlCol="0" anchor="ctr"/>
          <a:lstStyle/>
          <a:p>
            <a:pPr algn="ctr"/>
          </a:p>
        </p:txBody>
      </p:sp>
      <p:sp>
        <p:nvSpPr>
          <p:cNvPr id="279" name="Rectangle 278"/>
          <p:cNvSpPr/>
          <p:nvPr/>
        </p:nvSpPr>
        <p:spPr>
          <a:xfrm>
            <a:off x="13248741" y="8908084"/>
            <a:ext cx="155448" cy="21945"/>
          </a:xfrm>
          <a:prstGeom prst="rect">
            <a:avLst/>
          </a:prstGeom>
          <a:solidFill>
            <a:srgbClr val="9DB0BD"/>
          </a:solidFill>
          <a:ln>
            <a:noFill/>
          </a:ln>
        </p:spPr>
        <p:txBody>
          <a:bodyPr rtlCol="0" anchor="ctr"/>
          <a:lstStyle/>
          <a:p>
            <a:pPr algn="ctr"/>
          </a:p>
        </p:txBody>
      </p:sp>
      <p:sp>
        <p:nvSpPr>
          <p:cNvPr id="280" name="Rectangle 279"/>
          <p:cNvSpPr/>
          <p:nvPr/>
        </p:nvSpPr>
        <p:spPr>
          <a:xfrm>
            <a:off x="13547750" y="8908084"/>
            <a:ext cx="155448" cy="21945"/>
          </a:xfrm>
          <a:prstGeom prst="rect">
            <a:avLst/>
          </a:prstGeom>
          <a:solidFill>
            <a:srgbClr val="9DB0BD"/>
          </a:solidFill>
          <a:ln>
            <a:noFill/>
          </a:ln>
        </p:spPr>
        <p:txBody>
          <a:bodyPr rtlCol="0" anchor="ctr"/>
          <a:lstStyle/>
          <a:p>
            <a:pPr algn="ctr"/>
          </a:p>
        </p:txBody>
      </p:sp>
      <p:sp>
        <p:nvSpPr>
          <p:cNvPr id="281" name="Rectangle 280"/>
          <p:cNvSpPr/>
          <p:nvPr/>
        </p:nvSpPr>
        <p:spPr>
          <a:xfrm>
            <a:off x="13846759" y="8908084"/>
            <a:ext cx="155448" cy="21945"/>
          </a:xfrm>
          <a:prstGeom prst="rect">
            <a:avLst/>
          </a:prstGeom>
          <a:solidFill>
            <a:srgbClr val="9DB0BD"/>
          </a:solidFill>
          <a:ln>
            <a:noFill/>
          </a:ln>
        </p:spPr>
        <p:txBody>
          <a:bodyPr rtlCol="0" anchor="ctr"/>
          <a:lstStyle/>
          <a:p>
            <a:pPr algn="ctr"/>
          </a:p>
        </p:txBody>
      </p:sp>
      <p:sp>
        <p:nvSpPr>
          <p:cNvPr id="282" name="Rectangle 281"/>
          <p:cNvSpPr/>
          <p:nvPr/>
        </p:nvSpPr>
        <p:spPr>
          <a:xfrm>
            <a:off x="14145767" y="8908084"/>
            <a:ext cx="155448" cy="21945"/>
          </a:xfrm>
          <a:prstGeom prst="rect">
            <a:avLst/>
          </a:prstGeom>
          <a:solidFill>
            <a:srgbClr val="9DB0BD"/>
          </a:solidFill>
          <a:ln>
            <a:noFill/>
          </a:ln>
        </p:spPr>
        <p:txBody>
          <a:bodyPr rtlCol="0" anchor="ctr"/>
          <a:lstStyle/>
          <a:p>
            <a:pPr algn="ctr"/>
          </a:p>
        </p:txBody>
      </p:sp>
      <p:sp>
        <p:nvSpPr>
          <p:cNvPr id="283" name="Rectangle 282"/>
          <p:cNvSpPr/>
          <p:nvPr/>
        </p:nvSpPr>
        <p:spPr>
          <a:xfrm>
            <a:off x="14444776" y="8908084"/>
            <a:ext cx="155448" cy="21945"/>
          </a:xfrm>
          <a:prstGeom prst="rect">
            <a:avLst/>
          </a:prstGeom>
          <a:solidFill>
            <a:srgbClr val="9DB0BD"/>
          </a:solidFill>
          <a:ln>
            <a:noFill/>
          </a:ln>
        </p:spPr>
        <p:txBody>
          <a:bodyPr rtlCol="0" anchor="ctr"/>
          <a:lstStyle/>
          <a:p>
            <a:pPr algn="ctr"/>
          </a:p>
        </p:txBody>
      </p:sp>
      <p:sp>
        <p:nvSpPr>
          <p:cNvPr id="284" name="Rectangle 283"/>
          <p:cNvSpPr/>
          <p:nvPr/>
        </p:nvSpPr>
        <p:spPr>
          <a:xfrm>
            <a:off x="14743785" y="8908084"/>
            <a:ext cx="155448" cy="21945"/>
          </a:xfrm>
          <a:prstGeom prst="rect">
            <a:avLst/>
          </a:prstGeom>
          <a:solidFill>
            <a:srgbClr val="9DB0BD"/>
          </a:solidFill>
          <a:ln>
            <a:noFill/>
          </a:ln>
        </p:spPr>
        <p:txBody>
          <a:bodyPr rtlCol="0" anchor="ctr"/>
          <a:lstStyle/>
          <a:p>
            <a:pPr algn="ctr"/>
          </a:p>
        </p:txBody>
      </p:sp>
      <p:sp>
        <p:nvSpPr>
          <p:cNvPr id="285" name="Rectangle 284"/>
          <p:cNvSpPr/>
          <p:nvPr/>
        </p:nvSpPr>
        <p:spPr>
          <a:xfrm>
            <a:off x="15042794" y="8908084"/>
            <a:ext cx="155448" cy="21945"/>
          </a:xfrm>
          <a:prstGeom prst="rect">
            <a:avLst/>
          </a:prstGeom>
          <a:solidFill>
            <a:srgbClr val="9DB0BD"/>
          </a:solidFill>
          <a:ln>
            <a:noFill/>
          </a:ln>
        </p:spPr>
        <p:txBody>
          <a:bodyPr rtlCol="0" anchor="ctr"/>
          <a:lstStyle/>
          <a:p>
            <a:pPr algn="ctr"/>
          </a:p>
        </p:txBody>
      </p:sp>
      <p:sp>
        <p:nvSpPr>
          <p:cNvPr id="286" name="Rectangle 285"/>
          <p:cNvSpPr/>
          <p:nvPr/>
        </p:nvSpPr>
        <p:spPr>
          <a:xfrm>
            <a:off x="15341803" y="8908084"/>
            <a:ext cx="155448" cy="21945"/>
          </a:xfrm>
          <a:prstGeom prst="rect">
            <a:avLst/>
          </a:prstGeom>
          <a:solidFill>
            <a:srgbClr val="9DB0BD"/>
          </a:solidFill>
          <a:ln>
            <a:noFill/>
          </a:ln>
        </p:spPr>
        <p:txBody>
          <a:bodyPr rtlCol="0" anchor="ctr"/>
          <a:lstStyle/>
          <a:p>
            <a:pPr algn="ctr"/>
          </a:p>
        </p:txBody>
      </p:sp>
      <p:sp>
        <p:nvSpPr>
          <p:cNvPr id="287" name="Rectangle 286"/>
          <p:cNvSpPr/>
          <p:nvPr/>
        </p:nvSpPr>
        <p:spPr>
          <a:xfrm>
            <a:off x="15640812" y="8908084"/>
            <a:ext cx="155448" cy="21945"/>
          </a:xfrm>
          <a:prstGeom prst="rect">
            <a:avLst/>
          </a:prstGeom>
          <a:solidFill>
            <a:srgbClr val="9DB0BD"/>
          </a:solidFill>
          <a:ln>
            <a:noFill/>
          </a:ln>
        </p:spPr>
        <p:txBody>
          <a:bodyPr rtlCol="0" anchor="ctr"/>
          <a:lstStyle/>
          <a:p>
            <a:pPr algn="ctr"/>
          </a:p>
        </p:txBody>
      </p:sp>
      <p:sp>
        <p:nvSpPr>
          <p:cNvPr id="288" name="Rectangle 287"/>
          <p:cNvSpPr/>
          <p:nvPr/>
        </p:nvSpPr>
        <p:spPr>
          <a:xfrm>
            <a:off x="15939820" y="8908084"/>
            <a:ext cx="155448" cy="21945"/>
          </a:xfrm>
          <a:prstGeom prst="rect">
            <a:avLst/>
          </a:prstGeom>
          <a:solidFill>
            <a:srgbClr val="9DB0BD"/>
          </a:solidFill>
          <a:ln>
            <a:noFill/>
          </a:ln>
        </p:spPr>
        <p:txBody>
          <a:bodyPr rtlCol="0" anchor="ctr"/>
          <a:lstStyle/>
          <a:p>
            <a:pPr algn="ctr"/>
          </a:p>
        </p:txBody>
      </p:sp>
      <p:sp>
        <p:nvSpPr>
          <p:cNvPr id="289" name="Rectangle 288"/>
          <p:cNvSpPr/>
          <p:nvPr/>
        </p:nvSpPr>
        <p:spPr>
          <a:xfrm>
            <a:off x="16238829" y="8908084"/>
            <a:ext cx="155448" cy="21945"/>
          </a:xfrm>
          <a:prstGeom prst="rect">
            <a:avLst/>
          </a:prstGeom>
          <a:solidFill>
            <a:srgbClr val="9DB0BD"/>
          </a:solidFill>
          <a:ln>
            <a:noFill/>
          </a:ln>
        </p:spPr>
        <p:txBody>
          <a:bodyPr rtlCol="0" anchor="ctr"/>
          <a:lstStyle/>
          <a:p>
            <a:pPr algn="ctr"/>
          </a:p>
        </p:txBody>
      </p:sp>
      <p:sp>
        <p:nvSpPr>
          <p:cNvPr id="290" name="Rectangle 289"/>
          <p:cNvSpPr/>
          <p:nvPr/>
        </p:nvSpPr>
        <p:spPr>
          <a:xfrm>
            <a:off x="16537838" y="8908084"/>
            <a:ext cx="155448" cy="21945"/>
          </a:xfrm>
          <a:prstGeom prst="rect">
            <a:avLst/>
          </a:prstGeom>
          <a:solidFill>
            <a:srgbClr val="9DB0BD"/>
          </a:solidFill>
          <a:ln>
            <a:noFill/>
          </a:ln>
        </p:spPr>
        <p:txBody>
          <a:bodyPr rtlCol="0" anchor="ctr"/>
          <a:lstStyle/>
          <a:p>
            <a:pPr algn="ctr"/>
          </a:p>
        </p:txBody>
      </p:sp>
      <p:sp>
        <p:nvSpPr>
          <p:cNvPr id="291" name="Rectangle 290"/>
          <p:cNvSpPr/>
          <p:nvPr/>
        </p:nvSpPr>
        <p:spPr>
          <a:xfrm>
            <a:off x="16836847" y="8908084"/>
            <a:ext cx="155448" cy="21945"/>
          </a:xfrm>
          <a:prstGeom prst="rect">
            <a:avLst/>
          </a:prstGeom>
          <a:solidFill>
            <a:srgbClr val="9DB0BD"/>
          </a:solidFill>
          <a:ln>
            <a:noFill/>
          </a:ln>
        </p:spPr>
        <p:txBody>
          <a:bodyPr rtlCol="0" anchor="ctr"/>
          <a:lstStyle/>
          <a:p>
            <a:pPr algn="ctr"/>
          </a:p>
        </p:txBody>
      </p:sp>
      <p:sp>
        <p:nvSpPr>
          <p:cNvPr id="292" name="TextBox 291"/>
          <p:cNvSpPr txBox="1"/>
          <p:nvPr/>
        </p:nvSpPr>
        <p:spPr>
          <a:xfrm>
            <a:off x="896112" y="9326880"/>
            <a:ext cx="16459200" cy="338328"/>
          </a:xfrm>
          <a:prstGeom prst="rect">
            <a:avLst/>
          </a:prstGeom>
          <a:noFill/>
        </p:spPr>
        <p:txBody>
          <a:bodyPr wrap="square" lIns="0" rIns="0" tIns="0" bIns="0">
            <a:spAutoFit/>
          </a:bodyPr>
          <a:lstStyle/>
          <a:p>
            <a:pPr>
              <a:lnSpc>
                <a:spcPts val="2700"/>
              </a:lnSpc>
              <a:spcBef>
                <a:spcPts val="0"/>
              </a:spcBef>
              <a:spcAft>
                <a:spcPts val="0"/>
              </a:spcAft>
              <a:defRPr sz="2300" b="0">
                <a:solidFill>
                  <a:srgbClr val="526777"/>
                </a:solidFill>
                <a:latin typeface="Montserrat"/>
              </a:defRPr>
            </a:pPr>
            <a:r>
              <a:t>* All Staff fin FY : date TBD. Leytonienne S2 : fin juillet hors FY. Vacances : rythme réduit.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3.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09 / RESPONSABILITÉS ET GOUVERNANCE</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Les conditions pour exercer cette influence.</a:t>
            </a:r>
          </a:p>
        </p:txBody>
      </p:sp>
      <p:sp>
        <p:nvSpPr>
          <p:cNvPr id="5" name="TextBox 4"/>
          <p:cNvSpPr txBox="1"/>
          <p:nvPr/>
        </p:nvSpPr>
        <p:spPr>
          <a:xfrm>
            <a:off x="868680" y="2742285"/>
            <a:ext cx="16504920" cy="54864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Communication orchestre ; les propriétaires du fond garantissent leurs expertises.</a:t>
            </a:r>
          </a:p>
        </p:txBody>
      </p:sp>
      <p:sp>
        <p:nvSpPr>
          <p:cNvPr id="6" name="Rectangle 5"/>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7" name="TextBox 6"/>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8" name="TextBox 7"/>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18</a:t>
            </a:r>
          </a:p>
        </p:txBody>
      </p:sp>
      <p:cxnSp>
        <p:nvCxnSpPr>
          <p:cNvPr id="9" name="Connector 8"/>
          <p:cNvCxnSpPr/>
          <p:nvPr/>
        </p:nvCxnSpPr>
        <p:spPr>
          <a:xfrm>
            <a:off x="5486400" y="4480560"/>
            <a:ext cx="1280160" cy="960120"/>
          </a:xfrm>
          <a:prstGeom prst="line">
            <a:avLst/>
          </a:prstGeom>
          <a:ln w="17780">
            <a:solidFill>
              <a:srgbClr val="D9E2E7"/>
            </a:solidFill>
          </a:ln>
        </p:spPr>
      </p:cxnSp>
      <p:cxnSp>
        <p:nvCxnSpPr>
          <p:cNvPr id="10" name="Connector 9"/>
          <p:cNvCxnSpPr/>
          <p:nvPr/>
        </p:nvCxnSpPr>
        <p:spPr>
          <a:xfrm flipV="1">
            <a:off x="5486400" y="6126480"/>
            <a:ext cx="1280160" cy="1143000"/>
          </a:xfrm>
          <a:prstGeom prst="line">
            <a:avLst/>
          </a:prstGeom>
          <a:ln w="17780">
            <a:solidFill>
              <a:srgbClr val="D9E2E7"/>
            </a:solidFill>
          </a:ln>
        </p:spPr>
      </p:cxnSp>
      <p:cxnSp>
        <p:nvCxnSpPr>
          <p:cNvPr id="11" name="Connector 10"/>
          <p:cNvCxnSpPr/>
          <p:nvPr/>
        </p:nvCxnSpPr>
        <p:spPr>
          <a:xfrm flipV="1">
            <a:off x="11887200" y="4480560"/>
            <a:ext cx="914400" cy="960120"/>
          </a:xfrm>
          <a:prstGeom prst="line">
            <a:avLst/>
          </a:prstGeom>
          <a:ln w="17780">
            <a:solidFill>
              <a:srgbClr val="D9E2E7"/>
            </a:solidFill>
          </a:ln>
        </p:spPr>
      </p:cxnSp>
      <p:cxnSp>
        <p:nvCxnSpPr>
          <p:cNvPr id="12" name="Connector 11"/>
          <p:cNvCxnSpPr/>
          <p:nvPr/>
        </p:nvCxnSpPr>
        <p:spPr>
          <a:xfrm>
            <a:off x="11887200" y="6126480"/>
            <a:ext cx="914400" cy="1143000"/>
          </a:xfrm>
          <a:prstGeom prst="line">
            <a:avLst/>
          </a:prstGeom>
          <a:ln w="17780">
            <a:solidFill>
              <a:srgbClr val="D9E2E7"/>
            </a:solidFill>
          </a:ln>
        </p:spPr>
      </p:cxnSp>
      <p:cxnSp>
        <p:nvCxnSpPr>
          <p:cNvPr id="13" name="Connector 12"/>
          <p:cNvCxnSpPr/>
          <p:nvPr/>
        </p:nvCxnSpPr>
        <p:spPr>
          <a:xfrm>
            <a:off x="9144000" y="4114800"/>
            <a:ext cx="0" cy="822960"/>
          </a:xfrm>
          <a:prstGeom prst="line">
            <a:avLst/>
          </a:prstGeom>
          <a:ln w="17780">
            <a:solidFill>
              <a:srgbClr val="D9E2E7"/>
            </a:solidFill>
          </a:ln>
        </p:spPr>
      </p:cxnSp>
      <p:cxnSp>
        <p:nvCxnSpPr>
          <p:cNvPr id="14" name="Connector 13"/>
          <p:cNvCxnSpPr/>
          <p:nvPr/>
        </p:nvCxnSpPr>
        <p:spPr>
          <a:xfrm>
            <a:off x="9144000" y="6702552"/>
            <a:ext cx="0" cy="932688"/>
          </a:xfrm>
          <a:prstGeom prst="line">
            <a:avLst/>
          </a:prstGeom>
          <a:ln w="17780">
            <a:solidFill>
              <a:srgbClr val="D9E2E7"/>
            </a:solidFill>
          </a:ln>
        </p:spPr>
      </p:cxnSp>
      <p:sp>
        <p:nvSpPr>
          <p:cNvPr id="15" name="Rectangle 14"/>
          <p:cNvSpPr/>
          <p:nvPr/>
        </p:nvSpPr>
        <p:spPr>
          <a:xfrm>
            <a:off x="6675120" y="4983480"/>
            <a:ext cx="4937760" cy="1673352"/>
          </a:xfrm>
          <a:prstGeom prst="rect">
            <a:avLst/>
          </a:prstGeom>
          <a:solidFill>
            <a:srgbClr val="002C49"/>
          </a:solidFill>
          <a:ln>
            <a:noFill/>
          </a:ln>
        </p:spPr>
        <p:txBody>
          <a:bodyPr rtlCol="0" anchor="ctr"/>
          <a:lstStyle/>
          <a:p>
            <a:pPr algn="ctr"/>
          </a:p>
        </p:txBody>
      </p:sp>
      <p:sp>
        <p:nvSpPr>
          <p:cNvPr id="16" name="TextBox 15"/>
          <p:cNvSpPr txBox="1"/>
          <p:nvPr/>
        </p:nvSpPr>
        <p:spPr>
          <a:xfrm>
            <a:off x="6949440" y="5285232"/>
            <a:ext cx="4389120" cy="438912"/>
          </a:xfrm>
          <a:prstGeom prst="rect">
            <a:avLst/>
          </a:prstGeom>
          <a:noFill/>
        </p:spPr>
        <p:txBody>
          <a:bodyPr wrap="square" lIns="0" rIns="0" tIns="0" bIns="0">
            <a:spAutoFit/>
          </a:bodyPr>
          <a:lstStyle/>
          <a:p>
            <a:pPr algn="ctr">
              <a:lnSpc>
                <a:spcPts val="3198"/>
              </a:lnSpc>
              <a:spcBef>
                <a:spcPts val="0"/>
              </a:spcBef>
              <a:spcAft>
                <a:spcPts val="0"/>
              </a:spcAft>
              <a:defRPr sz="2600" b="1">
                <a:solidFill>
                  <a:srgbClr val="FFFFFF"/>
                </a:solidFill>
                <a:latin typeface="Montserrat"/>
              </a:defRPr>
            </a:pPr>
            <a:r>
              <a:t>COMMUNICATION</a:t>
            </a:r>
          </a:p>
        </p:txBody>
      </p:sp>
      <p:sp>
        <p:nvSpPr>
          <p:cNvPr id="17" name="TextBox 16"/>
          <p:cNvSpPr txBox="1"/>
          <p:nvPr/>
        </p:nvSpPr>
        <p:spPr>
          <a:xfrm>
            <a:off x="6949440" y="5961888"/>
            <a:ext cx="4389120" cy="420624"/>
          </a:xfrm>
          <a:prstGeom prst="rect">
            <a:avLst/>
          </a:prstGeom>
          <a:noFill/>
        </p:spPr>
        <p:txBody>
          <a:bodyPr wrap="square" lIns="0" rIns="0" tIns="0" bIns="0">
            <a:spAutoFit/>
          </a:bodyPr>
          <a:lstStyle/>
          <a:p>
            <a:pPr algn="ctr">
              <a:lnSpc>
                <a:spcPts val="2952"/>
              </a:lnSpc>
              <a:spcBef>
                <a:spcPts val="0"/>
              </a:spcBef>
              <a:spcAft>
                <a:spcPts val="0"/>
              </a:spcAft>
              <a:defRPr sz="2400" b="0">
                <a:solidFill>
                  <a:srgbClr val="FFFFFF"/>
                </a:solidFill>
                <a:latin typeface="Montserrat"/>
              </a:defRPr>
            </a:pPr>
            <a:r>
              <a:t>Orchestration et cohérence</a:t>
            </a:r>
          </a:p>
        </p:txBody>
      </p:sp>
      <p:sp>
        <p:nvSpPr>
          <p:cNvPr id="18" name="TextBox 17"/>
          <p:cNvSpPr txBox="1"/>
          <p:nvPr/>
        </p:nvSpPr>
        <p:spPr>
          <a:xfrm>
            <a:off x="896112" y="3721608"/>
            <a:ext cx="4983480" cy="612648"/>
          </a:xfrm>
          <a:prstGeom prst="rect">
            <a:avLst/>
          </a:prstGeom>
          <a:noFill/>
        </p:spPr>
        <p:txBody>
          <a:bodyPr wrap="square" lIns="0" rIns="0" tIns="0" bIns="0">
            <a:spAutoFit/>
          </a:bodyPr>
          <a:lstStyle/>
          <a:p>
            <a:pPr>
              <a:lnSpc>
                <a:spcPts val="2800"/>
              </a:lnSpc>
              <a:spcBef>
                <a:spcPts val="0"/>
              </a:spcBef>
              <a:spcAft>
                <a:spcPts val="0"/>
              </a:spcAft>
              <a:defRPr sz="2300" b="1">
                <a:solidFill>
                  <a:srgbClr val="002C49"/>
                </a:solidFill>
                <a:latin typeface="Montserrat"/>
              </a:defRPr>
            </a:pPr>
            <a:r>
              <a:t>DSI / JURIDIQUE</a:t>
            </a:r>
          </a:p>
        </p:txBody>
      </p:sp>
      <p:sp>
        <p:nvSpPr>
          <p:cNvPr id="19" name="TextBox 18"/>
          <p:cNvSpPr txBox="1"/>
          <p:nvPr/>
        </p:nvSpPr>
        <p:spPr>
          <a:xfrm>
            <a:off x="896112" y="4443984"/>
            <a:ext cx="4983480" cy="740664"/>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Outils, anonymisation, cadre.</a:t>
            </a:r>
          </a:p>
        </p:txBody>
      </p:sp>
      <p:sp>
        <p:nvSpPr>
          <p:cNvPr id="20" name="TextBox 19"/>
          <p:cNvSpPr txBox="1"/>
          <p:nvPr/>
        </p:nvSpPr>
        <p:spPr>
          <a:xfrm>
            <a:off x="896112" y="6601968"/>
            <a:ext cx="5166360" cy="612648"/>
          </a:xfrm>
          <a:prstGeom prst="rect">
            <a:avLst/>
          </a:prstGeom>
          <a:noFill/>
        </p:spPr>
        <p:txBody>
          <a:bodyPr wrap="square" lIns="0" rIns="0" tIns="0" bIns="0">
            <a:spAutoFit/>
          </a:bodyPr>
          <a:lstStyle/>
          <a:p>
            <a:pPr>
              <a:lnSpc>
                <a:spcPts val="2800"/>
              </a:lnSpc>
              <a:spcBef>
                <a:spcPts val="0"/>
              </a:spcBef>
              <a:spcAft>
                <a:spcPts val="0"/>
              </a:spcAft>
              <a:defRPr sz="2300" b="1">
                <a:solidFill>
                  <a:srgbClr val="002C49"/>
                </a:solidFill>
                <a:latin typeface="Montserrat"/>
              </a:defRPr>
            </a:pPr>
            <a:r>
              <a:t>RH / FORMATION</a:t>
            </a:r>
          </a:p>
        </p:txBody>
      </p:sp>
      <p:sp>
        <p:nvSpPr>
          <p:cNvPr id="21" name="TextBox 20"/>
          <p:cNvSpPr txBox="1"/>
          <p:nvPr/>
        </p:nvSpPr>
        <p:spPr>
          <a:xfrm>
            <a:off x="896112" y="7324344"/>
            <a:ext cx="5166360" cy="740664"/>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Parcours, actions, compétences.</a:t>
            </a:r>
          </a:p>
        </p:txBody>
      </p:sp>
      <p:sp>
        <p:nvSpPr>
          <p:cNvPr id="22" name="TextBox 21"/>
          <p:cNvSpPr txBox="1"/>
          <p:nvPr/>
        </p:nvSpPr>
        <p:spPr>
          <a:xfrm>
            <a:off x="12938760" y="3721608"/>
            <a:ext cx="4443984" cy="612648"/>
          </a:xfrm>
          <a:prstGeom prst="rect">
            <a:avLst/>
          </a:prstGeom>
          <a:noFill/>
        </p:spPr>
        <p:txBody>
          <a:bodyPr wrap="square" lIns="0" rIns="0" tIns="0" bIns="0">
            <a:spAutoFit/>
          </a:bodyPr>
          <a:lstStyle/>
          <a:p>
            <a:pPr>
              <a:lnSpc>
                <a:spcPts val="2800"/>
              </a:lnSpc>
              <a:spcBef>
                <a:spcPts val="0"/>
              </a:spcBef>
              <a:spcAft>
                <a:spcPts val="0"/>
              </a:spcAft>
              <a:defRPr sz="2300" b="1">
                <a:solidFill>
                  <a:srgbClr val="002C49"/>
                </a:solidFill>
                <a:latin typeface="Montserrat"/>
              </a:defRPr>
            </a:pPr>
            <a:r>
              <a:t>MARKETING / BUSINESS / CS</a:t>
            </a:r>
          </a:p>
        </p:txBody>
      </p:sp>
      <p:sp>
        <p:nvSpPr>
          <p:cNvPr id="23" name="TextBox 22"/>
          <p:cNvSpPr txBox="1"/>
          <p:nvPr/>
        </p:nvSpPr>
        <p:spPr>
          <a:xfrm>
            <a:off x="12938760" y="4443984"/>
            <a:ext cx="4443984" cy="740664"/>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Fond commercial, preuves clients.</a:t>
            </a:r>
          </a:p>
        </p:txBody>
      </p:sp>
      <p:sp>
        <p:nvSpPr>
          <p:cNvPr id="24" name="TextBox 23"/>
          <p:cNvSpPr txBox="1"/>
          <p:nvPr/>
        </p:nvSpPr>
        <p:spPr>
          <a:xfrm>
            <a:off x="12938760" y="6601968"/>
            <a:ext cx="4443984" cy="612648"/>
          </a:xfrm>
          <a:prstGeom prst="rect">
            <a:avLst/>
          </a:prstGeom>
          <a:noFill/>
        </p:spPr>
        <p:txBody>
          <a:bodyPr wrap="square" lIns="0" rIns="0" tIns="0" bIns="0">
            <a:spAutoFit/>
          </a:bodyPr>
          <a:lstStyle/>
          <a:p>
            <a:pPr>
              <a:lnSpc>
                <a:spcPts val="2800"/>
              </a:lnSpc>
              <a:spcBef>
                <a:spcPts val="0"/>
              </a:spcBef>
              <a:spcAft>
                <a:spcPts val="0"/>
              </a:spcAft>
              <a:defRPr sz="2300" b="1">
                <a:solidFill>
                  <a:srgbClr val="002C49"/>
                </a:solidFill>
                <a:latin typeface="Montserrat"/>
              </a:defRPr>
            </a:pPr>
            <a:r>
              <a:t>MÉTIERS</a:t>
            </a:r>
          </a:p>
        </p:txBody>
      </p:sp>
      <p:sp>
        <p:nvSpPr>
          <p:cNvPr id="25" name="TextBox 24"/>
          <p:cNvSpPr txBox="1"/>
          <p:nvPr/>
        </p:nvSpPr>
        <p:spPr>
          <a:xfrm>
            <a:off x="12938760" y="7324344"/>
            <a:ext cx="4443984" cy="740664"/>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Cas d’usage, expertise, validation.</a:t>
            </a:r>
          </a:p>
        </p:txBody>
      </p:sp>
      <p:sp>
        <p:nvSpPr>
          <p:cNvPr id="26" name="TextBox 25"/>
          <p:cNvSpPr txBox="1"/>
          <p:nvPr/>
        </p:nvSpPr>
        <p:spPr>
          <a:xfrm>
            <a:off x="6492240" y="3328416"/>
            <a:ext cx="5303520" cy="612648"/>
          </a:xfrm>
          <a:prstGeom prst="rect">
            <a:avLst/>
          </a:prstGeom>
          <a:noFill/>
        </p:spPr>
        <p:txBody>
          <a:bodyPr wrap="square" lIns="0" rIns="0" tIns="0" bIns="0">
            <a:spAutoFit/>
          </a:bodyPr>
          <a:lstStyle/>
          <a:p>
            <a:pPr>
              <a:lnSpc>
                <a:spcPts val="2800"/>
              </a:lnSpc>
              <a:spcBef>
                <a:spcPts val="0"/>
              </a:spcBef>
              <a:spcAft>
                <a:spcPts val="0"/>
              </a:spcAft>
              <a:defRPr sz="2300" b="1">
                <a:solidFill>
                  <a:srgbClr val="002C49"/>
                </a:solidFill>
                <a:latin typeface="Montserrat"/>
              </a:defRPr>
            </a:pPr>
            <a:r>
              <a:t>DIRECTION</a:t>
            </a:r>
          </a:p>
        </p:txBody>
      </p:sp>
      <p:sp>
        <p:nvSpPr>
          <p:cNvPr id="27" name="TextBox 26"/>
          <p:cNvSpPr txBox="1"/>
          <p:nvPr/>
        </p:nvSpPr>
        <p:spPr>
          <a:xfrm>
            <a:off x="6492240" y="4050791"/>
            <a:ext cx="5303520" cy="740664"/>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Sens, priorités et arbitrages.</a:t>
            </a:r>
          </a:p>
        </p:txBody>
      </p:sp>
      <p:sp>
        <p:nvSpPr>
          <p:cNvPr id="28" name="TextBox 27"/>
          <p:cNvSpPr txBox="1"/>
          <p:nvPr/>
        </p:nvSpPr>
        <p:spPr>
          <a:xfrm>
            <a:off x="6492240" y="7333488"/>
            <a:ext cx="5303520" cy="612648"/>
          </a:xfrm>
          <a:prstGeom prst="rect">
            <a:avLst/>
          </a:prstGeom>
          <a:noFill/>
        </p:spPr>
        <p:txBody>
          <a:bodyPr wrap="square" lIns="0" rIns="0" tIns="0" bIns="0">
            <a:spAutoFit/>
          </a:bodyPr>
          <a:lstStyle/>
          <a:p>
            <a:pPr>
              <a:lnSpc>
                <a:spcPts val="2800"/>
              </a:lnSpc>
              <a:spcBef>
                <a:spcPts val="0"/>
              </a:spcBef>
              <a:spcAft>
                <a:spcPts val="0"/>
              </a:spcAft>
              <a:defRPr sz="2300" b="1">
                <a:solidFill>
                  <a:srgbClr val="002C49"/>
                </a:solidFill>
                <a:latin typeface="Montserrat"/>
              </a:defRPr>
            </a:pPr>
            <a:r>
              <a:t>GROUPE</a:t>
            </a:r>
          </a:p>
        </p:txBody>
      </p:sp>
      <p:sp>
        <p:nvSpPr>
          <p:cNvPr id="29" name="TextBox 28"/>
          <p:cNvSpPr txBox="1"/>
          <p:nvPr/>
        </p:nvSpPr>
        <p:spPr>
          <a:xfrm>
            <a:off x="6492240" y="8055863"/>
            <a:ext cx="5303520" cy="740664"/>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Cadre et calendrier des projets Groupe.</a:t>
            </a:r>
          </a:p>
        </p:txBody>
      </p:sp>
      <p:sp>
        <p:nvSpPr>
          <p:cNvPr id="30" name="Rectangle 29"/>
          <p:cNvSpPr/>
          <p:nvPr/>
        </p:nvSpPr>
        <p:spPr>
          <a:xfrm>
            <a:off x="822960" y="8924544"/>
            <a:ext cx="16642080" cy="10972"/>
          </a:xfrm>
          <a:prstGeom prst="rect">
            <a:avLst/>
          </a:prstGeom>
          <a:solidFill>
            <a:srgbClr val="D9E2E7"/>
          </a:solidFill>
          <a:ln>
            <a:noFill/>
          </a:ln>
        </p:spPr>
        <p:txBody>
          <a:bodyPr rtlCol="0" anchor="ctr"/>
          <a:lstStyle/>
          <a:p>
            <a:pPr algn="ctr"/>
          </a:p>
        </p:txBody>
      </p:sp>
      <p:sp>
        <p:nvSpPr>
          <p:cNvPr id="31" name="TextBox 30"/>
          <p:cNvSpPr txBox="1"/>
          <p:nvPr/>
        </p:nvSpPr>
        <p:spPr>
          <a:xfrm>
            <a:off x="868680" y="9125712"/>
            <a:ext cx="16486632" cy="768096"/>
          </a:xfrm>
          <a:prstGeom prst="rect">
            <a:avLst/>
          </a:prstGeom>
          <a:noFill/>
        </p:spPr>
        <p:txBody>
          <a:bodyPr wrap="square" lIns="0" rIns="0" tIns="0" bIns="0">
            <a:spAutoFit/>
          </a:bodyPr>
          <a:lstStyle/>
          <a:p>
            <a:pPr>
              <a:lnSpc>
                <a:spcPts val="2800"/>
              </a:lnSpc>
              <a:spcBef>
                <a:spcPts val="0"/>
              </a:spcBef>
              <a:spcAft>
                <a:spcPts val="0"/>
              </a:spcAft>
              <a:defRPr sz="2400" b="1">
                <a:solidFill>
                  <a:srgbClr val="002C49"/>
                </a:solidFill>
                <a:latin typeface="Montserrat"/>
              </a:defRPr>
            </a:pPr>
            <a:r>
              <a:t>Accès aux sujets en amont • sponsors et validations • ressources et capacité de production.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3.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10 / MESURE</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Mesurer les effets, au-delà de la diffusion.</a:t>
            </a:r>
          </a:p>
        </p:txBody>
      </p:sp>
      <p:sp>
        <p:nvSpPr>
          <p:cNvPr id="5" name="Rectangle 4"/>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6" name="TextBox 5"/>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7" name="TextBox 6"/>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19</a:t>
            </a:r>
          </a:p>
        </p:txBody>
      </p:sp>
      <p:sp>
        <p:nvSpPr>
          <p:cNvPr id="8" name="TextBox 7"/>
          <p:cNvSpPr txBox="1"/>
          <p:nvPr/>
        </p:nvSpPr>
        <p:spPr>
          <a:xfrm>
            <a:off x="896112" y="3520440"/>
            <a:ext cx="7726679" cy="731520"/>
          </a:xfrm>
          <a:prstGeom prst="rect">
            <a:avLst/>
          </a:prstGeom>
          <a:noFill/>
        </p:spPr>
        <p:txBody>
          <a:bodyPr wrap="square" lIns="0" rIns="0" tIns="0" bIns="0">
            <a:spAutoFit/>
          </a:bodyPr>
          <a:lstStyle/>
          <a:p>
            <a:pPr>
              <a:lnSpc>
                <a:spcPts val="4182"/>
              </a:lnSpc>
              <a:spcBef>
                <a:spcPts val="0"/>
              </a:spcBef>
              <a:spcAft>
                <a:spcPts val="0"/>
              </a:spcAft>
              <a:defRPr sz="3400" b="1">
                <a:solidFill>
                  <a:srgbClr val="002C49"/>
                </a:solidFill>
                <a:latin typeface="Montserrat"/>
              </a:defRPr>
            </a:pPr>
            <a:r>
              <a:t>PORTÉE / ENGAGEMENT</a:t>
            </a:r>
          </a:p>
        </p:txBody>
      </p:sp>
      <p:sp>
        <p:nvSpPr>
          <p:cNvPr id="9" name="TextBox 8"/>
          <p:cNvSpPr txBox="1"/>
          <p:nvPr/>
        </p:nvSpPr>
        <p:spPr>
          <a:xfrm>
            <a:off x="896112" y="4617720"/>
            <a:ext cx="7571231" cy="1965960"/>
          </a:xfrm>
          <a:prstGeom prst="rect">
            <a:avLst/>
          </a:prstGeom>
          <a:noFill/>
        </p:spPr>
        <p:txBody>
          <a:bodyPr wrap="square" lIns="0" rIns="0" tIns="0" bIns="0">
            <a:spAutoFit/>
          </a:bodyPr>
          <a:lstStyle/>
          <a:p>
            <a:pPr>
              <a:lnSpc>
                <a:spcPts val="4300"/>
              </a:lnSpc>
              <a:spcBef>
                <a:spcPts val="0"/>
              </a:spcBef>
              <a:spcAft>
                <a:spcPts val="0"/>
              </a:spcAft>
              <a:defRPr sz="2900" b="0">
                <a:solidFill>
                  <a:srgbClr val="526777"/>
                </a:solidFill>
                <a:latin typeface="Montserrat"/>
              </a:defRPr>
            </a:pPr>
            <a:r>
              <a:t>Qui est touché ?</a:t>
            </a:r>
          </a:p>
          <a:p>
            <a:pPr>
              <a:lnSpc>
                <a:spcPts val="4300"/>
              </a:lnSpc>
              <a:spcBef>
                <a:spcPts val="0"/>
              </a:spcBef>
              <a:spcAft>
                <a:spcPts val="0"/>
              </a:spcAft>
              <a:defRPr sz="2900" b="0">
                <a:solidFill>
                  <a:srgbClr val="526777"/>
                </a:solidFill>
                <a:latin typeface="Montserrat"/>
              </a:defRPr>
            </a:pPr>
            <a:r>
              <a:t>Quels contenus suscitent de l’intérêt ?</a:t>
            </a:r>
          </a:p>
          <a:p>
            <a:pPr>
              <a:lnSpc>
                <a:spcPts val="4300"/>
              </a:lnSpc>
              <a:spcBef>
                <a:spcPts val="0"/>
              </a:spcBef>
              <a:spcAft>
                <a:spcPts val="0"/>
              </a:spcAft>
              <a:defRPr sz="2900" b="0">
                <a:solidFill>
                  <a:srgbClr val="526777"/>
                </a:solidFill>
                <a:latin typeface="Montserrat"/>
              </a:defRPr>
            </a:pPr>
            <a:r>
              <a:t>Quels rendez-vous mobilisent ?</a:t>
            </a:r>
          </a:p>
        </p:txBody>
      </p:sp>
      <p:sp>
        <p:nvSpPr>
          <p:cNvPr id="10" name="TextBox 9"/>
          <p:cNvSpPr txBox="1"/>
          <p:nvPr/>
        </p:nvSpPr>
        <p:spPr>
          <a:xfrm>
            <a:off x="896112" y="7315200"/>
            <a:ext cx="7589520" cy="914400"/>
          </a:xfrm>
          <a:prstGeom prst="rect">
            <a:avLst/>
          </a:prstGeom>
          <a:noFill/>
        </p:spPr>
        <p:txBody>
          <a:bodyPr wrap="square" lIns="0" rIns="0" tIns="0" bIns="0">
            <a:spAutoFit/>
          </a:bodyPr>
          <a:lstStyle/>
          <a:p>
            <a:pPr>
              <a:lnSpc>
                <a:spcPts val="3400"/>
              </a:lnSpc>
              <a:spcBef>
                <a:spcPts val="0"/>
              </a:spcBef>
              <a:spcAft>
                <a:spcPts val="0"/>
              </a:spcAft>
              <a:defRPr sz="2600" b="1">
                <a:solidFill>
                  <a:srgbClr val="002C49"/>
                </a:solidFill>
                <a:latin typeface="Montserrat"/>
              </a:defRPr>
            </a:pPr>
            <a:r>
              <a:t>Usage des canaux • performance</a:t>
            </a:r>
          </a:p>
          <a:p>
            <a:pPr>
              <a:lnSpc>
                <a:spcPts val="3400"/>
              </a:lnSpc>
              <a:spcBef>
                <a:spcPts val="0"/>
              </a:spcBef>
              <a:spcAft>
                <a:spcPts val="0"/>
              </a:spcAft>
              <a:defRPr sz="2600" b="1">
                <a:solidFill>
                  <a:srgbClr val="002C49"/>
                </a:solidFill>
                <a:latin typeface="Montserrat"/>
              </a:defRPr>
            </a:pPr>
            <a:r>
              <a:t>des contenus • participation</a:t>
            </a:r>
          </a:p>
        </p:txBody>
      </p:sp>
      <p:cxnSp>
        <p:nvCxnSpPr>
          <p:cNvPr id="11" name="Connector 10"/>
          <p:cNvCxnSpPr/>
          <p:nvPr/>
        </p:nvCxnSpPr>
        <p:spPr>
          <a:xfrm>
            <a:off x="9052560" y="3474720"/>
            <a:ext cx="0" cy="4919472"/>
          </a:xfrm>
          <a:prstGeom prst="line">
            <a:avLst/>
          </a:prstGeom>
          <a:ln w="17780">
            <a:solidFill>
              <a:srgbClr val="D9E2E7"/>
            </a:solidFill>
          </a:ln>
        </p:spPr>
      </p:cxnSp>
      <p:sp>
        <p:nvSpPr>
          <p:cNvPr id="12" name="TextBox 11"/>
          <p:cNvSpPr txBox="1"/>
          <p:nvPr/>
        </p:nvSpPr>
        <p:spPr>
          <a:xfrm>
            <a:off x="9710928" y="3520440"/>
            <a:ext cx="7616952" cy="731520"/>
          </a:xfrm>
          <a:prstGeom prst="rect">
            <a:avLst/>
          </a:prstGeom>
          <a:noFill/>
        </p:spPr>
        <p:txBody>
          <a:bodyPr wrap="square" lIns="0" rIns="0" tIns="0" bIns="0">
            <a:spAutoFit/>
          </a:bodyPr>
          <a:lstStyle/>
          <a:p>
            <a:pPr>
              <a:lnSpc>
                <a:spcPts val="3936"/>
              </a:lnSpc>
              <a:spcBef>
                <a:spcPts val="0"/>
              </a:spcBef>
              <a:spcAft>
                <a:spcPts val="0"/>
              </a:spcAft>
              <a:defRPr sz="3200" b="1">
                <a:solidFill>
                  <a:srgbClr val="FF6633"/>
                </a:solidFill>
                <a:latin typeface="Montserrat"/>
              </a:defRPr>
            </a:pPr>
            <a:r>
              <a:t>ADOPTION / CONTRIBUTION</a:t>
            </a:r>
          </a:p>
        </p:txBody>
      </p:sp>
      <p:sp>
        <p:nvSpPr>
          <p:cNvPr id="13" name="TextBox 12"/>
          <p:cNvSpPr txBox="1"/>
          <p:nvPr/>
        </p:nvSpPr>
        <p:spPr>
          <a:xfrm>
            <a:off x="9710928" y="4617720"/>
            <a:ext cx="7571231" cy="1965960"/>
          </a:xfrm>
          <a:prstGeom prst="rect">
            <a:avLst/>
          </a:prstGeom>
          <a:noFill/>
        </p:spPr>
        <p:txBody>
          <a:bodyPr wrap="square" lIns="0" rIns="0" tIns="0" bIns="0">
            <a:spAutoFit/>
          </a:bodyPr>
          <a:lstStyle/>
          <a:p>
            <a:pPr>
              <a:lnSpc>
                <a:spcPts val="4300"/>
              </a:lnSpc>
              <a:spcBef>
                <a:spcPts val="0"/>
              </a:spcBef>
              <a:spcAft>
                <a:spcPts val="0"/>
              </a:spcAft>
              <a:defRPr sz="2900" b="0">
                <a:solidFill>
                  <a:srgbClr val="526777"/>
                </a:solidFill>
                <a:latin typeface="Montserrat"/>
              </a:defRPr>
            </a:pPr>
            <a:r>
              <a:t>Quels usages se développent ?</a:t>
            </a:r>
          </a:p>
          <a:p>
            <a:pPr>
              <a:lnSpc>
                <a:spcPts val="4300"/>
              </a:lnSpc>
              <a:spcBef>
                <a:spcPts val="0"/>
              </a:spcBef>
              <a:spcAft>
                <a:spcPts val="0"/>
              </a:spcAft>
              <a:defRPr sz="2900" b="0">
                <a:solidFill>
                  <a:srgbClr val="526777"/>
                </a:solidFill>
                <a:latin typeface="Montserrat"/>
              </a:defRPr>
            </a:pPr>
            <a:r>
              <a:t>Quelles contributions remontent ?</a:t>
            </a:r>
          </a:p>
          <a:p>
            <a:pPr>
              <a:lnSpc>
                <a:spcPts val="4300"/>
              </a:lnSpc>
              <a:spcBef>
                <a:spcPts val="0"/>
              </a:spcBef>
              <a:spcAft>
                <a:spcPts val="0"/>
              </a:spcAft>
              <a:defRPr sz="2900" b="0">
                <a:solidFill>
                  <a:srgbClr val="526777"/>
                </a:solidFill>
                <a:latin typeface="Montserrat"/>
              </a:defRPr>
            </a:pPr>
            <a:r>
              <a:t>Quelles preuves sont produites ?</a:t>
            </a:r>
          </a:p>
        </p:txBody>
      </p:sp>
      <p:sp>
        <p:nvSpPr>
          <p:cNvPr id="14" name="TextBox 13"/>
          <p:cNvSpPr txBox="1"/>
          <p:nvPr/>
        </p:nvSpPr>
        <p:spPr>
          <a:xfrm>
            <a:off x="9710928" y="7315200"/>
            <a:ext cx="7589520" cy="914400"/>
          </a:xfrm>
          <a:prstGeom prst="rect">
            <a:avLst/>
          </a:prstGeom>
          <a:noFill/>
        </p:spPr>
        <p:txBody>
          <a:bodyPr wrap="square" lIns="0" rIns="0" tIns="0" bIns="0">
            <a:spAutoFit/>
          </a:bodyPr>
          <a:lstStyle/>
          <a:p>
            <a:pPr>
              <a:lnSpc>
                <a:spcPts val="3400"/>
              </a:lnSpc>
              <a:spcBef>
                <a:spcPts val="0"/>
              </a:spcBef>
              <a:spcAft>
                <a:spcPts val="0"/>
              </a:spcAft>
              <a:defRPr sz="2600" b="1">
                <a:solidFill>
                  <a:srgbClr val="002C49"/>
                </a:solidFill>
                <a:latin typeface="Montserrat"/>
              </a:defRPr>
            </a:pPr>
            <a:r>
              <a:t>Données DSI / RH / métiers à rapprocher</a:t>
            </a:r>
          </a:p>
          <a:p>
            <a:pPr>
              <a:lnSpc>
                <a:spcPts val="3400"/>
              </a:lnSpc>
              <a:spcBef>
                <a:spcPts val="0"/>
              </a:spcBef>
              <a:spcAft>
                <a:spcPts val="0"/>
              </a:spcAft>
              <a:defRPr sz="2600" b="1">
                <a:solidFill>
                  <a:srgbClr val="002C49"/>
                </a:solidFill>
                <a:latin typeface="Montserrat"/>
              </a:defRPr>
            </a:pPr>
            <a:r>
              <a:t>des résultats Communication.</a:t>
            </a:r>
          </a:p>
        </p:txBody>
      </p:sp>
      <p:sp>
        <p:nvSpPr>
          <p:cNvPr id="15" name="Rectangle 14"/>
          <p:cNvSpPr/>
          <p:nvPr/>
        </p:nvSpPr>
        <p:spPr>
          <a:xfrm>
            <a:off x="822960" y="8823960"/>
            <a:ext cx="16642080" cy="10972"/>
          </a:xfrm>
          <a:prstGeom prst="rect">
            <a:avLst/>
          </a:prstGeom>
          <a:solidFill>
            <a:srgbClr val="D9E2E7"/>
          </a:solidFill>
          <a:ln>
            <a:noFill/>
          </a:ln>
        </p:spPr>
        <p:txBody>
          <a:bodyPr rtlCol="0" anchor="ctr"/>
          <a:lstStyle/>
          <a:p>
            <a:pPr algn="ctr"/>
          </a:p>
        </p:txBody>
      </p:sp>
      <p:sp>
        <p:nvSpPr>
          <p:cNvPr id="16" name="TextBox 15"/>
          <p:cNvSpPr txBox="1"/>
          <p:nvPr/>
        </p:nvSpPr>
        <p:spPr>
          <a:xfrm>
            <a:off x="868680" y="9025128"/>
            <a:ext cx="16486632" cy="768096"/>
          </a:xfrm>
          <a:prstGeom prst="rect">
            <a:avLst/>
          </a:prstGeom>
          <a:noFill/>
        </p:spPr>
        <p:txBody>
          <a:bodyPr wrap="square" lIns="0" rIns="0" tIns="0" bIns="0">
            <a:spAutoFit/>
          </a:bodyPr>
          <a:lstStyle/>
          <a:p>
            <a:pPr>
              <a:lnSpc>
                <a:spcPts val="2800"/>
              </a:lnSpc>
              <a:spcBef>
                <a:spcPts val="0"/>
              </a:spcBef>
              <a:spcAft>
                <a:spcPts val="0"/>
              </a:spcAft>
              <a:defRPr sz="2400" b="1">
                <a:solidFill>
                  <a:srgbClr val="002C49"/>
                </a:solidFill>
                <a:latin typeface="Montserrat"/>
              </a:defRPr>
            </a:pPr>
            <a:r>
              <a:t>Pour chaque dispositif : effet attendu, donnée disponible, responsable de la donnée et rythme de lecture.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2C49"/>
        </a:solidFill>
        <a:effectLst/>
      </p:bgPr>
    </p:bg>
    <p:spTree>
      <p:nvGrpSpPr>
        <p:cNvPr id="1" name=""/>
        <p:cNvGrpSpPr/>
        <p:nvPr/>
      </p:nvGrpSpPr>
      <p:grpSpPr/>
      <p:pic>
        <p:nvPicPr>
          <p:cNvPr id="2" name="Picture 1" descr="logo2.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9DB0BD"/>
                </a:solidFill>
                <a:latin typeface="Montserrat"/>
              </a:defRPr>
            </a:pPr>
            <a:r>
              <a:t>11 / ARBITRAGES MANAGER PUIS CODIR</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FFFFFF"/>
                </a:solidFill>
                <a:latin typeface="Nohemi"/>
              </a:defRPr>
            </a:pPr>
            <a:r>
              <a:t>Les arbitrages attendus.</a:t>
            </a:r>
          </a:p>
        </p:txBody>
      </p:sp>
      <p:sp>
        <p:nvSpPr>
          <p:cNvPr id="5" name="Rectangle 4"/>
          <p:cNvSpPr/>
          <p:nvPr/>
        </p:nvSpPr>
        <p:spPr>
          <a:xfrm>
            <a:off x="822960" y="9738360"/>
            <a:ext cx="16642080" cy="10972"/>
          </a:xfrm>
          <a:prstGeom prst="rect">
            <a:avLst/>
          </a:prstGeom>
          <a:solidFill>
            <a:srgbClr val="0C405C"/>
          </a:solidFill>
          <a:ln>
            <a:noFill/>
          </a:ln>
        </p:spPr>
        <p:txBody>
          <a:bodyPr rtlCol="0" anchor="ctr"/>
          <a:lstStyle/>
          <a:p>
            <a:pPr algn="ctr"/>
          </a:p>
        </p:txBody>
      </p:sp>
      <p:sp>
        <p:nvSpPr>
          <p:cNvPr id="6" name="TextBox 5"/>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9DB0BD"/>
                </a:solidFill>
                <a:latin typeface="Montserrat"/>
              </a:defRPr>
            </a:pPr>
            <a:r>
              <a:t>LEYTON FRANCE  /  PLAN DE COMMUNICATION  /  FY2026/27</a:t>
            </a:r>
          </a:p>
        </p:txBody>
      </p:sp>
      <p:sp>
        <p:nvSpPr>
          <p:cNvPr id="7" name="TextBox 6"/>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20</a:t>
            </a:r>
          </a:p>
        </p:txBody>
      </p:sp>
      <p:sp>
        <p:nvSpPr>
          <p:cNvPr id="8" name="TextBox 7"/>
          <p:cNvSpPr txBox="1"/>
          <p:nvPr/>
        </p:nvSpPr>
        <p:spPr>
          <a:xfrm>
            <a:off x="896112" y="3529584"/>
            <a:ext cx="7717536" cy="548640"/>
          </a:xfrm>
          <a:prstGeom prst="rect">
            <a:avLst/>
          </a:prstGeom>
          <a:noFill/>
        </p:spPr>
        <p:txBody>
          <a:bodyPr wrap="square" lIns="0" rIns="0" tIns="0" bIns="0">
            <a:spAutoFit/>
          </a:bodyPr>
          <a:lstStyle/>
          <a:p>
            <a:pPr>
              <a:lnSpc>
                <a:spcPts val="3321"/>
              </a:lnSpc>
              <a:spcBef>
                <a:spcPts val="0"/>
              </a:spcBef>
              <a:spcAft>
                <a:spcPts val="0"/>
              </a:spcAft>
              <a:defRPr sz="2700" b="1">
                <a:solidFill>
                  <a:srgbClr val="FF6633"/>
                </a:solidFill>
                <a:latin typeface="Montserrat"/>
              </a:defRPr>
            </a:pPr>
            <a:r>
              <a:t>PRIORITÉS</a:t>
            </a:r>
          </a:p>
        </p:txBody>
      </p:sp>
      <p:sp>
        <p:nvSpPr>
          <p:cNvPr id="9" name="TextBox 8"/>
          <p:cNvSpPr txBox="1"/>
          <p:nvPr/>
        </p:nvSpPr>
        <p:spPr>
          <a:xfrm>
            <a:off x="896112" y="4370832"/>
            <a:ext cx="7662672" cy="1645920"/>
          </a:xfrm>
          <a:prstGeom prst="rect">
            <a:avLst/>
          </a:prstGeom>
          <a:noFill/>
        </p:spPr>
        <p:txBody>
          <a:bodyPr wrap="square" lIns="0" rIns="0" tIns="0" bIns="0">
            <a:spAutoFit/>
          </a:bodyPr>
          <a:lstStyle/>
          <a:p>
            <a:pPr>
              <a:lnSpc>
                <a:spcPts val="3900"/>
              </a:lnSpc>
              <a:spcBef>
                <a:spcPts val="0"/>
              </a:spcBef>
              <a:spcAft>
                <a:spcPts val="0"/>
              </a:spcAft>
              <a:defRPr sz="3100" b="0">
                <a:solidFill>
                  <a:srgbClr val="FFFFFF"/>
                </a:solidFill>
                <a:latin typeface="Montserrat"/>
              </a:defRPr>
            </a:pPr>
            <a:r>
              <a:t>Quels projets structurants lancer</a:t>
            </a:r>
          </a:p>
          <a:p>
            <a:pPr>
              <a:lnSpc>
                <a:spcPts val="3900"/>
              </a:lnSpc>
              <a:spcBef>
                <a:spcPts val="0"/>
              </a:spcBef>
              <a:spcAft>
                <a:spcPts val="0"/>
              </a:spcAft>
              <a:defRPr sz="3100" b="0">
                <a:solidFill>
                  <a:srgbClr val="FFFFFF"/>
                </a:solidFill>
                <a:latin typeface="Montserrat"/>
              </a:defRPr>
            </a:pPr>
            <a:r>
              <a:t>et dans quel ordre ?</a:t>
            </a:r>
          </a:p>
        </p:txBody>
      </p:sp>
      <p:sp>
        <p:nvSpPr>
          <p:cNvPr id="10" name="TextBox 9"/>
          <p:cNvSpPr txBox="1"/>
          <p:nvPr/>
        </p:nvSpPr>
        <p:spPr>
          <a:xfrm>
            <a:off x="9784080" y="3529584"/>
            <a:ext cx="7717536" cy="548640"/>
          </a:xfrm>
          <a:prstGeom prst="rect">
            <a:avLst/>
          </a:prstGeom>
          <a:noFill/>
        </p:spPr>
        <p:txBody>
          <a:bodyPr wrap="square" lIns="0" rIns="0" tIns="0" bIns="0">
            <a:spAutoFit/>
          </a:bodyPr>
          <a:lstStyle/>
          <a:p>
            <a:pPr>
              <a:lnSpc>
                <a:spcPts val="3321"/>
              </a:lnSpc>
              <a:spcBef>
                <a:spcPts val="0"/>
              </a:spcBef>
              <a:spcAft>
                <a:spcPts val="0"/>
              </a:spcAft>
              <a:defRPr sz="2700" b="1">
                <a:solidFill>
                  <a:srgbClr val="FF6633"/>
                </a:solidFill>
                <a:latin typeface="Montserrat"/>
              </a:defRPr>
            </a:pPr>
            <a:r>
              <a:t>CAPACITÉ</a:t>
            </a:r>
          </a:p>
        </p:txBody>
      </p:sp>
      <p:sp>
        <p:nvSpPr>
          <p:cNvPr id="11" name="TextBox 10"/>
          <p:cNvSpPr txBox="1"/>
          <p:nvPr/>
        </p:nvSpPr>
        <p:spPr>
          <a:xfrm>
            <a:off x="9784080" y="4370832"/>
            <a:ext cx="7662672" cy="1645920"/>
          </a:xfrm>
          <a:prstGeom prst="rect">
            <a:avLst/>
          </a:prstGeom>
          <a:noFill/>
        </p:spPr>
        <p:txBody>
          <a:bodyPr wrap="square" lIns="0" rIns="0" tIns="0" bIns="0">
            <a:spAutoFit/>
          </a:bodyPr>
          <a:lstStyle/>
          <a:p>
            <a:pPr>
              <a:lnSpc>
                <a:spcPts val="3900"/>
              </a:lnSpc>
              <a:spcBef>
                <a:spcPts val="0"/>
              </a:spcBef>
              <a:spcAft>
                <a:spcPts val="0"/>
              </a:spcAft>
              <a:defRPr sz="3100" b="0">
                <a:solidFill>
                  <a:srgbClr val="FFFFFF"/>
                </a:solidFill>
                <a:latin typeface="Montserrat"/>
              </a:defRPr>
            </a:pPr>
            <a:r>
              <a:t>Quelles ressources, quelles validations</a:t>
            </a:r>
          </a:p>
          <a:p>
            <a:pPr>
              <a:lnSpc>
                <a:spcPts val="3900"/>
              </a:lnSpc>
              <a:spcBef>
                <a:spcPts val="0"/>
              </a:spcBef>
              <a:spcAft>
                <a:spcPts val="0"/>
              </a:spcAft>
              <a:defRPr sz="3100" b="0">
                <a:solidFill>
                  <a:srgbClr val="FFFFFF"/>
                </a:solidFill>
                <a:latin typeface="Montserrat"/>
              </a:defRPr>
            </a:pPr>
            <a:r>
              <a:t>et quelles mutualisations ?</a:t>
            </a:r>
          </a:p>
        </p:txBody>
      </p:sp>
      <p:sp>
        <p:nvSpPr>
          <p:cNvPr id="12" name="TextBox 11"/>
          <p:cNvSpPr txBox="1"/>
          <p:nvPr/>
        </p:nvSpPr>
        <p:spPr>
          <a:xfrm>
            <a:off x="896112" y="5998464"/>
            <a:ext cx="7717536" cy="548640"/>
          </a:xfrm>
          <a:prstGeom prst="rect">
            <a:avLst/>
          </a:prstGeom>
          <a:noFill/>
        </p:spPr>
        <p:txBody>
          <a:bodyPr wrap="square" lIns="0" rIns="0" tIns="0" bIns="0">
            <a:spAutoFit/>
          </a:bodyPr>
          <a:lstStyle/>
          <a:p>
            <a:pPr>
              <a:lnSpc>
                <a:spcPts val="3321"/>
              </a:lnSpc>
              <a:spcBef>
                <a:spcPts val="0"/>
              </a:spcBef>
              <a:spcAft>
                <a:spcPts val="0"/>
              </a:spcAft>
              <a:defRPr sz="2700" b="1">
                <a:solidFill>
                  <a:srgbClr val="FF6633"/>
                </a:solidFill>
                <a:latin typeface="Montserrat"/>
              </a:defRPr>
            </a:pPr>
            <a:r>
              <a:t>DÉPENDANCES</a:t>
            </a:r>
          </a:p>
        </p:txBody>
      </p:sp>
      <p:sp>
        <p:nvSpPr>
          <p:cNvPr id="13" name="TextBox 12"/>
          <p:cNvSpPr txBox="1"/>
          <p:nvPr/>
        </p:nvSpPr>
        <p:spPr>
          <a:xfrm>
            <a:off x="896112" y="6839712"/>
            <a:ext cx="7662672" cy="1645920"/>
          </a:xfrm>
          <a:prstGeom prst="rect">
            <a:avLst/>
          </a:prstGeom>
          <a:noFill/>
        </p:spPr>
        <p:txBody>
          <a:bodyPr wrap="square" lIns="0" rIns="0" tIns="0" bIns="0">
            <a:spAutoFit/>
          </a:bodyPr>
          <a:lstStyle/>
          <a:p>
            <a:pPr>
              <a:lnSpc>
                <a:spcPts val="3900"/>
              </a:lnSpc>
              <a:spcBef>
                <a:spcPts val="0"/>
              </a:spcBef>
              <a:spcAft>
                <a:spcPts val="0"/>
              </a:spcAft>
              <a:defRPr sz="3100" b="0">
                <a:solidFill>
                  <a:srgbClr val="FFFFFF"/>
                </a:solidFill>
                <a:latin typeface="Montserrat"/>
              </a:defRPr>
            </a:pPr>
            <a:r>
              <a:t>Cadrage Workelo ; planning intranet ;</a:t>
            </a:r>
          </a:p>
          <a:p>
            <a:pPr>
              <a:lnSpc>
                <a:spcPts val="3900"/>
              </a:lnSpc>
              <a:spcBef>
                <a:spcPts val="0"/>
              </a:spcBef>
              <a:spcAft>
                <a:spcPts val="0"/>
              </a:spcAft>
              <a:defRPr sz="3100" b="0">
                <a:solidFill>
                  <a:srgbClr val="FFFFFF"/>
                </a:solidFill>
                <a:latin typeface="Montserrat"/>
              </a:defRPr>
            </a:pPr>
            <a:r>
              <a:t>dates Zoom IA, vidéo Groupe</a:t>
            </a:r>
          </a:p>
          <a:p>
            <a:pPr>
              <a:lnSpc>
                <a:spcPts val="3900"/>
              </a:lnSpc>
              <a:spcBef>
                <a:spcPts val="0"/>
              </a:spcBef>
              <a:spcAft>
                <a:spcPts val="0"/>
              </a:spcAft>
              <a:defRPr sz="3100" b="0">
                <a:solidFill>
                  <a:srgbClr val="FFFFFF"/>
                </a:solidFill>
                <a:latin typeface="Montserrat"/>
              </a:defRPr>
            </a:pPr>
            <a:r>
              <a:t>et séminaire.</a:t>
            </a:r>
          </a:p>
        </p:txBody>
      </p:sp>
      <p:sp>
        <p:nvSpPr>
          <p:cNvPr id="14" name="TextBox 13"/>
          <p:cNvSpPr txBox="1"/>
          <p:nvPr/>
        </p:nvSpPr>
        <p:spPr>
          <a:xfrm>
            <a:off x="9784080" y="5998464"/>
            <a:ext cx="7717536" cy="548640"/>
          </a:xfrm>
          <a:prstGeom prst="rect">
            <a:avLst/>
          </a:prstGeom>
          <a:noFill/>
        </p:spPr>
        <p:txBody>
          <a:bodyPr wrap="square" lIns="0" rIns="0" tIns="0" bIns="0">
            <a:spAutoFit/>
          </a:bodyPr>
          <a:lstStyle/>
          <a:p>
            <a:pPr>
              <a:lnSpc>
                <a:spcPts val="3321"/>
              </a:lnSpc>
              <a:spcBef>
                <a:spcPts val="0"/>
              </a:spcBef>
              <a:spcAft>
                <a:spcPts val="0"/>
              </a:spcAft>
              <a:defRPr sz="2700" b="1">
                <a:solidFill>
                  <a:srgbClr val="FF6633"/>
                </a:solidFill>
                <a:latin typeface="Montserrat"/>
              </a:defRPr>
            </a:pPr>
            <a:r>
              <a:t>PILOTAGE</a:t>
            </a:r>
          </a:p>
        </p:txBody>
      </p:sp>
      <p:sp>
        <p:nvSpPr>
          <p:cNvPr id="15" name="TextBox 14"/>
          <p:cNvSpPr txBox="1"/>
          <p:nvPr/>
        </p:nvSpPr>
        <p:spPr>
          <a:xfrm>
            <a:off x="9784080" y="6839712"/>
            <a:ext cx="7662672" cy="1645920"/>
          </a:xfrm>
          <a:prstGeom prst="rect">
            <a:avLst/>
          </a:prstGeom>
          <a:noFill/>
        </p:spPr>
        <p:txBody>
          <a:bodyPr wrap="square" lIns="0" rIns="0" tIns="0" bIns="0">
            <a:spAutoFit/>
          </a:bodyPr>
          <a:lstStyle/>
          <a:p>
            <a:pPr>
              <a:lnSpc>
                <a:spcPts val="3900"/>
              </a:lnSpc>
              <a:spcBef>
                <a:spcPts val="0"/>
              </a:spcBef>
              <a:spcAft>
                <a:spcPts val="0"/>
              </a:spcAft>
              <a:defRPr sz="3100" b="0">
                <a:solidFill>
                  <a:srgbClr val="FFFFFF"/>
                </a:solidFill>
                <a:latin typeface="Montserrat"/>
              </a:defRPr>
            </a:pPr>
            <a:r>
              <a:t>Quels owners, quelles données</a:t>
            </a:r>
          </a:p>
          <a:p>
            <a:pPr>
              <a:lnSpc>
                <a:spcPts val="3900"/>
              </a:lnSpc>
              <a:spcBef>
                <a:spcPts val="0"/>
              </a:spcBef>
              <a:spcAft>
                <a:spcPts val="0"/>
              </a:spcAft>
              <a:defRPr sz="3100" b="0">
                <a:solidFill>
                  <a:srgbClr val="FFFFFF"/>
                </a:solidFill>
                <a:latin typeface="Montserrat"/>
              </a:defRPr>
            </a:pPr>
            <a:r>
              <a:t>et quelle revue de portefeuille ?</a:t>
            </a:r>
          </a:p>
        </p:txBody>
      </p:sp>
      <p:sp>
        <p:nvSpPr>
          <p:cNvPr id="16" name="Rectangle 15"/>
          <p:cNvSpPr/>
          <p:nvPr/>
        </p:nvSpPr>
        <p:spPr>
          <a:xfrm>
            <a:off x="822960" y="8641080"/>
            <a:ext cx="16642080" cy="786384"/>
          </a:xfrm>
          <a:prstGeom prst="rect">
            <a:avLst/>
          </a:prstGeom>
          <a:solidFill>
            <a:srgbClr val="FF6633"/>
          </a:solidFill>
          <a:ln>
            <a:noFill/>
          </a:ln>
        </p:spPr>
        <p:txBody>
          <a:bodyPr rtlCol="0" anchor="ctr"/>
          <a:lstStyle/>
          <a:p>
            <a:pPr algn="ctr"/>
          </a:p>
        </p:txBody>
      </p:sp>
      <p:sp>
        <p:nvSpPr>
          <p:cNvPr id="17" name="TextBox 16"/>
          <p:cNvSpPr txBox="1"/>
          <p:nvPr/>
        </p:nvSpPr>
        <p:spPr>
          <a:xfrm>
            <a:off x="1078992" y="8823960"/>
            <a:ext cx="16093440" cy="502920"/>
          </a:xfrm>
          <a:prstGeom prst="rect">
            <a:avLst/>
          </a:prstGeom>
          <a:noFill/>
        </p:spPr>
        <p:txBody>
          <a:bodyPr wrap="square" lIns="0" rIns="0" tIns="0" bIns="0">
            <a:spAutoFit/>
          </a:bodyPr>
          <a:lstStyle/>
          <a:p>
            <a:pPr>
              <a:lnSpc>
                <a:spcPts val="3567"/>
              </a:lnSpc>
              <a:spcBef>
                <a:spcPts val="0"/>
              </a:spcBef>
              <a:spcAft>
                <a:spcPts val="0"/>
              </a:spcAft>
              <a:defRPr sz="2900" b="1">
                <a:solidFill>
                  <a:srgbClr val="FFFFFF"/>
                </a:solidFill>
                <a:latin typeface="Montserrat"/>
              </a:defRPr>
            </a:pPr>
            <a:r>
              <a:t>Séquencer le portefeuille dans la capacité réelle de l’équipe.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3.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ANNEXE A1 / ADOPTION DE L’IA</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Actions et responsabilités du parcours IA.</a:t>
            </a:r>
          </a:p>
        </p:txBody>
      </p:sp>
      <p:sp>
        <p:nvSpPr>
          <p:cNvPr id="5" name="Rectangle 4"/>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6" name="TextBox 5"/>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7" name="TextBox 6"/>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21</a:t>
            </a:r>
          </a:p>
        </p:txBody>
      </p:sp>
      <p:sp>
        <p:nvSpPr>
          <p:cNvPr id="8" name="TextBox 7"/>
          <p:cNvSpPr txBox="1"/>
          <p:nvPr/>
        </p:nvSpPr>
        <p:spPr>
          <a:xfrm>
            <a:off x="914400" y="3456432"/>
            <a:ext cx="3749039" cy="777240"/>
          </a:xfrm>
          <a:prstGeom prst="rect">
            <a:avLst/>
          </a:prstGeom>
          <a:noFill/>
        </p:spPr>
        <p:txBody>
          <a:bodyPr wrap="square" lIns="0" rIns="0" tIns="0" bIns="0">
            <a:spAutoFit/>
          </a:bodyPr>
          <a:lstStyle/>
          <a:p>
            <a:pPr>
              <a:lnSpc>
                <a:spcPts val="2900"/>
              </a:lnSpc>
              <a:spcBef>
                <a:spcPts val="0"/>
              </a:spcBef>
              <a:spcAft>
                <a:spcPts val="0"/>
              </a:spcAft>
              <a:defRPr sz="2400" b="1">
                <a:solidFill>
                  <a:srgbClr val="002C49"/>
                </a:solidFill>
                <a:latin typeface="Montserrat"/>
              </a:defRPr>
            </a:pPr>
            <a:r>
              <a:t>COMPRENDRE</a:t>
            </a:r>
          </a:p>
        </p:txBody>
      </p:sp>
      <p:sp>
        <p:nvSpPr>
          <p:cNvPr id="9" name="TextBox 8"/>
          <p:cNvSpPr txBox="1"/>
          <p:nvPr/>
        </p:nvSpPr>
        <p:spPr>
          <a:xfrm>
            <a:off x="4910328" y="3456432"/>
            <a:ext cx="7525512" cy="749808"/>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Message directeur ; Zoom IA, date à confirmer.</a:t>
            </a:r>
          </a:p>
        </p:txBody>
      </p:sp>
      <p:sp>
        <p:nvSpPr>
          <p:cNvPr id="10" name="TextBox 9"/>
          <p:cNvSpPr txBox="1"/>
          <p:nvPr/>
        </p:nvSpPr>
        <p:spPr>
          <a:xfrm>
            <a:off x="12874752" y="3456432"/>
            <a:ext cx="4480560" cy="749808"/>
          </a:xfrm>
          <a:prstGeom prst="rect">
            <a:avLst/>
          </a:prstGeom>
          <a:noFill/>
        </p:spPr>
        <p:txBody>
          <a:bodyPr wrap="square" lIns="0" rIns="0" tIns="0" bIns="0">
            <a:spAutoFit/>
          </a:bodyPr>
          <a:lstStyle/>
          <a:p>
            <a:pPr>
              <a:lnSpc>
                <a:spcPts val="2900"/>
              </a:lnSpc>
              <a:spcBef>
                <a:spcPts val="0"/>
              </a:spcBef>
              <a:spcAft>
                <a:spcPts val="0"/>
              </a:spcAft>
              <a:defRPr sz="2400" b="0">
                <a:solidFill>
                  <a:srgbClr val="002C49"/>
                </a:solidFill>
                <a:latin typeface="Montserrat"/>
              </a:defRPr>
            </a:pPr>
            <a:r>
              <a:t>Direction : sens.</a:t>
            </a:r>
          </a:p>
        </p:txBody>
      </p:sp>
      <p:sp>
        <p:nvSpPr>
          <p:cNvPr id="11" name="Rectangle 10"/>
          <p:cNvSpPr/>
          <p:nvPr/>
        </p:nvSpPr>
        <p:spPr>
          <a:xfrm>
            <a:off x="914400" y="4178808"/>
            <a:ext cx="16459200" cy="10972"/>
          </a:xfrm>
          <a:prstGeom prst="rect">
            <a:avLst/>
          </a:prstGeom>
          <a:solidFill>
            <a:srgbClr val="D9E2E7"/>
          </a:solidFill>
          <a:ln>
            <a:noFill/>
          </a:ln>
        </p:spPr>
        <p:txBody>
          <a:bodyPr rtlCol="0" anchor="ctr"/>
          <a:lstStyle/>
          <a:p>
            <a:pPr algn="ctr"/>
          </a:p>
        </p:txBody>
      </p:sp>
      <p:sp>
        <p:nvSpPr>
          <p:cNvPr id="12" name="TextBox 11"/>
          <p:cNvSpPr txBox="1"/>
          <p:nvPr/>
        </p:nvSpPr>
        <p:spPr>
          <a:xfrm>
            <a:off x="914400" y="4306824"/>
            <a:ext cx="3749039" cy="777240"/>
          </a:xfrm>
          <a:prstGeom prst="rect">
            <a:avLst/>
          </a:prstGeom>
          <a:noFill/>
        </p:spPr>
        <p:txBody>
          <a:bodyPr wrap="square" lIns="0" rIns="0" tIns="0" bIns="0">
            <a:spAutoFit/>
          </a:bodyPr>
          <a:lstStyle/>
          <a:p>
            <a:pPr>
              <a:lnSpc>
                <a:spcPts val="2900"/>
              </a:lnSpc>
              <a:spcBef>
                <a:spcPts val="0"/>
              </a:spcBef>
              <a:spcAft>
                <a:spcPts val="0"/>
              </a:spcAft>
              <a:defRPr sz="2400" b="1">
                <a:solidFill>
                  <a:srgbClr val="002C49"/>
                </a:solidFill>
                <a:latin typeface="Montserrat"/>
              </a:defRPr>
            </a:pPr>
            <a:r>
              <a:t>RASSURER / IMPLIQUER</a:t>
            </a:r>
          </a:p>
        </p:txBody>
      </p:sp>
      <p:sp>
        <p:nvSpPr>
          <p:cNvPr id="13" name="TextBox 12"/>
          <p:cNvSpPr txBox="1"/>
          <p:nvPr/>
        </p:nvSpPr>
        <p:spPr>
          <a:xfrm>
            <a:off x="4910328" y="4306824"/>
            <a:ext cx="7525512" cy="749808"/>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Place du collaborateur ; contribution des métiers.</a:t>
            </a:r>
          </a:p>
        </p:txBody>
      </p:sp>
      <p:sp>
        <p:nvSpPr>
          <p:cNvPr id="14" name="TextBox 13"/>
          <p:cNvSpPr txBox="1"/>
          <p:nvPr/>
        </p:nvSpPr>
        <p:spPr>
          <a:xfrm>
            <a:off x="12874752" y="4306824"/>
            <a:ext cx="4480560" cy="749808"/>
          </a:xfrm>
          <a:prstGeom prst="rect">
            <a:avLst/>
          </a:prstGeom>
          <a:noFill/>
        </p:spPr>
        <p:txBody>
          <a:bodyPr wrap="square" lIns="0" rIns="0" tIns="0" bIns="0">
            <a:spAutoFit/>
          </a:bodyPr>
          <a:lstStyle/>
          <a:p>
            <a:pPr>
              <a:lnSpc>
                <a:spcPts val="2900"/>
              </a:lnSpc>
              <a:spcBef>
                <a:spcPts val="0"/>
              </a:spcBef>
              <a:spcAft>
                <a:spcPts val="0"/>
              </a:spcAft>
              <a:defRPr sz="2400" b="0">
                <a:solidFill>
                  <a:srgbClr val="002C49"/>
                </a:solidFill>
                <a:latin typeface="Montserrat"/>
              </a:defRPr>
            </a:pPr>
            <a:r>
              <a:t>Communication : parcours.</a:t>
            </a:r>
          </a:p>
        </p:txBody>
      </p:sp>
      <p:sp>
        <p:nvSpPr>
          <p:cNvPr id="15" name="Rectangle 14"/>
          <p:cNvSpPr/>
          <p:nvPr/>
        </p:nvSpPr>
        <p:spPr>
          <a:xfrm>
            <a:off x="914400" y="5029200"/>
            <a:ext cx="16459200" cy="10972"/>
          </a:xfrm>
          <a:prstGeom prst="rect">
            <a:avLst/>
          </a:prstGeom>
          <a:solidFill>
            <a:srgbClr val="D9E2E7"/>
          </a:solidFill>
          <a:ln>
            <a:noFill/>
          </a:ln>
        </p:spPr>
        <p:txBody>
          <a:bodyPr rtlCol="0" anchor="ctr"/>
          <a:lstStyle/>
          <a:p>
            <a:pPr algn="ctr"/>
          </a:p>
        </p:txBody>
      </p:sp>
      <p:sp>
        <p:nvSpPr>
          <p:cNvPr id="16" name="TextBox 15"/>
          <p:cNvSpPr txBox="1"/>
          <p:nvPr/>
        </p:nvSpPr>
        <p:spPr>
          <a:xfrm>
            <a:off x="914400" y="5157216"/>
            <a:ext cx="3749039" cy="777240"/>
          </a:xfrm>
          <a:prstGeom prst="rect">
            <a:avLst/>
          </a:prstGeom>
          <a:noFill/>
        </p:spPr>
        <p:txBody>
          <a:bodyPr wrap="square" lIns="0" rIns="0" tIns="0" bIns="0">
            <a:spAutoFit/>
          </a:bodyPr>
          <a:lstStyle/>
          <a:p>
            <a:pPr>
              <a:lnSpc>
                <a:spcPts val="2900"/>
              </a:lnSpc>
              <a:spcBef>
                <a:spcPts val="0"/>
              </a:spcBef>
              <a:spcAft>
                <a:spcPts val="0"/>
              </a:spcAft>
              <a:defRPr sz="2400" b="1">
                <a:solidFill>
                  <a:srgbClr val="002C49"/>
                </a:solidFill>
                <a:latin typeface="Montserrat"/>
              </a:defRPr>
            </a:pPr>
            <a:r>
              <a:t>PROTÉGER</a:t>
            </a:r>
          </a:p>
        </p:txBody>
      </p:sp>
      <p:sp>
        <p:nvSpPr>
          <p:cNvPr id="17" name="TextBox 16"/>
          <p:cNvSpPr txBox="1"/>
          <p:nvPr/>
        </p:nvSpPr>
        <p:spPr>
          <a:xfrm>
            <a:off x="4910328" y="5157216"/>
            <a:ext cx="7525512" cy="749808"/>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Guide IA responsable ; protection des données clients.</a:t>
            </a:r>
          </a:p>
        </p:txBody>
      </p:sp>
      <p:sp>
        <p:nvSpPr>
          <p:cNvPr id="18" name="TextBox 17"/>
          <p:cNvSpPr txBox="1"/>
          <p:nvPr/>
        </p:nvSpPr>
        <p:spPr>
          <a:xfrm>
            <a:off x="12874752" y="5157216"/>
            <a:ext cx="4480560" cy="749808"/>
          </a:xfrm>
          <a:prstGeom prst="rect">
            <a:avLst/>
          </a:prstGeom>
          <a:noFill/>
        </p:spPr>
        <p:txBody>
          <a:bodyPr wrap="square" lIns="0" rIns="0" tIns="0" bIns="0">
            <a:spAutoFit/>
          </a:bodyPr>
          <a:lstStyle/>
          <a:p>
            <a:pPr>
              <a:lnSpc>
                <a:spcPts val="2900"/>
              </a:lnSpc>
              <a:spcBef>
                <a:spcPts val="0"/>
              </a:spcBef>
              <a:spcAft>
                <a:spcPts val="0"/>
              </a:spcAft>
              <a:defRPr sz="2400" b="0">
                <a:solidFill>
                  <a:srgbClr val="002C49"/>
                </a:solidFill>
                <a:latin typeface="Montserrat"/>
              </a:defRPr>
            </a:pPr>
            <a:r>
              <a:t>DSI : anonymisation.</a:t>
            </a:r>
          </a:p>
          <a:p>
            <a:pPr>
              <a:lnSpc>
                <a:spcPts val="2900"/>
              </a:lnSpc>
              <a:spcBef>
                <a:spcPts val="0"/>
              </a:spcBef>
              <a:spcAft>
                <a:spcPts val="0"/>
              </a:spcAft>
              <a:defRPr sz="2400" b="0">
                <a:solidFill>
                  <a:srgbClr val="002C49"/>
                </a:solidFill>
                <a:latin typeface="Montserrat"/>
              </a:defRPr>
            </a:pPr>
            <a:r>
              <a:t>Juridique : cadre.</a:t>
            </a:r>
          </a:p>
        </p:txBody>
      </p:sp>
      <p:sp>
        <p:nvSpPr>
          <p:cNvPr id="19" name="Rectangle 18"/>
          <p:cNvSpPr/>
          <p:nvPr/>
        </p:nvSpPr>
        <p:spPr>
          <a:xfrm>
            <a:off x="914400" y="5879592"/>
            <a:ext cx="16459200" cy="10972"/>
          </a:xfrm>
          <a:prstGeom prst="rect">
            <a:avLst/>
          </a:prstGeom>
          <a:solidFill>
            <a:srgbClr val="D9E2E7"/>
          </a:solidFill>
          <a:ln>
            <a:noFill/>
          </a:ln>
        </p:spPr>
        <p:txBody>
          <a:bodyPr rtlCol="0" anchor="ctr"/>
          <a:lstStyle/>
          <a:p>
            <a:pPr algn="ctr"/>
          </a:p>
        </p:txBody>
      </p:sp>
      <p:sp>
        <p:nvSpPr>
          <p:cNvPr id="20" name="TextBox 19"/>
          <p:cNvSpPr txBox="1"/>
          <p:nvPr/>
        </p:nvSpPr>
        <p:spPr>
          <a:xfrm>
            <a:off x="914400" y="6007608"/>
            <a:ext cx="3749039" cy="777240"/>
          </a:xfrm>
          <a:prstGeom prst="rect">
            <a:avLst/>
          </a:prstGeom>
          <a:noFill/>
        </p:spPr>
        <p:txBody>
          <a:bodyPr wrap="square" lIns="0" rIns="0" tIns="0" bIns="0">
            <a:spAutoFit/>
          </a:bodyPr>
          <a:lstStyle/>
          <a:p>
            <a:pPr>
              <a:lnSpc>
                <a:spcPts val="2900"/>
              </a:lnSpc>
              <a:spcBef>
                <a:spcPts val="0"/>
              </a:spcBef>
              <a:spcAft>
                <a:spcPts val="0"/>
              </a:spcAft>
              <a:defRPr sz="2400" b="1">
                <a:solidFill>
                  <a:srgbClr val="002C49"/>
                </a:solidFill>
                <a:latin typeface="Montserrat"/>
              </a:defRPr>
            </a:pPr>
            <a:r>
              <a:t>MONTRER</a:t>
            </a:r>
          </a:p>
        </p:txBody>
      </p:sp>
      <p:sp>
        <p:nvSpPr>
          <p:cNvPr id="21" name="TextBox 20"/>
          <p:cNvSpPr txBox="1"/>
          <p:nvPr/>
        </p:nvSpPr>
        <p:spPr>
          <a:xfrm>
            <a:off x="4910328" y="6007608"/>
            <a:ext cx="7525512" cy="749808"/>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Hub IA ; série « 1 problème → 1 usage IA ».</a:t>
            </a:r>
          </a:p>
        </p:txBody>
      </p:sp>
      <p:sp>
        <p:nvSpPr>
          <p:cNvPr id="22" name="TextBox 21"/>
          <p:cNvSpPr txBox="1"/>
          <p:nvPr/>
        </p:nvSpPr>
        <p:spPr>
          <a:xfrm>
            <a:off x="12874752" y="6007608"/>
            <a:ext cx="4480560" cy="749808"/>
          </a:xfrm>
          <a:prstGeom prst="rect">
            <a:avLst/>
          </a:prstGeom>
          <a:noFill/>
        </p:spPr>
        <p:txBody>
          <a:bodyPr wrap="square" lIns="0" rIns="0" tIns="0" bIns="0">
            <a:spAutoFit/>
          </a:bodyPr>
          <a:lstStyle/>
          <a:p>
            <a:pPr>
              <a:lnSpc>
                <a:spcPts val="2900"/>
              </a:lnSpc>
              <a:spcBef>
                <a:spcPts val="0"/>
              </a:spcBef>
              <a:spcAft>
                <a:spcPts val="0"/>
              </a:spcAft>
              <a:defRPr sz="2400" b="0">
                <a:solidFill>
                  <a:srgbClr val="002C49"/>
                </a:solidFill>
                <a:latin typeface="Montserrat"/>
              </a:defRPr>
            </a:pPr>
            <a:r>
              <a:t>DSI / métiers : outils et cas.</a:t>
            </a:r>
          </a:p>
        </p:txBody>
      </p:sp>
      <p:sp>
        <p:nvSpPr>
          <p:cNvPr id="23" name="Rectangle 22"/>
          <p:cNvSpPr/>
          <p:nvPr/>
        </p:nvSpPr>
        <p:spPr>
          <a:xfrm>
            <a:off x="914400" y="6729984"/>
            <a:ext cx="16459200" cy="10972"/>
          </a:xfrm>
          <a:prstGeom prst="rect">
            <a:avLst/>
          </a:prstGeom>
          <a:solidFill>
            <a:srgbClr val="D9E2E7"/>
          </a:solidFill>
          <a:ln>
            <a:noFill/>
          </a:ln>
        </p:spPr>
        <p:txBody>
          <a:bodyPr rtlCol="0" anchor="ctr"/>
          <a:lstStyle/>
          <a:p>
            <a:pPr algn="ctr"/>
          </a:p>
        </p:txBody>
      </p:sp>
      <p:sp>
        <p:nvSpPr>
          <p:cNvPr id="24" name="TextBox 23"/>
          <p:cNvSpPr txBox="1"/>
          <p:nvPr/>
        </p:nvSpPr>
        <p:spPr>
          <a:xfrm>
            <a:off x="914400" y="6858000"/>
            <a:ext cx="3749039" cy="777240"/>
          </a:xfrm>
          <a:prstGeom prst="rect">
            <a:avLst/>
          </a:prstGeom>
          <a:noFill/>
        </p:spPr>
        <p:txBody>
          <a:bodyPr wrap="square" lIns="0" rIns="0" tIns="0" bIns="0">
            <a:spAutoFit/>
          </a:bodyPr>
          <a:lstStyle/>
          <a:p>
            <a:pPr>
              <a:lnSpc>
                <a:spcPts val="2900"/>
              </a:lnSpc>
              <a:spcBef>
                <a:spcPts val="0"/>
              </a:spcBef>
              <a:spcAft>
                <a:spcPts val="0"/>
              </a:spcAft>
              <a:defRPr sz="2400" b="1">
                <a:solidFill>
                  <a:srgbClr val="002C49"/>
                </a:solidFill>
                <a:latin typeface="Montserrat"/>
              </a:defRPr>
            </a:pPr>
            <a:r>
              <a:t>AGIR</a:t>
            </a:r>
          </a:p>
        </p:txBody>
      </p:sp>
      <p:sp>
        <p:nvSpPr>
          <p:cNvPr id="25" name="TextBox 24"/>
          <p:cNvSpPr txBox="1"/>
          <p:nvPr/>
        </p:nvSpPr>
        <p:spPr>
          <a:xfrm>
            <a:off x="4910328" y="6858000"/>
            <a:ext cx="7525512" cy="749808"/>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Relais formations ; ressources, prompts et outils ;</a:t>
            </a:r>
          </a:p>
          <a:p>
            <a:pPr>
              <a:lnSpc>
                <a:spcPts val="2900"/>
              </a:lnSpc>
              <a:spcBef>
                <a:spcPts val="0"/>
              </a:spcBef>
              <a:spcAft>
                <a:spcPts val="0"/>
              </a:spcAft>
              <a:defRPr sz="2400" b="0">
                <a:solidFill>
                  <a:srgbClr val="526777"/>
                </a:solidFill>
                <a:latin typeface="Montserrat"/>
              </a:defRPr>
            </a:pPr>
            <a:r>
              <a:t>Challenge IA Groupe.</a:t>
            </a:r>
          </a:p>
        </p:txBody>
      </p:sp>
      <p:sp>
        <p:nvSpPr>
          <p:cNvPr id="26" name="TextBox 25"/>
          <p:cNvSpPr txBox="1"/>
          <p:nvPr/>
        </p:nvSpPr>
        <p:spPr>
          <a:xfrm>
            <a:off x="12874752" y="6858000"/>
            <a:ext cx="4480560" cy="749808"/>
          </a:xfrm>
          <a:prstGeom prst="rect">
            <a:avLst/>
          </a:prstGeom>
          <a:noFill/>
        </p:spPr>
        <p:txBody>
          <a:bodyPr wrap="square" lIns="0" rIns="0" tIns="0" bIns="0">
            <a:spAutoFit/>
          </a:bodyPr>
          <a:lstStyle/>
          <a:p>
            <a:pPr>
              <a:lnSpc>
                <a:spcPts val="2900"/>
              </a:lnSpc>
              <a:spcBef>
                <a:spcPts val="0"/>
              </a:spcBef>
              <a:spcAft>
                <a:spcPts val="0"/>
              </a:spcAft>
              <a:defRPr sz="2400" b="0">
                <a:solidFill>
                  <a:srgbClr val="002C49"/>
                </a:solidFill>
                <a:latin typeface="Montserrat"/>
              </a:defRPr>
            </a:pPr>
            <a:r>
              <a:t>RH Formation : compétences.</a:t>
            </a:r>
          </a:p>
        </p:txBody>
      </p:sp>
      <p:sp>
        <p:nvSpPr>
          <p:cNvPr id="27" name="Rectangle 26"/>
          <p:cNvSpPr/>
          <p:nvPr/>
        </p:nvSpPr>
        <p:spPr>
          <a:xfrm>
            <a:off x="914400" y="7580375"/>
            <a:ext cx="16459200" cy="10972"/>
          </a:xfrm>
          <a:prstGeom prst="rect">
            <a:avLst/>
          </a:prstGeom>
          <a:solidFill>
            <a:srgbClr val="D9E2E7"/>
          </a:solidFill>
          <a:ln>
            <a:noFill/>
          </a:ln>
        </p:spPr>
        <p:txBody>
          <a:bodyPr rtlCol="0" anchor="ctr"/>
          <a:lstStyle/>
          <a:p>
            <a:pPr algn="ctr"/>
          </a:p>
        </p:txBody>
      </p:sp>
      <p:sp>
        <p:nvSpPr>
          <p:cNvPr id="28" name="TextBox 27"/>
          <p:cNvSpPr txBox="1"/>
          <p:nvPr/>
        </p:nvSpPr>
        <p:spPr>
          <a:xfrm>
            <a:off x="914400" y="7708392"/>
            <a:ext cx="3749039" cy="777240"/>
          </a:xfrm>
          <a:prstGeom prst="rect">
            <a:avLst/>
          </a:prstGeom>
          <a:noFill/>
        </p:spPr>
        <p:txBody>
          <a:bodyPr wrap="square" lIns="0" rIns="0" tIns="0" bIns="0">
            <a:spAutoFit/>
          </a:bodyPr>
          <a:lstStyle/>
          <a:p>
            <a:pPr>
              <a:lnSpc>
                <a:spcPts val="2900"/>
              </a:lnSpc>
              <a:spcBef>
                <a:spcPts val="0"/>
              </a:spcBef>
              <a:spcAft>
                <a:spcPts val="0"/>
              </a:spcAft>
              <a:defRPr sz="2400" b="1">
                <a:solidFill>
                  <a:srgbClr val="002C49"/>
                </a:solidFill>
                <a:latin typeface="Montserrat"/>
              </a:defRPr>
            </a:pPr>
            <a:r>
              <a:t>CAPITALISER</a:t>
            </a:r>
          </a:p>
        </p:txBody>
      </p:sp>
      <p:sp>
        <p:nvSpPr>
          <p:cNvPr id="29" name="TextBox 28"/>
          <p:cNvSpPr txBox="1"/>
          <p:nvPr/>
        </p:nvSpPr>
        <p:spPr>
          <a:xfrm>
            <a:off x="4910328" y="7708392"/>
            <a:ext cx="7525512" cy="749808"/>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Pack final « IA par métier » en fin d’exercice.</a:t>
            </a:r>
          </a:p>
        </p:txBody>
      </p:sp>
      <p:sp>
        <p:nvSpPr>
          <p:cNvPr id="30" name="TextBox 29"/>
          <p:cNvSpPr txBox="1"/>
          <p:nvPr/>
        </p:nvSpPr>
        <p:spPr>
          <a:xfrm>
            <a:off x="12874752" y="7708392"/>
            <a:ext cx="4480560" cy="749808"/>
          </a:xfrm>
          <a:prstGeom prst="rect">
            <a:avLst/>
          </a:prstGeom>
          <a:noFill/>
        </p:spPr>
        <p:txBody>
          <a:bodyPr wrap="square" lIns="0" rIns="0" tIns="0" bIns="0">
            <a:spAutoFit/>
          </a:bodyPr>
          <a:lstStyle/>
          <a:p>
            <a:pPr>
              <a:lnSpc>
                <a:spcPts val="2900"/>
              </a:lnSpc>
              <a:spcBef>
                <a:spcPts val="0"/>
              </a:spcBef>
              <a:spcAft>
                <a:spcPts val="0"/>
              </a:spcAft>
              <a:defRPr sz="2400" b="0">
                <a:solidFill>
                  <a:srgbClr val="002C49"/>
                </a:solidFill>
                <a:latin typeface="Montserrat"/>
              </a:defRPr>
            </a:pPr>
            <a:r>
              <a:t>Métiers + Communication.</a:t>
            </a:r>
          </a:p>
        </p:txBody>
      </p:sp>
      <p:sp>
        <p:nvSpPr>
          <p:cNvPr id="31" name="Rectangle 30"/>
          <p:cNvSpPr/>
          <p:nvPr/>
        </p:nvSpPr>
        <p:spPr>
          <a:xfrm>
            <a:off x="822960" y="8823960"/>
            <a:ext cx="16642080" cy="10972"/>
          </a:xfrm>
          <a:prstGeom prst="rect">
            <a:avLst/>
          </a:prstGeom>
          <a:solidFill>
            <a:srgbClr val="D9E2E7"/>
          </a:solidFill>
          <a:ln>
            <a:noFill/>
          </a:ln>
        </p:spPr>
        <p:txBody>
          <a:bodyPr rtlCol="0" anchor="ctr"/>
          <a:lstStyle/>
          <a:p>
            <a:pPr algn="ctr"/>
          </a:p>
        </p:txBody>
      </p:sp>
      <p:sp>
        <p:nvSpPr>
          <p:cNvPr id="32" name="TextBox 31"/>
          <p:cNvSpPr txBox="1"/>
          <p:nvPr/>
        </p:nvSpPr>
        <p:spPr>
          <a:xfrm>
            <a:off x="868680" y="9025128"/>
            <a:ext cx="16486632" cy="768096"/>
          </a:xfrm>
          <a:prstGeom prst="rect">
            <a:avLst/>
          </a:prstGeom>
          <a:noFill/>
        </p:spPr>
        <p:txBody>
          <a:bodyPr wrap="square" lIns="0" rIns="0" tIns="0" bIns="0">
            <a:spAutoFit/>
          </a:bodyPr>
          <a:lstStyle/>
          <a:p>
            <a:pPr>
              <a:lnSpc>
                <a:spcPts val="2800"/>
              </a:lnSpc>
              <a:spcBef>
                <a:spcPts val="0"/>
              </a:spcBef>
              <a:spcAft>
                <a:spcPts val="0"/>
              </a:spcAft>
              <a:defRPr sz="2400" b="1">
                <a:solidFill>
                  <a:srgbClr val="002C49"/>
                </a:solidFill>
                <a:latin typeface="Montserrat"/>
              </a:defRPr>
            </a:pPr>
            <a:r>
              <a:t>Hub intranet après lancement ; relais disponibles avant. Zoom IA ne remplace pas le parcours.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3.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ANNEXE A2 / CHANGE</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Kit Business Partner par pôle /</a:t>
            </a:r>
          </a:p>
          <a:p>
            <a:pPr>
              <a:lnSpc>
                <a:spcPts val="5300"/>
              </a:lnSpc>
              <a:spcBef>
                <a:spcPts val="0"/>
              </a:spcBef>
              <a:spcAft>
                <a:spcPts val="0"/>
              </a:spcAft>
              <a:defRPr sz="4600" b="0">
                <a:solidFill>
                  <a:srgbClr val="002C49"/>
                </a:solidFill>
                <a:latin typeface="Nohemi"/>
              </a:defRPr>
            </a:pPr>
            <a:r>
              <a:t>Valorisation du cross-sell : contenu complet.</a:t>
            </a:r>
          </a:p>
        </p:txBody>
      </p:sp>
      <p:sp>
        <p:nvSpPr>
          <p:cNvPr id="5" name="Rectangle 4"/>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6" name="TextBox 5"/>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7" name="TextBox 6"/>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22</a:t>
            </a:r>
          </a:p>
        </p:txBody>
      </p:sp>
      <p:sp>
        <p:nvSpPr>
          <p:cNvPr id="8" name="TextBox 7"/>
          <p:cNvSpPr txBox="1"/>
          <p:nvPr/>
        </p:nvSpPr>
        <p:spPr>
          <a:xfrm>
            <a:off x="896112" y="3456432"/>
            <a:ext cx="7635240" cy="548640"/>
          </a:xfrm>
          <a:prstGeom prst="rect">
            <a:avLst/>
          </a:prstGeom>
          <a:noFill/>
        </p:spPr>
        <p:txBody>
          <a:bodyPr wrap="square" lIns="0" rIns="0" tIns="0" bIns="0">
            <a:spAutoFit/>
          </a:bodyPr>
          <a:lstStyle/>
          <a:p>
            <a:pPr>
              <a:lnSpc>
                <a:spcPts val="3321"/>
              </a:lnSpc>
              <a:spcBef>
                <a:spcPts val="0"/>
              </a:spcBef>
              <a:spcAft>
                <a:spcPts val="0"/>
              </a:spcAft>
              <a:defRPr sz="2700" b="1">
                <a:solidFill>
                  <a:srgbClr val="FF6633"/>
                </a:solidFill>
                <a:latin typeface="Montserrat"/>
              </a:defRPr>
            </a:pPr>
            <a:r>
              <a:t>KIT / POUR CHAQUE PÔLE</a:t>
            </a:r>
          </a:p>
        </p:txBody>
      </p:sp>
      <p:sp>
        <p:nvSpPr>
          <p:cNvPr id="9" name="TextBox 8"/>
          <p:cNvSpPr txBox="1"/>
          <p:nvPr/>
        </p:nvSpPr>
        <p:spPr>
          <a:xfrm>
            <a:off x="896112" y="4306824"/>
            <a:ext cx="7635240" cy="3776472"/>
          </a:xfrm>
          <a:prstGeom prst="rect">
            <a:avLst/>
          </a:prstGeom>
          <a:noFill/>
        </p:spPr>
        <p:txBody>
          <a:bodyPr wrap="square" lIns="0" rIns="0" tIns="0" bIns="0">
            <a:spAutoFit/>
          </a:bodyPr>
          <a:lstStyle/>
          <a:p>
            <a:pPr>
              <a:lnSpc>
                <a:spcPts val="3900"/>
              </a:lnSpc>
              <a:spcBef>
                <a:spcPts val="0"/>
              </a:spcBef>
              <a:spcAft>
                <a:spcPts val="0"/>
              </a:spcAft>
              <a:defRPr sz="2600" b="0">
                <a:solidFill>
                  <a:srgbClr val="002C49"/>
                </a:solidFill>
                <a:latin typeface="Montserrat"/>
              </a:defRPr>
            </a:pPr>
            <a:r>
              <a:t>Prompt IA brandé Leyton.</a:t>
            </a:r>
          </a:p>
          <a:p>
            <a:pPr>
              <a:lnSpc>
                <a:spcPts val="3900"/>
              </a:lnSpc>
              <a:spcBef>
                <a:spcPts val="0"/>
              </a:spcBef>
              <a:spcAft>
                <a:spcPts val="0"/>
              </a:spcAft>
              <a:defRPr sz="2600" b="0">
                <a:solidFill>
                  <a:srgbClr val="002C49"/>
                </a:solidFill>
                <a:latin typeface="Montserrat"/>
              </a:defRPr>
            </a:pPr>
            <a:r>
              <a:t>Catalogue des offres.</a:t>
            </a:r>
          </a:p>
          <a:p>
            <a:pPr>
              <a:lnSpc>
                <a:spcPts val="3900"/>
              </a:lnSpc>
              <a:spcBef>
                <a:spcPts val="0"/>
              </a:spcBef>
              <a:spcAft>
                <a:spcPts val="0"/>
              </a:spcAft>
              <a:defRPr sz="2600" b="0">
                <a:solidFill>
                  <a:srgbClr val="002C49"/>
                </a:solidFill>
                <a:latin typeface="Montserrat"/>
              </a:defRPr>
            </a:pPr>
            <a:r>
              <a:t>Bibliothèque de slides et preuves.</a:t>
            </a:r>
          </a:p>
          <a:p>
            <a:pPr>
              <a:lnSpc>
                <a:spcPts val="3900"/>
              </a:lnSpc>
              <a:spcBef>
                <a:spcPts val="0"/>
              </a:spcBef>
              <a:spcAft>
                <a:spcPts val="0"/>
              </a:spcAft>
              <a:defRPr sz="2600" b="0">
                <a:solidFill>
                  <a:srgbClr val="002C49"/>
                </a:solidFill>
                <a:latin typeface="Montserrat"/>
              </a:defRPr>
            </a:pPr>
            <a:r>
              <a:t>Vidéos corporate, produits, outils, clients.</a:t>
            </a:r>
          </a:p>
          <a:p>
            <a:pPr>
              <a:lnSpc>
                <a:spcPts val="3900"/>
              </a:lnSpc>
              <a:spcBef>
                <a:spcPts val="0"/>
              </a:spcBef>
              <a:spcAft>
                <a:spcPts val="0"/>
              </a:spcAft>
              <a:defRPr sz="2600" b="0">
                <a:solidFill>
                  <a:srgbClr val="002C49"/>
                </a:solidFill>
                <a:latin typeface="Montserrat"/>
              </a:defRPr>
            </a:pPr>
            <a:r>
              <a:t>Chiffres et références validés.</a:t>
            </a:r>
          </a:p>
          <a:p>
            <a:pPr>
              <a:lnSpc>
                <a:spcPts val="3900"/>
              </a:lnSpc>
              <a:spcBef>
                <a:spcPts val="0"/>
              </a:spcBef>
              <a:spcAft>
                <a:spcPts val="0"/>
              </a:spcAft>
              <a:defRPr sz="2600" b="0">
                <a:solidFill>
                  <a:srgbClr val="002C49"/>
                </a:solidFill>
                <a:latin typeface="Montserrat"/>
              </a:defRPr>
            </a:pPr>
            <a:r>
              <a:t>Signaux clients → offres associées.</a:t>
            </a:r>
          </a:p>
          <a:p>
            <a:pPr>
              <a:lnSpc>
                <a:spcPts val="3900"/>
              </a:lnSpc>
              <a:spcBef>
                <a:spcPts val="0"/>
              </a:spcBef>
              <a:spcAft>
                <a:spcPts val="0"/>
              </a:spcAft>
              <a:defRPr sz="2600" b="0">
                <a:solidFill>
                  <a:srgbClr val="002C49"/>
                </a:solidFill>
                <a:latin typeface="Montserrat"/>
              </a:defRPr>
            </a:pPr>
            <a:r>
              <a:t>Contacts experts.</a:t>
            </a:r>
          </a:p>
        </p:txBody>
      </p:sp>
      <p:cxnSp>
        <p:nvCxnSpPr>
          <p:cNvPr id="10" name="Connector 9"/>
          <p:cNvCxnSpPr/>
          <p:nvPr/>
        </p:nvCxnSpPr>
        <p:spPr>
          <a:xfrm>
            <a:off x="9015984" y="3438144"/>
            <a:ext cx="0" cy="5047488"/>
          </a:xfrm>
          <a:prstGeom prst="line">
            <a:avLst/>
          </a:prstGeom>
          <a:ln w="17780">
            <a:solidFill>
              <a:srgbClr val="D9E2E7"/>
            </a:solidFill>
          </a:ln>
        </p:spPr>
      </p:cxnSp>
      <p:sp>
        <p:nvSpPr>
          <p:cNvPr id="11" name="TextBox 10"/>
          <p:cNvSpPr txBox="1"/>
          <p:nvPr/>
        </p:nvSpPr>
        <p:spPr>
          <a:xfrm>
            <a:off x="9601200" y="3456432"/>
            <a:ext cx="7735824" cy="548640"/>
          </a:xfrm>
          <a:prstGeom prst="rect">
            <a:avLst/>
          </a:prstGeom>
          <a:noFill/>
        </p:spPr>
        <p:txBody>
          <a:bodyPr wrap="square" lIns="0" rIns="0" tIns="0" bIns="0">
            <a:spAutoFit/>
          </a:bodyPr>
          <a:lstStyle/>
          <a:p>
            <a:pPr>
              <a:lnSpc>
                <a:spcPts val="3321"/>
              </a:lnSpc>
              <a:spcBef>
                <a:spcPts val="0"/>
              </a:spcBef>
              <a:spcAft>
                <a:spcPts val="0"/>
              </a:spcAft>
              <a:defRPr sz="2700" b="1">
                <a:solidFill>
                  <a:srgbClr val="FF6633"/>
                </a:solidFill>
                <a:latin typeface="Montserrat"/>
              </a:defRPr>
            </a:pPr>
            <a:r>
              <a:t>CROSS-SELL / CHAÎNE ET RÉCIT</a:t>
            </a:r>
          </a:p>
        </p:txBody>
      </p:sp>
      <p:sp>
        <p:nvSpPr>
          <p:cNvPr id="12" name="TextBox 11"/>
          <p:cNvSpPr txBox="1"/>
          <p:nvPr/>
        </p:nvSpPr>
        <p:spPr>
          <a:xfrm>
            <a:off x="9601200" y="4343400"/>
            <a:ext cx="7735824" cy="1143000"/>
          </a:xfrm>
          <a:prstGeom prst="rect">
            <a:avLst/>
          </a:prstGeom>
          <a:noFill/>
        </p:spPr>
        <p:txBody>
          <a:bodyPr wrap="square" lIns="0" rIns="0" tIns="0" bIns="0">
            <a:spAutoFit/>
          </a:bodyPr>
          <a:lstStyle/>
          <a:p>
            <a:pPr>
              <a:lnSpc>
                <a:spcPts val="3300"/>
              </a:lnSpc>
              <a:spcBef>
                <a:spcPts val="0"/>
              </a:spcBef>
              <a:spcAft>
                <a:spcPts val="0"/>
              </a:spcAft>
              <a:defRPr sz="2500" b="0">
                <a:solidFill>
                  <a:srgbClr val="002C49"/>
                </a:solidFill>
                <a:latin typeface="Montserrat"/>
              </a:defRPr>
            </a:pPr>
            <a:r>
              <a:t>Sourcing → sélection → interview</a:t>
            </a:r>
          </a:p>
          <a:p>
            <a:pPr>
              <a:lnSpc>
                <a:spcPts val="3300"/>
              </a:lnSpc>
              <a:spcBef>
                <a:spcPts val="0"/>
              </a:spcBef>
              <a:spcAft>
                <a:spcPts val="0"/>
              </a:spcAft>
              <a:defRPr sz="2500" b="0">
                <a:solidFill>
                  <a:srgbClr val="002C49"/>
                </a:solidFill>
                <a:latin typeface="Montserrat"/>
              </a:defRPr>
            </a:pPr>
            <a:r>
              <a:t>→ validation → diffusion → capitalisation.</a:t>
            </a:r>
          </a:p>
        </p:txBody>
      </p:sp>
      <p:sp>
        <p:nvSpPr>
          <p:cNvPr id="13" name="TextBox 12"/>
          <p:cNvSpPr txBox="1"/>
          <p:nvPr/>
        </p:nvSpPr>
        <p:spPr>
          <a:xfrm>
            <a:off x="9601200" y="5614416"/>
            <a:ext cx="7735824" cy="1252728"/>
          </a:xfrm>
          <a:prstGeom prst="rect">
            <a:avLst/>
          </a:prstGeom>
          <a:noFill/>
        </p:spPr>
        <p:txBody>
          <a:bodyPr wrap="square" lIns="0" rIns="0" tIns="0" bIns="0">
            <a:spAutoFit/>
          </a:bodyPr>
          <a:lstStyle/>
          <a:p>
            <a:pPr>
              <a:lnSpc>
                <a:spcPts val="3300"/>
              </a:lnSpc>
              <a:spcBef>
                <a:spcPts val="0"/>
              </a:spcBef>
              <a:spcAft>
                <a:spcPts val="0"/>
              </a:spcAft>
              <a:defRPr sz="2500" b="0">
                <a:solidFill>
                  <a:srgbClr val="002C49"/>
                </a:solidFill>
                <a:latin typeface="Montserrat"/>
              </a:defRPr>
            </a:pPr>
            <a:r>
              <a:t>Signal → besoin client → relais →</a:t>
            </a:r>
          </a:p>
          <a:p>
            <a:pPr>
              <a:lnSpc>
                <a:spcPts val="3300"/>
              </a:lnSpc>
              <a:spcBef>
                <a:spcPts val="0"/>
              </a:spcBef>
              <a:spcAft>
                <a:spcPts val="0"/>
              </a:spcAft>
              <a:defRPr sz="2500" b="0">
                <a:solidFill>
                  <a:srgbClr val="002C49"/>
                </a:solidFill>
                <a:latin typeface="Montserrat"/>
              </a:defRPr>
            </a:pPr>
            <a:r>
              <a:t>expertise Leyton → valeur / résultat →</a:t>
            </a:r>
          </a:p>
          <a:p>
            <a:pPr>
              <a:lnSpc>
                <a:spcPts val="3300"/>
              </a:lnSpc>
              <a:spcBef>
                <a:spcPts val="0"/>
              </a:spcBef>
              <a:spcAft>
                <a:spcPts val="0"/>
              </a:spcAft>
              <a:defRPr sz="2500" b="0">
                <a:solidFill>
                  <a:srgbClr val="002C49"/>
                </a:solidFill>
                <a:latin typeface="Montserrat"/>
              </a:defRPr>
            </a:pPr>
            <a:r>
              <a:t>réflexe à retenir.</a:t>
            </a:r>
          </a:p>
        </p:txBody>
      </p:sp>
      <p:sp>
        <p:nvSpPr>
          <p:cNvPr id="14" name="TextBox 13"/>
          <p:cNvSpPr txBox="1"/>
          <p:nvPr/>
        </p:nvSpPr>
        <p:spPr>
          <a:xfrm>
            <a:off x="9601200" y="7306056"/>
            <a:ext cx="7735824" cy="1069848"/>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Teams : sourcing ; intranet : principal ;</a:t>
            </a:r>
          </a:p>
          <a:p>
            <a:pPr>
              <a:lnSpc>
                <a:spcPts val="2900"/>
              </a:lnSpc>
              <a:spcBef>
                <a:spcPts val="0"/>
              </a:spcBef>
              <a:spcAft>
                <a:spcPts val="0"/>
              </a:spcAft>
              <a:defRPr sz="2400" b="0">
                <a:solidFill>
                  <a:srgbClr val="526777"/>
                </a:solidFill>
                <a:latin typeface="Montserrat"/>
              </a:defRPr>
            </a:pPr>
            <a:r>
              <a:t>Neoscreen : amplification ; Leytonienne :</a:t>
            </a:r>
          </a:p>
          <a:p>
            <a:pPr>
              <a:lnSpc>
                <a:spcPts val="2900"/>
              </a:lnSpc>
              <a:spcBef>
                <a:spcPts val="0"/>
              </a:spcBef>
              <a:spcAft>
                <a:spcPts val="0"/>
              </a:spcAft>
              <a:defRPr sz="2400" b="0">
                <a:solidFill>
                  <a:srgbClr val="526777"/>
                </a:solidFill>
                <a:latin typeface="Montserrat"/>
              </a:defRPr>
            </a:pPr>
            <a:r>
              <a:t>sélection premium ; vidéo : cas les plus forts.</a:t>
            </a:r>
          </a:p>
        </p:txBody>
      </p:sp>
      <p:sp>
        <p:nvSpPr>
          <p:cNvPr id="15" name="Rectangle 14"/>
          <p:cNvSpPr/>
          <p:nvPr/>
        </p:nvSpPr>
        <p:spPr>
          <a:xfrm>
            <a:off x="822960" y="8823960"/>
            <a:ext cx="16642080" cy="10972"/>
          </a:xfrm>
          <a:prstGeom prst="rect">
            <a:avLst/>
          </a:prstGeom>
          <a:solidFill>
            <a:srgbClr val="D9E2E7"/>
          </a:solidFill>
          <a:ln>
            <a:noFill/>
          </a:ln>
        </p:spPr>
        <p:txBody>
          <a:bodyPr rtlCol="0" anchor="ctr"/>
          <a:lstStyle/>
          <a:p>
            <a:pPr algn="ctr"/>
          </a:p>
        </p:txBody>
      </p:sp>
      <p:sp>
        <p:nvSpPr>
          <p:cNvPr id="16" name="TextBox 15"/>
          <p:cNvSpPr txBox="1"/>
          <p:nvPr/>
        </p:nvSpPr>
        <p:spPr>
          <a:xfrm>
            <a:off x="868680" y="9025128"/>
            <a:ext cx="16486632" cy="768096"/>
          </a:xfrm>
          <a:prstGeom prst="rect">
            <a:avLst/>
          </a:prstGeom>
          <a:noFill/>
        </p:spPr>
        <p:txBody>
          <a:bodyPr wrap="square" lIns="0" rIns="0" tIns="0" bIns="0">
            <a:spAutoFit/>
          </a:bodyPr>
          <a:lstStyle/>
          <a:p>
            <a:pPr>
              <a:lnSpc>
                <a:spcPts val="2800"/>
              </a:lnSpc>
              <a:spcBef>
                <a:spcPts val="0"/>
              </a:spcBef>
              <a:spcAft>
                <a:spcPts val="0"/>
              </a:spcAft>
              <a:defRPr sz="2400" b="1">
                <a:solidFill>
                  <a:srgbClr val="002C49"/>
                </a:solidFill>
                <a:latin typeface="Montserrat"/>
              </a:defRPr>
            </a:pPr>
            <a:r>
              <a:t>Kit : Com = expérience, branding, cohérence ; Marketing / métiers = fond commercial. Cross-sell : ≥ 4 vidéos / FY.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3.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ANNEXE A3 / BUSINESS</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Six leviers, des déclencheurs distincts.</a:t>
            </a:r>
          </a:p>
        </p:txBody>
      </p:sp>
      <p:sp>
        <p:nvSpPr>
          <p:cNvPr id="5" name="Rectangle 4"/>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6" name="TextBox 5"/>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7" name="TextBox 6"/>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23</a:t>
            </a:r>
          </a:p>
        </p:txBody>
      </p:sp>
      <p:sp>
        <p:nvSpPr>
          <p:cNvPr id="8" name="TextBox 7"/>
          <p:cNvSpPr txBox="1"/>
          <p:nvPr/>
        </p:nvSpPr>
        <p:spPr>
          <a:xfrm>
            <a:off x="914400" y="3429000"/>
            <a:ext cx="7680960" cy="713232"/>
          </a:xfrm>
          <a:prstGeom prst="rect">
            <a:avLst/>
          </a:prstGeom>
          <a:noFill/>
        </p:spPr>
        <p:txBody>
          <a:bodyPr wrap="square" lIns="0" rIns="0" tIns="0" bIns="0">
            <a:spAutoFit/>
          </a:bodyPr>
          <a:lstStyle/>
          <a:p>
            <a:pPr>
              <a:lnSpc>
                <a:spcPts val="2900"/>
              </a:lnSpc>
              <a:spcBef>
                <a:spcPts val="0"/>
              </a:spcBef>
              <a:spcAft>
                <a:spcPts val="0"/>
              </a:spcAft>
              <a:defRPr sz="2400" b="1">
                <a:solidFill>
                  <a:srgbClr val="002C49"/>
                </a:solidFill>
                <a:latin typeface="Montserrat"/>
              </a:defRPr>
            </a:pPr>
            <a:r>
              <a:t>Témoignages clients premium</a:t>
            </a:r>
          </a:p>
        </p:txBody>
      </p:sp>
      <p:sp>
        <p:nvSpPr>
          <p:cNvPr id="9" name="TextBox 8"/>
          <p:cNvSpPr txBox="1"/>
          <p:nvPr/>
        </p:nvSpPr>
        <p:spPr>
          <a:xfrm>
            <a:off x="9235440" y="3429000"/>
            <a:ext cx="8138160" cy="713232"/>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PME / ETI / Grands Comptes ; principalement vidéo.</a:t>
            </a:r>
          </a:p>
          <a:p>
            <a:pPr>
              <a:lnSpc>
                <a:spcPts val="2900"/>
              </a:lnSpc>
              <a:spcBef>
                <a:spcPts val="0"/>
              </a:spcBef>
              <a:spcAft>
                <a:spcPts val="0"/>
              </a:spcAft>
              <a:defRPr sz="2400" b="0">
                <a:solidFill>
                  <a:srgbClr val="526777"/>
                </a:solidFill>
                <a:latin typeface="Montserrat"/>
              </a:defRPr>
            </a:pPr>
            <a:r>
              <a:t>Problème → accompagnement → résultat / valeur.</a:t>
            </a:r>
          </a:p>
        </p:txBody>
      </p:sp>
      <p:sp>
        <p:nvSpPr>
          <p:cNvPr id="10" name="Rectangle 9"/>
          <p:cNvSpPr/>
          <p:nvPr/>
        </p:nvSpPr>
        <p:spPr>
          <a:xfrm>
            <a:off x="914400" y="4160520"/>
            <a:ext cx="16459200" cy="10972"/>
          </a:xfrm>
          <a:prstGeom prst="rect">
            <a:avLst/>
          </a:prstGeom>
          <a:solidFill>
            <a:srgbClr val="D9E2E7"/>
          </a:solidFill>
          <a:ln>
            <a:noFill/>
          </a:ln>
        </p:spPr>
        <p:txBody>
          <a:bodyPr rtlCol="0" anchor="ctr"/>
          <a:lstStyle/>
          <a:p>
            <a:pPr algn="ctr"/>
          </a:p>
        </p:txBody>
      </p:sp>
      <p:sp>
        <p:nvSpPr>
          <p:cNvPr id="11" name="TextBox 10"/>
          <p:cNvSpPr txBox="1"/>
          <p:nvPr/>
        </p:nvSpPr>
        <p:spPr>
          <a:xfrm>
            <a:off x="914400" y="4279392"/>
            <a:ext cx="7680960" cy="713232"/>
          </a:xfrm>
          <a:prstGeom prst="rect">
            <a:avLst/>
          </a:prstGeom>
          <a:noFill/>
        </p:spPr>
        <p:txBody>
          <a:bodyPr wrap="square" lIns="0" rIns="0" tIns="0" bIns="0">
            <a:spAutoFit/>
          </a:bodyPr>
          <a:lstStyle/>
          <a:p>
            <a:pPr>
              <a:lnSpc>
                <a:spcPts val="2900"/>
              </a:lnSpc>
              <a:spcBef>
                <a:spcPts val="0"/>
              </a:spcBef>
              <a:spcAft>
                <a:spcPts val="0"/>
              </a:spcAft>
              <a:defRPr sz="2400" b="1">
                <a:solidFill>
                  <a:srgbClr val="002C49"/>
                </a:solidFill>
                <a:latin typeface="Montserrat"/>
              </a:defRPr>
            </a:pPr>
            <a:r>
              <a:t>Valorisation des outils orientés client</a:t>
            </a:r>
          </a:p>
        </p:txBody>
      </p:sp>
      <p:sp>
        <p:nvSpPr>
          <p:cNvPr id="12" name="TextBox 11"/>
          <p:cNvSpPr txBox="1"/>
          <p:nvPr/>
        </p:nvSpPr>
        <p:spPr>
          <a:xfrm>
            <a:off x="9235440" y="4279392"/>
            <a:ext cx="8138160" cy="713232"/>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Vidéos internes / externes si pertinent au lancement ;</a:t>
            </a:r>
          </a:p>
          <a:p>
            <a:pPr>
              <a:lnSpc>
                <a:spcPts val="2900"/>
              </a:lnSpc>
              <a:spcBef>
                <a:spcPts val="0"/>
              </a:spcBef>
              <a:spcAft>
                <a:spcPts val="0"/>
              </a:spcAft>
              <a:defRPr sz="2400" b="0">
                <a:solidFill>
                  <a:srgbClr val="526777"/>
                </a:solidFill>
                <a:latin typeface="Montserrat"/>
              </a:defRPr>
            </a:pPr>
            <a:r>
              <a:t>montrer la valeur réelle. Modèle Oryx.</a:t>
            </a:r>
          </a:p>
        </p:txBody>
      </p:sp>
      <p:sp>
        <p:nvSpPr>
          <p:cNvPr id="13" name="Rectangle 12"/>
          <p:cNvSpPr/>
          <p:nvPr/>
        </p:nvSpPr>
        <p:spPr>
          <a:xfrm>
            <a:off x="914400" y="5010912"/>
            <a:ext cx="16459200" cy="10972"/>
          </a:xfrm>
          <a:prstGeom prst="rect">
            <a:avLst/>
          </a:prstGeom>
          <a:solidFill>
            <a:srgbClr val="D9E2E7"/>
          </a:solidFill>
          <a:ln>
            <a:noFill/>
          </a:ln>
        </p:spPr>
        <p:txBody>
          <a:bodyPr rtlCol="0" anchor="ctr"/>
          <a:lstStyle/>
          <a:p>
            <a:pPr algn="ctr"/>
          </a:p>
        </p:txBody>
      </p:sp>
      <p:sp>
        <p:nvSpPr>
          <p:cNvPr id="14" name="TextBox 13"/>
          <p:cNvSpPr txBox="1"/>
          <p:nvPr/>
        </p:nvSpPr>
        <p:spPr>
          <a:xfrm>
            <a:off x="914400" y="5129784"/>
            <a:ext cx="7680960" cy="713232"/>
          </a:xfrm>
          <a:prstGeom prst="rect">
            <a:avLst/>
          </a:prstGeom>
          <a:noFill/>
        </p:spPr>
        <p:txBody>
          <a:bodyPr wrap="square" lIns="0" rIns="0" tIns="0" bIns="0">
            <a:spAutoFit/>
          </a:bodyPr>
          <a:lstStyle/>
          <a:p>
            <a:pPr>
              <a:lnSpc>
                <a:spcPts val="2900"/>
              </a:lnSpc>
              <a:spcBef>
                <a:spcPts val="0"/>
              </a:spcBef>
              <a:spcAft>
                <a:spcPts val="0"/>
              </a:spcAft>
              <a:defRPr sz="2400" b="1">
                <a:solidFill>
                  <a:srgbClr val="002C49"/>
                </a:solidFill>
                <a:latin typeface="Montserrat"/>
              </a:defRPr>
            </a:pPr>
            <a:r>
              <a:t>Témoignages “Tech + expérience client”</a:t>
            </a:r>
          </a:p>
        </p:txBody>
      </p:sp>
      <p:sp>
        <p:nvSpPr>
          <p:cNvPr id="15" name="TextBox 14"/>
          <p:cNvSpPr txBox="1"/>
          <p:nvPr/>
        </p:nvSpPr>
        <p:spPr>
          <a:xfrm>
            <a:off x="9235440" y="5129784"/>
            <a:ext cx="8138160" cy="713232"/>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Lorsque la valeur de l’outil est démontrable.</a:t>
            </a:r>
          </a:p>
          <a:p>
            <a:pPr>
              <a:lnSpc>
                <a:spcPts val="2900"/>
              </a:lnSpc>
              <a:spcBef>
                <a:spcPts val="0"/>
              </a:spcBef>
              <a:spcAft>
                <a:spcPts val="0"/>
              </a:spcAft>
              <a:defRPr sz="2400" b="0">
                <a:solidFill>
                  <a:srgbClr val="526777"/>
                </a:solidFill>
                <a:latin typeface="Montserrat"/>
              </a:defRPr>
            </a:pPr>
            <a:r>
              <a:t>Leyton For Me : exemple si cas concret.</a:t>
            </a:r>
          </a:p>
        </p:txBody>
      </p:sp>
      <p:sp>
        <p:nvSpPr>
          <p:cNvPr id="16" name="Rectangle 15"/>
          <p:cNvSpPr/>
          <p:nvPr/>
        </p:nvSpPr>
        <p:spPr>
          <a:xfrm>
            <a:off x="914400" y="5861304"/>
            <a:ext cx="16459200" cy="10972"/>
          </a:xfrm>
          <a:prstGeom prst="rect">
            <a:avLst/>
          </a:prstGeom>
          <a:solidFill>
            <a:srgbClr val="D9E2E7"/>
          </a:solidFill>
          <a:ln>
            <a:noFill/>
          </a:ln>
        </p:spPr>
        <p:txBody>
          <a:bodyPr rtlCol="0" anchor="ctr"/>
          <a:lstStyle/>
          <a:p>
            <a:pPr algn="ctr"/>
          </a:p>
        </p:txBody>
      </p:sp>
      <p:sp>
        <p:nvSpPr>
          <p:cNvPr id="17" name="TextBox 16"/>
          <p:cNvSpPr txBox="1"/>
          <p:nvPr/>
        </p:nvSpPr>
        <p:spPr>
          <a:xfrm>
            <a:off x="914400" y="5980176"/>
            <a:ext cx="7680960" cy="713232"/>
          </a:xfrm>
          <a:prstGeom prst="rect">
            <a:avLst/>
          </a:prstGeom>
          <a:noFill/>
        </p:spPr>
        <p:txBody>
          <a:bodyPr wrap="square" lIns="0" rIns="0" tIns="0" bIns="0">
            <a:spAutoFit/>
          </a:bodyPr>
          <a:lstStyle/>
          <a:p>
            <a:pPr>
              <a:lnSpc>
                <a:spcPts val="2900"/>
              </a:lnSpc>
              <a:spcBef>
                <a:spcPts val="0"/>
              </a:spcBef>
              <a:spcAft>
                <a:spcPts val="0"/>
              </a:spcAft>
              <a:defRPr sz="2400" b="1">
                <a:solidFill>
                  <a:srgbClr val="002C49"/>
                </a:solidFill>
                <a:latin typeface="Montserrat"/>
              </a:defRPr>
            </a:pPr>
            <a:r>
              <a:t>Lancement / valorisation des</a:t>
            </a:r>
          </a:p>
          <a:p>
            <a:pPr>
              <a:lnSpc>
                <a:spcPts val="2900"/>
              </a:lnSpc>
              <a:spcBef>
                <a:spcPts val="0"/>
              </a:spcBef>
              <a:spcAft>
                <a:spcPts val="0"/>
              </a:spcAft>
              <a:defRPr sz="2400" b="1">
                <a:solidFill>
                  <a:srgbClr val="002C49"/>
                </a:solidFill>
                <a:latin typeface="Montserrat"/>
              </a:defRPr>
            </a:pPr>
            <a:r>
              <a:t>nouvelles offres stratégiques</a:t>
            </a:r>
          </a:p>
        </p:txBody>
      </p:sp>
      <p:sp>
        <p:nvSpPr>
          <p:cNvPr id="18" name="TextBox 17"/>
          <p:cNvSpPr txBox="1"/>
          <p:nvPr/>
        </p:nvSpPr>
        <p:spPr>
          <a:xfrm>
            <a:off x="9235440" y="5980176"/>
            <a:ext cx="8138160" cy="713232"/>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Expert, vidéo, fiche / support, preuve,</a:t>
            </a:r>
          </a:p>
          <a:p>
            <a:pPr>
              <a:lnSpc>
                <a:spcPts val="2900"/>
              </a:lnSpc>
              <a:spcBef>
                <a:spcPts val="0"/>
              </a:spcBef>
              <a:spcAft>
                <a:spcPts val="0"/>
              </a:spcAft>
              <a:defRPr sz="2400" b="0">
                <a:solidFill>
                  <a:srgbClr val="526777"/>
                </a:solidFill>
                <a:latin typeface="Montserrat"/>
              </a:defRPr>
            </a:pPr>
            <a:r>
              <a:t>interne + externe avec Marketing.</a:t>
            </a:r>
          </a:p>
        </p:txBody>
      </p:sp>
      <p:sp>
        <p:nvSpPr>
          <p:cNvPr id="19" name="Rectangle 18"/>
          <p:cNvSpPr/>
          <p:nvPr/>
        </p:nvSpPr>
        <p:spPr>
          <a:xfrm>
            <a:off x="914400" y="6711696"/>
            <a:ext cx="16459200" cy="10972"/>
          </a:xfrm>
          <a:prstGeom prst="rect">
            <a:avLst/>
          </a:prstGeom>
          <a:solidFill>
            <a:srgbClr val="D9E2E7"/>
          </a:solidFill>
          <a:ln>
            <a:noFill/>
          </a:ln>
        </p:spPr>
        <p:txBody>
          <a:bodyPr rtlCol="0" anchor="ctr"/>
          <a:lstStyle/>
          <a:p>
            <a:pPr algn="ctr"/>
          </a:p>
        </p:txBody>
      </p:sp>
      <p:sp>
        <p:nvSpPr>
          <p:cNvPr id="20" name="TextBox 19"/>
          <p:cNvSpPr txBox="1"/>
          <p:nvPr/>
        </p:nvSpPr>
        <p:spPr>
          <a:xfrm>
            <a:off x="914400" y="6830568"/>
            <a:ext cx="7680960" cy="713232"/>
          </a:xfrm>
          <a:prstGeom prst="rect">
            <a:avLst/>
          </a:prstGeom>
          <a:noFill/>
        </p:spPr>
        <p:txBody>
          <a:bodyPr wrap="square" lIns="0" rIns="0" tIns="0" bIns="0">
            <a:spAutoFit/>
          </a:bodyPr>
          <a:lstStyle/>
          <a:p>
            <a:pPr>
              <a:lnSpc>
                <a:spcPts val="2900"/>
              </a:lnSpc>
              <a:spcBef>
                <a:spcPts val="0"/>
              </a:spcBef>
              <a:spcAft>
                <a:spcPts val="0"/>
              </a:spcAft>
              <a:defRPr sz="2400" b="1">
                <a:solidFill>
                  <a:srgbClr val="002C49"/>
                </a:solidFill>
                <a:latin typeface="Montserrat"/>
              </a:defRPr>
            </a:pPr>
            <a:r>
              <a:t>Top Performers</a:t>
            </a:r>
          </a:p>
        </p:txBody>
      </p:sp>
      <p:sp>
        <p:nvSpPr>
          <p:cNvPr id="21" name="TextBox 20"/>
          <p:cNvSpPr txBox="1"/>
          <p:nvPr/>
        </p:nvSpPr>
        <p:spPr>
          <a:xfrm>
            <a:off x="9235440" y="6830568"/>
            <a:ext cx="8138160" cy="713232"/>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Performance individuelle / collective ;</a:t>
            </a:r>
          </a:p>
          <a:p>
            <a:pPr>
              <a:lnSpc>
                <a:spcPts val="2900"/>
              </a:lnSpc>
              <a:spcBef>
                <a:spcPts val="0"/>
              </a:spcBef>
              <a:spcAft>
                <a:spcPts val="0"/>
              </a:spcAft>
              <a:defRPr sz="2400" b="0">
                <a:solidFill>
                  <a:srgbClr val="526777"/>
                </a:solidFill>
                <a:latin typeface="Montserrat"/>
              </a:defRPr>
            </a:pPr>
            <a:r>
              <a:t>octobre–mi-décembre et février–avril.</a:t>
            </a:r>
          </a:p>
        </p:txBody>
      </p:sp>
      <p:sp>
        <p:nvSpPr>
          <p:cNvPr id="22" name="Rectangle 21"/>
          <p:cNvSpPr/>
          <p:nvPr/>
        </p:nvSpPr>
        <p:spPr>
          <a:xfrm>
            <a:off x="914400" y="7562088"/>
            <a:ext cx="16459200" cy="10972"/>
          </a:xfrm>
          <a:prstGeom prst="rect">
            <a:avLst/>
          </a:prstGeom>
          <a:solidFill>
            <a:srgbClr val="D9E2E7"/>
          </a:solidFill>
          <a:ln>
            <a:noFill/>
          </a:ln>
        </p:spPr>
        <p:txBody>
          <a:bodyPr rtlCol="0" anchor="ctr"/>
          <a:lstStyle/>
          <a:p>
            <a:pPr algn="ctr"/>
          </a:p>
        </p:txBody>
      </p:sp>
      <p:sp>
        <p:nvSpPr>
          <p:cNvPr id="23" name="TextBox 22"/>
          <p:cNvSpPr txBox="1"/>
          <p:nvPr/>
        </p:nvSpPr>
        <p:spPr>
          <a:xfrm>
            <a:off x="914400" y="7680960"/>
            <a:ext cx="7680960" cy="713232"/>
          </a:xfrm>
          <a:prstGeom prst="rect">
            <a:avLst/>
          </a:prstGeom>
          <a:noFill/>
        </p:spPr>
        <p:txBody>
          <a:bodyPr wrap="square" lIns="0" rIns="0" tIns="0" bIns="0">
            <a:spAutoFit/>
          </a:bodyPr>
          <a:lstStyle/>
          <a:p>
            <a:pPr>
              <a:lnSpc>
                <a:spcPts val="2900"/>
              </a:lnSpc>
              <a:spcBef>
                <a:spcPts val="0"/>
              </a:spcBef>
              <a:spcAft>
                <a:spcPts val="0"/>
              </a:spcAft>
              <a:defRPr sz="2400" b="1">
                <a:solidFill>
                  <a:srgbClr val="002C49"/>
                </a:solidFill>
                <a:latin typeface="Montserrat"/>
              </a:defRPr>
            </a:pPr>
            <a:r>
              <a:t>Vidéo corporate Groupe</a:t>
            </a:r>
          </a:p>
        </p:txBody>
      </p:sp>
      <p:sp>
        <p:nvSpPr>
          <p:cNvPr id="24" name="TextBox 23"/>
          <p:cNvSpPr txBox="1"/>
          <p:nvPr/>
        </p:nvSpPr>
        <p:spPr>
          <a:xfrm>
            <a:off x="9235440" y="7680960"/>
            <a:ext cx="8138160" cy="713232"/>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Expertise, montée en gamme, preuves clients, Tech, IA,</a:t>
            </a:r>
          </a:p>
          <a:p>
            <a:pPr>
              <a:lnSpc>
                <a:spcPts val="2900"/>
              </a:lnSpc>
              <a:spcBef>
                <a:spcPts val="0"/>
              </a:spcBef>
              <a:spcAft>
                <a:spcPts val="0"/>
              </a:spcAft>
              <a:defRPr sz="2400" b="0">
                <a:solidFill>
                  <a:srgbClr val="526777"/>
                </a:solidFill>
                <a:latin typeface="Montserrat"/>
              </a:defRPr>
            </a:pPr>
            <a:r>
              <a:t>outils propriétaires ; calendrier Groupe TBD.</a:t>
            </a:r>
          </a:p>
        </p:txBody>
      </p:sp>
      <p:sp>
        <p:nvSpPr>
          <p:cNvPr id="25" name="Rectangle 24"/>
          <p:cNvSpPr/>
          <p:nvPr/>
        </p:nvSpPr>
        <p:spPr>
          <a:xfrm>
            <a:off x="822960" y="8823960"/>
            <a:ext cx="16642080" cy="10972"/>
          </a:xfrm>
          <a:prstGeom prst="rect">
            <a:avLst/>
          </a:prstGeom>
          <a:solidFill>
            <a:srgbClr val="D9E2E7"/>
          </a:solidFill>
          <a:ln>
            <a:noFill/>
          </a:ln>
        </p:spPr>
        <p:txBody>
          <a:bodyPr rtlCol="0" anchor="ctr"/>
          <a:lstStyle/>
          <a:p>
            <a:pPr algn="ctr"/>
          </a:p>
        </p:txBody>
      </p:sp>
      <p:sp>
        <p:nvSpPr>
          <p:cNvPr id="26" name="TextBox 25"/>
          <p:cNvSpPr txBox="1"/>
          <p:nvPr/>
        </p:nvSpPr>
        <p:spPr>
          <a:xfrm>
            <a:off x="868680" y="9025128"/>
            <a:ext cx="16486632" cy="768096"/>
          </a:xfrm>
          <a:prstGeom prst="rect">
            <a:avLst/>
          </a:prstGeom>
          <a:noFill/>
        </p:spPr>
        <p:txBody>
          <a:bodyPr wrap="square" lIns="0" rIns="0" tIns="0" bIns="0">
            <a:spAutoFit/>
          </a:bodyPr>
          <a:lstStyle/>
          <a:p>
            <a:pPr>
              <a:lnSpc>
                <a:spcPts val="2800"/>
              </a:lnSpc>
              <a:spcBef>
                <a:spcPts val="0"/>
              </a:spcBef>
              <a:spcAft>
                <a:spcPts val="0"/>
              </a:spcAft>
              <a:defRPr sz="2400" b="1">
                <a:solidFill>
                  <a:srgbClr val="002C49"/>
                </a:solidFill>
                <a:latin typeface="Montserrat"/>
              </a:defRPr>
            </a:pPr>
            <a:r>
              <a:t>Salons = opportunités de captation ; experts = accompagnement au fil de l’eau. LinkedIn business = Marketing.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3.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ANNEXE A4 / PEOPLE</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Préserver la profondeur des dispositifs collaborateurs.</a:t>
            </a:r>
          </a:p>
        </p:txBody>
      </p:sp>
      <p:sp>
        <p:nvSpPr>
          <p:cNvPr id="5" name="Rectangle 4"/>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6" name="TextBox 5"/>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7" name="TextBox 6"/>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24</a:t>
            </a:r>
          </a:p>
        </p:txBody>
      </p:sp>
      <p:sp>
        <p:nvSpPr>
          <p:cNvPr id="8" name="TextBox 7"/>
          <p:cNvSpPr txBox="1"/>
          <p:nvPr/>
        </p:nvSpPr>
        <p:spPr>
          <a:xfrm>
            <a:off x="914400" y="3502152"/>
            <a:ext cx="6400800" cy="822960"/>
          </a:xfrm>
          <a:prstGeom prst="rect">
            <a:avLst/>
          </a:prstGeom>
          <a:noFill/>
        </p:spPr>
        <p:txBody>
          <a:bodyPr wrap="square" lIns="0" rIns="0" tIns="0" bIns="0">
            <a:spAutoFit/>
          </a:bodyPr>
          <a:lstStyle/>
          <a:p>
            <a:pPr>
              <a:lnSpc>
                <a:spcPts val="3000"/>
              </a:lnSpc>
              <a:spcBef>
                <a:spcPts val="0"/>
              </a:spcBef>
              <a:spcAft>
                <a:spcPts val="0"/>
              </a:spcAft>
              <a:defRPr sz="2500" b="1">
                <a:solidFill>
                  <a:srgbClr val="002C49"/>
                </a:solidFill>
                <a:latin typeface="Montserrat"/>
              </a:defRPr>
            </a:pPr>
            <a:r>
              <a:t>Refonte onboarding Workelo</a:t>
            </a:r>
          </a:p>
        </p:txBody>
      </p:sp>
      <p:sp>
        <p:nvSpPr>
          <p:cNvPr id="9" name="TextBox 8"/>
          <p:cNvSpPr txBox="1"/>
          <p:nvPr/>
        </p:nvSpPr>
        <p:spPr>
          <a:xfrm>
            <a:off x="7479792" y="3502152"/>
            <a:ext cx="9838944" cy="877824"/>
          </a:xfrm>
          <a:prstGeom prst="rect">
            <a:avLst/>
          </a:prstGeom>
          <a:noFill/>
        </p:spPr>
        <p:txBody>
          <a:bodyPr wrap="square" lIns="0" rIns="0" tIns="0" bIns="0">
            <a:spAutoFit/>
          </a:bodyPr>
          <a:lstStyle/>
          <a:p>
            <a:pPr>
              <a:lnSpc>
                <a:spcPts val="3000"/>
              </a:lnSpc>
              <a:spcBef>
                <a:spcPts val="0"/>
              </a:spcBef>
              <a:spcAft>
                <a:spcPts val="0"/>
              </a:spcAft>
              <a:defRPr sz="2400" b="0">
                <a:solidFill>
                  <a:srgbClr val="526777"/>
                </a:solidFill>
                <a:latin typeface="Montserrat"/>
              </a:defRPr>
            </a:pPr>
            <a:r>
              <a:t>J−60 → J+30 : séquencement, informations utiles, culture,</a:t>
            </a:r>
          </a:p>
          <a:p>
            <a:pPr>
              <a:lnSpc>
                <a:spcPts val="3000"/>
              </a:lnSpc>
              <a:spcBef>
                <a:spcPts val="0"/>
              </a:spcBef>
              <a:spcAft>
                <a:spcPts val="0"/>
              </a:spcAft>
              <a:defRPr sz="2400" b="0">
                <a:solidFill>
                  <a:srgbClr val="526777"/>
                </a:solidFill>
                <a:latin typeface="Montserrat"/>
              </a:defRPr>
            </a:pPr>
            <a:r>
              <a:t>ressources, outils, contacts, séminaire d’intégration.</a:t>
            </a:r>
          </a:p>
        </p:txBody>
      </p:sp>
      <p:sp>
        <p:nvSpPr>
          <p:cNvPr id="10" name="Rectangle 9"/>
          <p:cNvSpPr/>
          <p:nvPr/>
        </p:nvSpPr>
        <p:spPr>
          <a:xfrm>
            <a:off x="914400" y="4370832"/>
            <a:ext cx="16459200" cy="10972"/>
          </a:xfrm>
          <a:prstGeom prst="rect">
            <a:avLst/>
          </a:prstGeom>
          <a:solidFill>
            <a:srgbClr val="D9E2E7"/>
          </a:solidFill>
          <a:ln>
            <a:noFill/>
          </a:ln>
        </p:spPr>
        <p:txBody>
          <a:bodyPr rtlCol="0" anchor="ctr"/>
          <a:lstStyle/>
          <a:p>
            <a:pPr algn="ctr"/>
          </a:p>
        </p:txBody>
      </p:sp>
      <p:sp>
        <p:nvSpPr>
          <p:cNvPr id="11" name="TextBox 10"/>
          <p:cNvSpPr txBox="1"/>
          <p:nvPr/>
        </p:nvSpPr>
        <p:spPr>
          <a:xfrm>
            <a:off x="914400" y="4489704"/>
            <a:ext cx="6400800" cy="822960"/>
          </a:xfrm>
          <a:prstGeom prst="rect">
            <a:avLst/>
          </a:prstGeom>
          <a:noFill/>
        </p:spPr>
        <p:txBody>
          <a:bodyPr wrap="square" lIns="0" rIns="0" tIns="0" bIns="0">
            <a:spAutoFit/>
          </a:bodyPr>
          <a:lstStyle/>
          <a:p>
            <a:pPr>
              <a:lnSpc>
                <a:spcPts val="3000"/>
              </a:lnSpc>
              <a:spcBef>
                <a:spcPts val="0"/>
              </a:spcBef>
              <a:spcAft>
                <a:spcPts val="0"/>
              </a:spcAft>
              <a:defRPr sz="2500" b="1">
                <a:solidFill>
                  <a:srgbClr val="002C49"/>
                </a:solidFill>
                <a:latin typeface="Montserrat"/>
              </a:defRPr>
            </a:pPr>
            <a:r>
              <a:t>GPTW / CARE</a:t>
            </a:r>
          </a:p>
        </p:txBody>
      </p:sp>
      <p:sp>
        <p:nvSpPr>
          <p:cNvPr id="12" name="TextBox 11"/>
          <p:cNvSpPr txBox="1"/>
          <p:nvPr/>
        </p:nvSpPr>
        <p:spPr>
          <a:xfrm>
            <a:off x="7479792" y="4489704"/>
            <a:ext cx="9838944" cy="877824"/>
          </a:xfrm>
          <a:prstGeom prst="rect">
            <a:avLst/>
          </a:prstGeom>
          <a:noFill/>
        </p:spPr>
        <p:txBody>
          <a:bodyPr wrap="square" lIns="0" rIns="0" tIns="0" bIns="0">
            <a:spAutoFit/>
          </a:bodyPr>
          <a:lstStyle/>
          <a:p>
            <a:pPr>
              <a:lnSpc>
                <a:spcPts val="3000"/>
              </a:lnSpc>
              <a:spcBef>
                <a:spcPts val="0"/>
              </a:spcBef>
              <a:spcAft>
                <a:spcPts val="0"/>
              </a:spcAft>
              <a:defRPr sz="2400" b="0">
                <a:solidFill>
                  <a:srgbClr val="526777"/>
                </a:solidFill>
                <a:latin typeface="Montserrat"/>
              </a:defRPr>
            </a:pPr>
            <a:r>
              <a:t>Résultats, enseignements, actions RH ; mobilité et formation.</a:t>
            </a:r>
          </a:p>
          <a:p>
            <a:pPr>
              <a:lnSpc>
                <a:spcPts val="3000"/>
              </a:lnSpc>
              <a:spcBef>
                <a:spcPts val="0"/>
              </a:spcBef>
              <a:spcAft>
                <a:spcPts val="0"/>
              </a:spcAft>
              <a:defRPr sz="2400" b="0">
                <a:solidFill>
                  <a:srgbClr val="526777"/>
                </a:solidFill>
                <a:latin typeface="Montserrat"/>
              </a:defRPr>
            </a:pPr>
            <a:r>
              <a:t>Développement et parcours internes. </a:t>
            </a:r>
          </a:p>
        </p:txBody>
      </p:sp>
      <p:sp>
        <p:nvSpPr>
          <p:cNvPr id="13" name="Rectangle 12"/>
          <p:cNvSpPr/>
          <p:nvPr/>
        </p:nvSpPr>
        <p:spPr>
          <a:xfrm>
            <a:off x="914400" y="5358384"/>
            <a:ext cx="16459200" cy="10972"/>
          </a:xfrm>
          <a:prstGeom prst="rect">
            <a:avLst/>
          </a:prstGeom>
          <a:solidFill>
            <a:srgbClr val="D9E2E7"/>
          </a:solidFill>
          <a:ln>
            <a:noFill/>
          </a:ln>
        </p:spPr>
        <p:txBody>
          <a:bodyPr rtlCol="0" anchor="ctr"/>
          <a:lstStyle/>
          <a:p>
            <a:pPr algn="ctr"/>
          </a:p>
        </p:txBody>
      </p:sp>
      <p:sp>
        <p:nvSpPr>
          <p:cNvPr id="14" name="TextBox 13"/>
          <p:cNvSpPr txBox="1"/>
          <p:nvPr/>
        </p:nvSpPr>
        <p:spPr>
          <a:xfrm>
            <a:off x="914400" y="5477256"/>
            <a:ext cx="6400800" cy="822960"/>
          </a:xfrm>
          <a:prstGeom prst="rect">
            <a:avLst/>
          </a:prstGeom>
          <a:noFill/>
        </p:spPr>
        <p:txBody>
          <a:bodyPr wrap="square" lIns="0" rIns="0" tIns="0" bIns="0">
            <a:spAutoFit/>
          </a:bodyPr>
          <a:lstStyle/>
          <a:p>
            <a:pPr>
              <a:lnSpc>
                <a:spcPts val="3000"/>
              </a:lnSpc>
              <a:spcBef>
                <a:spcPts val="0"/>
              </a:spcBef>
              <a:spcAft>
                <a:spcPts val="0"/>
              </a:spcAft>
              <a:defRPr sz="2500" b="1">
                <a:solidFill>
                  <a:srgbClr val="002C49"/>
                </a:solidFill>
                <a:latin typeface="Montserrat"/>
              </a:defRPr>
            </a:pPr>
            <a:r>
              <a:t>Leadership au féminin</a:t>
            </a:r>
          </a:p>
        </p:txBody>
      </p:sp>
      <p:sp>
        <p:nvSpPr>
          <p:cNvPr id="15" name="TextBox 14"/>
          <p:cNvSpPr txBox="1"/>
          <p:nvPr/>
        </p:nvSpPr>
        <p:spPr>
          <a:xfrm>
            <a:off x="7479792" y="5477256"/>
            <a:ext cx="9838944" cy="877824"/>
          </a:xfrm>
          <a:prstGeom prst="rect">
            <a:avLst/>
          </a:prstGeom>
          <a:noFill/>
        </p:spPr>
        <p:txBody>
          <a:bodyPr wrap="square" lIns="0" rIns="0" tIns="0" bIns="0">
            <a:spAutoFit/>
          </a:bodyPr>
          <a:lstStyle/>
          <a:p>
            <a:pPr>
              <a:lnSpc>
                <a:spcPts val="3000"/>
              </a:lnSpc>
              <a:spcBef>
                <a:spcPts val="0"/>
              </a:spcBef>
              <a:spcAft>
                <a:spcPts val="0"/>
              </a:spcAft>
              <a:defRPr sz="2400" b="0">
                <a:solidFill>
                  <a:srgbClr val="526777"/>
                </a:solidFill>
                <a:latin typeface="Montserrat"/>
              </a:defRPr>
            </a:pPr>
            <a:r>
              <a:t>Parcours, management, conseils, vision.</a:t>
            </a:r>
          </a:p>
          <a:p>
            <a:pPr>
              <a:lnSpc>
                <a:spcPts val="3000"/>
              </a:lnSpc>
              <a:spcBef>
                <a:spcPts val="0"/>
              </a:spcBef>
              <a:spcAft>
                <a:spcPts val="0"/>
              </a:spcAft>
              <a:defRPr sz="2400" b="0">
                <a:solidFill>
                  <a:srgbClr val="526777"/>
                </a:solidFill>
                <a:latin typeface="Montserrat"/>
              </a:defRPr>
            </a:pPr>
            <a:r>
              <a:t>Capsules régulières + mash-up externe le 8 mars.</a:t>
            </a:r>
          </a:p>
        </p:txBody>
      </p:sp>
      <p:sp>
        <p:nvSpPr>
          <p:cNvPr id="16" name="Rectangle 15"/>
          <p:cNvSpPr/>
          <p:nvPr/>
        </p:nvSpPr>
        <p:spPr>
          <a:xfrm>
            <a:off x="914400" y="6345936"/>
            <a:ext cx="16459200" cy="10972"/>
          </a:xfrm>
          <a:prstGeom prst="rect">
            <a:avLst/>
          </a:prstGeom>
          <a:solidFill>
            <a:srgbClr val="D9E2E7"/>
          </a:solidFill>
          <a:ln>
            <a:noFill/>
          </a:ln>
        </p:spPr>
        <p:txBody>
          <a:bodyPr rtlCol="0" anchor="ctr"/>
          <a:lstStyle/>
          <a:p>
            <a:pPr algn="ctr"/>
          </a:p>
        </p:txBody>
      </p:sp>
      <p:sp>
        <p:nvSpPr>
          <p:cNvPr id="17" name="TextBox 16"/>
          <p:cNvSpPr txBox="1"/>
          <p:nvPr/>
        </p:nvSpPr>
        <p:spPr>
          <a:xfrm>
            <a:off x="914400" y="6464808"/>
            <a:ext cx="6400800" cy="822960"/>
          </a:xfrm>
          <a:prstGeom prst="rect">
            <a:avLst/>
          </a:prstGeom>
          <a:noFill/>
        </p:spPr>
        <p:txBody>
          <a:bodyPr wrap="square" lIns="0" rIns="0" tIns="0" bIns="0">
            <a:spAutoFit/>
          </a:bodyPr>
          <a:lstStyle/>
          <a:p>
            <a:pPr>
              <a:lnSpc>
                <a:spcPts val="3000"/>
              </a:lnSpc>
              <a:spcBef>
                <a:spcPts val="0"/>
              </a:spcBef>
              <a:spcAft>
                <a:spcPts val="0"/>
              </a:spcAft>
              <a:defRPr sz="2500" b="1">
                <a:solidFill>
                  <a:srgbClr val="002C49"/>
                </a:solidFill>
                <a:latin typeface="Montserrat"/>
              </a:defRPr>
            </a:pPr>
            <a:r>
              <a:t>Culture Leyton</a:t>
            </a:r>
          </a:p>
        </p:txBody>
      </p:sp>
      <p:sp>
        <p:nvSpPr>
          <p:cNvPr id="18" name="TextBox 17"/>
          <p:cNvSpPr txBox="1"/>
          <p:nvPr/>
        </p:nvSpPr>
        <p:spPr>
          <a:xfrm>
            <a:off x="7479792" y="6464808"/>
            <a:ext cx="9838944" cy="877824"/>
          </a:xfrm>
          <a:prstGeom prst="rect">
            <a:avLst/>
          </a:prstGeom>
          <a:noFill/>
        </p:spPr>
        <p:txBody>
          <a:bodyPr wrap="square" lIns="0" rIns="0" tIns="0" bIns="0">
            <a:spAutoFit/>
          </a:bodyPr>
          <a:lstStyle/>
          <a:p>
            <a:pPr>
              <a:lnSpc>
                <a:spcPts val="3000"/>
              </a:lnSpc>
              <a:spcBef>
                <a:spcPts val="0"/>
              </a:spcBef>
              <a:spcAft>
                <a:spcPts val="0"/>
              </a:spcAft>
              <a:defRPr sz="2400" b="0">
                <a:solidFill>
                  <a:srgbClr val="526777"/>
                </a:solidFill>
                <a:latin typeface="Montserrat"/>
              </a:defRPr>
            </a:pPr>
            <a:r>
              <a:t>Reconnaissance / Kudos ; initiatives collaborateurs ;</a:t>
            </a:r>
          </a:p>
          <a:p>
            <a:pPr>
              <a:lnSpc>
                <a:spcPts val="3000"/>
              </a:lnSpc>
              <a:spcBef>
                <a:spcPts val="0"/>
              </a:spcBef>
              <a:spcAft>
                <a:spcPts val="0"/>
              </a:spcAft>
              <a:defRPr sz="2400" b="0">
                <a:solidFill>
                  <a:srgbClr val="526777"/>
                </a:solidFill>
                <a:latin typeface="Montserrat"/>
              </a:defRPr>
            </a:pPr>
            <a:r>
              <a:t>collaborations transverses ; comportements incarnant la culture.</a:t>
            </a:r>
          </a:p>
        </p:txBody>
      </p:sp>
      <p:sp>
        <p:nvSpPr>
          <p:cNvPr id="19" name="Rectangle 18"/>
          <p:cNvSpPr/>
          <p:nvPr/>
        </p:nvSpPr>
        <p:spPr>
          <a:xfrm>
            <a:off x="914400" y="7333488"/>
            <a:ext cx="16459200" cy="10972"/>
          </a:xfrm>
          <a:prstGeom prst="rect">
            <a:avLst/>
          </a:prstGeom>
          <a:solidFill>
            <a:srgbClr val="D9E2E7"/>
          </a:solidFill>
          <a:ln>
            <a:noFill/>
          </a:ln>
        </p:spPr>
        <p:txBody>
          <a:bodyPr rtlCol="0" anchor="ctr"/>
          <a:lstStyle/>
          <a:p>
            <a:pPr algn="ctr"/>
          </a:p>
        </p:txBody>
      </p:sp>
      <p:sp>
        <p:nvSpPr>
          <p:cNvPr id="20" name="TextBox 19"/>
          <p:cNvSpPr txBox="1"/>
          <p:nvPr/>
        </p:nvSpPr>
        <p:spPr>
          <a:xfrm>
            <a:off x="914400" y="7452360"/>
            <a:ext cx="6400800" cy="822960"/>
          </a:xfrm>
          <a:prstGeom prst="rect">
            <a:avLst/>
          </a:prstGeom>
          <a:noFill/>
        </p:spPr>
        <p:txBody>
          <a:bodyPr wrap="square" lIns="0" rIns="0" tIns="0" bIns="0">
            <a:spAutoFit/>
          </a:bodyPr>
          <a:lstStyle/>
          <a:p>
            <a:pPr>
              <a:lnSpc>
                <a:spcPts val="3000"/>
              </a:lnSpc>
              <a:spcBef>
                <a:spcPts val="0"/>
              </a:spcBef>
              <a:spcAft>
                <a:spcPts val="0"/>
              </a:spcAft>
              <a:defRPr sz="2500" b="1">
                <a:solidFill>
                  <a:srgbClr val="002C49"/>
                </a:solidFill>
                <a:latin typeface="Montserrat"/>
              </a:defRPr>
            </a:pPr>
            <a:r>
              <a:t>Communication managériale</a:t>
            </a:r>
          </a:p>
        </p:txBody>
      </p:sp>
      <p:sp>
        <p:nvSpPr>
          <p:cNvPr id="21" name="TextBox 20"/>
          <p:cNvSpPr txBox="1"/>
          <p:nvPr/>
        </p:nvSpPr>
        <p:spPr>
          <a:xfrm>
            <a:off x="7479792" y="7452360"/>
            <a:ext cx="9838944" cy="877824"/>
          </a:xfrm>
          <a:prstGeom prst="rect">
            <a:avLst/>
          </a:prstGeom>
          <a:noFill/>
        </p:spPr>
        <p:txBody>
          <a:bodyPr wrap="square" lIns="0" rIns="0" tIns="0" bIns="0">
            <a:spAutoFit/>
          </a:bodyPr>
          <a:lstStyle/>
          <a:p>
            <a:pPr>
              <a:lnSpc>
                <a:spcPts val="3000"/>
              </a:lnSpc>
              <a:spcBef>
                <a:spcPts val="0"/>
              </a:spcBef>
              <a:spcAft>
                <a:spcPts val="0"/>
              </a:spcAft>
              <a:defRPr sz="2400" b="0">
                <a:solidFill>
                  <a:srgbClr val="526777"/>
                </a:solidFill>
                <a:latin typeface="Montserrat"/>
              </a:defRPr>
            </a:pPr>
            <a:r>
              <a:t>Grands sujets uniquement : messages clés, FAQ courte, support</a:t>
            </a:r>
          </a:p>
          <a:p>
            <a:pPr>
              <a:lnSpc>
                <a:spcPts val="3000"/>
              </a:lnSpc>
              <a:spcBef>
                <a:spcPts val="0"/>
              </a:spcBef>
              <a:spcAft>
                <a:spcPts val="0"/>
              </a:spcAft>
              <a:defRPr sz="2400" b="0">
                <a:solidFill>
                  <a:srgbClr val="526777"/>
                </a:solidFill>
                <a:latin typeface="Montserrat"/>
              </a:defRPr>
            </a:pPr>
            <a:r>
              <a:t>équipe, ressources, questions / feedback.</a:t>
            </a:r>
          </a:p>
        </p:txBody>
      </p:sp>
      <p:sp>
        <p:nvSpPr>
          <p:cNvPr id="22" name="Rectangle 21"/>
          <p:cNvSpPr/>
          <p:nvPr/>
        </p:nvSpPr>
        <p:spPr>
          <a:xfrm>
            <a:off x="822960" y="8778240"/>
            <a:ext cx="16642080" cy="10972"/>
          </a:xfrm>
          <a:prstGeom prst="rect">
            <a:avLst/>
          </a:prstGeom>
          <a:solidFill>
            <a:srgbClr val="D9E2E7"/>
          </a:solidFill>
          <a:ln>
            <a:noFill/>
          </a:ln>
        </p:spPr>
        <p:txBody>
          <a:bodyPr rtlCol="0" anchor="ctr"/>
          <a:lstStyle/>
          <a:p>
            <a:pPr algn="ctr"/>
          </a:p>
        </p:txBody>
      </p:sp>
      <p:sp>
        <p:nvSpPr>
          <p:cNvPr id="23" name="TextBox 22"/>
          <p:cNvSpPr txBox="1"/>
          <p:nvPr/>
        </p:nvSpPr>
        <p:spPr>
          <a:xfrm>
            <a:off x="868680" y="8979408"/>
            <a:ext cx="16486632" cy="768096"/>
          </a:xfrm>
          <a:prstGeom prst="rect">
            <a:avLst/>
          </a:prstGeom>
          <a:noFill/>
        </p:spPr>
        <p:txBody>
          <a:bodyPr wrap="square" lIns="0" rIns="0" tIns="0" bIns="0">
            <a:spAutoFit/>
          </a:bodyPr>
          <a:lstStyle/>
          <a:p>
            <a:pPr>
              <a:lnSpc>
                <a:spcPts val="2800"/>
              </a:lnSpc>
              <a:spcBef>
                <a:spcPts val="0"/>
              </a:spcBef>
              <a:spcAft>
                <a:spcPts val="0"/>
              </a:spcAft>
              <a:defRPr sz="2400" b="1">
                <a:solidFill>
                  <a:srgbClr val="002C49"/>
                </a:solidFill>
                <a:latin typeface="Montserrat"/>
              </a:defRPr>
            </a:pPr>
            <a:r>
              <a:t>GPTW / CARE : « vous avez dit / nous avons fait » lorsque pertinent. Kits managériaux réservés aux grands sujets.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3.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ANNEXE A5 / PORTEFEUILLE DE RÉFÉRENCE</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8 chantiers Change / 6 leviers Business</a:t>
            </a:r>
          </a:p>
        </p:txBody>
      </p:sp>
      <p:sp>
        <p:nvSpPr>
          <p:cNvPr id="5" name="TextBox 4"/>
          <p:cNvSpPr txBox="1"/>
          <p:nvPr/>
        </p:nvSpPr>
        <p:spPr>
          <a:xfrm>
            <a:off x="868680" y="2742285"/>
            <a:ext cx="16504920" cy="54864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Validation du portefeuille ≠ priorité arbitrée ≠ calendrier confirmé.</a:t>
            </a:r>
          </a:p>
        </p:txBody>
      </p:sp>
      <p:sp>
        <p:nvSpPr>
          <p:cNvPr id="6" name="Rectangle 5"/>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7" name="TextBox 6"/>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8" name="TextBox 7"/>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25</a:t>
            </a:r>
          </a:p>
        </p:txBody>
      </p:sp>
      <p:sp>
        <p:nvSpPr>
          <p:cNvPr id="9" name="TextBox 8"/>
          <p:cNvSpPr txBox="1"/>
          <p:nvPr/>
        </p:nvSpPr>
        <p:spPr>
          <a:xfrm>
            <a:off x="914400" y="3602736"/>
            <a:ext cx="7699248" cy="512064"/>
          </a:xfrm>
          <a:prstGeom prst="rect">
            <a:avLst/>
          </a:prstGeom>
          <a:noFill/>
        </p:spPr>
        <p:txBody>
          <a:bodyPr wrap="square" lIns="0" rIns="0" tIns="0" bIns="0">
            <a:spAutoFit/>
          </a:bodyPr>
          <a:lstStyle/>
          <a:p>
            <a:pPr>
              <a:lnSpc>
                <a:spcPts val="3444"/>
              </a:lnSpc>
              <a:spcBef>
                <a:spcPts val="0"/>
              </a:spcBef>
              <a:spcAft>
                <a:spcPts val="0"/>
              </a:spcAft>
              <a:defRPr sz="2800" b="1">
                <a:solidFill>
                  <a:srgbClr val="FF6633"/>
                </a:solidFill>
                <a:latin typeface="Montserrat"/>
              </a:defRPr>
            </a:pPr>
            <a:r>
              <a:t>CHANGE</a:t>
            </a:r>
          </a:p>
        </p:txBody>
      </p:sp>
      <p:sp>
        <p:nvSpPr>
          <p:cNvPr id="10" name="TextBox 9"/>
          <p:cNvSpPr txBox="1"/>
          <p:nvPr/>
        </p:nvSpPr>
        <p:spPr>
          <a:xfrm>
            <a:off x="914400" y="4389120"/>
            <a:ext cx="7744968" cy="502920"/>
          </a:xfrm>
          <a:prstGeom prst="rect">
            <a:avLst/>
          </a:prstGeom>
          <a:noFill/>
        </p:spPr>
        <p:txBody>
          <a:bodyPr wrap="square" lIns="0" rIns="0" tIns="0" bIns="0">
            <a:spAutoFit/>
          </a:bodyPr>
          <a:lstStyle/>
          <a:p>
            <a:pPr>
              <a:lnSpc>
                <a:spcPts val="2700"/>
              </a:lnSpc>
              <a:spcBef>
                <a:spcPts val="0"/>
              </a:spcBef>
              <a:spcAft>
                <a:spcPts val="0"/>
              </a:spcAft>
              <a:defRPr sz="2400" b="0">
                <a:solidFill>
                  <a:srgbClr val="002C49"/>
                </a:solidFill>
                <a:latin typeface="Montserrat"/>
              </a:defRPr>
            </a:pPr>
            <a:r>
              <a:t>Adoption de l’IA</a:t>
            </a:r>
          </a:p>
        </p:txBody>
      </p:sp>
      <p:sp>
        <p:nvSpPr>
          <p:cNvPr id="11" name="TextBox 10"/>
          <p:cNvSpPr txBox="1"/>
          <p:nvPr/>
        </p:nvSpPr>
        <p:spPr>
          <a:xfrm>
            <a:off x="914400" y="4901183"/>
            <a:ext cx="7744968" cy="502920"/>
          </a:xfrm>
          <a:prstGeom prst="rect">
            <a:avLst/>
          </a:prstGeom>
          <a:noFill/>
        </p:spPr>
        <p:txBody>
          <a:bodyPr wrap="square" lIns="0" rIns="0" tIns="0" bIns="0">
            <a:spAutoFit/>
          </a:bodyPr>
          <a:lstStyle/>
          <a:p>
            <a:pPr>
              <a:lnSpc>
                <a:spcPts val="2700"/>
              </a:lnSpc>
              <a:spcBef>
                <a:spcPts val="0"/>
              </a:spcBef>
              <a:spcAft>
                <a:spcPts val="0"/>
              </a:spcAft>
              <a:defRPr sz="2400" b="0">
                <a:solidFill>
                  <a:srgbClr val="002C49"/>
                </a:solidFill>
                <a:latin typeface="Montserrat"/>
              </a:defRPr>
            </a:pPr>
            <a:r>
              <a:t>Toolbox Leyton / adoption des outils</a:t>
            </a:r>
          </a:p>
        </p:txBody>
      </p:sp>
      <p:sp>
        <p:nvSpPr>
          <p:cNvPr id="12" name="TextBox 11"/>
          <p:cNvSpPr txBox="1"/>
          <p:nvPr/>
        </p:nvSpPr>
        <p:spPr>
          <a:xfrm>
            <a:off x="914400" y="5413248"/>
            <a:ext cx="7744968" cy="502920"/>
          </a:xfrm>
          <a:prstGeom prst="rect">
            <a:avLst/>
          </a:prstGeom>
          <a:noFill/>
        </p:spPr>
        <p:txBody>
          <a:bodyPr wrap="square" lIns="0" rIns="0" tIns="0" bIns="0">
            <a:spAutoFit/>
          </a:bodyPr>
          <a:lstStyle/>
          <a:p>
            <a:pPr>
              <a:lnSpc>
                <a:spcPts val="2700"/>
              </a:lnSpc>
              <a:spcBef>
                <a:spcPts val="0"/>
              </a:spcBef>
              <a:spcAft>
                <a:spcPts val="0"/>
              </a:spcAft>
              <a:defRPr sz="2400" b="0">
                <a:solidFill>
                  <a:srgbClr val="002C49"/>
                </a:solidFill>
                <a:latin typeface="Montserrat"/>
              </a:defRPr>
            </a:pPr>
            <a:r>
              <a:t>Kit Business Partner par pôle</a:t>
            </a:r>
          </a:p>
        </p:txBody>
      </p:sp>
      <p:sp>
        <p:nvSpPr>
          <p:cNvPr id="13" name="TextBox 12"/>
          <p:cNvSpPr txBox="1"/>
          <p:nvPr/>
        </p:nvSpPr>
        <p:spPr>
          <a:xfrm>
            <a:off x="914400" y="5925312"/>
            <a:ext cx="7744968" cy="502920"/>
          </a:xfrm>
          <a:prstGeom prst="rect">
            <a:avLst/>
          </a:prstGeom>
          <a:noFill/>
        </p:spPr>
        <p:txBody>
          <a:bodyPr wrap="square" lIns="0" rIns="0" tIns="0" bIns="0">
            <a:spAutoFit/>
          </a:bodyPr>
          <a:lstStyle/>
          <a:p>
            <a:pPr>
              <a:lnSpc>
                <a:spcPts val="2700"/>
              </a:lnSpc>
              <a:spcBef>
                <a:spcPts val="0"/>
              </a:spcBef>
              <a:spcAft>
                <a:spcPts val="0"/>
              </a:spcAft>
              <a:defRPr sz="2400" b="0">
                <a:solidFill>
                  <a:srgbClr val="002C49"/>
                </a:solidFill>
                <a:latin typeface="Montserrat"/>
              </a:defRPr>
            </a:pPr>
            <a:r>
              <a:t>Valorisation du cross-sell</a:t>
            </a:r>
          </a:p>
        </p:txBody>
      </p:sp>
      <p:sp>
        <p:nvSpPr>
          <p:cNvPr id="14" name="TextBox 13"/>
          <p:cNvSpPr txBox="1"/>
          <p:nvPr/>
        </p:nvSpPr>
        <p:spPr>
          <a:xfrm>
            <a:off x="914400" y="6437376"/>
            <a:ext cx="7744968" cy="502920"/>
          </a:xfrm>
          <a:prstGeom prst="rect">
            <a:avLst/>
          </a:prstGeom>
          <a:noFill/>
        </p:spPr>
        <p:txBody>
          <a:bodyPr wrap="square" lIns="0" rIns="0" tIns="0" bIns="0">
            <a:spAutoFit/>
          </a:bodyPr>
          <a:lstStyle/>
          <a:p>
            <a:pPr>
              <a:lnSpc>
                <a:spcPts val="2700"/>
              </a:lnSpc>
              <a:spcBef>
                <a:spcPts val="0"/>
              </a:spcBef>
              <a:spcAft>
                <a:spcPts val="0"/>
              </a:spcAft>
              <a:defRPr sz="2400" b="0">
                <a:solidFill>
                  <a:srgbClr val="002C49"/>
                </a:solidFill>
                <a:latin typeface="Montserrat"/>
              </a:defRPr>
            </a:pPr>
            <a:r>
              <a:t>Les offres qui performent</a:t>
            </a:r>
          </a:p>
        </p:txBody>
      </p:sp>
      <p:sp>
        <p:nvSpPr>
          <p:cNvPr id="15" name="TextBox 14"/>
          <p:cNvSpPr txBox="1"/>
          <p:nvPr/>
        </p:nvSpPr>
        <p:spPr>
          <a:xfrm>
            <a:off x="914400" y="6949440"/>
            <a:ext cx="7744968" cy="502920"/>
          </a:xfrm>
          <a:prstGeom prst="rect">
            <a:avLst/>
          </a:prstGeom>
          <a:noFill/>
        </p:spPr>
        <p:txBody>
          <a:bodyPr wrap="square" lIns="0" rIns="0" tIns="0" bIns="0">
            <a:spAutoFit/>
          </a:bodyPr>
          <a:lstStyle/>
          <a:p>
            <a:pPr>
              <a:lnSpc>
                <a:spcPts val="2700"/>
              </a:lnSpc>
              <a:spcBef>
                <a:spcPts val="0"/>
              </a:spcBef>
              <a:spcAft>
                <a:spcPts val="0"/>
              </a:spcAft>
              <a:defRPr sz="2400" b="0">
                <a:solidFill>
                  <a:srgbClr val="002C49"/>
                </a:solidFill>
                <a:latin typeface="Montserrat"/>
              </a:defRPr>
            </a:pPr>
            <a:r>
              <a:t>Relais de la performance post-All Staff</a:t>
            </a:r>
          </a:p>
        </p:txBody>
      </p:sp>
      <p:sp>
        <p:nvSpPr>
          <p:cNvPr id="16" name="TextBox 15"/>
          <p:cNvSpPr txBox="1"/>
          <p:nvPr/>
        </p:nvSpPr>
        <p:spPr>
          <a:xfrm>
            <a:off x="914400" y="7461504"/>
            <a:ext cx="7744968" cy="502920"/>
          </a:xfrm>
          <a:prstGeom prst="rect">
            <a:avLst/>
          </a:prstGeom>
          <a:noFill/>
        </p:spPr>
        <p:txBody>
          <a:bodyPr wrap="square" lIns="0" rIns="0" tIns="0" bIns="0">
            <a:spAutoFit/>
          </a:bodyPr>
          <a:lstStyle/>
          <a:p>
            <a:pPr>
              <a:lnSpc>
                <a:spcPts val="2700"/>
              </a:lnSpc>
              <a:spcBef>
                <a:spcPts val="0"/>
              </a:spcBef>
              <a:spcAft>
                <a:spcPts val="0"/>
              </a:spcAft>
              <a:defRPr sz="2400" b="0">
                <a:solidFill>
                  <a:srgbClr val="002C49"/>
                </a:solidFill>
                <a:latin typeface="Montserrat"/>
              </a:defRPr>
            </a:pPr>
            <a:r>
              <a:t>Déploiement Neoscreen agences</a:t>
            </a:r>
          </a:p>
        </p:txBody>
      </p:sp>
      <p:sp>
        <p:nvSpPr>
          <p:cNvPr id="17" name="TextBox 16"/>
          <p:cNvSpPr txBox="1"/>
          <p:nvPr/>
        </p:nvSpPr>
        <p:spPr>
          <a:xfrm>
            <a:off x="914400" y="7973568"/>
            <a:ext cx="7744968" cy="502920"/>
          </a:xfrm>
          <a:prstGeom prst="rect">
            <a:avLst/>
          </a:prstGeom>
          <a:noFill/>
        </p:spPr>
        <p:txBody>
          <a:bodyPr wrap="square" lIns="0" rIns="0" tIns="0" bIns="0">
            <a:spAutoFit/>
          </a:bodyPr>
          <a:lstStyle/>
          <a:p>
            <a:pPr>
              <a:lnSpc>
                <a:spcPts val="2700"/>
              </a:lnSpc>
              <a:spcBef>
                <a:spcPts val="0"/>
              </a:spcBef>
              <a:spcAft>
                <a:spcPts val="0"/>
              </a:spcAft>
              <a:defRPr sz="2400" b="0">
                <a:solidFill>
                  <a:srgbClr val="002C49"/>
                </a:solidFill>
                <a:latin typeface="Montserrat"/>
              </a:defRPr>
            </a:pPr>
            <a:r>
              <a:t>Intranet</a:t>
            </a:r>
          </a:p>
        </p:txBody>
      </p:sp>
      <p:sp>
        <p:nvSpPr>
          <p:cNvPr id="18" name="TextBox 17"/>
          <p:cNvSpPr txBox="1"/>
          <p:nvPr/>
        </p:nvSpPr>
        <p:spPr>
          <a:xfrm>
            <a:off x="914400" y="8650224"/>
            <a:ext cx="7635240" cy="594360"/>
          </a:xfrm>
          <a:prstGeom prst="rect">
            <a:avLst/>
          </a:prstGeom>
          <a:noFill/>
        </p:spPr>
        <p:txBody>
          <a:bodyPr wrap="square" lIns="0" rIns="0" tIns="0" bIns="0">
            <a:spAutoFit/>
          </a:bodyPr>
          <a:lstStyle/>
          <a:p>
            <a:pPr>
              <a:lnSpc>
                <a:spcPts val="2800"/>
              </a:lnSpc>
              <a:spcBef>
                <a:spcPts val="0"/>
              </a:spcBef>
              <a:spcAft>
                <a:spcPts val="0"/>
              </a:spcAft>
              <a:defRPr sz="2300" b="0">
                <a:solidFill>
                  <a:srgbClr val="526777"/>
                </a:solidFill>
                <a:latin typeface="Montserrat"/>
              </a:defRPr>
            </a:pPr>
            <a:r>
              <a:t>Tous validés ; Intranet : planning TBD.</a:t>
            </a:r>
          </a:p>
        </p:txBody>
      </p:sp>
      <p:cxnSp>
        <p:nvCxnSpPr>
          <p:cNvPr id="19" name="Connector 18"/>
          <p:cNvCxnSpPr/>
          <p:nvPr/>
        </p:nvCxnSpPr>
        <p:spPr>
          <a:xfrm>
            <a:off x="8961120" y="3593592"/>
            <a:ext cx="0" cy="5632704"/>
          </a:xfrm>
          <a:prstGeom prst="line">
            <a:avLst/>
          </a:prstGeom>
          <a:ln w="16510">
            <a:solidFill>
              <a:srgbClr val="D9E2E7"/>
            </a:solidFill>
          </a:ln>
        </p:spPr>
      </p:cxnSp>
      <p:sp>
        <p:nvSpPr>
          <p:cNvPr id="20" name="TextBox 19"/>
          <p:cNvSpPr txBox="1"/>
          <p:nvPr/>
        </p:nvSpPr>
        <p:spPr>
          <a:xfrm>
            <a:off x="9509760" y="3602736"/>
            <a:ext cx="7799831" cy="512064"/>
          </a:xfrm>
          <a:prstGeom prst="rect">
            <a:avLst/>
          </a:prstGeom>
          <a:noFill/>
        </p:spPr>
        <p:txBody>
          <a:bodyPr wrap="square" lIns="0" rIns="0" tIns="0" bIns="0">
            <a:spAutoFit/>
          </a:bodyPr>
          <a:lstStyle/>
          <a:p>
            <a:pPr>
              <a:lnSpc>
                <a:spcPts val="3444"/>
              </a:lnSpc>
              <a:spcBef>
                <a:spcPts val="0"/>
              </a:spcBef>
              <a:spcAft>
                <a:spcPts val="0"/>
              </a:spcAft>
              <a:defRPr sz="2800" b="1">
                <a:solidFill>
                  <a:srgbClr val="FF6633"/>
                </a:solidFill>
                <a:latin typeface="Montserrat"/>
              </a:defRPr>
            </a:pPr>
            <a:r>
              <a:t>BUSINESS</a:t>
            </a:r>
          </a:p>
        </p:txBody>
      </p:sp>
      <p:sp>
        <p:nvSpPr>
          <p:cNvPr id="21" name="TextBox 20"/>
          <p:cNvSpPr txBox="1"/>
          <p:nvPr/>
        </p:nvSpPr>
        <p:spPr>
          <a:xfrm>
            <a:off x="9509760" y="4389120"/>
            <a:ext cx="7772400" cy="585216"/>
          </a:xfrm>
          <a:prstGeom prst="rect">
            <a:avLst/>
          </a:prstGeom>
          <a:noFill/>
        </p:spPr>
        <p:txBody>
          <a:bodyPr wrap="square" lIns="0" rIns="0" tIns="0" bIns="0">
            <a:spAutoFit/>
          </a:bodyPr>
          <a:lstStyle/>
          <a:p>
            <a:pPr>
              <a:lnSpc>
                <a:spcPts val="2700"/>
              </a:lnSpc>
              <a:spcBef>
                <a:spcPts val="0"/>
              </a:spcBef>
              <a:spcAft>
                <a:spcPts val="0"/>
              </a:spcAft>
              <a:defRPr sz="2400" b="0">
                <a:solidFill>
                  <a:srgbClr val="002C49"/>
                </a:solidFill>
                <a:latin typeface="Montserrat"/>
              </a:defRPr>
            </a:pPr>
            <a:r>
              <a:t>Témoignages clients premium</a:t>
            </a:r>
          </a:p>
        </p:txBody>
      </p:sp>
      <p:sp>
        <p:nvSpPr>
          <p:cNvPr id="22" name="TextBox 21"/>
          <p:cNvSpPr txBox="1"/>
          <p:nvPr/>
        </p:nvSpPr>
        <p:spPr>
          <a:xfrm>
            <a:off x="9509760" y="5010912"/>
            <a:ext cx="7772400" cy="585216"/>
          </a:xfrm>
          <a:prstGeom prst="rect">
            <a:avLst/>
          </a:prstGeom>
          <a:noFill/>
        </p:spPr>
        <p:txBody>
          <a:bodyPr wrap="square" lIns="0" rIns="0" tIns="0" bIns="0">
            <a:spAutoFit/>
          </a:bodyPr>
          <a:lstStyle/>
          <a:p>
            <a:pPr>
              <a:lnSpc>
                <a:spcPts val="2700"/>
              </a:lnSpc>
              <a:spcBef>
                <a:spcPts val="0"/>
              </a:spcBef>
              <a:spcAft>
                <a:spcPts val="0"/>
              </a:spcAft>
              <a:defRPr sz="2400" b="0">
                <a:solidFill>
                  <a:srgbClr val="002C49"/>
                </a:solidFill>
                <a:latin typeface="Montserrat"/>
              </a:defRPr>
            </a:pPr>
            <a:r>
              <a:t>Valorisation des outils orientés client</a:t>
            </a:r>
          </a:p>
        </p:txBody>
      </p:sp>
      <p:sp>
        <p:nvSpPr>
          <p:cNvPr id="23" name="TextBox 22"/>
          <p:cNvSpPr txBox="1"/>
          <p:nvPr/>
        </p:nvSpPr>
        <p:spPr>
          <a:xfrm>
            <a:off x="9509760" y="5632703"/>
            <a:ext cx="7772400" cy="585216"/>
          </a:xfrm>
          <a:prstGeom prst="rect">
            <a:avLst/>
          </a:prstGeom>
          <a:noFill/>
        </p:spPr>
        <p:txBody>
          <a:bodyPr wrap="square" lIns="0" rIns="0" tIns="0" bIns="0">
            <a:spAutoFit/>
          </a:bodyPr>
          <a:lstStyle/>
          <a:p>
            <a:pPr>
              <a:lnSpc>
                <a:spcPts val="2700"/>
              </a:lnSpc>
              <a:spcBef>
                <a:spcPts val="0"/>
              </a:spcBef>
              <a:spcAft>
                <a:spcPts val="0"/>
              </a:spcAft>
              <a:defRPr sz="2400" b="0">
                <a:solidFill>
                  <a:srgbClr val="002C49"/>
                </a:solidFill>
                <a:latin typeface="Montserrat"/>
              </a:defRPr>
            </a:pPr>
            <a:r>
              <a:t>Témoignages “Tech + expérience client”</a:t>
            </a:r>
          </a:p>
        </p:txBody>
      </p:sp>
      <p:sp>
        <p:nvSpPr>
          <p:cNvPr id="24" name="TextBox 23"/>
          <p:cNvSpPr txBox="1"/>
          <p:nvPr/>
        </p:nvSpPr>
        <p:spPr>
          <a:xfrm>
            <a:off x="9509760" y="6254495"/>
            <a:ext cx="7772400" cy="1033271"/>
          </a:xfrm>
          <a:prstGeom prst="rect">
            <a:avLst/>
          </a:prstGeom>
          <a:noFill/>
        </p:spPr>
        <p:txBody>
          <a:bodyPr wrap="square" lIns="0" rIns="0" tIns="0" bIns="0">
            <a:spAutoFit/>
          </a:bodyPr>
          <a:lstStyle/>
          <a:p>
            <a:pPr>
              <a:lnSpc>
                <a:spcPts val="2700"/>
              </a:lnSpc>
              <a:spcBef>
                <a:spcPts val="0"/>
              </a:spcBef>
              <a:spcAft>
                <a:spcPts val="0"/>
              </a:spcAft>
              <a:defRPr sz="2400" b="0">
                <a:solidFill>
                  <a:srgbClr val="002C49"/>
                </a:solidFill>
                <a:latin typeface="Montserrat"/>
              </a:defRPr>
            </a:pPr>
            <a:r>
              <a:t>Lancement / valorisation des</a:t>
            </a:r>
          </a:p>
          <a:p>
            <a:pPr>
              <a:lnSpc>
                <a:spcPts val="2700"/>
              </a:lnSpc>
              <a:spcBef>
                <a:spcPts val="0"/>
              </a:spcBef>
              <a:spcAft>
                <a:spcPts val="0"/>
              </a:spcAft>
              <a:defRPr sz="2400" b="0">
                <a:solidFill>
                  <a:srgbClr val="002C49"/>
                </a:solidFill>
                <a:latin typeface="Montserrat"/>
              </a:defRPr>
            </a:pPr>
            <a:r>
              <a:t>nouvelles offres stratégiques</a:t>
            </a:r>
          </a:p>
        </p:txBody>
      </p:sp>
      <p:sp>
        <p:nvSpPr>
          <p:cNvPr id="25" name="TextBox 24"/>
          <p:cNvSpPr txBox="1"/>
          <p:nvPr/>
        </p:nvSpPr>
        <p:spPr>
          <a:xfrm>
            <a:off x="9509760" y="7370063"/>
            <a:ext cx="7772400" cy="585216"/>
          </a:xfrm>
          <a:prstGeom prst="rect">
            <a:avLst/>
          </a:prstGeom>
          <a:noFill/>
        </p:spPr>
        <p:txBody>
          <a:bodyPr wrap="square" lIns="0" rIns="0" tIns="0" bIns="0">
            <a:spAutoFit/>
          </a:bodyPr>
          <a:lstStyle/>
          <a:p>
            <a:pPr>
              <a:lnSpc>
                <a:spcPts val="2700"/>
              </a:lnSpc>
              <a:spcBef>
                <a:spcPts val="0"/>
              </a:spcBef>
              <a:spcAft>
                <a:spcPts val="0"/>
              </a:spcAft>
              <a:defRPr sz="2400" b="0">
                <a:solidFill>
                  <a:srgbClr val="002C49"/>
                </a:solidFill>
                <a:latin typeface="Montserrat"/>
              </a:defRPr>
            </a:pPr>
            <a:r>
              <a:t>Top Performers</a:t>
            </a:r>
          </a:p>
        </p:txBody>
      </p:sp>
      <p:sp>
        <p:nvSpPr>
          <p:cNvPr id="26" name="TextBox 25"/>
          <p:cNvSpPr txBox="1"/>
          <p:nvPr/>
        </p:nvSpPr>
        <p:spPr>
          <a:xfrm>
            <a:off x="9509760" y="7991855"/>
            <a:ext cx="7772400" cy="585216"/>
          </a:xfrm>
          <a:prstGeom prst="rect">
            <a:avLst/>
          </a:prstGeom>
          <a:noFill/>
        </p:spPr>
        <p:txBody>
          <a:bodyPr wrap="square" lIns="0" rIns="0" tIns="0" bIns="0">
            <a:spAutoFit/>
          </a:bodyPr>
          <a:lstStyle/>
          <a:p>
            <a:pPr>
              <a:lnSpc>
                <a:spcPts val="2700"/>
              </a:lnSpc>
              <a:spcBef>
                <a:spcPts val="0"/>
              </a:spcBef>
              <a:spcAft>
                <a:spcPts val="0"/>
              </a:spcAft>
              <a:defRPr sz="2400" b="0">
                <a:solidFill>
                  <a:srgbClr val="002C49"/>
                </a:solidFill>
                <a:latin typeface="Montserrat"/>
              </a:defRPr>
            </a:pPr>
            <a:r>
              <a:t>Vidéo corporate Groupe</a:t>
            </a:r>
          </a:p>
        </p:txBody>
      </p:sp>
      <p:sp>
        <p:nvSpPr>
          <p:cNvPr id="27" name="TextBox 26"/>
          <p:cNvSpPr txBox="1"/>
          <p:nvPr/>
        </p:nvSpPr>
        <p:spPr>
          <a:xfrm>
            <a:off x="9509760" y="8549640"/>
            <a:ext cx="7726679" cy="850392"/>
          </a:xfrm>
          <a:prstGeom prst="rect">
            <a:avLst/>
          </a:prstGeom>
          <a:noFill/>
        </p:spPr>
        <p:txBody>
          <a:bodyPr wrap="square" lIns="0" rIns="0" tIns="0" bIns="0">
            <a:spAutoFit/>
          </a:bodyPr>
          <a:lstStyle/>
          <a:p>
            <a:pPr>
              <a:lnSpc>
                <a:spcPts val="2800"/>
              </a:lnSpc>
              <a:spcBef>
                <a:spcPts val="0"/>
              </a:spcBef>
              <a:spcAft>
                <a:spcPts val="0"/>
              </a:spcAft>
              <a:defRPr sz="2300" b="0">
                <a:solidFill>
                  <a:srgbClr val="526777"/>
                </a:solidFill>
                <a:latin typeface="Montserrat"/>
              </a:defRPr>
            </a:pPr>
            <a:r>
              <a:t>Validés ; Tech + expérience client selon opportunités.</a:t>
            </a:r>
          </a:p>
          <a:p>
            <a:pPr>
              <a:lnSpc>
                <a:spcPts val="2800"/>
              </a:lnSpc>
              <a:spcBef>
                <a:spcPts val="0"/>
              </a:spcBef>
              <a:spcAft>
                <a:spcPts val="0"/>
              </a:spcAft>
              <a:defRPr sz="2300" b="0">
                <a:solidFill>
                  <a:srgbClr val="526777"/>
                </a:solidFill>
                <a:latin typeface="Montserrat"/>
              </a:defRPr>
            </a:pPr>
            <a:r>
              <a:t>Vidéo corporate Groupe : calendrier TBD.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3.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ANNEXE A6 / PORTEFEUILLE DE RÉFÉRENCE</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11 dispositifs People / image corporate</a:t>
            </a:r>
          </a:p>
        </p:txBody>
      </p:sp>
      <p:sp>
        <p:nvSpPr>
          <p:cNvPr id="5" name="Rectangle 4"/>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6" name="TextBox 5"/>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7" name="TextBox 6"/>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26</a:t>
            </a:r>
          </a:p>
        </p:txBody>
      </p:sp>
      <p:sp>
        <p:nvSpPr>
          <p:cNvPr id="8" name="TextBox 7"/>
          <p:cNvSpPr txBox="1"/>
          <p:nvPr/>
        </p:nvSpPr>
        <p:spPr>
          <a:xfrm>
            <a:off x="914400" y="3319272"/>
            <a:ext cx="8229600" cy="384048"/>
          </a:xfrm>
          <a:prstGeom prst="rect">
            <a:avLst/>
          </a:prstGeom>
          <a:noFill/>
        </p:spPr>
        <p:txBody>
          <a:bodyPr wrap="square" lIns="0" rIns="0" tIns="0" bIns="0">
            <a:spAutoFit/>
          </a:bodyPr>
          <a:lstStyle/>
          <a:p>
            <a:pPr>
              <a:lnSpc>
                <a:spcPts val="2700"/>
              </a:lnSpc>
              <a:spcBef>
                <a:spcPts val="0"/>
              </a:spcBef>
              <a:spcAft>
                <a:spcPts val="0"/>
              </a:spcAft>
              <a:defRPr sz="2400" b="1">
                <a:solidFill>
                  <a:srgbClr val="002C49"/>
                </a:solidFill>
                <a:latin typeface="Montserrat"/>
              </a:defRPr>
            </a:pPr>
            <a:r>
              <a:t>All Staff France</a:t>
            </a:r>
          </a:p>
        </p:txBody>
      </p:sp>
      <p:sp>
        <p:nvSpPr>
          <p:cNvPr id="9" name="TextBox 8"/>
          <p:cNvSpPr txBox="1"/>
          <p:nvPr/>
        </p:nvSpPr>
        <p:spPr>
          <a:xfrm>
            <a:off x="9738360" y="3319272"/>
            <a:ext cx="7589520" cy="384048"/>
          </a:xfrm>
          <a:prstGeom prst="rect">
            <a:avLst/>
          </a:prstGeom>
          <a:noFill/>
        </p:spPr>
        <p:txBody>
          <a:bodyPr wrap="square" lIns="0" rIns="0" tIns="0" bIns="0">
            <a:spAutoFit/>
          </a:bodyPr>
          <a:lstStyle/>
          <a:p>
            <a:pPr>
              <a:lnSpc>
                <a:spcPts val="2700"/>
              </a:lnSpc>
              <a:spcBef>
                <a:spcPts val="0"/>
              </a:spcBef>
              <a:spcAft>
                <a:spcPts val="0"/>
              </a:spcAft>
              <a:defRPr sz="2400" b="0">
                <a:solidFill>
                  <a:srgbClr val="526777"/>
                </a:solidFill>
                <a:latin typeface="Montserrat"/>
              </a:defRPr>
            </a:pPr>
            <a:r>
              <a:t>Rituel existant</a:t>
            </a:r>
          </a:p>
        </p:txBody>
      </p:sp>
      <p:sp>
        <p:nvSpPr>
          <p:cNvPr id="10" name="TextBox 9"/>
          <p:cNvSpPr txBox="1"/>
          <p:nvPr/>
        </p:nvSpPr>
        <p:spPr>
          <a:xfrm>
            <a:off x="914400" y="3758183"/>
            <a:ext cx="8229600" cy="384048"/>
          </a:xfrm>
          <a:prstGeom prst="rect">
            <a:avLst/>
          </a:prstGeom>
          <a:noFill/>
        </p:spPr>
        <p:txBody>
          <a:bodyPr wrap="square" lIns="0" rIns="0" tIns="0" bIns="0">
            <a:spAutoFit/>
          </a:bodyPr>
          <a:lstStyle/>
          <a:p>
            <a:pPr>
              <a:lnSpc>
                <a:spcPts val="2700"/>
              </a:lnSpc>
              <a:spcBef>
                <a:spcPts val="0"/>
              </a:spcBef>
              <a:spcAft>
                <a:spcPts val="0"/>
              </a:spcAft>
              <a:defRPr sz="2400" b="1">
                <a:solidFill>
                  <a:srgbClr val="002C49"/>
                </a:solidFill>
                <a:latin typeface="Montserrat"/>
              </a:defRPr>
            </a:pPr>
            <a:r>
              <a:t>La Leytonienne</a:t>
            </a:r>
          </a:p>
        </p:txBody>
      </p:sp>
      <p:sp>
        <p:nvSpPr>
          <p:cNvPr id="11" name="TextBox 10"/>
          <p:cNvSpPr txBox="1"/>
          <p:nvPr/>
        </p:nvSpPr>
        <p:spPr>
          <a:xfrm>
            <a:off x="9738360" y="3758183"/>
            <a:ext cx="7589520" cy="384048"/>
          </a:xfrm>
          <a:prstGeom prst="rect">
            <a:avLst/>
          </a:prstGeom>
          <a:noFill/>
        </p:spPr>
        <p:txBody>
          <a:bodyPr wrap="square" lIns="0" rIns="0" tIns="0" bIns="0">
            <a:spAutoFit/>
          </a:bodyPr>
          <a:lstStyle/>
          <a:p>
            <a:pPr>
              <a:lnSpc>
                <a:spcPts val="2700"/>
              </a:lnSpc>
              <a:spcBef>
                <a:spcPts val="0"/>
              </a:spcBef>
              <a:spcAft>
                <a:spcPts val="0"/>
              </a:spcAft>
              <a:defRPr sz="2400" b="0">
                <a:solidFill>
                  <a:srgbClr val="526777"/>
                </a:solidFill>
                <a:latin typeface="Montserrat"/>
              </a:defRPr>
            </a:pPr>
            <a:r>
              <a:t>Rituel existant</a:t>
            </a:r>
          </a:p>
        </p:txBody>
      </p:sp>
      <p:sp>
        <p:nvSpPr>
          <p:cNvPr id="12" name="TextBox 11"/>
          <p:cNvSpPr txBox="1"/>
          <p:nvPr/>
        </p:nvSpPr>
        <p:spPr>
          <a:xfrm>
            <a:off x="914400" y="4197096"/>
            <a:ext cx="8229600" cy="384048"/>
          </a:xfrm>
          <a:prstGeom prst="rect">
            <a:avLst/>
          </a:prstGeom>
          <a:noFill/>
        </p:spPr>
        <p:txBody>
          <a:bodyPr wrap="square" lIns="0" rIns="0" tIns="0" bIns="0">
            <a:spAutoFit/>
          </a:bodyPr>
          <a:lstStyle/>
          <a:p>
            <a:pPr>
              <a:lnSpc>
                <a:spcPts val="2700"/>
              </a:lnSpc>
              <a:spcBef>
                <a:spcPts val="0"/>
              </a:spcBef>
              <a:spcAft>
                <a:spcPts val="0"/>
              </a:spcAft>
              <a:defRPr sz="2400" b="1">
                <a:solidFill>
                  <a:srgbClr val="002C49"/>
                </a:solidFill>
                <a:latin typeface="Montserrat"/>
              </a:defRPr>
            </a:pPr>
            <a:r>
              <a:t>Refonte onboarding Workelo</a:t>
            </a:r>
          </a:p>
        </p:txBody>
      </p:sp>
      <p:sp>
        <p:nvSpPr>
          <p:cNvPr id="13" name="TextBox 12"/>
          <p:cNvSpPr txBox="1"/>
          <p:nvPr/>
        </p:nvSpPr>
        <p:spPr>
          <a:xfrm>
            <a:off x="9738360" y="4197096"/>
            <a:ext cx="7589520" cy="384048"/>
          </a:xfrm>
          <a:prstGeom prst="rect">
            <a:avLst/>
          </a:prstGeom>
          <a:noFill/>
        </p:spPr>
        <p:txBody>
          <a:bodyPr wrap="square" lIns="0" rIns="0" tIns="0" bIns="0">
            <a:spAutoFit/>
          </a:bodyPr>
          <a:lstStyle/>
          <a:p>
            <a:pPr>
              <a:lnSpc>
                <a:spcPts val="2700"/>
              </a:lnSpc>
              <a:spcBef>
                <a:spcPts val="0"/>
              </a:spcBef>
              <a:spcAft>
                <a:spcPts val="0"/>
              </a:spcAft>
              <a:defRPr sz="2400" b="0">
                <a:solidFill>
                  <a:srgbClr val="526777"/>
                </a:solidFill>
                <a:latin typeface="Montserrat"/>
              </a:defRPr>
            </a:pPr>
            <a:r>
              <a:t>À retravailler</a:t>
            </a:r>
          </a:p>
        </p:txBody>
      </p:sp>
      <p:sp>
        <p:nvSpPr>
          <p:cNvPr id="14" name="TextBox 13"/>
          <p:cNvSpPr txBox="1"/>
          <p:nvPr/>
        </p:nvSpPr>
        <p:spPr>
          <a:xfrm>
            <a:off x="914400" y="4636008"/>
            <a:ext cx="8229600" cy="384048"/>
          </a:xfrm>
          <a:prstGeom prst="rect">
            <a:avLst/>
          </a:prstGeom>
          <a:noFill/>
        </p:spPr>
        <p:txBody>
          <a:bodyPr wrap="square" lIns="0" rIns="0" tIns="0" bIns="0">
            <a:spAutoFit/>
          </a:bodyPr>
          <a:lstStyle/>
          <a:p>
            <a:pPr>
              <a:lnSpc>
                <a:spcPts val="2700"/>
              </a:lnSpc>
              <a:spcBef>
                <a:spcPts val="0"/>
              </a:spcBef>
              <a:spcAft>
                <a:spcPts val="0"/>
              </a:spcAft>
              <a:defRPr sz="2400" b="1">
                <a:solidFill>
                  <a:srgbClr val="002C49"/>
                </a:solidFill>
                <a:latin typeface="Montserrat"/>
              </a:defRPr>
            </a:pPr>
            <a:r>
              <a:t>Leadership au féminin</a:t>
            </a:r>
          </a:p>
        </p:txBody>
      </p:sp>
      <p:sp>
        <p:nvSpPr>
          <p:cNvPr id="15" name="TextBox 14"/>
          <p:cNvSpPr txBox="1"/>
          <p:nvPr/>
        </p:nvSpPr>
        <p:spPr>
          <a:xfrm>
            <a:off x="9738360" y="4636008"/>
            <a:ext cx="7589520" cy="384048"/>
          </a:xfrm>
          <a:prstGeom prst="rect">
            <a:avLst/>
          </a:prstGeom>
          <a:noFill/>
        </p:spPr>
        <p:txBody>
          <a:bodyPr wrap="square" lIns="0" rIns="0" tIns="0" bIns="0">
            <a:spAutoFit/>
          </a:bodyPr>
          <a:lstStyle/>
          <a:p>
            <a:pPr>
              <a:lnSpc>
                <a:spcPts val="2700"/>
              </a:lnSpc>
              <a:spcBef>
                <a:spcPts val="0"/>
              </a:spcBef>
              <a:spcAft>
                <a:spcPts val="0"/>
              </a:spcAft>
              <a:defRPr sz="2400" b="0">
                <a:solidFill>
                  <a:srgbClr val="526777"/>
                </a:solidFill>
                <a:latin typeface="Montserrat"/>
              </a:defRPr>
            </a:pPr>
            <a:r>
              <a:t>Validé</a:t>
            </a:r>
          </a:p>
        </p:txBody>
      </p:sp>
      <p:sp>
        <p:nvSpPr>
          <p:cNvPr id="16" name="TextBox 15"/>
          <p:cNvSpPr txBox="1"/>
          <p:nvPr/>
        </p:nvSpPr>
        <p:spPr>
          <a:xfrm>
            <a:off x="914400" y="5074920"/>
            <a:ext cx="8229600" cy="384048"/>
          </a:xfrm>
          <a:prstGeom prst="rect">
            <a:avLst/>
          </a:prstGeom>
          <a:noFill/>
        </p:spPr>
        <p:txBody>
          <a:bodyPr wrap="square" lIns="0" rIns="0" tIns="0" bIns="0">
            <a:spAutoFit/>
          </a:bodyPr>
          <a:lstStyle/>
          <a:p>
            <a:pPr>
              <a:lnSpc>
                <a:spcPts val="2700"/>
              </a:lnSpc>
              <a:spcBef>
                <a:spcPts val="0"/>
              </a:spcBef>
              <a:spcAft>
                <a:spcPts val="0"/>
              </a:spcAft>
              <a:defRPr sz="2400" b="1">
                <a:solidFill>
                  <a:srgbClr val="002C49"/>
                </a:solidFill>
                <a:latin typeface="Montserrat"/>
              </a:defRPr>
            </a:pPr>
            <a:r>
              <a:t>GPTW / CARE</a:t>
            </a:r>
          </a:p>
        </p:txBody>
      </p:sp>
      <p:sp>
        <p:nvSpPr>
          <p:cNvPr id="17" name="TextBox 16"/>
          <p:cNvSpPr txBox="1"/>
          <p:nvPr/>
        </p:nvSpPr>
        <p:spPr>
          <a:xfrm>
            <a:off x="9738360" y="5074920"/>
            <a:ext cx="7589520" cy="384048"/>
          </a:xfrm>
          <a:prstGeom prst="rect">
            <a:avLst/>
          </a:prstGeom>
          <a:noFill/>
        </p:spPr>
        <p:txBody>
          <a:bodyPr wrap="square" lIns="0" rIns="0" tIns="0" bIns="0">
            <a:spAutoFit/>
          </a:bodyPr>
          <a:lstStyle/>
          <a:p>
            <a:pPr>
              <a:lnSpc>
                <a:spcPts val="2700"/>
              </a:lnSpc>
              <a:spcBef>
                <a:spcPts val="0"/>
              </a:spcBef>
              <a:spcAft>
                <a:spcPts val="0"/>
              </a:spcAft>
              <a:defRPr sz="2400" b="0">
                <a:solidFill>
                  <a:srgbClr val="526777"/>
                </a:solidFill>
                <a:latin typeface="Montserrat"/>
              </a:defRPr>
            </a:pPr>
            <a:r>
              <a:t>En cours</a:t>
            </a:r>
          </a:p>
        </p:txBody>
      </p:sp>
      <p:sp>
        <p:nvSpPr>
          <p:cNvPr id="18" name="TextBox 17"/>
          <p:cNvSpPr txBox="1"/>
          <p:nvPr/>
        </p:nvSpPr>
        <p:spPr>
          <a:xfrm>
            <a:off x="914400" y="5513831"/>
            <a:ext cx="8229600" cy="384048"/>
          </a:xfrm>
          <a:prstGeom prst="rect">
            <a:avLst/>
          </a:prstGeom>
          <a:noFill/>
        </p:spPr>
        <p:txBody>
          <a:bodyPr wrap="square" lIns="0" rIns="0" tIns="0" bIns="0">
            <a:spAutoFit/>
          </a:bodyPr>
          <a:lstStyle/>
          <a:p>
            <a:pPr>
              <a:lnSpc>
                <a:spcPts val="2700"/>
              </a:lnSpc>
              <a:spcBef>
                <a:spcPts val="0"/>
              </a:spcBef>
              <a:spcAft>
                <a:spcPts val="0"/>
              </a:spcAft>
              <a:defRPr sz="2400" b="1">
                <a:solidFill>
                  <a:srgbClr val="002C49"/>
                </a:solidFill>
                <a:latin typeface="Montserrat"/>
              </a:defRPr>
            </a:pPr>
            <a:r>
              <a:t>Rendez-vous collaborateurs</a:t>
            </a:r>
          </a:p>
        </p:txBody>
      </p:sp>
      <p:sp>
        <p:nvSpPr>
          <p:cNvPr id="19" name="TextBox 18"/>
          <p:cNvSpPr txBox="1"/>
          <p:nvPr/>
        </p:nvSpPr>
        <p:spPr>
          <a:xfrm>
            <a:off x="9738360" y="5513831"/>
            <a:ext cx="7589520" cy="384048"/>
          </a:xfrm>
          <a:prstGeom prst="rect">
            <a:avLst/>
          </a:prstGeom>
          <a:noFill/>
        </p:spPr>
        <p:txBody>
          <a:bodyPr wrap="square" lIns="0" rIns="0" tIns="0" bIns="0">
            <a:spAutoFit/>
          </a:bodyPr>
          <a:lstStyle/>
          <a:p>
            <a:pPr>
              <a:lnSpc>
                <a:spcPts val="2700"/>
              </a:lnSpc>
              <a:spcBef>
                <a:spcPts val="0"/>
              </a:spcBef>
              <a:spcAft>
                <a:spcPts val="0"/>
              </a:spcAft>
              <a:defRPr sz="2400" b="0">
                <a:solidFill>
                  <a:srgbClr val="526777"/>
                </a:solidFill>
                <a:latin typeface="Montserrat"/>
              </a:defRPr>
            </a:pPr>
            <a:r>
              <a:t>Validé ; minimum mensuel</a:t>
            </a:r>
          </a:p>
        </p:txBody>
      </p:sp>
      <p:sp>
        <p:nvSpPr>
          <p:cNvPr id="20" name="TextBox 19"/>
          <p:cNvSpPr txBox="1"/>
          <p:nvPr/>
        </p:nvSpPr>
        <p:spPr>
          <a:xfrm>
            <a:off x="914400" y="5952744"/>
            <a:ext cx="8229600" cy="384048"/>
          </a:xfrm>
          <a:prstGeom prst="rect">
            <a:avLst/>
          </a:prstGeom>
          <a:noFill/>
        </p:spPr>
        <p:txBody>
          <a:bodyPr wrap="square" lIns="0" rIns="0" tIns="0" bIns="0">
            <a:spAutoFit/>
          </a:bodyPr>
          <a:lstStyle/>
          <a:p>
            <a:pPr>
              <a:lnSpc>
                <a:spcPts val="2700"/>
              </a:lnSpc>
              <a:spcBef>
                <a:spcPts val="0"/>
              </a:spcBef>
              <a:spcAft>
                <a:spcPts val="0"/>
              </a:spcAft>
              <a:defRPr sz="2400" b="1">
                <a:solidFill>
                  <a:srgbClr val="002C49"/>
                </a:solidFill>
                <a:latin typeface="Montserrat"/>
              </a:defRPr>
            </a:pPr>
            <a:r>
              <a:t>Programme RSE</a:t>
            </a:r>
          </a:p>
        </p:txBody>
      </p:sp>
      <p:sp>
        <p:nvSpPr>
          <p:cNvPr id="21" name="TextBox 20"/>
          <p:cNvSpPr txBox="1"/>
          <p:nvPr/>
        </p:nvSpPr>
        <p:spPr>
          <a:xfrm>
            <a:off x="9738360" y="5952744"/>
            <a:ext cx="7589520" cy="384048"/>
          </a:xfrm>
          <a:prstGeom prst="rect">
            <a:avLst/>
          </a:prstGeom>
          <a:noFill/>
        </p:spPr>
        <p:txBody>
          <a:bodyPr wrap="square" lIns="0" rIns="0" tIns="0" bIns="0">
            <a:spAutoFit/>
          </a:bodyPr>
          <a:lstStyle/>
          <a:p>
            <a:pPr>
              <a:lnSpc>
                <a:spcPts val="2700"/>
              </a:lnSpc>
              <a:spcBef>
                <a:spcPts val="0"/>
              </a:spcBef>
              <a:spcAft>
                <a:spcPts val="0"/>
              </a:spcAft>
              <a:defRPr sz="2400" b="0">
                <a:solidFill>
                  <a:srgbClr val="526777"/>
                </a:solidFill>
                <a:latin typeface="Montserrat"/>
              </a:defRPr>
            </a:pPr>
            <a:r>
              <a:t>Validé ; minimum mensuel interne</a:t>
            </a:r>
          </a:p>
        </p:txBody>
      </p:sp>
      <p:sp>
        <p:nvSpPr>
          <p:cNvPr id="22" name="TextBox 21"/>
          <p:cNvSpPr txBox="1"/>
          <p:nvPr/>
        </p:nvSpPr>
        <p:spPr>
          <a:xfrm>
            <a:off x="914400" y="6391656"/>
            <a:ext cx="8229600" cy="384048"/>
          </a:xfrm>
          <a:prstGeom prst="rect">
            <a:avLst/>
          </a:prstGeom>
          <a:noFill/>
        </p:spPr>
        <p:txBody>
          <a:bodyPr wrap="square" lIns="0" rIns="0" tIns="0" bIns="0">
            <a:spAutoFit/>
          </a:bodyPr>
          <a:lstStyle/>
          <a:p>
            <a:pPr>
              <a:lnSpc>
                <a:spcPts val="2700"/>
              </a:lnSpc>
              <a:spcBef>
                <a:spcPts val="0"/>
              </a:spcBef>
              <a:spcAft>
                <a:spcPts val="0"/>
              </a:spcAft>
              <a:defRPr sz="2400" b="1">
                <a:solidFill>
                  <a:srgbClr val="002C49"/>
                </a:solidFill>
                <a:latin typeface="Montserrat"/>
              </a:defRPr>
            </a:pPr>
            <a:r>
              <a:t>Culture Leyton</a:t>
            </a:r>
          </a:p>
        </p:txBody>
      </p:sp>
      <p:sp>
        <p:nvSpPr>
          <p:cNvPr id="23" name="TextBox 22"/>
          <p:cNvSpPr txBox="1"/>
          <p:nvPr/>
        </p:nvSpPr>
        <p:spPr>
          <a:xfrm>
            <a:off x="9738360" y="6391656"/>
            <a:ext cx="7589520" cy="384048"/>
          </a:xfrm>
          <a:prstGeom prst="rect">
            <a:avLst/>
          </a:prstGeom>
          <a:noFill/>
        </p:spPr>
        <p:txBody>
          <a:bodyPr wrap="square" lIns="0" rIns="0" tIns="0" bIns="0">
            <a:spAutoFit/>
          </a:bodyPr>
          <a:lstStyle/>
          <a:p>
            <a:pPr>
              <a:lnSpc>
                <a:spcPts val="2700"/>
              </a:lnSpc>
              <a:spcBef>
                <a:spcPts val="0"/>
              </a:spcBef>
              <a:spcAft>
                <a:spcPts val="0"/>
              </a:spcAft>
              <a:defRPr sz="2400" b="0">
                <a:solidFill>
                  <a:srgbClr val="526777"/>
                </a:solidFill>
                <a:latin typeface="Montserrat"/>
              </a:defRPr>
            </a:pPr>
            <a:r>
              <a:t>Validé</a:t>
            </a:r>
          </a:p>
        </p:txBody>
      </p:sp>
      <p:sp>
        <p:nvSpPr>
          <p:cNvPr id="24" name="TextBox 23"/>
          <p:cNvSpPr txBox="1"/>
          <p:nvPr/>
        </p:nvSpPr>
        <p:spPr>
          <a:xfrm>
            <a:off x="914400" y="6830568"/>
            <a:ext cx="8229600" cy="384048"/>
          </a:xfrm>
          <a:prstGeom prst="rect">
            <a:avLst/>
          </a:prstGeom>
          <a:noFill/>
        </p:spPr>
        <p:txBody>
          <a:bodyPr wrap="square" lIns="0" rIns="0" tIns="0" bIns="0">
            <a:spAutoFit/>
          </a:bodyPr>
          <a:lstStyle/>
          <a:p>
            <a:pPr>
              <a:lnSpc>
                <a:spcPts val="2700"/>
              </a:lnSpc>
              <a:spcBef>
                <a:spcPts val="0"/>
              </a:spcBef>
              <a:spcAft>
                <a:spcPts val="0"/>
              </a:spcAft>
              <a:defRPr sz="2400" b="1">
                <a:solidFill>
                  <a:srgbClr val="002C49"/>
                </a:solidFill>
                <a:latin typeface="Montserrat"/>
              </a:defRPr>
            </a:pPr>
            <a:r>
              <a:t>Communication managériale</a:t>
            </a:r>
          </a:p>
        </p:txBody>
      </p:sp>
      <p:sp>
        <p:nvSpPr>
          <p:cNvPr id="25" name="TextBox 24"/>
          <p:cNvSpPr txBox="1"/>
          <p:nvPr/>
        </p:nvSpPr>
        <p:spPr>
          <a:xfrm>
            <a:off x="9738360" y="6830568"/>
            <a:ext cx="7589520" cy="384048"/>
          </a:xfrm>
          <a:prstGeom prst="rect">
            <a:avLst/>
          </a:prstGeom>
          <a:noFill/>
        </p:spPr>
        <p:txBody>
          <a:bodyPr wrap="square" lIns="0" rIns="0" tIns="0" bIns="0">
            <a:spAutoFit/>
          </a:bodyPr>
          <a:lstStyle/>
          <a:p>
            <a:pPr>
              <a:lnSpc>
                <a:spcPts val="2700"/>
              </a:lnSpc>
              <a:spcBef>
                <a:spcPts val="0"/>
              </a:spcBef>
              <a:spcAft>
                <a:spcPts val="0"/>
              </a:spcAft>
              <a:defRPr sz="2400" b="0">
                <a:solidFill>
                  <a:srgbClr val="526777"/>
                </a:solidFill>
                <a:latin typeface="Montserrat"/>
              </a:defRPr>
            </a:pPr>
            <a:r>
              <a:t>Validé ; activation sur grands sujets</a:t>
            </a:r>
          </a:p>
        </p:txBody>
      </p:sp>
      <p:sp>
        <p:nvSpPr>
          <p:cNvPr id="26" name="TextBox 25"/>
          <p:cNvSpPr txBox="1"/>
          <p:nvPr/>
        </p:nvSpPr>
        <p:spPr>
          <a:xfrm>
            <a:off x="914400" y="7269480"/>
            <a:ext cx="8229600" cy="384048"/>
          </a:xfrm>
          <a:prstGeom prst="rect">
            <a:avLst/>
          </a:prstGeom>
          <a:noFill/>
        </p:spPr>
        <p:txBody>
          <a:bodyPr wrap="square" lIns="0" rIns="0" tIns="0" bIns="0">
            <a:spAutoFit/>
          </a:bodyPr>
          <a:lstStyle/>
          <a:p>
            <a:pPr>
              <a:lnSpc>
                <a:spcPts val="2700"/>
              </a:lnSpc>
              <a:spcBef>
                <a:spcPts val="0"/>
              </a:spcBef>
              <a:spcAft>
                <a:spcPts val="0"/>
              </a:spcAft>
              <a:defRPr sz="2400" b="1">
                <a:solidFill>
                  <a:srgbClr val="002C49"/>
                </a:solidFill>
                <a:latin typeface="Montserrat"/>
              </a:defRPr>
            </a:pPr>
            <a:r>
              <a:t>Temps forts collectifs</a:t>
            </a:r>
          </a:p>
        </p:txBody>
      </p:sp>
      <p:sp>
        <p:nvSpPr>
          <p:cNvPr id="27" name="TextBox 26"/>
          <p:cNvSpPr txBox="1"/>
          <p:nvPr/>
        </p:nvSpPr>
        <p:spPr>
          <a:xfrm>
            <a:off x="9738360" y="7269480"/>
            <a:ext cx="7589520" cy="384048"/>
          </a:xfrm>
          <a:prstGeom prst="rect">
            <a:avLst/>
          </a:prstGeom>
          <a:noFill/>
        </p:spPr>
        <p:txBody>
          <a:bodyPr wrap="square" lIns="0" rIns="0" tIns="0" bIns="0">
            <a:spAutoFit/>
          </a:bodyPr>
          <a:lstStyle/>
          <a:p>
            <a:pPr>
              <a:lnSpc>
                <a:spcPts val="2700"/>
              </a:lnSpc>
              <a:spcBef>
                <a:spcPts val="0"/>
              </a:spcBef>
              <a:spcAft>
                <a:spcPts val="0"/>
              </a:spcAft>
              <a:defRPr sz="2400" b="0">
                <a:solidFill>
                  <a:srgbClr val="526777"/>
                </a:solidFill>
                <a:latin typeface="Montserrat"/>
              </a:defRPr>
            </a:pPr>
            <a:r>
              <a:t>Validé ; séminaire date à confirmer</a:t>
            </a:r>
          </a:p>
        </p:txBody>
      </p:sp>
      <p:sp>
        <p:nvSpPr>
          <p:cNvPr id="28" name="TextBox 27"/>
          <p:cNvSpPr txBox="1"/>
          <p:nvPr/>
        </p:nvSpPr>
        <p:spPr>
          <a:xfrm>
            <a:off x="914400" y="7708392"/>
            <a:ext cx="8229600" cy="384048"/>
          </a:xfrm>
          <a:prstGeom prst="rect">
            <a:avLst/>
          </a:prstGeom>
          <a:noFill/>
        </p:spPr>
        <p:txBody>
          <a:bodyPr wrap="square" lIns="0" rIns="0" tIns="0" bIns="0">
            <a:spAutoFit/>
          </a:bodyPr>
          <a:lstStyle/>
          <a:p>
            <a:pPr>
              <a:lnSpc>
                <a:spcPts val="2700"/>
              </a:lnSpc>
              <a:spcBef>
                <a:spcPts val="0"/>
              </a:spcBef>
              <a:spcAft>
                <a:spcPts val="0"/>
              </a:spcAft>
              <a:defRPr sz="2400" b="1">
                <a:solidFill>
                  <a:srgbClr val="002C49"/>
                </a:solidFill>
                <a:latin typeface="Montserrat"/>
              </a:defRPr>
            </a:pPr>
            <a:r>
              <a:t>LinkedIn corporate</a:t>
            </a:r>
          </a:p>
        </p:txBody>
      </p:sp>
      <p:sp>
        <p:nvSpPr>
          <p:cNvPr id="29" name="TextBox 28"/>
          <p:cNvSpPr txBox="1"/>
          <p:nvPr/>
        </p:nvSpPr>
        <p:spPr>
          <a:xfrm>
            <a:off x="9738360" y="7708392"/>
            <a:ext cx="7589520" cy="384048"/>
          </a:xfrm>
          <a:prstGeom prst="rect">
            <a:avLst/>
          </a:prstGeom>
          <a:noFill/>
        </p:spPr>
        <p:txBody>
          <a:bodyPr wrap="square" lIns="0" rIns="0" tIns="0" bIns="0">
            <a:spAutoFit/>
          </a:bodyPr>
          <a:lstStyle/>
          <a:p>
            <a:pPr>
              <a:lnSpc>
                <a:spcPts val="2700"/>
              </a:lnSpc>
              <a:spcBef>
                <a:spcPts val="0"/>
              </a:spcBef>
              <a:spcAft>
                <a:spcPts val="0"/>
              </a:spcAft>
              <a:defRPr sz="2400" b="0">
                <a:solidFill>
                  <a:srgbClr val="526777"/>
                </a:solidFill>
                <a:latin typeface="Montserrat"/>
              </a:defRPr>
            </a:pPr>
            <a:r>
              <a:t>Run annuel</a:t>
            </a:r>
          </a:p>
        </p:txBody>
      </p:sp>
      <p:sp>
        <p:nvSpPr>
          <p:cNvPr id="30" name="TextBox 29"/>
          <p:cNvSpPr txBox="1"/>
          <p:nvPr/>
        </p:nvSpPr>
        <p:spPr>
          <a:xfrm>
            <a:off x="914400" y="8540496"/>
            <a:ext cx="16459200" cy="868680"/>
          </a:xfrm>
          <a:prstGeom prst="rect">
            <a:avLst/>
          </a:prstGeom>
          <a:noFill/>
        </p:spPr>
        <p:txBody>
          <a:bodyPr wrap="square" lIns="0" rIns="0" tIns="0" bIns="0">
            <a:spAutoFit/>
          </a:bodyPr>
          <a:lstStyle/>
          <a:p>
            <a:pPr>
              <a:lnSpc>
                <a:spcPts val="2800"/>
              </a:lnSpc>
              <a:spcBef>
                <a:spcPts val="0"/>
              </a:spcBef>
              <a:spcAft>
                <a:spcPts val="0"/>
              </a:spcAft>
              <a:defRPr sz="2300" b="0">
                <a:solidFill>
                  <a:srgbClr val="002C49"/>
                </a:solidFill>
                <a:latin typeface="Montserrat"/>
              </a:defRPr>
            </a:pPr>
            <a:r>
              <a:t>Hors cœur du plan : programme ambassadeur ; « 1 semaine, 1 métier » ; Makers / Behind the tool.</a:t>
            </a:r>
          </a:p>
          <a:p>
            <a:pPr>
              <a:lnSpc>
                <a:spcPts val="2800"/>
              </a:lnSpc>
              <a:spcBef>
                <a:spcPts val="0"/>
              </a:spcBef>
              <a:spcAft>
                <a:spcPts val="0"/>
              </a:spcAft>
              <a:defRPr sz="2300" b="0">
                <a:solidFill>
                  <a:srgbClr val="002C49"/>
                </a:solidFill>
                <a:latin typeface="Montserrat"/>
              </a:defRPr>
            </a:pPr>
            <a:r>
              <a:t>Run canaux : Neoscreen après déploiement ; intranet après lancement ; LinkedIn annuel ; Teams / email ciblés.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 de Communication France FY2026/27 — Leyton — V3</dc:title>
  <dc:subject>De la production et diffusion à une fonction d’influence</dc:subject>
  <dc:creator>Direction de la Communication France</dc:creator>
  <cp:keywords>Leyton2030, Change, Business, People, influence, FY2026/27</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