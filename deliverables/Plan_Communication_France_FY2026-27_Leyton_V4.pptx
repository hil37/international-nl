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slides/slide1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61" r:id="rId13"/>
    <p:sldId id="276" r:id="rId28"/>
    <p:sldId id="262" r:id="rId14"/>
    <p:sldId id="277" r:id="rId29"/>
    <p:sldId id="264" r:id="rId16"/>
    <p:sldId id="278" r:id="rId30"/>
    <p:sldId id="267" r:id="rId19"/>
    <p:sldId id="279" r:id="rId31"/>
    <p:sldId id="270" r:id="rId22"/>
    <p:sldId id="280" r:id="rId32"/>
    <p:sldId id="281" r:id="rId33"/>
    <p:sldId id="295" r:id="rId47"/>
    <p:sldId id="296" r:id="rId48"/>
    <p:sldId id="297" r:id="rId49"/>
    <p:sldId id="298" r:id="rId50"/>
    <p:sldId id="299" r:id="rId51"/>
    <p:sldId id="300" r:id="rId52"/>
    <p:sldId id="301" r:id="rId53"/>
    <p:sldId id="302" r:id="rId54"/>
    <p:sldId id="303" r:id="rId55"/>
    <p:sldId id="304" r:id="rId5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6" Type="http://schemas.openxmlformats.org/officeDocument/2006/relationships/slide" Target="slides/slide9.xml"/><Relationship Id="rId19" Type="http://schemas.openxmlformats.org/officeDocument/2006/relationships/slide" Target="slides/slide12.xml"/><Relationship Id="rId22" Type="http://schemas.openxmlformats.org/officeDocument/2006/relationships/slide" Target="slides/slide15.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complètes et rôles en annexe A1. Direction : sens. DSI : outils/anonymisation. Juridique : cadre. RH Formation : compétences. Métiers : cas d’usage. Communication : orchestration. Hub IA sur intranet seulement après lancement, relais disponibles avant. Zoom IA : date à confirmer. Pack final IA par métier en fin d’exercice. Le parcours ci-dessus appartient à l’IA uniquement, pas à l’ensemble du plan.</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Campagne multicanale : inventaire, hub/page dédiée, fiches, capsules formation, cas d’usage, relais selon l’importance, standard de lancement, actualisation continue. L’intranet n’est pas l’unique canal ; utiliser les relais disponibles avant lancement effectif.</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Staff : quatre temps, octobre/janvier/avril/fin d’exercice. Le mois exact du dernier n’est pas précisé. La Leytonienne S1 fin janvier ; S2 préparation mai–juin et publication fin juillet 2027 hors exercice. RDV collaborateurs : mobilisation avant, couverture et valorisation pendant/après. Christmas Party et séminaire de fin d’exercice : communication avant/pendant/après, séminaire date à confirmer.</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Neoscreen : toutes les agences, campagne à partir d’octobre, puis canal transverse. Intranet : projet validé mais revue de production/possible changement de prestataire, aucun lancement annoncé en octobre ; alimentation seulement après lancement effectif. Avant intranet, utiliser les relais disponibles. Vidéo = format de preuve, pas un canal permanent autonome ; rôle décrit dans slides de dispositifs. LinkedIn business relève du Marketing.</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Portefeuille exact fourni par l’utilisateur. Noms et validation conservés. Nouvelles offres et outils activables selon les vrais lancements. Statuts NEW/BUILD, SCALE/TRANSFORM, RUN/MAINTAIN, CONDITIONAL/TBD sont une lecture de travail proposée à la slide5, pas les validations utilisateur. La synthèse des 25 éléments est conservée dans le document de référence accompagnant le deck.</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Staff et Leytonienne sont des rituels structurants également utilisés comme relais, pas des campagnes à recréer. Les idées de brainstorming ne constituent pas un nouveau portefeuille. Programme ambassadeur présent dans Leyton2030 mais périmètre/owner Communication non clarifiés : hors cœur du plan. « 1 semaine,1métier » et Makers/Behindthetool à réévaluer.</a:t>
            </a:r>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V4 exécutive. Base V3 conservée, portefeuille inchangé. Les détails et sources sont en annexes. Priorisation et séquencement proposés : à arbitrer avec la capacité réelle.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mieux, pas plus : ne pas tout lancer simultanément ; une production peut servir plusieurs canaux ; réutiliser interviews, vidéos et preuves ; fusionner les dispositifs redondants. Arrêter de produire pour remplir un canal. L’influence est une contribution, sans attribution exclusive des ventes, de l’adoption ou de la performance business à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matrice décrit les contributions principales, pas une sélection de projets ni une roadmap. Les projets concrets figurent ensuite. Culture × Business : aucun projet autonome ; une action peut contribuer à plusieurs priorités. Les trois piliers conservent les définitions validées : Change faire comprendre et adopter ; Business renforcer preuve, expertise et crédibilité ; People renforcer information, engagement, culture et collectif.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regroupements de lecture, sans renommer les projets. Les priorités sont une proposition stratégique ; aucune capacité chiffrée ni ordre de lancement arbitraire. Culture/engagement/image combine dispositifs structurants et socle, détaillés slide 9. Écosystème interne traité séparément : Neoscreen déploiement dès octobre puis run ; intranet revue de production, possible changement de prestataire, planning après arbitrage. Conditionnel : nouvelles offres selon lancements, captations selon opportunités, vidéo Groupe, certains événements, cadrage Workelo et Business Partner.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 Business Partner — nom de travail : périmètre et owner du fond à valider, Communication porte expérience/branding/cohérence et Marketing/métiers le fond commercial. Cross-sell = sourcing → sélection → interview → validation → diffusion → capitalisation ; minimum 4 vidéos/exercice. Zoom IA à confirmer et ne bloque pas le programme. Hub IA sur intranet après lancement ; relais disponibles avant. Performance distincte des Top Performers Business. Aucun lancement intranet en octobre.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Témoignages principalement vidéo PME/ETI/Grands Comptes lorsque possible. Salons = opportunité de captation, pas une campagne autonome. Oryx modèle de valorisation d’outil ; Leyton For Me si cas démontrable. Nouvelles offres : expert/vidéo/fiche/preuve/interne/externe avec Marketing selon lancement réel. La vidéo corporate Groupe montre expertise, montée en gamme, preuves clients, Tech, IA et outils propriétaires ; calendrier Groupe à confirmer. Les offres qui performent restent Change, distinctes des Top Performers.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All Staff octobre/janvier/avril/fin exercice ; Leytonienne S1 fin janvier, S2 préparée mai–juin publiée fin juillet hors FY. Minimum un RDV collaborateurs et une activation RSE interne/mois. RSE externe seulement sélection. Christmas Party et séminaire fin exercice, date à confirmer. CARE déjà lancé, ne pas annoncer nouveau lancement ; Communication relie résultats et actions RH, mobilité/formation/développement/parcours. Cascade managériale grands sujets uniquement. Sport CSE/collaborateurs HYROX/semi-marathon/triathlon ; Sport Business hospitalités et événements sélectionnés, aucune couverture systématique. Le calendrier LinkedIn est la source de vérité ; ni calendrier complet du run RH/RSE interne ni plan Marketing.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exécutive, pas calendrier de production. Point = temps fort ; barre = fenêtre validée ; pointillé = séquencement à définir et non engagement sur toute la période. Les programmes IA/Toolbox/Kit/cross-sell n’ont pas de dates de lancement validées. Repères : les offres qui performent et Top Performers octobre à mi-décembre et février à avril ; Neoscreen campagne à partir d’octobre. All Staff fin exercice positionné dans la fenêtre de juin, date exacte à confirmer. Fils rouges RDV et RSE mensuels et LinkedIn corporate toute année ; détaillés en annexe. Leytonienne S1 fin janvier ; S2 préparation mai–juin, publication fin juillet hors FY. Zoom IA distinct du post LinkedIn IA 22 octobre.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Owners opérationnels, validations et rythme de pilotage à confirmer. IA : Direction sens, DSI outils/anonymisation, Juridique cadre, RH Formation compétences, métiers cas. Marketing/Business/CS propriétaires du fond commercial. Groupe propriétaire des projets et calendriers Groupe. Périmètre Sport Business distinct. Indicateurs proposés à valider selon accès aux données ; aucun KPI réalisé ni objectif numérique inventé. Les repères fournis sont minimum 4 vidéos cross-sell/exercice, 1 RDV collaborateurs/mois, 1 activation RSE/mois, 4 All Staff ; ils ne prouvent pas l’impact.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V4 : détail conservé en annexe. Les calendriers non validés restent à confirmer. Le calendrier LinkedIn actualisé prévaut sur toute formulation générique antérieure.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Reprise et simplification des données de la roadmap V3, sans nouvelles dates. IA, Toolbox, Kit et cross-sell : séquencement dépend des arbitrages priorité/capacité/owners. Neoscreen déploiement à partir d’octobre ; fin déploiement non fixée. Preuves de valeur selon disponibilité des cas et validation clients/métiers. Campagnes performance octobre–mi-décembre et février–avril. Les contenus run post-déploiement ne sont pas une nouvelle campagne.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Minimum 1 rendez-vous collaborateurs/mois et 1 activation RSE interne/mois. Ces repères ne supposent pas un post LinkedIn RSE/RH chaque mois. LinkedIn corporate fil rouge annuel ; seul calendrier octobre–juin fourni, pas de sujets inventés juillet–septembre. La préparation S2 en mai–juin n’est pas la publication, qui intervient fin juillet hors FY. Christmas Party et séminaire dates à confirmer ; on ne déduit pas un engagement événementiel de la seule position de Noël dans le calendrier LinkedIn.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owner opérationnel unique n’est pas défini dans le brief. Les fonctions ici sont les propriétaires du fond à mobiliser, pas un RACI validé. Business Partner est un nom de travail, périmètre/owner à arbitrer. La répartition IA respecte strictement Direction sens, DSI outils/anonymisation, Juridique cadre, RH Formation compétences, métiers cas d’usage, Communication orchestration.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Périmètres : Communication France storytelling/branding/formats/cohérence/amplification/capitalisation ; Marketing, Business, Customer Success et métiers fond et stratégie commerciale ; Direction arbitrages ; Finance chiffres validés ; RH programmes RH ; DSI outils ; Juridique cadre ; Groupe projets/calendriers Groupe ; Sport Business hospitalités et grands temps forts sélectionnés, owner opérationnel non précisé. Neoscreen/intranet : responsable technique et owner projet à confirmer, Communication expérience et contenu, arbitrage après revue de production/prestataire.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effet recherché et 1 à 2 indicateurs par grand ensemble. Sources proposées à mobiliser avec les owners, accès et granularité à confirmer : elles ne sont pas présentées comme existantes ou déjà exploitées. Les usages/participations ne suffisent pas à attribuer une évolution à Communication seule. Pas de cible quantitative ajoutée ; les volumes fournis sont une discipline de production, pas une preuve d’impact. Sources avant intranet : retours métiers, données canaux existants, RH et registre de production ; données intranet uniquement après lancement réel.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effet recherché et 1 à 2 indicateurs par grand ensemble. Sources proposées à mobiliser avec les owners, accès et granularité à confirmer : elles ne sont pas présentées comme existantes ou déjà exploitées. Les usages/participations ne suffisent pas à attribuer une évolution à Communication seule. Pas de cible quantitative ajoutée ; les volumes fournis sont une discipline de production, pas une preuve d’impact. Sources avant intranet : retours métiers, données canaux existants, RH et registre de production ; données intranet uniquement après lancement réel.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34 entrées reprennent exactement les 5 comptes de la légende de l’image : Corporate &amp; innovation 8 ; Leadership 5 ; RSE 8 ; Vie interne &amp; RH 8 ; Sport 5. Les cartes en pointillés sont incluses dans ce total : semi-marathon, Leyton 2030, Sport Business mai, sujet corporate mai, triathlon. Les deux opportunités orange sont séparées. La première capsule ne reçoit pas d’angle inventé. Aucun sujet juillet–septembre ajouté. Le post IA du 22 octobre ne fixe pas la date du Zoom IA.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Transcription fidèle du calendrier LinkedIn fourni. [["OCT.", "RSE", "15/10 · Octobre Rose", "Mobilisation, 1 km = 1 €, actions agences, webinaire", "planifié"], ["OCT.", "Corporate &amp; innovation", "22/10 · IA", "Former aujourd’hui les métiers de demain", "planifié"], ["OCT.", "Sport", "29/10 · HYROX", "La tendance HYROX chez les collaborateurs Leyton", "planifié"], ["NOV.", "Corporate &amp; innovation", "Post All Staff", "3 enseignements / convictions", "planifié"], ["NOV.", "Sport", "~13/11 · Sport Business", "France × Afrique du Sud", "planifié"], ["NOV.", "Vie interne &amp; RH", "Event RH", "Movember", "planifié"], ["NOV.", "Leadership au féminin", "26/11 · Leadership au féminin #1", "", "planifié"], ["DÉC.", "RSE", "RSE du mois", "", "planifié"], ["DÉC.", "Leadership au féminin", "Leadership au féminin #2", "Le leadership sans nécessairement manager", "planifié"], ["DÉC.", "Vie interne &amp; RH", "Event RH", "Soirée de Noël", "planifié"], ["DÉC.", "Corporate &amp; innovation", "Vœux Leyton", "", "planifié"]]</a:t>
            </a:r>
          </a:p>
          <a:p>
            <a:r>
              <a:t>Opportunités hors 34 entrées : 21/02 Sport Business France × Écosse ; mars actualité sport uniquement si réellement stratégique. Aucun sujet ajouté. Les intitulés et détails complets figurent aussi dans calendrier_linkedin.json.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Transcription fidèle du calendrier LinkedIn fourni. [["JAN.", "Corporate &amp; innovation", "Rétrospective", "Ce que nous emportons de 2026 en 2027", "planifié"], ["JAN.", "RSE", "RSE", "Collecte de vêtements", "planifié"], ["JAN.", "Vie interne &amp; RH", "Event RH du mois", "", "planifié"], ["JAN.", "Leadership au féminin", "Leadership au féminin #3", "Les compétences de demain : pas seulement techniques", "planifié"], ["FÉV.", "Corporate &amp; innovation", "Challenge DigiCraft", "L’innovation en train de se faire", "planifié"], ["FÉV.", "RSE", "RSE du mois", "", "planifié"], ["FÉV.", "Vie interne &amp; RH", "Event RH du mois", "", "planifié"], ["FÉV.", "Leadership au féminin", "Leadership au féminin #4", "Mobilité &amp; évolution professionnelle", "planifié"], ["MARS", "Leadership au féminin", "Semaine du 8 mars", "Mash-up Leadership au féminin", "planifié"], ["MARS", "Sport", "Semi-marathon", "Event sportif", "À confirmer"], ["MARS", "Vie interne &amp; RH", "Event RH du mois", "", "planifié"], ["MARS", "RSE", "RSE du mois", "", "planifié"]]</a:t>
            </a:r>
          </a:p>
          <a:p>
            <a:r>
              <a:t>Opportunités hors 34 entrées : 21/02 Sport Business France × Écosse ; mars actualité sport uniquement si réellement stratégique. Aucun sujet ajouté. Les intitulés et détails complets figurent aussi dans calendrier_linkedin.json.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Transcription fidèle du calendrier LinkedIn fourni. [["AVR.", "Corporate &amp; innovation", "Post All Staff", "Enseignement / conviction", "planifié"], ["AVR.", "RSE", "RSE du mois", "", "planifié"], ["AVR.", "Vie interne &amp; RH", "Event RH du mois", "", "planifié"], ["AVR.", "Corporate &amp; innovation", "Leyton 2030", "Sujet corporate", "À définir"], ["MAI", "Sport", "Sport Business", "Hospitalité / temps fort PSG, OL ou Stade Toulousain", "À sélectionner"], ["MAI", "RSE", "RSE du mois", "", "planifié"], ["MAI", "Vie interne &amp; RH", "Event RH du mois", "", "planifié"], ["MAI", "Corporate &amp; innovation", "Sujet corporate", "", "À définir"], ["JUIN", "RSE", "RSE du mois", "", "planifié"], ["JUIN", "Vie interne &amp; RH", "Event RH du mois", "", "planifié"], ["JUIN", "Sport", "Triathlon", "Event sportif", "À confirmer"]]</a:t>
            </a:r>
          </a:p>
          <a:p>
            <a:r>
              <a:t>Opportunités hors 34 entrées : 21/02 Sport Business France × Écosse ; mars actualité sport uniquement si réellement stratégique. Aucun sujet ajouté. Les intitulés et détails complets figurent aussi dans calendrier_linkedin.json.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A01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Adoption de l’IA</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Un parcours collaborateur complet ; Zoom IA est un temps fort, pas le dispositif entier.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14</a:t>
            </a:r>
          </a:p>
        </p:txBody>
      </p:sp>
      <p:sp>
        <p:nvSpPr>
          <p:cNvPr id="9" name="TextBox 8"/>
          <p:cNvSpPr txBox="1"/>
          <p:nvPr/>
        </p:nvSpPr>
        <p:spPr>
          <a:xfrm>
            <a:off x="868680"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01</a:t>
            </a:r>
          </a:p>
        </p:txBody>
      </p:sp>
      <p:cxnSp>
        <p:nvCxnSpPr>
          <p:cNvPr id="10" name="Connector 9"/>
          <p:cNvCxnSpPr/>
          <p:nvPr/>
        </p:nvCxnSpPr>
        <p:spPr>
          <a:xfrm>
            <a:off x="1600200" y="4023360"/>
            <a:ext cx="2322576" cy="0"/>
          </a:xfrm>
          <a:prstGeom prst="line">
            <a:avLst/>
          </a:prstGeom>
          <a:ln w="25400">
            <a:solidFill>
              <a:srgbClr val="D9E2E7"/>
            </a:solidFill>
          </a:ln>
        </p:spPr>
      </p:cxnSp>
      <p:sp>
        <p:nvSpPr>
          <p:cNvPr id="11" name="TextBox 10"/>
          <p:cNvSpPr txBox="1"/>
          <p:nvPr/>
        </p:nvSpPr>
        <p:spPr>
          <a:xfrm>
            <a:off x="868680"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COMPRENDRE</a:t>
            </a:r>
          </a:p>
        </p:txBody>
      </p:sp>
      <p:sp>
        <p:nvSpPr>
          <p:cNvPr id="12" name="TextBox 11"/>
          <p:cNvSpPr txBox="1"/>
          <p:nvPr/>
        </p:nvSpPr>
        <p:spPr>
          <a:xfrm>
            <a:off x="868680"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Pourquoi</a:t>
            </a:r>
          </a:p>
          <a:p>
            <a:pPr>
              <a:lnSpc>
                <a:spcPts val="3400"/>
              </a:lnSpc>
              <a:spcBef>
                <a:spcPts val="0"/>
              </a:spcBef>
              <a:spcAft>
                <a:spcPts val="0"/>
              </a:spcAft>
              <a:defRPr sz="2800" b="0">
                <a:solidFill>
                  <a:srgbClr val="002C49"/>
                </a:solidFill>
                <a:latin typeface="Montserrat"/>
              </a:defRPr>
            </a:pPr>
            <a:r>
              <a:t>maintenant ?</a:t>
            </a:r>
          </a:p>
        </p:txBody>
      </p:sp>
      <p:sp>
        <p:nvSpPr>
          <p:cNvPr id="13" name="TextBox 12"/>
          <p:cNvSpPr txBox="1"/>
          <p:nvPr/>
        </p:nvSpPr>
        <p:spPr>
          <a:xfrm>
            <a:off x="868680"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Message directeur</a:t>
            </a:r>
          </a:p>
          <a:p>
            <a:pPr>
              <a:lnSpc>
                <a:spcPts val="2900"/>
              </a:lnSpc>
              <a:spcBef>
                <a:spcPts val="0"/>
              </a:spcBef>
              <a:spcAft>
                <a:spcPts val="0"/>
              </a:spcAft>
              <a:defRPr sz="2400" b="0">
                <a:solidFill>
                  <a:srgbClr val="526777"/>
                </a:solidFill>
                <a:latin typeface="Montserrat"/>
              </a:defRPr>
            </a:pPr>
            <a:r>
              <a:t>Zoom IA</a:t>
            </a:r>
          </a:p>
        </p:txBody>
      </p:sp>
      <p:sp>
        <p:nvSpPr>
          <p:cNvPr id="14" name="TextBox 13"/>
          <p:cNvSpPr txBox="1"/>
          <p:nvPr/>
        </p:nvSpPr>
        <p:spPr>
          <a:xfrm>
            <a:off x="4224528"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02</a:t>
            </a:r>
          </a:p>
        </p:txBody>
      </p:sp>
      <p:cxnSp>
        <p:nvCxnSpPr>
          <p:cNvPr id="15" name="Connector 14"/>
          <p:cNvCxnSpPr/>
          <p:nvPr/>
        </p:nvCxnSpPr>
        <p:spPr>
          <a:xfrm>
            <a:off x="4956048" y="4023360"/>
            <a:ext cx="2322576" cy="0"/>
          </a:xfrm>
          <a:prstGeom prst="line">
            <a:avLst/>
          </a:prstGeom>
          <a:ln w="25400">
            <a:solidFill>
              <a:srgbClr val="D9E2E7"/>
            </a:solidFill>
          </a:ln>
        </p:spPr>
      </p:cxnSp>
      <p:sp>
        <p:nvSpPr>
          <p:cNvPr id="16" name="TextBox 15"/>
          <p:cNvSpPr txBox="1"/>
          <p:nvPr/>
        </p:nvSpPr>
        <p:spPr>
          <a:xfrm>
            <a:off x="4224528"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RASSURER</a:t>
            </a:r>
          </a:p>
          <a:p>
            <a:pPr>
              <a:lnSpc>
                <a:spcPts val="3000"/>
              </a:lnSpc>
              <a:spcBef>
                <a:spcPts val="0"/>
              </a:spcBef>
              <a:spcAft>
                <a:spcPts val="0"/>
              </a:spcAft>
              <a:defRPr sz="2500" b="1">
                <a:solidFill>
                  <a:srgbClr val="002C49"/>
                </a:solidFill>
                <a:latin typeface="Montserrat"/>
              </a:defRPr>
            </a:pPr>
            <a:r>
              <a:t>&amp; IMPLIQUER</a:t>
            </a:r>
          </a:p>
        </p:txBody>
      </p:sp>
      <p:sp>
        <p:nvSpPr>
          <p:cNvPr id="17" name="TextBox 16"/>
          <p:cNvSpPr txBox="1"/>
          <p:nvPr/>
        </p:nvSpPr>
        <p:spPr>
          <a:xfrm>
            <a:off x="4224528"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Quelle place</a:t>
            </a:r>
          </a:p>
          <a:p>
            <a:pPr>
              <a:lnSpc>
                <a:spcPts val="3400"/>
              </a:lnSpc>
              <a:spcBef>
                <a:spcPts val="0"/>
              </a:spcBef>
              <a:spcAft>
                <a:spcPts val="0"/>
              </a:spcAft>
              <a:defRPr sz="2800" b="0">
                <a:solidFill>
                  <a:srgbClr val="002C49"/>
                </a:solidFill>
                <a:latin typeface="Montserrat"/>
              </a:defRPr>
            </a:pPr>
            <a:r>
              <a:t>pour moi ?</a:t>
            </a:r>
          </a:p>
        </p:txBody>
      </p:sp>
      <p:sp>
        <p:nvSpPr>
          <p:cNvPr id="18" name="TextBox 17"/>
          <p:cNvSpPr txBox="1"/>
          <p:nvPr/>
        </p:nvSpPr>
        <p:spPr>
          <a:xfrm>
            <a:off x="4224528"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Dialogue</a:t>
            </a:r>
          </a:p>
          <a:p>
            <a:pPr>
              <a:lnSpc>
                <a:spcPts val="2900"/>
              </a:lnSpc>
              <a:spcBef>
                <a:spcPts val="0"/>
              </a:spcBef>
              <a:spcAft>
                <a:spcPts val="0"/>
              </a:spcAft>
              <a:defRPr sz="2400" b="0">
                <a:solidFill>
                  <a:srgbClr val="526777"/>
                </a:solidFill>
                <a:latin typeface="Montserrat"/>
              </a:defRPr>
            </a:pPr>
            <a:r>
              <a:t>Cas métiers</a:t>
            </a:r>
          </a:p>
        </p:txBody>
      </p:sp>
      <p:sp>
        <p:nvSpPr>
          <p:cNvPr id="19" name="TextBox 18"/>
          <p:cNvSpPr txBox="1"/>
          <p:nvPr/>
        </p:nvSpPr>
        <p:spPr>
          <a:xfrm>
            <a:off x="7580375"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03</a:t>
            </a:r>
          </a:p>
        </p:txBody>
      </p:sp>
      <p:cxnSp>
        <p:nvCxnSpPr>
          <p:cNvPr id="20" name="Connector 19"/>
          <p:cNvCxnSpPr/>
          <p:nvPr/>
        </p:nvCxnSpPr>
        <p:spPr>
          <a:xfrm>
            <a:off x="8311896" y="4023360"/>
            <a:ext cx="2322576" cy="0"/>
          </a:xfrm>
          <a:prstGeom prst="line">
            <a:avLst/>
          </a:prstGeom>
          <a:ln w="25400">
            <a:solidFill>
              <a:srgbClr val="D9E2E7"/>
            </a:solidFill>
          </a:ln>
        </p:spPr>
      </p:cxnSp>
      <p:sp>
        <p:nvSpPr>
          <p:cNvPr id="21" name="TextBox 20"/>
          <p:cNvSpPr txBox="1"/>
          <p:nvPr/>
        </p:nvSpPr>
        <p:spPr>
          <a:xfrm>
            <a:off x="7580375"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PROTÉGER</a:t>
            </a:r>
          </a:p>
        </p:txBody>
      </p:sp>
      <p:sp>
        <p:nvSpPr>
          <p:cNvPr id="22" name="TextBox 21"/>
          <p:cNvSpPr txBox="1"/>
          <p:nvPr/>
        </p:nvSpPr>
        <p:spPr>
          <a:xfrm>
            <a:off x="7580375"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Quelles règles</a:t>
            </a:r>
          </a:p>
          <a:p>
            <a:pPr>
              <a:lnSpc>
                <a:spcPts val="3400"/>
              </a:lnSpc>
              <a:spcBef>
                <a:spcPts val="0"/>
              </a:spcBef>
              <a:spcAft>
                <a:spcPts val="0"/>
              </a:spcAft>
              <a:defRPr sz="2800" b="0">
                <a:solidFill>
                  <a:srgbClr val="002C49"/>
                </a:solidFill>
                <a:latin typeface="Montserrat"/>
              </a:defRPr>
            </a:pPr>
            <a:r>
              <a:t>pour agir ?</a:t>
            </a:r>
          </a:p>
        </p:txBody>
      </p:sp>
      <p:sp>
        <p:nvSpPr>
          <p:cNvPr id="23" name="TextBox 22"/>
          <p:cNvSpPr txBox="1"/>
          <p:nvPr/>
        </p:nvSpPr>
        <p:spPr>
          <a:xfrm>
            <a:off x="7580375"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Guide responsable</a:t>
            </a:r>
          </a:p>
          <a:p>
            <a:pPr>
              <a:lnSpc>
                <a:spcPts val="2900"/>
              </a:lnSpc>
              <a:spcBef>
                <a:spcPts val="0"/>
              </a:spcBef>
              <a:spcAft>
                <a:spcPts val="0"/>
              </a:spcAft>
              <a:defRPr sz="2400" b="0">
                <a:solidFill>
                  <a:srgbClr val="526777"/>
                </a:solidFill>
                <a:latin typeface="Montserrat"/>
              </a:defRPr>
            </a:pPr>
            <a:r>
              <a:t>Données clients</a:t>
            </a:r>
          </a:p>
        </p:txBody>
      </p:sp>
      <p:sp>
        <p:nvSpPr>
          <p:cNvPr id="24" name="TextBox 23"/>
          <p:cNvSpPr txBox="1"/>
          <p:nvPr/>
        </p:nvSpPr>
        <p:spPr>
          <a:xfrm>
            <a:off x="10936224"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04</a:t>
            </a:r>
          </a:p>
        </p:txBody>
      </p:sp>
      <p:cxnSp>
        <p:nvCxnSpPr>
          <p:cNvPr id="25" name="Connector 24"/>
          <p:cNvCxnSpPr/>
          <p:nvPr/>
        </p:nvCxnSpPr>
        <p:spPr>
          <a:xfrm>
            <a:off x="11667744" y="4023360"/>
            <a:ext cx="2322575" cy="0"/>
          </a:xfrm>
          <a:prstGeom prst="line">
            <a:avLst/>
          </a:prstGeom>
          <a:ln w="25400">
            <a:solidFill>
              <a:srgbClr val="D9E2E7"/>
            </a:solidFill>
          </a:ln>
        </p:spPr>
      </p:cxnSp>
      <p:sp>
        <p:nvSpPr>
          <p:cNvPr id="26" name="TextBox 25"/>
          <p:cNvSpPr txBox="1"/>
          <p:nvPr/>
        </p:nvSpPr>
        <p:spPr>
          <a:xfrm>
            <a:off x="10936224"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MONTRER</a:t>
            </a:r>
          </a:p>
        </p:txBody>
      </p:sp>
      <p:sp>
        <p:nvSpPr>
          <p:cNvPr id="27" name="TextBox 26"/>
          <p:cNvSpPr txBox="1"/>
          <p:nvPr/>
        </p:nvSpPr>
        <p:spPr>
          <a:xfrm>
            <a:off x="10936224" y="5943600"/>
            <a:ext cx="3054096" cy="9601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Quels usages</a:t>
            </a:r>
          </a:p>
          <a:p>
            <a:pPr>
              <a:lnSpc>
                <a:spcPts val="3400"/>
              </a:lnSpc>
              <a:spcBef>
                <a:spcPts val="0"/>
              </a:spcBef>
              <a:spcAft>
                <a:spcPts val="0"/>
              </a:spcAft>
              <a:defRPr sz="2800" b="0">
                <a:solidFill>
                  <a:srgbClr val="002C49"/>
                </a:solidFill>
                <a:latin typeface="Montserrat"/>
              </a:defRPr>
            </a:pPr>
            <a:r>
              <a:t>concrets ?</a:t>
            </a:r>
          </a:p>
        </p:txBody>
      </p:sp>
      <p:sp>
        <p:nvSpPr>
          <p:cNvPr id="28" name="TextBox 27"/>
          <p:cNvSpPr txBox="1"/>
          <p:nvPr/>
        </p:nvSpPr>
        <p:spPr>
          <a:xfrm>
            <a:off x="10936224" y="7315200"/>
            <a:ext cx="3054096" cy="91440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 1 problème →</a:t>
            </a:r>
          </a:p>
          <a:p>
            <a:pPr>
              <a:lnSpc>
                <a:spcPts val="2900"/>
              </a:lnSpc>
              <a:spcBef>
                <a:spcPts val="0"/>
              </a:spcBef>
              <a:spcAft>
                <a:spcPts val="0"/>
              </a:spcAft>
              <a:defRPr sz="2400" b="0">
                <a:solidFill>
                  <a:srgbClr val="526777"/>
                </a:solidFill>
                <a:latin typeface="Montserrat"/>
              </a:defRPr>
            </a:pPr>
            <a:r>
              <a:t>1 usage IA »</a:t>
            </a:r>
          </a:p>
        </p:txBody>
      </p:sp>
      <p:sp>
        <p:nvSpPr>
          <p:cNvPr id="29" name="TextBox 28"/>
          <p:cNvSpPr txBox="1"/>
          <p:nvPr/>
        </p:nvSpPr>
        <p:spPr>
          <a:xfrm>
            <a:off x="14292072" y="3657600"/>
            <a:ext cx="3063240" cy="667512"/>
          </a:xfrm>
          <a:prstGeom prst="rect">
            <a:avLst/>
          </a:prstGeom>
          <a:noFill/>
        </p:spPr>
        <p:txBody>
          <a:bodyPr wrap="square" lIns="0" rIns="0" tIns="0" bIns="0">
            <a:spAutoFit/>
          </a:bodyPr>
          <a:lstStyle/>
          <a:p>
            <a:pPr>
              <a:lnSpc>
                <a:spcPts val="5412"/>
              </a:lnSpc>
              <a:spcBef>
                <a:spcPts val="0"/>
              </a:spcBef>
              <a:spcAft>
                <a:spcPts val="0"/>
              </a:spcAft>
              <a:defRPr sz="4400" b="1">
                <a:solidFill>
                  <a:srgbClr val="FF6633"/>
                </a:solidFill>
                <a:latin typeface="Nohemi"/>
              </a:defRPr>
            </a:pPr>
            <a:r>
              <a:t>05</a:t>
            </a:r>
          </a:p>
        </p:txBody>
      </p:sp>
      <p:sp>
        <p:nvSpPr>
          <p:cNvPr id="30" name="TextBox 29"/>
          <p:cNvSpPr txBox="1"/>
          <p:nvPr/>
        </p:nvSpPr>
        <p:spPr>
          <a:xfrm>
            <a:off x="14292072" y="4718304"/>
            <a:ext cx="3054096" cy="886968"/>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AGIR</a:t>
            </a:r>
          </a:p>
        </p:txBody>
      </p:sp>
      <p:sp>
        <p:nvSpPr>
          <p:cNvPr id="31" name="TextBox 30"/>
          <p:cNvSpPr txBox="1"/>
          <p:nvPr/>
        </p:nvSpPr>
        <p:spPr>
          <a:xfrm>
            <a:off x="14292072" y="5943600"/>
            <a:ext cx="3063240" cy="1417320"/>
          </a:xfrm>
          <a:prstGeom prst="rect">
            <a:avLst/>
          </a:prstGeom>
          <a:noFill/>
        </p:spPr>
        <p:txBody>
          <a:bodyPr wrap="square" lIns="0" rIns="0" tIns="0" bIns="0">
            <a:spAutoFit/>
          </a:bodyPr>
          <a:lstStyle/>
          <a:p>
            <a:pPr>
              <a:lnSpc>
                <a:spcPts val="3400"/>
              </a:lnSpc>
              <a:spcBef>
                <a:spcPts val="0"/>
              </a:spcBef>
              <a:spcAft>
                <a:spcPts val="0"/>
              </a:spcAft>
              <a:defRPr sz="2800" b="0">
                <a:solidFill>
                  <a:srgbClr val="002C49"/>
                </a:solidFill>
                <a:latin typeface="Montserrat"/>
              </a:defRPr>
            </a:pPr>
            <a:r>
              <a:t>Comment passer</a:t>
            </a:r>
          </a:p>
          <a:p>
            <a:pPr>
              <a:lnSpc>
                <a:spcPts val="3400"/>
              </a:lnSpc>
              <a:spcBef>
                <a:spcPts val="0"/>
              </a:spcBef>
              <a:spcAft>
                <a:spcPts val="0"/>
              </a:spcAft>
              <a:defRPr sz="2800" b="0">
                <a:solidFill>
                  <a:srgbClr val="002C49"/>
                </a:solidFill>
                <a:latin typeface="Montserrat"/>
              </a:defRPr>
            </a:pPr>
            <a:r>
              <a:t>à l’action ?</a:t>
            </a:r>
          </a:p>
        </p:txBody>
      </p:sp>
      <p:sp>
        <p:nvSpPr>
          <p:cNvPr id="32" name="TextBox 31"/>
          <p:cNvSpPr txBox="1"/>
          <p:nvPr/>
        </p:nvSpPr>
        <p:spPr>
          <a:xfrm>
            <a:off x="14292072" y="7315200"/>
            <a:ext cx="3063240" cy="12344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Formations, hub</a:t>
            </a:r>
          </a:p>
          <a:p>
            <a:pPr>
              <a:lnSpc>
                <a:spcPts val="2900"/>
              </a:lnSpc>
              <a:spcBef>
                <a:spcPts val="0"/>
              </a:spcBef>
              <a:spcAft>
                <a:spcPts val="0"/>
              </a:spcAft>
              <a:defRPr sz="2400" b="0">
                <a:solidFill>
                  <a:srgbClr val="526777"/>
                </a:solidFill>
                <a:latin typeface="Montserrat"/>
              </a:defRPr>
            </a:pPr>
            <a:r>
              <a:t>Challenge, pack métiers</a:t>
            </a:r>
          </a:p>
        </p:txBody>
      </p:sp>
      <p:sp>
        <p:nvSpPr>
          <p:cNvPr id="33" name="Rectangle 32"/>
          <p:cNvSpPr/>
          <p:nvPr/>
        </p:nvSpPr>
        <p:spPr>
          <a:xfrm>
            <a:off x="822960" y="8796528"/>
            <a:ext cx="16642080" cy="10972"/>
          </a:xfrm>
          <a:prstGeom prst="rect">
            <a:avLst/>
          </a:prstGeom>
          <a:solidFill>
            <a:srgbClr val="D9E2E7"/>
          </a:solidFill>
          <a:ln>
            <a:noFill/>
          </a:ln>
        </p:spPr>
        <p:txBody>
          <a:bodyPr rtlCol="0" anchor="ctr"/>
          <a:lstStyle/>
          <a:p>
            <a:pPr algn="ctr"/>
          </a:p>
        </p:txBody>
      </p:sp>
      <p:sp>
        <p:nvSpPr>
          <p:cNvPr id="34" name="TextBox 33"/>
          <p:cNvSpPr txBox="1"/>
          <p:nvPr/>
        </p:nvSpPr>
        <p:spPr>
          <a:xfrm>
            <a:off x="868680" y="899769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Direction = sens • DSI / Juridique = outils et cadre • RH = compétences • métiers = cas • Com = parcours.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A03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Toolbox Leyton / adoption des outils</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Faire connaître les outils, montrer leur utilité et accompagner leur utilisation.</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16</a:t>
            </a:r>
          </a:p>
        </p:txBody>
      </p:sp>
      <p:sp>
        <p:nvSpPr>
          <p:cNvPr id="9" name="Rectangle 8"/>
          <p:cNvSpPr/>
          <p:nvPr/>
        </p:nvSpPr>
        <p:spPr>
          <a:xfrm>
            <a:off x="6583680" y="4251960"/>
            <a:ext cx="5074920" cy="2944368"/>
          </a:xfrm>
          <a:prstGeom prst="rect">
            <a:avLst/>
          </a:prstGeom>
          <a:solidFill>
            <a:srgbClr val="002C49"/>
          </a:solidFill>
          <a:ln>
            <a:noFill/>
          </a:ln>
        </p:spPr>
        <p:txBody>
          <a:bodyPr rtlCol="0" anchor="ctr"/>
          <a:lstStyle/>
          <a:p>
            <a:pPr algn="ctr"/>
          </a:p>
        </p:txBody>
      </p:sp>
      <p:sp>
        <p:nvSpPr>
          <p:cNvPr id="10" name="TextBox 9"/>
          <p:cNvSpPr txBox="1"/>
          <p:nvPr/>
        </p:nvSpPr>
        <p:spPr>
          <a:xfrm>
            <a:off x="6903720" y="4590288"/>
            <a:ext cx="4434840" cy="1097280"/>
          </a:xfrm>
          <a:prstGeom prst="rect">
            <a:avLst/>
          </a:prstGeom>
          <a:noFill/>
        </p:spPr>
        <p:txBody>
          <a:bodyPr wrap="square" lIns="0" rIns="0" tIns="0" bIns="0">
            <a:spAutoFit/>
          </a:bodyPr>
          <a:lstStyle/>
          <a:p>
            <a:pPr>
              <a:lnSpc>
                <a:spcPts val="4000"/>
              </a:lnSpc>
              <a:spcBef>
                <a:spcPts val="0"/>
              </a:spcBef>
              <a:spcAft>
                <a:spcPts val="0"/>
              </a:spcAft>
              <a:defRPr sz="3500" b="1">
                <a:solidFill>
                  <a:srgbClr val="FFFFFF"/>
                </a:solidFill>
                <a:latin typeface="Nohemi"/>
              </a:defRPr>
            </a:pPr>
            <a:r>
              <a:t>TOOLBOX</a:t>
            </a:r>
          </a:p>
          <a:p>
            <a:pPr>
              <a:lnSpc>
                <a:spcPts val="4000"/>
              </a:lnSpc>
              <a:spcBef>
                <a:spcPts val="0"/>
              </a:spcBef>
              <a:spcAft>
                <a:spcPts val="0"/>
              </a:spcAft>
              <a:defRPr sz="3500" b="1">
                <a:solidFill>
                  <a:srgbClr val="FFFFFF"/>
                </a:solidFill>
                <a:latin typeface="Nohemi"/>
              </a:defRPr>
            </a:pPr>
            <a:r>
              <a:t>LEYTON</a:t>
            </a:r>
          </a:p>
        </p:txBody>
      </p:sp>
      <p:sp>
        <p:nvSpPr>
          <p:cNvPr id="11" name="TextBox 10"/>
          <p:cNvSpPr txBox="1"/>
          <p:nvPr/>
        </p:nvSpPr>
        <p:spPr>
          <a:xfrm>
            <a:off x="6903720" y="6099048"/>
            <a:ext cx="4434840" cy="621792"/>
          </a:xfrm>
          <a:prstGeom prst="rect">
            <a:avLst/>
          </a:prstGeom>
          <a:noFill/>
        </p:spPr>
        <p:txBody>
          <a:bodyPr wrap="square" lIns="0" rIns="0" tIns="0" bIns="0">
            <a:spAutoFit/>
          </a:bodyPr>
          <a:lstStyle/>
          <a:p>
            <a:pPr>
              <a:lnSpc>
                <a:spcPts val="3075"/>
              </a:lnSpc>
              <a:spcBef>
                <a:spcPts val="0"/>
              </a:spcBef>
              <a:spcAft>
                <a:spcPts val="0"/>
              </a:spcAft>
              <a:defRPr sz="2500" b="0">
                <a:solidFill>
                  <a:srgbClr val="FFFFFF"/>
                </a:solidFill>
                <a:latin typeface="Montserrat"/>
              </a:defRPr>
            </a:pPr>
            <a:r>
              <a:t>Inventaire + hub central</a:t>
            </a:r>
          </a:p>
        </p:txBody>
      </p:sp>
      <p:sp>
        <p:nvSpPr>
          <p:cNvPr id="12" name="TextBox 11"/>
          <p:cNvSpPr txBox="1"/>
          <p:nvPr/>
        </p:nvSpPr>
        <p:spPr>
          <a:xfrm>
            <a:off x="868680" y="3730752"/>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FICHES STANDARDISÉES</a:t>
            </a:r>
          </a:p>
        </p:txBody>
      </p:sp>
      <p:sp>
        <p:nvSpPr>
          <p:cNvPr id="13" name="Rectangle 12"/>
          <p:cNvSpPr/>
          <p:nvPr/>
        </p:nvSpPr>
        <p:spPr>
          <a:xfrm>
            <a:off x="868680" y="4507992"/>
            <a:ext cx="452628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4700016"/>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Utilité, accès, contact</a:t>
            </a:r>
          </a:p>
        </p:txBody>
      </p:sp>
      <p:cxnSp>
        <p:nvCxnSpPr>
          <p:cNvPr id="15" name="Connector 14"/>
          <p:cNvCxnSpPr/>
          <p:nvPr/>
        </p:nvCxnSpPr>
        <p:spPr>
          <a:xfrm>
            <a:off x="5623560" y="4736592"/>
            <a:ext cx="914400" cy="384048"/>
          </a:xfrm>
          <a:prstGeom prst="line">
            <a:avLst/>
          </a:prstGeom>
          <a:ln w="19050">
            <a:solidFill>
              <a:srgbClr val="FF6633"/>
            </a:solidFill>
          </a:ln>
        </p:spPr>
      </p:cxnSp>
      <p:sp>
        <p:nvSpPr>
          <p:cNvPr id="16" name="TextBox 15"/>
          <p:cNvSpPr txBox="1"/>
          <p:nvPr/>
        </p:nvSpPr>
        <p:spPr>
          <a:xfrm>
            <a:off x="868680" y="6419088"/>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CAPSULES</a:t>
            </a:r>
          </a:p>
        </p:txBody>
      </p:sp>
      <p:sp>
        <p:nvSpPr>
          <p:cNvPr id="17" name="Rectangle 16"/>
          <p:cNvSpPr/>
          <p:nvPr/>
        </p:nvSpPr>
        <p:spPr>
          <a:xfrm>
            <a:off x="868680" y="7196327"/>
            <a:ext cx="4526280" cy="10972"/>
          </a:xfrm>
          <a:prstGeom prst="rect">
            <a:avLst/>
          </a:prstGeom>
          <a:solidFill>
            <a:srgbClr val="D9E2E7"/>
          </a:solidFill>
          <a:ln>
            <a:noFill/>
          </a:ln>
        </p:spPr>
        <p:txBody>
          <a:bodyPr rtlCol="0" anchor="ctr"/>
          <a:lstStyle/>
          <a:p>
            <a:pPr algn="ctr"/>
          </a:p>
        </p:txBody>
      </p:sp>
      <p:sp>
        <p:nvSpPr>
          <p:cNvPr id="18" name="TextBox 17"/>
          <p:cNvSpPr txBox="1"/>
          <p:nvPr/>
        </p:nvSpPr>
        <p:spPr>
          <a:xfrm>
            <a:off x="868680" y="7388352"/>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Accompagner l’usage</a:t>
            </a:r>
          </a:p>
        </p:txBody>
      </p:sp>
      <p:cxnSp>
        <p:nvCxnSpPr>
          <p:cNvPr id="19" name="Connector 18"/>
          <p:cNvCxnSpPr/>
          <p:nvPr/>
        </p:nvCxnSpPr>
        <p:spPr>
          <a:xfrm flipV="1">
            <a:off x="5623560" y="6537960"/>
            <a:ext cx="914400" cy="886967"/>
          </a:xfrm>
          <a:prstGeom prst="line">
            <a:avLst/>
          </a:prstGeom>
          <a:ln w="19050">
            <a:solidFill>
              <a:srgbClr val="FF6633"/>
            </a:solidFill>
          </a:ln>
        </p:spPr>
      </p:cxnSp>
      <p:sp>
        <p:nvSpPr>
          <p:cNvPr id="20" name="TextBox 19"/>
          <p:cNvSpPr txBox="1"/>
          <p:nvPr/>
        </p:nvSpPr>
        <p:spPr>
          <a:xfrm>
            <a:off x="12819888" y="3730752"/>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CAS D’USAGE</a:t>
            </a:r>
          </a:p>
        </p:txBody>
      </p:sp>
      <p:sp>
        <p:nvSpPr>
          <p:cNvPr id="21" name="Rectangle 20"/>
          <p:cNvSpPr/>
          <p:nvPr/>
        </p:nvSpPr>
        <p:spPr>
          <a:xfrm>
            <a:off x="12819888" y="4507992"/>
            <a:ext cx="4526280" cy="10972"/>
          </a:xfrm>
          <a:prstGeom prst="rect">
            <a:avLst/>
          </a:prstGeom>
          <a:solidFill>
            <a:srgbClr val="D9E2E7"/>
          </a:solidFill>
          <a:ln>
            <a:noFill/>
          </a:ln>
        </p:spPr>
        <p:txBody>
          <a:bodyPr rtlCol="0" anchor="ctr"/>
          <a:lstStyle/>
          <a:p>
            <a:pPr algn="ctr"/>
          </a:p>
        </p:txBody>
      </p:sp>
      <p:sp>
        <p:nvSpPr>
          <p:cNvPr id="22" name="TextBox 21"/>
          <p:cNvSpPr txBox="1"/>
          <p:nvPr/>
        </p:nvSpPr>
        <p:spPr>
          <a:xfrm>
            <a:off x="12819888" y="4700016"/>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Montrer l’application</a:t>
            </a:r>
          </a:p>
        </p:txBody>
      </p:sp>
      <p:cxnSp>
        <p:nvCxnSpPr>
          <p:cNvPr id="23" name="Connector 22"/>
          <p:cNvCxnSpPr/>
          <p:nvPr/>
        </p:nvCxnSpPr>
        <p:spPr>
          <a:xfrm flipV="1">
            <a:off x="11704320" y="4736592"/>
            <a:ext cx="886968" cy="384048"/>
          </a:xfrm>
          <a:prstGeom prst="line">
            <a:avLst/>
          </a:prstGeom>
          <a:ln w="19050">
            <a:solidFill>
              <a:srgbClr val="FF6633"/>
            </a:solidFill>
          </a:ln>
        </p:spPr>
      </p:cxnSp>
      <p:sp>
        <p:nvSpPr>
          <p:cNvPr id="24" name="TextBox 23"/>
          <p:cNvSpPr txBox="1"/>
          <p:nvPr/>
        </p:nvSpPr>
        <p:spPr>
          <a:xfrm>
            <a:off x="12819888" y="6419088"/>
            <a:ext cx="4663440" cy="548640"/>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RELAIS MULTICANAUX</a:t>
            </a:r>
          </a:p>
        </p:txBody>
      </p:sp>
      <p:sp>
        <p:nvSpPr>
          <p:cNvPr id="25" name="Rectangle 24"/>
          <p:cNvSpPr/>
          <p:nvPr/>
        </p:nvSpPr>
        <p:spPr>
          <a:xfrm>
            <a:off x="12819888" y="7196327"/>
            <a:ext cx="4526280" cy="10972"/>
          </a:xfrm>
          <a:prstGeom prst="rect">
            <a:avLst/>
          </a:prstGeom>
          <a:solidFill>
            <a:srgbClr val="D9E2E7"/>
          </a:solidFill>
          <a:ln>
            <a:noFill/>
          </a:ln>
        </p:spPr>
        <p:txBody>
          <a:bodyPr rtlCol="0" anchor="ctr"/>
          <a:lstStyle/>
          <a:p>
            <a:pPr algn="ctr"/>
          </a:p>
        </p:txBody>
      </p:sp>
      <p:sp>
        <p:nvSpPr>
          <p:cNvPr id="26" name="TextBox 25"/>
          <p:cNvSpPr txBox="1"/>
          <p:nvPr/>
        </p:nvSpPr>
        <p:spPr>
          <a:xfrm>
            <a:off x="12819888" y="7388352"/>
            <a:ext cx="4663440" cy="731520"/>
          </a:xfrm>
          <a:prstGeom prst="rect">
            <a:avLst/>
          </a:prstGeom>
          <a:noFill/>
        </p:spPr>
        <p:txBody>
          <a:bodyPr wrap="square" lIns="0" rIns="0" tIns="0" bIns="0">
            <a:spAutoFit/>
          </a:bodyPr>
          <a:lstStyle/>
          <a:p>
            <a:pPr>
              <a:lnSpc>
                <a:spcPts val="3198"/>
              </a:lnSpc>
              <a:spcBef>
                <a:spcPts val="0"/>
              </a:spcBef>
              <a:spcAft>
                <a:spcPts val="0"/>
              </a:spcAft>
              <a:defRPr sz="2600" b="0">
                <a:solidFill>
                  <a:srgbClr val="526777"/>
                </a:solidFill>
                <a:latin typeface="Montserrat"/>
              </a:defRPr>
            </a:pPr>
            <a:r>
              <a:t>Adapter au public</a:t>
            </a:r>
          </a:p>
        </p:txBody>
      </p:sp>
      <p:cxnSp>
        <p:nvCxnSpPr>
          <p:cNvPr id="27" name="Connector 26"/>
          <p:cNvCxnSpPr/>
          <p:nvPr/>
        </p:nvCxnSpPr>
        <p:spPr>
          <a:xfrm>
            <a:off x="11704320" y="6537960"/>
            <a:ext cx="886968" cy="886967"/>
          </a:xfrm>
          <a:prstGeom prst="line">
            <a:avLst/>
          </a:prstGeom>
          <a:ln w="19050">
            <a:solidFill>
              <a:srgbClr val="FF6633"/>
            </a:solidFill>
          </a:ln>
        </p:spPr>
      </p:cxnSp>
      <p:sp>
        <p:nvSpPr>
          <p:cNvPr id="28" name="Rectangle 27"/>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9" name="TextBox 28"/>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Standard de lancement pour chaque nouvel outil + actualisation continue. L’intranet est le hub après lancement.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A05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Rendre la performance compréhensible et utile.</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Trois dispositifs distincts, avec leurs objets et leurs rythmes propres.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18</a:t>
            </a:r>
          </a:p>
        </p:txBody>
      </p:sp>
      <p:sp>
        <p:nvSpPr>
          <p:cNvPr id="9" name="TextBox 8"/>
          <p:cNvSpPr txBox="1"/>
          <p:nvPr/>
        </p:nvSpPr>
        <p:spPr>
          <a:xfrm>
            <a:off x="896112" y="3675887"/>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CHANGE</a:t>
            </a:r>
          </a:p>
        </p:txBody>
      </p:sp>
      <p:sp>
        <p:nvSpPr>
          <p:cNvPr id="10" name="TextBox 9"/>
          <p:cNvSpPr txBox="1"/>
          <p:nvPr/>
        </p:nvSpPr>
        <p:spPr>
          <a:xfrm>
            <a:off x="2788920" y="3675887"/>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Les offres qui performent</a:t>
            </a:r>
          </a:p>
        </p:txBody>
      </p:sp>
      <p:sp>
        <p:nvSpPr>
          <p:cNvPr id="11" name="TextBox 10"/>
          <p:cNvSpPr txBox="1"/>
          <p:nvPr/>
        </p:nvSpPr>
        <p:spPr>
          <a:xfrm>
            <a:off x="8915400" y="3712463"/>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Podium des offres + cible client</a:t>
            </a:r>
          </a:p>
          <a:p>
            <a:pPr>
              <a:lnSpc>
                <a:spcPts val="3200"/>
              </a:lnSpc>
              <a:spcBef>
                <a:spcPts val="0"/>
              </a:spcBef>
              <a:spcAft>
                <a:spcPts val="0"/>
              </a:spcAft>
              <a:defRPr sz="2500" b="0">
                <a:solidFill>
                  <a:srgbClr val="526777"/>
                </a:solidFill>
                <a:latin typeface="Montserrat"/>
              </a:defRPr>
            </a:pPr>
            <a:r>
              <a:t>+ bénéfice + réflexe commercial.</a:t>
            </a:r>
          </a:p>
        </p:txBody>
      </p:sp>
      <p:sp>
        <p:nvSpPr>
          <p:cNvPr id="12" name="TextBox 11"/>
          <p:cNvSpPr txBox="1"/>
          <p:nvPr/>
        </p:nvSpPr>
        <p:spPr>
          <a:xfrm>
            <a:off x="14950440" y="3712463"/>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Oct. → mi-déc.</a:t>
            </a:r>
          </a:p>
          <a:p>
            <a:pPr>
              <a:lnSpc>
                <a:spcPts val="3100"/>
              </a:lnSpc>
              <a:spcBef>
                <a:spcPts val="0"/>
              </a:spcBef>
              <a:spcAft>
                <a:spcPts val="0"/>
              </a:spcAft>
              <a:defRPr sz="2400" b="0">
                <a:solidFill>
                  <a:srgbClr val="002C49"/>
                </a:solidFill>
                <a:latin typeface="Montserrat"/>
              </a:defRPr>
            </a:pPr>
            <a:r>
              <a:t>Fév. → avr.</a:t>
            </a:r>
          </a:p>
        </p:txBody>
      </p:sp>
      <p:sp>
        <p:nvSpPr>
          <p:cNvPr id="13" name="Rectangle 12"/>
          <p:cNvSpPr/>
          <p:nvPr/>
        </p:nvSpPr>
        <p:spPr>
          <a:xfrm>
            <a:off x="896112" y="5010912"/>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896112" y="5184648"/>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CHANGE</a:t>
            </a:r>
          </a:p>
        </p:txBody>
      </p:sp>
      <p:sp>
        <p:nvSpPr>
          <p:cNvPr id="15" name="TextBox 14"/>
          <p:cNvSpPr txBox="1"/>
          <p:nvPr/>
        </p:nvSpPr>
        <p:spPr>
          <a:xfrm>
            <a:off x="2788920" y="5184648"/>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Relais de la performance</a:t>
            </a:r>
          </a:p>
          <a:p>
            <a:pPr>
              <a:lnSpc>
                <a:spcPts val="3300"/>
              </a:lnSpc>
              <a:spcBef>
                <a:spcPts val="0"/>
              </a:spcBef>
              <a:spcAft>
                <a:spcPts val="0"/>
              </a:spcAft>
              <a:defRPr sz="2700" b="1">
                <a:solidFill>
                  <a:srgbClr val="002C49"/>
                </a:solidFill>
                <a:latin typeface="Montserrat"/>
              </a:defRPr>
            </a:pPr>
            <a:r>
              <a:t>post-All Staff</a:t>
            </a:r>
          </a:p>
        </p:txBody>
      </p:sp>
      <p:sp>
        <p:nvSpPr>
          <p:cNvPr id="16" name="TextBox 15"/>
          <p:cNvSpPr txBox="1"/>
          <p:nvPr/>
        </p:nvSpPr>
        <p:spPr>
          <a:xfrm>
            <a:off x="8915400" y="5221224"/>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Décliner les chiffres et tableaux</a:t>
            </a:r>
          </a:p>
          <a:p>
            <a:pPr>
              <a:lnSpc>
                <a:spcPts val="3200"/>
              </a:lnSpc>
              <a:spcBef>
                <a:spcPts val="0"/>
              </a:spcBef>
              <a:spcAft>
                <a:spcPts val="0"/>
              </a:spcAft>
              <a:defRPr sz="2500" b="0">
                <a:solidFill>
                  <a:srgbClr val="526777"/>
                </a:solidFill>
                <a:latin typeface="Montserrat"/>
              </a:defRPr>
            </a:pPr>
            <a:r>
              <a:t>validés par Direction / Finance.</a:t>
            </a:r>
          </a:p>
        </p:txBody>
      </p:sp>
      <p:sp>
        <p:nvSpPr>
          <p:cNvPr id="17" name="TextBox 16"/>
          <p:cNvSpPr txBox="1"/>
          <p:nvPr/>
        </p:nvSpPr>
        <p:spPr>
          <a:xfrm>
            <a:off x="14950440" y="5221224"/>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Après chaque</a:t>
            </a:r>
          </a:p>
          <a:p>
            <a:pPr>
              <a:lnSpc>
                <a:spcPts val="3100"/>
              </a:lnSpc>
              <a:spcBef>
                <a:spcPts val="0"/>
              </a:spcBef>
              <a:spcAft>
                <a:spcPts val="0"/>
              </a:spcAft>
              <a:defRPr sz="2400" b="0">
                <a:solidFill>
                  <a:srgbClr val="002C49"/>
                </a:solidFill>
                <a:latin typeface="Montserrat"/>
              </a:defRPr>
            </a:pPr>
            <a:r>
              <a:t>All Staff</a:t>
            </a:r>
          </a:p>
        </p:txBody>
      </p:sp>
      <p:sp>
        <p:nvSpPr>
          <p:cNvPr id="18" name="Rectangle 17"/>
          <p:cNvSpPr/>
          <p:nvPr/>
        </p:nvSpPr>
        <p:spPr>
          <a:xfrm>
            <a:off x="896112" y="6519672"/>
            <a:ext cx="16459200" cy="10972"/>
          </a:xfrm>
          <a:prstGeom prst="rect">
            <a:avLst/>
          </a:prstGeom>
          <a:solidFill>
            <a:srgbClr val="D9E2E7"/>
          </a:solidFill>
          <a:ln>
            <a:noFill/>
          </a:ln>
        </p:spPr>
        <p:txBody>
          <a:bodyPr rtlCol="0" anchor="ctr"/>
          <a:lstStyle/>
          <a:p>
            <a:pPr algn="ctr"/>
          </a:p>
        </p:txBody>
      </p:sp>
      <p:sp>
        <p:nvSpPr>
          <p:cNvPr id="19" name="TextBox 18"/>
          <p:cNvSpPr txBox="1"/>
          <p:nvPr/>
        </p:nvSpPr>
        <p:spPr>
          <a:xfrm>
            <a:off x="896112" y="6693407"/>
            <a:ext cx="1737360" cy="365760"/>
          </a:xfrm>
          <a:prstGeom prst="rect">
            <a:avLst/>
          </a:prstGeom>
          <a:noFill/>
        </p:spPr>
        <p:txBody>
          <a:bodyPr wrap="square" lIns="0" rIns="0" tIns="0" bIns="0">
            <a:spAutoFit/>
          </a:bodyPr>
          <a:lstStyle/>
          <a:p>
            <a:pPr>
              <a:lnSpc>
                <a:spcPts val="1968"/>
              </a:lnSpc>
              <a:spcBef>
                <a:spcPts val="0"/>
              </a:spcBef>
              <a:spcAft>
                <a:spcPts val="0"/>
              </a:spcAft>
              <a:defRPr sz="1600" b="1">
                <a:solidFill>
                  <a:srgbClr val="FF6633"/>
                </a:solidFill>
                <a:latin typeface="Montserrat"/>
              </a:defRPr>
            </a:pPr>
            <a:r>
              <a:t>BUSINESS</a:t>
            </a:r>
          </a:p>
        </p:txBody>
      </p:sp>
      <p:sp>
        <p:nvSpPr>
          <p:cNvPr id="20" name="TextBox 19"/>
          <p:cNvSpPr txBox="1"/>
          <p:nvPr/>
        </p:nvSpPr>
        <p:spPr>
          <a:xfrm>
            <a:off x="2788920" y="6693407"/>
            <a:ext cx="5669280" cy="1225296"/>
          </a:xfrm>
          <a:prstGeom prst="rect">
            <a:avLst/>
          </a:prstGeom>
          <a:noFill/>
        </p:spPr>
        <p:txBody>
          <a:bodyPr wrap="square" lIns="0" rIns="0" tIns="0" bIns="0">
            <a:spAutoFit/>
          </a:bodyPr>
          <a:lstStyle/>
          <a:p>
            <a:pPr>
              <a:lnSpc>
                <a:spcPts val="3300"/>
              </a:lnSpc>
              <a:spcBef>
                <a:spcPts val="0"/>
              </a:spcBef>
              <a:spcAft>
                <a:spcPts val="0"/>
              </a:spcAft>
              <a:defRPr sz="2700" b="1">
                <a:solidFill>
                  <a:srgbClr val="002C49"/>
                </a:solidFill>
                <a:latin typeface="Montserrat"/>
              </a:defRPr>
            </a:pPr>
            <a:r>
              <a:t>Top Performers</a:t>
            </a:r>
          </a:p>
        </p:txBody>
      </p:sp>
      <p:sp>
        <p:nvSpPr>
          <p:cNvPr id="21" name="TextBox 20"/>
          <p:cNvSpPr txBox="1"/>
          <p:nvPr/>
        </p:nvSpPr>
        <p:spPr>
          <a:xfrm>
            <a:off x="8915400" y="6729983"/>
            <a:ext cx="5376672" cy="1252728"/>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Valoriser la performance</a:t>
            </a:r>
          </a:p>
          <a:p>
            <a:pPr>
              <a:lnSpc>
                <a:spcPts val="3200"/>
              </a:lnSpc>
              <a:spcBef>
                <a:spcPts val="0"/>
              </a:spcBef>
              <a:spcAft>
                <a:spcPts val="0"/>
              </a:spcAft>
              <a:defRPr sz="2500" b="0">
                <a:solidFill>
                  <a:srgbClr val="526777"/>
                </a:solidFill>
                <a:latin typeface="Montserrat"/>
              </a:defRPr>
            </a:pPr>
            <a:r>
              <a:t>individuelle / collective.</a:t>
            </a:r>
          </a:p>
        </p:txBody>
      </p:sp>
      <p:sp>
        <p:nvSpPr>
          <p:cNvPr id="22" name="TextBox 21"/>
          <p:cNvSpPr txBox="1"/>
          <p:nvPr/>
        </p:nvSpPr>
        <p:spPr>
          <a:xfrm>
            <a:off x="14950440" y="6729983"/>
            <a:ext cx="2423160" cy="1024128"/>
          </a:xfrm>
          <a:prstGeom prst="rect">
            <a:avLst/>
          </a:prstGeom>
          <a:noFill/>
        </p:spPr>
        <p:txBody>
          <a:bodyPr wrap="square" lIns="0" rIns="0" tIns="0" bIns="0">
            <a:spAutoFit/>
          </a:bodyPr>
          <a:lstStyle/>
          <a:p>
            <a:pPr>
              <a:lnSpc>
                <a:spcPts val="3100"/>
              </a:lnSpc>
              <a:spcBef>
                <a:spcPts val="0"/>
              </a:spcBef>
              <a:spcAft>
                <a:spcPts val="0"/>
              </a:spcAft>
              <a:defRPr sz="2400" b="0">
                <a:solidFill>
                  <a:srgbClr val="002C49"/>
                </a:solidFill>
                <a:latin typeface="Montserrat"/>
              </a:defRPr>
            </a:pPr>
            <a:r>
              <a:t>Oct. → mi-déc.</a:t>
            </a:r>
          </a:p>
          <a:p>
            <a:pPr>
              <a:lnSpc>
                <a:spcPts val="3100"/>
              </a:lnSpc>
              <a:spcBef>
                <a:spcPts val="0"/>
              </a:spcBef>
              <a:spcAft>
                <a:spcPts val="0"/>
              </a:spcAft>
              <a:defRPr sz="2400" b="0">
                <a:solidFill>
                  <a:srgbClr val="002C49"/>
                </a:solidFill>
                <a:latin typeface="Montserrat"/>
              </a:defRPr>
            </a:pPr>
            <a:r>
              <a:t>Fév. → avr.</a:t>
            </a:r>
          </a:p>
        </p:txBody>
      </p:sp>
      <p:sp>
        <p:nvSpPr>
          <p:cNvPr id="23" name="Rectangle 22"/>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Réutiliser les données validées ; adapter leur présentation au public et au canal.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A07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Donner des repères réguliers au collectif.</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Des rituels structurants, prolongés par la mobilisation et la valorisation.</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20</a:t>
            </a:r>
          </a:p>
        </p:txBody>
      </p:sp>
      <p:sp>
        <p:nvSpPr>
          <p:cNvPr id="9" name="TextBox 8"/>
          <p:cNvSpPr txBox="1"/>
          <p:nvPr/>
        </p:nvSpPr>
        <p:spPr>
          <a:xfrm>
            <a:off x="896112" y="3657600"/>
            <a:ext cx="466344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All Staff France</a:t>
            </a:r>
          </a:p>
        </p:txBody>
      </p:sp>
      <p:sp>
        <p:nvSpPr>
          <p:cNvPr id="10" name="Oval 9"/>
          <p:cNvSpPr/>
          <p:nvPr/>
        </p:nvSpPr>
        <p:spPr>
          <a:xfrm>
            <a:off x="6094476" y="4037076"/>
            <a:ext cx="155448" cy="155448"/>
          </a:xfrm>
          <a:prstGeom prst="ellipse">
            <a:avLst/>
          </a:prstGeom>
          <a:solidFill>
            <a:srgbClr val="FF6633"/>
          </a:solidFill>
          <a:ln>
            <a:noFill/>
          </a:ln>
        </p:spPr>
        <p:txBody>
          <a:bodyPr rtlCol="0" anchor="ctr"/>
          <a:lstStyle/>
          <a:p>
            <a:pPr algn="ctr"/>
          </a:p>
        </p:txBody>
      </p:sp>
      <p:cxnSp>
        <p:nvCxnSpPr>
          <p:cNvPr id="11" name="Connector 10"/>
          <p:cNvCxnSpPr/>
          <p:nvPr/>
        </p:nvCxnSpPr>
        <p:spPr>
          <a:xfrm>
            <a:off x="6309360" y="4114800"/>
            <a:ext cx="2167128" cy="0"/>
          </a:xfrm>
          <a:prstGeom prst="line">
            <a:avLst/>
          </a:prstGeom>
          <a:ln w="19050">
            <a:solidFill>
              <a:srgbClr val="D9E2E7"/>
            </a:solidFill>
          </a:ln>
        </p:spPr>
      </p:cxnSp>
      <p:sp>
        <p:nvSpPr>
          <p:cNvPr id="12" name="TextBox 11"/>
          <p:cNvSpPr txBox="1"/>
          <p:nvPr/>
        </p:nvSpPr>
        <p:spPr>
          <a:xfrm>
            <a:off x="6080760"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OCTOBRE</a:t>
            </a:r>
          </a:p>
        </p:txBody>
      </p:sp>
      <p:sp>
        <p:nvSpPr>
          <p:cNvPr id="13" name="Oval 12"/>
          <p:cNvSpPr/>
          <p:nvPr/>
        </p:nvSpPr>
        <p:spPr>
          <a:xfrm>
            <a:off x="8947404" y="4037076"/>
            <a:ext cx="155448" cy="155448"/>
          </a:xfrm>
          <a:prstGeom prst="ellipse">
            <a:avLst/>
          </a:prstGeom>
          <a:solidFill>
            <a:srgbClr val="FF6633"/>
          </a:solidFill>
          <a:ln>
            <a:noFill/>
          </a:ln>
        </p:spPr>
        <p:txBody>
          <a:bodyPr rtlCol="0" anchor="ctr"/>
          <a:lstStyle/>
          <a:p>
            <a:pPr algn="ctr"/>
          </a:p>
        </p:txBody>
      </p:sp>
      <p:cxnSp>
        <p:nvCxnSpPr>
          <p:cNvPr id="14" name="Connector 13"/>
          <p:cNvCxnSpPr/>
          <p:nvPr/>
        </p:nvCxnSpPr>
        <p:spPr>
          <a:xfrm>
            <a:off x="9162288" y="4114800"/>
            <a:ext cx="2167128" cy="0"/>
          </a:xfrm>
          <a:prstGeom prst="line">
            <a:avLst/>
          </a:prstGeom>
          <a:ln w="19050">
            <a:solidFill>
              <a:srgbClr val="D9E2E7"/>
            </a:solidFill>
          </a:ln>
        </p:spPr>
      </p:cxnSp>
      <p:sp>
        <p:nvSpPr>
          <p:cNvPr id="15" name="TextBox 14"/>
          <p:cNvSpPr txBox="1"/>
          <p:nvPr/>
        </p:nvSpPr>
        <p:spPr>
          <a:xfrm>
            <a:off x="8933688"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JANVIER</a:t>
            </a:r>
          </a:p>
        </p:txBody>
      </p:sp>
      <p:sp>
        <p:nvSpPr>
          <p:cNvPr id="16" name="Oval 15"/>
          <p:cNvSpPr/>
          <p:nvPr/>
        </p:nvSpPr>
        <p:spPr>
          <a:xfrm>
            <a:off x="11800332" y="4037076"/>
            <a:ext cx="155448" cy="155448"/>
          </a:xfrm>
          <a:prstGeom prst="ellipse">
            <a:avLst/>
          </a:prstGeom>
          <a:solidFill>
            <a:srgbClr val="FF6633"/>
          </a:solidFill>
          <a:ln>
            <a:noFill/>
          </a:ln>
        </p:spPr>
        <p:txBody>
          <a:bodyPr rtlCol="0" anchor="ctr"/>
          <a:lstStyle/>
          <a:p>
            <a:pPr algn="ctr"/>
          </a:p>
        </p:txBody>
      </p:sp>
      <p:cxnSp>
        <p:nvCxnSpPr>
          <p:cNvPr id="17" name="Connector 16"/>
          <p:cNvCxnSpPr/>
          <p:nvPr/>
        </p:nvCxnSpPr>
        <p:spPr>
          <a:xfrm>
            <a:off x="12015216" y="4114800"/>
            <a:ext cx="2167128" cy="0"/>
          </a:xfrm>
          <a:prstGeom prst="line">
            <a:avLst/>
          </a:prstGeom>
          <a:ln w="19050">
            <a:solidFill>
              <a:srgbClr val="D9E2E7"/>
            </a:solidFill>
          </a:ln>
        </p:spPr>
      </p:cxnSp>
      <p:sp>
        <p:nvSpPr>
          <p:cNvPr id="18" name="TextBox 17"/>
          <p:cNvSpPr txBox="1"/>
          <p:nvPr/>
        </p:nvSpPr>
        <p:spPr>
          <a:xfrm>
            <a:off x="11786616"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AVRIL</a:t>
            </a:r>
          </a:p>
        </p:txBody>
      </p:sp>
      <p:sp>
        <p:nvSpPr>
          <p:cNvPr id="19" name="Oval 18"/>
          <p:cNvSpPr/>
          <p:nvPr/>
        </p:nvSpPr>
        <p:spPr>
          <a:xfrm>
            <a:off x="14653259" y="4037076"/>
            <a:ext cx="155448" cy="155448"/>
          </a:xfrm>
          <a:prstGeom prst="ellipse">
            <a:avLst/>
          </a:prstGeom>
          <a:solidFill>
            <a:srgbClr val="FF6633"/>
          </a:solidFill>
          <a:ln>
            <a:noFill/>
          </a:ln>
        </p:spPr>
        <p:txBody>
          <a:bodyPr rtlCol="0" anchor="ctr"/>
          <a:lstStyle/>
          <a:p>
            <a:pPr algn="ctr"/>
          </a:p>
        </p:txBody>
      </p:sp>
      <p:cxnSp>
        <p:nvCxnSpPr>
          <p:cNvPr id="20" name="Connector 19"/>
          <p:cNvCxnSpPr/>
          <p:nvPr/>
        </p:nvCxnSpPr>
        <p:spPr>
          <a:xfrm>
            <a:off x="14868143" y="4114800"/>
            <a:ext cx="2167129" cy="0"/>
          </a:xfrm>
          <a:prstGeom prst="line">
            <a:avLst/>
          </a:prstGeom>
          <a:ln w="19050">
            <a:solidFill>
              <a:srgbClr val="D9E2E7"/>
            </a:solidFill>
          </a:ln>
        </p:spPr>
      </p:cxnSp>
      <p:sp>
        <p:nvSpPr>
          <p:cNvPr id="21" name="TextBox 20"/>
          <p:cNvSpPr txBox="1"/>
          <p:nvPr/>
        </p:nvSpPr>
        <p:spPr>
          <a:xfrm>
            <a:off x="14639543" y="4572000"/>
            <a:ext cx="2651760" cy="658368"/>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FIN D’EXERCICE</a:t>
            </a:r>
          </a:p>
        </p:txBody>
      </p:sp>
      <p:sp>
        <p:nvSpPr>
          <p:cNvPr id="22" name="TextBox 21"/>
          <p:cNvSpPr txBox="1"/>
          <p:nvPr/>
        </p:nvSpPr>
        <p:spPr>
          <a:xfrm>
            <a:off x="14639543" y="5458968"/>
            <a:ext cx="2651760" cy="6400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Date à confirmer</a:t>
            </a:r>
          </a:p>
        </p:txBody>
      </p:sp>
      <p:sp>
        <p:nvSpPr>
          <p:cNvPr id="23" name="Rectangle 22"/>
          <p:cNvSpPr/>
          <p:nvPr/>
        </p:nvSpPr>
        <p:spPr>
          <a:xfrm>
            <a:off x="896112" y="6355080"/>
            <a:ext cx="16459200" cy="10972"/>
          </a:xfrm>
          <a:prstGeom prst="rect">
            <a:avLst/>
          </a:prstGeom>
          <a:solidFill>
            <a:srgbClr val="D9E2E7"/>
          </a:solidFill>
          <a:ln>
            <a:noFill/>
          </a:ln>
        </p:spPr>
        <p:txBody>
          <a:bodyPr rtlCol="0" anchor="ctr"/>
          <a:lstStyle/>
          <a:p>
            <a:pPr algn="ctr"/>
          </a:p>
        </p:txBody>
      </p:sp>
      <p:sp>
        <p:nvSpPr>
          <p:cNvPr id="24" name="TextBox 23"/>
          <p:cNvSpPr txBox="1"/>
          <p:nvPr/>
        </p:nvSpPr>
        <p:spPr>
          <a:xfrm>
            <a:off x="896112" y="6711696"/>
            <a:ext cx="4846320" cy="59436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La Leytonienne</a:t>
            </a:r>
          </a:p>
        </p:txBody>
      </p:sp>
      <p:sp>
        <p:nvSpPr>
          <p:cNvPr id="25" name="TextBox 24"/>
          <p:cNvSpPr txBox="1"/>
          <p:nvPr/>
        </p:nvSpPr>
        <p:spPr>
          <a:xfrm>
            <a:off x="6199632" y="6711696"/>
            <a:ext cx="5120640" cy="1060704"/>
          </a:xfrm>
          <a:prstGeom prst="rect">
            <a:avLst/>
          </a:prstGeom>
          <a:noFill/>
        </p:spPr>
        <p:txBody>
          <a:bodyPr wrap="square" lIns="0" rIns="0" tIns="0" bIns="0">
            <a:spAutoFit/>
          </a:bodyPr>
          <a:lstStyle/>
          <a:p>
            <a:pPr>
              <a:lnSpc>
                <a:spcPts val="3500"/>
              </a:lnSpc>
              <a:spcBef>
                <a:spcPts val="0"/>
              </a:spcBef>
              <a:spcAft>
                <a:spcPts val="0"/>
              </a:spcAft>
              <a:defRPr sz="2600" b="0">
                <a:solidFill>
                  <a:srgbClr val="002C49"/>
                </a:solidFill>
                <a:latin typeface="Montserrat"/>
              </a:defRPr>
            </a:pPr>
            <a:r>
              <a:t>S1 : fin janvier.</a:t>
            </a:r>
          </a:p>
          <a:p>
            <a:pPr>
              <a:lnSpc>
                <a:spcPts val="3500"/>
              </a:lnSpc>
              <a:spcBef>
                <a:spcPts val="0"/>
              </a:spcBef>
              <a:spcAft>
                <a:spcPts val="0"/>
              </a:spcAft>
              <a:defRPr sz="2600" b="0">
                <a:solidFill>
                  <a:srgbClr val="002C49"/>
                </a:solidFill>
                <a:latin typeface="Montserrat"/>
              </a:defRPr>
            </a:pPr>
            <a:r>
              <a:t>S2 : préparation mai–juin.</a:t>
            </a:r>
          </a:p>
        </p:txBody>
      </p:sp>
      <p:sp>
        <p:nvSpPr>
          <p:cNvPr id="26" name="TextBox 25"/>
          <p:cNvSpPr txBox="1"/>
          <p:nvPr/>
        </p:nvSpPr>
        <p:spPr>
          <a:xfrm>
            <a:off x="12161520" y="6711696"/>
            <a:ext cx="5148072" cy="1060704"/>
          </a:xfrm>
          <a:prstGeom prst="rect">
            <a:avLst/>
          </a:prstGeom>
          <a:noFill/>
        </p:spPr>
        <p:txBody>
          <a:bodyPr wrap="square" lIns="0" rIns="0" tIns="0" bIns="0">
            <a:spAutoFit/>
          </a:bodyPr>
          <a:lstStyle/>
          <a:p>
            <a:pPr>
              <a:lnSpc>
                <a:spcPts val="3500"/>
              </a:lnSpc>
              <a:spcBef>
                <a:spcPts val="0"/>
              </a:spcBef>
              <a:spcAft>
                <a:spcPts val="0"/>
              </a:spcAft>
              <a:defRPr sz="2600" b="1">
                <a:solidFill>
                  <a:srgbClr val="FF6633"/>
                </a:solidFill>
                <a:latin typeface="Montserrat"/>
              </a:defRPr>
            </a:pPr>
            <a:r>
              <a:t>S2 : publication fin juillet.</a:t>
            </a:r>
          </a:p>
          <a:p>
            <a:pPr>
              <a:lnSpc>
                <a:spcPts val="3500"/>
              </a:lnSpc>
              <a:spcBef>
                <a:spcPts val="0"/>
              </a:spcBef>
              <a:spcAft>
                <a:spcPts val="0"/>
              </a:spcAft>
              <a:defRPr sz="2600" b="1">
                <a:solidFill>
                  <a:srgbClr val="FF6633"/>
                </a:solidFill>
                <a:latin typeface="Montserrat"/>
              </a:defRPr>
            </a:pPr>
            <a:r>
              <a:t>Hors FY26/27.</a:t>
            </a:r>
          </a:p>
        </p:txBody>
      </p:sp>
      <p:sp>
        <p:nvSpPr>
          <p:cNvPr id="27" name="Rectangle 26"/>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8" name="TextBox 27"/>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Rendez-vous collaborateurs : minimum 1 / mois. Temps forts collectifs : Christmas Party + séminaire.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A09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Donner un rôle précis à chaque canal.</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22</a:t>
            </a:r>
          </a:p>
        </p:txBody>
      </p:sp>
      <p:sp>
        <p:nvSpPr>
          <p:cNvPr id="8" name="TextBox 7"/>
          <p:cNvSpPr txBox="1"/>
          <p:nvPr/>
        </p:nvSpPr>
        <p:spPr>
          <a:xfrm>
            <a:off x="896112" y="2834640"/>
            <a:ext cx="7900416" cy="630936"/>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Déploiement Neoscreen agences</a:t>
            </a:r>
          </a:p>
        </p:txBody>
      </p:sp>
      <p:sp>
        <p:nvSpPr>
          <p:cNvPr id="9" name="TextBox 8"/>
          <p:cNvSpPr txBox="1"/>
          <p:nvPr/>
        </p:nvSpPr>
        <p:spPr>
          <a:xfrm>
            <a:off x="896112" y="3547872"/>
            <a:ext cx="7900416" cy="822960"/>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Campagne dès octobre → puis alimentation continue.</a:t>
            </a:r>
          </a:p>
        </p:txBody>
      </p:sp>
      <p:sp>
        <p:nvSpPr>
          <p:cNvPr id="10" name="TextBox 9"/>
          <p:cNvSpPr txBox="1"/>
          <p:nvPr/>
        </p:nvSpPr>
        <p:spPr>
          <a:xfrm>
            <a:off x="9646920" y="2834640"/>
            <a:ext cx="7708392" cy="630936"/>
          </a:xfrm>
          <a:prstGeom prst="rect">
            <a:avLst/>
          </a:prstGeom>
          <a:noFill/>
        </p:spPr>
        <p:txBody>
          <a:bodyPr wrap="square" lIns="0" rIns="0" tIns="0" bIns="0">
            <a:spAutoFit/>
          </a:bodyPr>
          <a:lstStyle/>
          <a:p>
            <a:pPr>
              <a:lnSpc>
                <a:spcPts val="3567"/>
              </a:lnSpc>
              <a:spcBef>
                <a:spcPts val="0"/>
              </a:spcBef>
              <a:spcAft>
                <a:spcPts val="0"/>
              </a:spcAft>
              <a:defRPr sz="2900" b="1">
                <a:solidFill>
                  <a:srgbClr val="002C49"/>
                </a:solidFill>
                <a:latin typeface="Montserrat"/>
              </a:defRPr>
            </a:pPr>
            <a:r>
              <a:t>Intranet</a:t>
            </a:r>
          </a:p>
        </p:txBody>
      </p:sp>
      <p:sp>
        <p:nvSpPr>
          <p:cNvPr id="11" name="TextBox 10"/>
          <p:cNvSpPr txBox="1"/>
          <p:nvPr/>
        </p:nvSpPr>
        <p:spPr>
          <a:xfrm>
            <a:off x="9646920" y="3474720"/>
            <a:ext cx="7708392" cy="896112"/>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Planning après revue de production / arbitrage prestataire.</a:t>
            </a:r>
          </a:p>
        </p:txBody>
      </p:sp>
      <p:sp>
        <p:nvSpPr>
          <p:cNvPr id="12" name="Rectangle 11"/>
          <p:cNvSpPr/>
          <p:nvPr/>
        </p:nvSpPr>
        <p:spPr>
          <a:xfrm>
            <a:off x="896112" y="4407408"/>
            <a:ext cx="16459200" cy="10972"/>
          </a:xfrm>
          <a:prstGeom prst="rect">
            <a:avLst/>
          </a:prstGeom>
          <a:solidFill>
            <a:srgbClr val="002C49"/>
          </a:solidFill>
          <a:ln>
            <a:noFill/>
          </a:ln>
        </p:spPr>
        <p:txBody>
          <a:bodyPr rtlCol="0" anchor="ctr"/>
          <a:lstStyle/>
          <a:p>
            <a:pPr algn="ctr"/>
          </a:p>
        </p:txBody>
      </p:sp>
      <p:sp>
        <p:nvSpPr>
          <p:cNvPr id="13" name="TextBox 12"/>
          <p:cNvSpPr txBox="1"/>
          <p:nvPr/>
        </p:nvSpPr>
        <p:spPr>
          <a:xfrm>
            <a:off x="914400" y="4727448"/>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INTRANET</a:t>
            </a:r>
          </a:p>
        </p:txBody>
      </p:sp>
      <p:sp>
        <p:nvSpPr>
          <p:cNvPr id="14" name="TextBox 13"/>
          <p:cNvSpPr txBox="1"/>
          <p:nvPr/>
        </p:nvSpPr>
        <p:spPr>
          <a:xfrm>
            <a:off x="5010912" y="4727448"/>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Hub : ressources et cross-sell principal.</a:t>
            </a:r>
          </a:p>
        </p:txBody>
      </p:sp>
      <p:sp>
        <p:nvSpPr>
          <p:cNvPr id="15" name="TextBox 14"/>
          <p:cNvSpPr txBox="1"/>
          <p:nvPr/>
        </p:nvSpPr>
        <p:spPr>
          <a:xfrm>
            <a:off x="13194792" y="4727448"/>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Après lancement effectif.</a:t>
            </a:r>
          </a:p>
        </p:txBody>
      </p:sp>
      <p:sp>
        <p:nvSpPr>
          <p:cNvPr id="16" name="Rectangle 15"/>
          <p:cNvSpPr/>
          <p:nvPr/>
        </p:nvSpPr>
        <p:spPr>
          <a:xfrm>
            <a:off x="914400" y="5358383"/>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5477256"/>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NEOSCREEN</a:t>
            </a:r>
          </a:p>
        </p:txBody>
      </p:sp>
      <p:sp>
        <p:nvSpPr>
          <p:cNvPr id="18" name="TextBox 17"/>
          <p:cNvSpPr txBox="1"/>
          <p:nvPr/>
        </p:nvSpPr>
        <p:spPr>
          <a:xfrm>
            <a:off x="5010912" y="5477256"/>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Amplification en agences.</a:t>
            </a:r>
          </a:p>
        </p:txBody>
      </p:sp>
      <p:sp>
        <p:nvSpPr>
          <p:cNvPr id="19" name="TextBox 18"/>
          <p:cNvSpPr txBox="1"/>
          <p:nvPr/>
        </p:nvSpPr>
        <p:spPr>
          <a:xfrm>
            <a:off x="13194792" y="5477256"/>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Après déploiement.</a:t>
            </a:r>
          </a:p>
        </p:txBody>
      </p:sp>
      <p:sp>
        <p:nvSpPr>
          <p:cNvPr id="20" name="Rectangle 19"/>
          <p:cNvSpPr/>
          <p:nvPr/>
        </p:nvSpPr>
        <p:spPr>
          <a:xfrm>
            <a:off x="914400" y="6108192"/>
            <a:ext cx="16459200" cy="10972"/>
          </a:xfrm>
          <a:prstGeom prst="rect">
            <a:avLst/>
          </a:prstGeom>
          <a:solidFill>
            <a:srgbClr val="D9E2E7"/>
          </a:solidFill>
          <a:ln>
            <a:noFill/>
          </a:ln>
        </p:spPr>
        <p:txBody>
          <a:bodyPr rtlCol="0" anchor="ctr"/>
          <a:lstStyle/>
          <a:p>
            <a:pPr algn="ctr"/>
          </a:p>
        </p:txBody>
      </p:sp>
      <p:sp>
        <p:nvSpPr>
          <p:cNvPr id="21" name="TextBox 20"/>
          <p:cNvSpPr txBox="1"/>
          <p:nvPr/>
        </p:nvSpPr>
        <p:spPr>
          <a:xfrm>
            <a:off x="914400" y="6227064"/>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TEAMS / EMAIL</a:t>
            </a:r>
          </a:p>
        </p:txBody>
      </p:sp>
      <p:sp>
        <p:nvSpPr>
          <p:cNvPr id="22" name="TextBox 21"/>
          <p:cNvSpPr txBox="1"/>
          <p:nvPr/>
        </p:nvSpPr>
        <p:spPr>
          <a:xfrm>
            <a:off x="5010912" y="6227064"/>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Sourcing et activation ciblée.</a:t>
            </a:r>
          </a:p>
        </p:txBody>
      </p:sp>
      <p:sp>
        <p:nvSpPr>
          <p:cNvPr id="23" name="TextBox 22"/>
          <p:cNvSpPr txBox="1"/>
          <p:nvPr/>
        </p:nvSpPr>
        <p:spPr>
          <a:xfrm>
            <a:off x="13194792" y="6227064"/>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Selon le besoin.</a:t>
            </a:r>
          </a:p>
        </p:txBody>
      </p:sp>
      <p:sp>
        <p:nvSpPr>
          <p:cNvPr id="24" name="Rectangle 23"/>
          <p:cNvSpPr/>
          <p:nvPr/>
        </p:nvSpPr>
        <p:spPr>
          <a:xfrm>
            <a:off x="914400" y="6858000"/>
            <a:ext cx="16459200" cy="10972"/>
          </a:xfrm>
          <a:prstGeom prst="rect">
            <a:avLst/>
          </a:prstGeom>
          <a:solidFill>
            <a:srgbClr val="D9E2E7"/>
          </a:solidFill>
          <a:ln>
            <a:noFill/>
          </a:ln>
        </p:spPr>
        <p:txBody>
          <a:bodyPr rtlCol="0" anchor="ctr"/>
          <a:lstStyle/>
          <a:p>
            <a:pPr algn="ctr"/>
          </a:p>
        </p:txBody>
      </p:sp>
      <p:sp>
        <p:nvSpPr>
          <p:cNvPr id="25" name="TextBox 24"/>
          <p:cNvSpPr txBox="1"/>
          <p:nvPr/>
        </p:nvSpPr>
        <p:spPr>
          <a:xfrm>
            <a:off x="914400" y="6976872"/>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ALL STAFF / LEYTONIENNE</a:t>
            </a:r>
          </a:p>
        </p:txBody>
      </p:sp>
      <p:sp>
        <p:nvSpPr>
          <p:cNvPr id="26" name="TextBox 25"/>
          <p:cNvSpPr txBox="1"/>
          <p:nvPr/>
        </p:nvSpPr>
        <p:spPr>
          <a:xfrm>
            <a:off x="5010912" y="6976872"/>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Alignement / éditorialisation et capitalisation.</a:t>
            </a:r>
          </a:p>
        </p:txBody>
      </p:sp>
      <p:sp>
        <p:nvSpPr>
          <p:cNvPr id="27" name="TextBox 26"/>
          <p:cNvSpPr txBox="1"/>
          <p:nvPr/>
        </p:nvSpPr>
        <p:spPr>
          <a:xfrm>
            <a:off x="13194792" y="6976872"/>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Rituels structurants.</a:t>
            </a:r>
          </a:p>
        </p:txBody>
      </p:sp>
      <p:sp>
        <p:nvSpPr>
          <p:cNvPr id="28" name="Rectangle 27"/>
          <p:cNvSpPr/>
          <p:nvPr/>
        </p:nvSpPr>
        <p:spPr>
          <a:xfrm>
            <a:off x="914400" y="7607808"/>
            <a:ext cx="16459200" cy="10972"/>
          </a:xfrm>
          <a:prstGeom prst="rect">
            <a:avLst/>
          </a:prstGeom>
          <a:solidFill>
            <a:srgbClr val="D9E2E7"/>
          </a:solidFill>
          <a:ln>
            <a:noFill/>
          </a:ln>
        </p:spPr>
        <p:txBody>
          <a:bodyPr rtlCol="0" anchor="ctr"/>
          <a:lstStyle/>
          <a:p>
            <a:pPr algn="ctr"/>
          </a:p>
        </p:txBody>
      </p:sp>
      <p:sp>
        <p:nvSpPr>
          <p:cNvPr id="29" name="TextBox 28"/>
          <p:cNvSpPr txBox="1"/>
          <p:nvPr/>
        </p:nvSpPr>
        <p:spPr>
          <a:xfrm>
            <a:off x="914400" y="7726679"/>
            <a:ext cx="3749039" cy="658368"/>
          </a:xfrm>
          <a:prstGeom prst="rect">
            <a:avLst/>
          </a:prstGeom>
          <a:noFill/>
        </p:spPr>
        <p:txBody>
          <a:bodyPr wrap="square" lIns="0" rIns="0" tIns="0" bIns="0">
            <a:spAutoFit/>
          </a:bodyPr>
          <a:lstStyle/>
          <a:p>
            <a:pPr>
              <a:lnSpc>
                <a:spcPts val="2700"/>
              </a:lnSpc>
              <a:spcBef>
                <a:spcPts val="0"/>
              </a:spcBef>
              <a:spcAft>
                <a:spcPts val="0"/>
              </a:spcAft>
              <a:defRPr sz="2300" b="1">
                <a:solidFill>
                  <a:srgbClr val="002C49"/>
                </a:solidFill>
                <a:latin typeface="Montserrat"/>
              </a:defRPr>
            </a:pPr>
            <a:r>
              <a:t>LINKEDIN CORPORATE</a:t>
            </a:r>
          </a:p>
        </p:txBody>
      </p:sp>
      <p:sp>
        <p:nvSpPr>
          <p:cNvPr id="30" name="TextBox 29"/>
          <p:cNvSpPr txBox="1"/>
          <p:nvPr/>
        </p:nvSpPr>
        <p:spPr>
          <a:xfrm>
            <a:off x="5010912" y="7726679"/>
            <a:ext cx="7699248"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526777"/>
                </a:solidFill>
                <a:latin typeface="Montserrat"/>
              </a:defRPr>
            </a:pPr>
            <a:r>
              <a:t>Image de marque et preuves du collectif.</a:t>
            </a:r>
          </a:p>
        </p:txBody>
      </p:sp>
      <p:sp>
        <p:nvSpPr>
          <p:cNvPr id="31" name="TextBox 30"/>
          <p:cNvSpPr txBox="1"/>
          <p:nvPr/>
        </p:nvSpPr>
        <p:spPr>
          <a:xfrm>
            <a:off x="13194792" y="7726679"/>
            <a:ext cx="4160520" cy="658368"/>
          </a:xfrm>
          <a:prstGeom prst="rect">
            <a:avLst/>
          </a:prstGeom>
          <a:noFill/>
        </p:spPr>
        <p:txBody>
          <a:bodyPr wrap="square" lIns="0" rIns="0" tIns="0" bIns="0">
            <a:spAutoFit/>
          </a:bodyPr>
          <a:lstStyle/>
          <a:p>
            <a:pPr>
              <a:lnSpc>
                <a:spcPts val="2800"/>
              </a:lnSpc>
              <a:spcBef>
                <a:spcPts val="0"/>
              </a:spcBef>
              <a:spcAft>
                <a:spcPts val="0"/>
              </a:spcAft>
              <a:defRPr sz="2400" b="0">
                <a:solidFill>
                  <a:srgbClr val="002C49"/>
                </a:solidFill>
                <a:latin typeface="Montserrat"/>
              </a:defRPr>
            </a:pPr>
            <a:r>
              <a:t>Toute l’année.</a:t>
            </a:r>
          </a:p>
        </p:txBody>
      </p:sp>
      <p:sp>
        <p:nvSpPr>
          <p:cNvPr id="32" name="Rectangle 31"/>
          <p:cNvSpPr/>
          <p:nvPr/>
        </p:nvSpPr>
        <p:spPr>
          <a:xfrm>
            <a:off x="822960" y="8851392"/>
            <a:ext cx="16642080" cy="10972"/>
          </a:xfrm>
          <a:prstGeom prst="rect">
            <a:avLst/>
          </a:prstGeom>
          <a:solidFill>
            <a:srgbClr val="D9E2E7"/>
          </a:solidFill>
          <a:ln>
            <a:noFill/>
          </a:ln>
        </p:spPr>
        <p:txBody>
          <a:bodyPr rtlCol="0" anchor="ctr"/>
          <a:lstStyle/>
          <a:p>
            <a:pPr algn="ctr"/>
          </a:p>
        </p:txBody>
      </p:sp>
      <p:sp>
        <p:nvSpPr>
          <p:cNvPr id="33" name="TextBox 32"/>
          <p:cNvSpPr txBox="1"/>
          <p:nvPr/>
        </p:nvSpPr>
        <p:spPr>
          <a:xfrm>
            <a:off x="868680" y="9052560"/>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Projet de lancement ≠ run du canal. Les contenus des trois piliers alimentent les canaux disponibles.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A02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Actions et responsabilités du parcours IA.</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15</a:t>
            </a:r>
          </a:p>
        </p:txBody>
      </p:sp>
      <p:sp>
        <p:nvSpPr>
          <p:cNvPr id="8" name="TextBox 7"/>
          <p:cNvSpPr txBox="1"/>
          <p:nvPr/>
        </p:nvSpPr>
        <p:spPr>
          <a:xfrm>
            <a:off x="914400" y="3456432"/>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COMPRENDRE</a:t>
            </a:r>
          </a:p>
        </p:txBody>
      </p:sp>
      <p:sp>
        <p:nvSpPr>
          <p:cNvPr id="9" name="TextBox 8"/>
          <p:cNvSpPr txBox="1"/>
          <p:nvPr/>
        </p:nvSpPr>
        <p:spPr>
          <a:xfrm>
            <a:off x="4910328" y="3456432"/>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Message directeur ; Zoom IA, date à confirmer.</a:t>
            </a:r>
          </a:p>
        </p:txBody>
      </p:sp>
      <p:sp>
        <p:nvSpPr>
          <p:cNvPr id="10" name="TextBox 9"/>
          <p:cNvSpPr txBox="1"/>
          <p:nvPr/>
        </p:nvSpPr>
        <p:spPr>
          <a:xfrm>
            <a:off x="12874752" y="3456432"/>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Direction : sens.</a:t>
            </a:r>
          </a:p>
        </p:txBody>
      </p:sp>
      <p:sp>
        <p:nvSpPr>
          <p:cNvPr id="11" name="Rectangle 10"/>
          <p:cNvSpPr/>
          <p:nvPr/>
        </p:nvSpPr>
        <p:spPr>
          <a:xfrm>
            <a:off x="914400" y="4178808"/>
            <a:ext cx="16459200" cy="10972"/>
          </a:xfrm>
          <a:prstGeom prst="rect">
            <a:avLst/>
          </a:prstGeom>
          <a:solidFill>
            <a:srgbClr val="D9E2E7"/>
          </a:solidFill>
          <a:ln>
            <a:noFill/>
          </a:ln>
        </p:spPr>
        <p:txBody>
          <a:bodyPr rtlCol="0" anchor="ctr"/>
          <a:lstStyle/>
          <a:p>
            <a:pPr algn="ctr"/>
          </a:p>
        </p:txBody>
      </p:sp>
      <p:sp>
        <p:nvSpPr>
          <p:cNvPr id="12" name="TextBox 11"/>
          <p:cNvSpPr txBox="1"/>
          <p:nvPr/>
        </p:nvSpPr>
        <p:spPr>
          <a:xfrm>
            <a:off x="914400" y="4306824"/>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RASSURER / IMPLIQUER</a:t>
            </a:r>
          </a:p>
        </p:txBody>
      </p:sp>
      <p:sp>
        <p:nvSpPr>
          <p:cNvPr id="13" name="TextBox 12"/>
          <p:cNvSpPr txBox="1"/>
          <p:nvPr/>
        </p:nvSpPr>
        <p:spPr>
          <a:xfrm>
            <a:off x="4910328" y="4306824"/>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Place du collaborateur ; contribution des métiers.</a:t>
            </a:r>
          </a:p>
        </p:txBody>
      </p:sp>
      <p:sp>
        <p:nvSpPr>
          <p:cNvPr id="14" name="TextBox 13"/>
          <p:cNvSpPr txBox="1"/>
          <p:nvPr/>
        </p:nvSpPr>
        <p:spPr>
          <a:xfrm>
            <a:off x="12874752" y="4306824"/>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Communication : parcours.</a:t>
            </a:r>
          </a:p>
        </p:txBody>
      </p:sp>
      <p:sp>
        <p:nvSpPr>
          <p:cNvPr id="15" name="Rectangle 14"/>
          <p:cNvSpPr/>
          <p:nvPr/>
        </p:nvSpPr>
        <p:spPr>
          <a:xfrm>
            <a:off x="914400" y="5029200"/>
            <a:ext cx="16459200" cy="10972"/>
          </a:xfrm>
          <a:prstGeom prst="rect">
            <a:avLst/>
          </a:prstGeom>
          <a:solidFill>
            <a:srgbClr val="D9E2E7"/>
          </a:solidFill>
          <a:ln>
            <a:noFill/>
          </a:ln>
        </p:spPr>
        <p:txBody>
          <a:bodyPr rtlCol="0" anchor="ctr"/>
          <a:lstStyle/>
          <a:p>
            <a:pPr algn="ctr"/>
          </a:p>
        </p:txBody>
      </p:sp>
      <p:sp>
        <p:nvSpPr>
          <p:cNvPr id="16" name="TextBox 15"/>
          <p:cNvSpPr txBox="1"/>
          <p:nvPr/>
        </p:nvSpPr>
        <p:spPr>
          <a:xfrm>
            <a:off x="914400" y="5157216"/>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PROTÉGER</a:t>
            </a:r>
          </a:p>
        </p:txBody>
      </p:sp>
      <p:sp>
        <p:nvSpPr>
          <p:cNvPr id="17" name="TextBox 16"/>
          <p:cNvSpPr txBox="1"/>
          <p:nvPr/>
        </p:nvSpPr>
        <p:spPr>
          <a:xfrm>
            <a:off x="4910328" y="5157216"/>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Guide IA responsable ; protection des données clients.</a:t>
            </a:r>
          </a:p>
        </p:txBody>
      </p:sp>
      <p:sp>
        <p:nvSpPr>
          <p:cNvPr id="18" name="TextBox 17"/>
          <p:cNvSpPr txBox="1"/>
          <p:nvPr/>
        </p:nvSpPr>
        <p:spPr>
          <a:xfrm>
            <a:off x="12874752" y="5157216"/>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DSI : anonymisation.</a:t>
            </a:r>
          </a:p>
          <a:p>
            <a:pPr>
              <a:lnSpc>
                <a:spcPts val="2900"/>
              </a:lnSpc>
              <a:spcBef>
                <a:spcPts val="0"/>
              </a:spcBef>
              <a:spcAft>
                <a:spcPts val="0"/>
              </a:spcAft>
              <a:defRPr sz="2400" b="0">
                <a:solidFill>
                  <a:srgbClr val="002C49"/>
                </a:solidFill>
                <a:latin typeface="Montserrat"/>
              </a:defRPr>
            </a:pPr>
            <a:r>
              <a:t>Juridique : cadre.</a:t>
            </a:r>
          </a:p>
        </p:txBody>
      </p:sp>
      <p:sp>
        <p:nvSpPr>
          <p:cNvPr id="19" name="Rectangle 18"/>
          <p:cNvSpPr/>
          <p:nvPr/>
        </p:nvSpPr>
        <p:spPr>
          <a:xfrm>
            <a:off x="914400" y="5879592"/>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6007608"/>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MONTRER</a:t>
            </a:r>
          </a:p>
        </p:txBody>
      </p:sp>
      <p:sp>
        <p:nvSpPr>
          <p:cNvPr id="21" name="TextBox 20"/>
          <p:cNvSpPr txBox="1"/>
          <p:nvPr/>
        </p:nvSpPr>
        <p:spPr>
          <a:xfrm>
            <a:off x="4910328" y="6007608"/>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Hub IA ; série « 1 problème → 1 usage IA ».</a:t>
            </a:r>
          </a:p>
        </p:txBody>
      </p:sp>
      <p:sp>
        <p:nvSpPr>
          <p:cNvPr id="22" name="TextBox 21"/>
          <p:cNvSpPr txBox="1"/>
          <p:nvPr/>
        </p:nvSpPr>
        <p:spPr>
          <a:xfrm>
            <a:off x="12874752" y="6007608"/>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DSI / métiers : outils et cas.</a:t>
            </a:r>
          </a:p>
        </p:txBody>
      </p:sp>
      <p:sp>
        <p:nvSpPr>
          <p:cNvPr id="23" name="Rectangle 22"/>
          <p:cNvSpPr/>
          <p:nvPr/>
        </p:nvSpPr>
        <p:spPr>
          <a:xfrm>
            <a:off x="914400" y="6729984"/>
            <a:ext cx="16459200" cy="10972"/>
          </a:xfrm>
          <a:prstGeom prst="rect">
            <a:avLst/>
          </a:prstGeom>
          <a:solidFill>
            <a:srgbClr val="D9E2E7"/>
          </a:solidFill>
          <a:ln>
            <a:noFill/>
          </a:ln>
        </p:spPr>
        <p:txBody>
          <a:bodyPr rtlCol="0" anchor="ctr"/>
          <a:lstStyle/>
          <a:p>
            <a:pPr algn="ctr"/>
          </a:p>
        </p:txBody>
      </p:sp>
      <p:sp>
        <p:nvSpPr>
          <p:cNvPr id="24" name="TextBox 23"/>
          <p:cNvSpPr txBox="1"/>
          <p:nvPr/>
        </p:nvSpPr>
        <p:spPr>
          <a:xfrm>
            <a:off x="914400" y="6858000"/>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AGIR</a:t>
            </a:r>
          </a:p>
        </p:txBody>
      </p:sp>
      <p:sp>
        <p:nvSpPr>
          <p:cNvPr id="25" name="TextBox 24"/>
          <p:cNvSpPr txBox="1"/>
          <p:nvPr/>
        </p:nvSpPr>
        <p:spPr>
          <a:xfrm>
            <a:off x="4910328" y="6858000"/>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Relais formations ; ressources, prompts et outils ;</a:t>
            </a:r>
          </a:p>
          <a:p>
            <a:pPr>
              <a:lnSpc>
                <a:spcPts val="2900"/>
              </a:lnSpc>
              <a:spcBef>
                <a:spcPts val="0"/>
              </a:spcBef>
              <a:spcAft>
                <a:spcPts val="0"/>
              </a:spcAft>
              <a:defRPr sz="2400" b="0">
                <a:solidFill>
                  <a:srgbClr val="526777"/>
                </a:solidFill>
                <a:latin typeface="Montserrat"/>
              </a:defRPr>
            </a:pPr>
            <a:r>
              <a:t>Challenge IA Groupe.</a:t>
            </a:r>
          </a:p>
        </p:txBody>
      </p:sp>
      <p:sp>
        <p:nvSpPr>
          <p:cNvPr id="26" name="TextBox 25"/>
          <p:cNvSpPr txBox="1"/>
          <p:nvPr/>
        </p:nvSpPr>
        <p:spPr>
          <a:xfrm>
            <a:off x="12874752" y="6858000"/>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RH Formation : compétences.</a:t>
            </a:r>
          </a:p>
        </p:txBody>
      </p:sp>
      <p:sp>
        <p:nvSpPr>
          <p:cNvPr id="27" name="Rectangle 26"/>
          <p:cNvSpPr/>
          <p:nvPr/>
        </p:nvSpPr>
        <p:spPr>
          <a:xfrm>
            <a:off x="914400" y="7580375"/>
            <a:ext cx="16459200" cy="10972"/>
          </a:xfrm>
          <a:prstGeom prst="rect">
            <a:avLst/>
          </a:prstGeom>
          <a:solidFill>
            <a:srgbClr val="D9E2E7"/>
          </a:solidFill>
          <a:ln>
            <a:noFill/>
          </a:ln>
        </p:spPr>
        <p:txBody>
          <a:bodyPr rtlCol="0" anchor="ctr"/>
          <a:lstStyle/>
          <a:p>
            <a:pPr algn="ctr"/>
          </a:p>
        </p:txBody>
      </p:sp>
      <p:sp>
        <p:nvSpPr>
          <p:cNvPr id="28" name="TextBox 27"/>
          <p:cNvSpPr txBox="1"/>
          <p:nvPr/>
        </p:nvSpPr>
        <p:spPr>
          <a:xfrm>
            <a:off x="914400" y="7708392"/>
            <a:ext cx="3749039" cy="777240"/>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CAPITALISER</a:t>
            </a:r>
          </a:p>
        </p:txBody>
      </p:sp>
      <p:sp>
        <p:nvSpPr>
          <p:cNvPr id="29" name="TextBox 28"/>
          <p:cNvSpPr txBox="1"/>
          <p:nvPr/>
        </p:nvSpPr>
        <p:spPr>
          <a:xfrm>
            <a:off x="4910328" y="7708392"/>
            <a:ext cx="7525512"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Pack final « IA par métier » en fin d’exercice.</a:t>
            </a:r>
          </a:p>
        </p:txBody>
      </p:sp>
      <p:sp>
        <p:nvSpPr>
          <p:cNvPr id="30" name="TextBox 29"/>
          <p:cNvSpPr txBox="1"/>
          <p:nvPr/>
        </p:nvSpPr>
        <p:spPr>
          <a:xfrm>
            <a:off x="12874752" y="7708392"/>
            <a:ext cx="4480560" cy="749808"/>
          </a:xfrm>
          <a:prstGeom prst="rect">
            <a:avLst/>
          </a:prstGeom>
          <a:noFill/>
        </p:spPr>
        <p:txBody>
          <a:bodyPr wrap="square" lIns="0" rIns="0" tIns="0" bIns="0">
            <a:spAutoFit/>
          </a:bodyPr>
          <a:lstStyle/>
          <a:p>
            <a:pPr>
              <a:lnSpc>
                <a:spcPts val="2900"/>
              </a:lnSpc>
              <a:spcBef>
                <a:spcPts val="0"/>
              </a:spcBef>
              <a:spcAft>
                <a:spcPts val="0"/>
              </a:spcAft>
              <a:defRPr sz="2400" b="0">
                <a:solidFill>
                  <a:srgbClr val="002C49"/>
                </a:solidFill>
                <a:latin typeface="Montserrat"/>
              </a:defRPr>
            </a:pPr>
            <a:r>
              <a:t>Métiers + Communication.</a:t>
            </a:r>
          </a:p>
        </p:txBody>
      </p:sp>
      <p:sp>
        <p:nvSpPr>
          <p:cNvPr id="31" name="Rectangle 30"/>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32" name="TextBox 31"/>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Hub après lancement ; relais disponibles avant. Zoom IA à confirmer, sans bloquer le parcours.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A04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Kit Business Partner par pôle /</a:t>
            </a:r>
          </a:p>
          <a:p>
            <a:pPr>
              <a:lnSpc>
                <a:spcPts val="5300"/>
              </a:lnSpc>
              <a:spcBef>
                <a:spcPts val="0"/>
              </a:spcBef>
              <a:spcAft>
                <a:spcPts val="0"/>
              </a:spcAft>
              <a:defRPr sz="4600" b="0">
                <a:solidFill>
                  <a:srgbClr val="002C49"/>
                </a:solidFill>
                <a:latin typeface="Nohemi"/>
              </a:defRPr>
            </a:pPr>
            <a:r>
              <a:t>Valorisation du cross-sell : contenu complet.</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17</a:t>
            </a:r>
          </a:p>
        </p:txBody>
      </p:sp>
      <p:sp>
        <p:nvSpPr>
          <p:cNvPr id="8" name="TextBox 7"/>
          <p:cNvSpPr txBox="1"/>
          <p:nvPr/>
        </p:nvSpPr>
        <p:spPr>
          <a:xfrm>
            <a:off x="896112" y="3456432"/>
            <a:ext cx="7635240"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KIT / POUR CHAQUE PÔLE</a:t>
            </a:r>
          </a:p>
        </p:txBody>
      </p:sp>
      <p:sp>
        <p:nvSpPr>
          <p:cNvPr id="9" name="TextBox 8"/>
          <p:cNvSpPr txBox="1"/>
          <p:nvPr/>
        </p:nvSpPr>
        <p:spPr>
          <a:xfrm>
            <a:off x="896112" y="4306824"/>
            <a:ext cx="7635240" cy="3776472"/>
          </a:xfrm>
          <a:prstGeom prst="rect">
            <a:avLst/>
          </a:prstGeom>
          <a:noFill/>
        </p:spPr>
        <p:txBody>
          <a:bodyPr wrap="square" lIns="0" rIns="0" tIns="0" bIns="0">
            <a:spAutoFit/>
          </a:bodyPr>
          <a:lstStyle/>
          <a:p>
            <a:pPr>
              <a:lnSpc>
                <a:spcPts val="3900"/>
              </a:lnSpc>
              <a:spcBef>
                <a:spcPts val="0"/>
              </a:spcBef>
              <a:spcAft>
                <a:spcPts val="0"/>
              </a:spcAft>
              <a:defRPr sz="2600" b="0">
                <a:solidFill>
                  <a:srgbClr val="002C49"/>
                </a:solidFill>
                <a:latin typeface="Montserrat"/>
              </a:defRPr>
            </a:pPr>
            <a:r>
              <a:t>Prompt IA brandé Leyton.</a:t>
            </a:r>
          </a:p>
          <a:p>
            <a:pPr>
              <a:lnSpc>
                <a:spcPts val="3900"/>
              </a:lnSpc>
              <a:spcBef>
                <a:spcPts val="0"/>
              </a:spcBef>
              <a:spcAft>
                <a:spcPts val="0"/>
              </a:spcAft>
              <a:defRPr sz="2600" b="0">
                <a:solidFill>
                  <a:srgbClr val="002C49"/>
                </a:solidFill>
                <a:latin typeface="Montserrat"/>
              </a:defRPr>
            </a:pPr>
            <a:r>
              <a:t>Catalogue des offres.</a:t>
            </a:r>
          </a:p>
          <a:p>
            <a:pPr>
              <a:lnSpc>
                <a:spcPts val="3900"/>
              </a:lnSpc>
              <a:spcBef>
                <a:spcPts val="0"/>
              </a:spcBef>
              <a:spcAft>
                <a:spcPts val="0"/>
              </a:spcAft>
              <a:defRPr sz="2600" b="0">
                <a:solidFill>
                  <a:srgbClr val="002C49"/>
                </a:solidFill>
                <a:latin typeface="Montserrat"/>
              </a:defRPr>
            </a:pPr>
            <a:r>
              <a:t>Bibliothèque de slides et preuves.</a:t>
            </a:r>
          </a:p>
          <a:p>
            <a:pPr>
              <a:lnSpc>
                <a:spcPts val="3900"/>
              </a:lnSpc>
              <a:spcBef>
                <a:spcPts val="0"/>
              </a:spcBef>
              <a:spcAft>
                <a:spcPts val="0"/>
              </a:spcAft>
              <a:defRPr sz="2600" b="0">
                <a:solidFill>
                  <a:srgbClr val="002C49"/>
                </a:solidFill>
                <a:latin typeface="Montserrat"/>
              </a:defRPr>
            </a:pPr>
            <a:r>
              <a:t>Vidéos corporate, produits, outils, clients.</a:t>
            </a:r>
          </a:p>
          <a:p>
            <a:pPr>
              <a:lnSpc>
                <a:spcPts val="3900"/>
              </a:lnSpc>
              <a:spcBef>
                <a:spcPts val="0"/>
              </a:spcBef>
              <a:spcAft>
                <a:spcPts val="0"/>
              </a:spcAft>
              <a:defRPr sz="2600" b="0">
                <a:solidFill>
                  <a:srgbClr val="002C49"/>
                </a:solidFill>
                <a:latin typeface="Montserrat"/>
              </a:defRPr>
            </a:pPr>
            <a:r>
              <a:t>Chiffres et références validés.</a:t>
            </a:r>
          </a:p>
          <a:p>
            <a:pPr>
              <a:lnSpc>
                <a:spcPts val="3900"/>
              </a:lnSpc>
              <a:spcBef>
                <a:spcPts val="0"/>
              </a:spcBef>
              <a:spcAft>
                <a:spcPts val="0"/>
              </a:spcAft>
              <a:defRPr sz="2600" b="0">
                <a:solidFill>
                  <a:srgbClr val="002C49"/>
                </a:solidFill>
                <a:latin typeface="Montserrat"/>
              </a:defRPr>
            </a:pPr>
            <a:r>
              <a:t>Signaux clients → offres associées.</a:t>
            </a:r>
          </a:p>
          <a:p>
            <a:pPr>
              <a:lnSpc>
                <a:spcPts val="3900"/>
              </a:lnSpc>
              <a:spcBef>
                <a:spcPts val="0"/>
              </a:spcBef>
              <a:spcAft>
                <a:spcPts val="0"/>
              </a:spcAft>
              <a:defRPr sz="2600" b="0">
                <a:solidFill>
                  <a:srgbClr val="002C49"/>
                </a:solidFill>
                <a:latin typeface="Montserrat"/>
              </a:defRPr>
            </a:pPr>
            <a:r>
              <a:t>Contacts experts.</a:t>
            </a:r>
          </a:p>
        </p:txBody>
      </p:sp>
      <p:cxnSp>
        <p:nvCxnSpPr>
          <p:cNvPr id="10" name="Connector 9"/>
          <p:cNvCxnSpPr/>
          <p:nvPr/>
        </p:nvCxnSpPr>
        <p:spPr>
          <a:xfrm>
            <a:off x="9015984" y="3438144"/>
            <a:ext cx="0" cy="5047488"/>
          </a:xfrm>
          <a:prstGeom prst="line">
            <a:avLst/>
          </a:prstGeom>
          <a:ln w="17780">
            <a:solidFill>
              <a:srgbClr val="D9E2E7"/>
            </a:solidFill>
          </a:ln>
        </p:spPr>
      </p:cxnSp>
      <p:sp>
        <p:nvSpPr>
          <p:cNvPr id="11" name="TextBox 10"/>
          <p:cNvSpPr txBox="1"/>
          <p:nvPr/>
        </p:nvSpPr>
        <p:spPr>
          <a:xfrm>
            <a:off x="9601200" y="3456432"/>
            <a:ext cx="7735824" cy="548640"/>
          </a:xfrm>
          <a:prstGeom prst="rect">
            <a:avLst/>
          </a:prstGeom>
          <a:noFill/>
        </p:spPr>
        <p:txBody>
          <a:bodyPr wrap="square" lIns="0" rIns="0" tIns="0" bIns="0">
            <a:spAutoFit/>
          </a:bodyPr>
          <a:lstStyle/>
          <a:p>
            <a:pPr>
              <a:lnSpc>
                <a:spcPts val="3321"/>
              </a:lnSpc>
              <a:spcBef>
                <a:spcPts val="0"/>
              </a:spcBef>
              <a:spcAft>
                <a:spcPts val="0"/>
              </a:spcAft>
              <a:defRPr sz="2700" b="1">
                <a:solidFill>
                  <a:srgbClr val="FF6633"/>
                </a:solidFill>
                <a:latin typeface="Montserrat"/>
              </a:defRPr>
            </a:pPr>
            <a:r>
              <a:t>CROSS-SELL / CHAÎNE ET RÉCIT</a:t>
            </a:r>
          </a:p>
        </p:txBody>
      </p:sp>
      <p:sp>
        <p:nvSpPr>
          <p:cNvPr id="12" name="TextBox 11"/>
          <p:cNvSpPr txBox="1"/>
          <p:nvPr/>
        </p:nvSpPr>
        <p:spPr>
          <a:xfrm>
            <a:off x="9601200" y="4343400"/>
            <a:ext cx="7735824" cy="1143000"/>
          </a:xfrm>
          <a:prstGeom prst="rect">
            <a:avLst/>
          </a:prstGeom>
          <a:noFill/>
        </p:spPr>
        <p:txBody>
          <a:bodyPr wrap="square" lIns="0" rIns="0" tIns="0" bIns="0">
            <a:spAutoFit/>
          </a:bodyPr>
          <a:lstStyle/>
          <a:p>
            <a:pPr>
              <a:lnSpc>
                <a:spcPts val="3300"/>
              </a:lnSpc>
              <a:spcBef>
                <a:spcPts val="0"/>
              </a:spcBef>
              <a:spcAft>
                <a:spcPts val="0"/>
              </a:spcAft>
              <a:defRPr sz="2500" b="0">
                <a:solidFill>
                  <a:srgbClr val="002C49"/>
                </a:solidFill>
                <a:latin typeface="Montserrat"/>
              </a:defRPr>
            </a:pPr>
            <a:r>
              <a:t>Sourcing → sélection → interview</a:t>
            </a:r>
          </a:p>
          <a:p>
            <a:pPr>
              <a:lnSpc>
                <a:spcPts val="3300"/>
              </a:lnSpc>
              <a:spcBef>
                <a:spcPts val="0"/>
              </a:spcBef>
              <a:spcAft>
                <a:spcPts val="0"/>
              </a:spcAft>
              <a:defRPr sz="2500" b="0">
                <a:solidFill>
                  <a:srgbClr val="002C49"/>
                </a:solidFill>
                <a:latin typeface="Montserrat"/>
              </a:defRPr>
            </a:pPr>
            <a:r>
              <a:t>→ validation → diffusion → capitalisation.</a:t>
            </a:r>
          </a:p>
        </p:txBody>
      </p:sp>
      <p:sp>
        <p:nvSpPr>
          <p:cNvPr id="13" name="TextBox 12"/>
          <p:cNvSpPr txBox="1"/>
          <p:nvPr/>
        </p:nvSpPr>
        <p:spPr>
          <a:xfrm>
            <a:off x="9601200" y="5614416"/>
            <a:ext cx="7735824" cy="1252728"/>
          </a:xfrm>
          <a:prstGeom prst="rect">
            <a:avLst/>
          </a:prstGeom>
          <a:noFill/>
        </p:spPr>
        <p:txBody>
          <a:bodyPr wrap="square" lIns="0" rIns="0" tIns="0" bIns="0">
            <a:spAutoFit/>
          </a:bodyPr>
          <a:lstStyle/>
          <a:p>
            <a:pPr>
              <a:lnSpc>
                <a:spcPts val="3300"/>
              </a:lnSpc>
              <a:spcBef>
                <a:spcPts val="0"/>
              </a:spcBef>
              <a:spcAft>
                <a:spcPts val="0"/>
              </a:spcAft>
              <a:defRPr sz="2500" b="0">
                <a:solidFill>
                  <a:srgbClr val="002C49"/>
                </a:solidFill>
                <a:latin typeface="Montserrat"/>
              </a:defRPr>
            </a:pPr>
            <a:r>
              <a:t>Signal → besoin client → relais →</a:t>
            </a:r>
          </a:p>
          <a:p>
            <a:pPr>
              <a:lnSpc>
                <a:spcPts val="3300"/>
              </a:lnSpc>
              <a:spcBef>
                <a:spcPts val="0"/>
              </a:spcBef>
              <a:spcAft>
                <a:spcPts val="0"/>
              </a:spcAft>
              <a:defRPr sz="2500" b="0">
                <a:solidFill>
                  <a:srgbClr val="002C49"/>
                </a:solidFill>
                <a:latin typeface="Montserrat"/>
              </a:defRPr>
            </a:pPr>
            <a:r>
              <a:t>expertise Leyton → valeur / résultat →</a:t>
            </a:r>
          </a:p>
          <a:p>
            <a:pPr>
              <a:lnSpc>
                <a:spcPts val="3300"/>
              </a:lnSpc>
              <a:spcBef>
                <a:spcPts val="0"/>
              </a:spcBef>
              <a:spcAft>
                <a:spcPts val="0"/>
              </a:spcAft>
              <a:defRPr sz="2500" b="0">
                <a:solidFill>
                  <a:srgbClr val="002C49"/>
                </a:solidFill>
                <a:latin typeface="Montserrat"/>
              </a:defRPr>
            </a:pPr>
            <a:r>
              <a:t>réflexe à retenir.</a:t>
            </a:r>
          </a:p>
        </p:txBody>
      </p:sp>
      <p:sp>
        <p:nvSpPr>
          <p:cNvPr id="14" name="TextBox 13"/>
          <p:cNvSpPr txBox="1"/>
          <p:nvPr/>
        </p:nvSpPr>
        <p:spPr>
          <a:xfrm>
            <a:off x="9601200" y="7306056"/>
            <a:ext cx="7735824" cy="1069848"/>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Teams : sourcing ; intranet : principal ;</a:t>
            </a:r>
          </a:p>
          <a:p>
            <a:pPr>
              <a:lnSpc>
                <a:spcPts val="2900"/>
              </a:lnSpc>
              <a:spcBef>
                <a:spcPts val="0"/>
              </a:spcBef>
              <a:spcAft>
                <a:spcPts val="0"/>
              </a:spcAft>
              <a:defRPr sz="2400" b="0">
                <a:solidFill>
                  <a:srgbClr val="526777"/>
                </a:solidFill>
                <a:latin typeface="Montserrat"/>
              </a:defRPr>
            </a:pPr>
            <a:r>
              <a:t>Neoscreen : amplification ; Leytonienne :</a:t>
            </a:r>
          </a:p>
          <a:p>
            <a:pPr>
              <a:lnSpc>
                <a:spcPts val="2900"/>
              </a:lnSpc>
              <a:spcBef>
                <a:spcPts val="0"/>
              </a:spcBef>
              <a:spcAft>
                <a:spcPts val="0"/>
              </a:spcAft>
              <a:defRPr sz="2400" b="0">
                <a:solidFill>
                  <a:srgbClr val="526777"/>
                </a:solidFill>
                <a:latin typeface="Montserrat"/>
              </a:defRPr>
            </a:pPr>
            <a:r>
              <a:t>sélection premium ; vidéo : cas les plus forts.</a:t>
            </a:r>
          </a:p>
        </p:txBody>
      </p:sp>
      <p:sp>
        <p:nvSpPr>
          <p:cNvPr id="15" name="Rectangle 14"/>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16" name="TextBox 15"/>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Kit : Com = expérience, branding, cohérence ; Marketing / métiers = fond commercial. Cross-sell : ≥ 4 vidéos / FY.</a:t>
            </a:r>
          </a:p>
        </p:txBody>
      </p:sp>
      <p:sp>
        <p:nvSpPr>
          <p:cNvPr id="17" name="TextBox 16"/>
          <p:cNvSpPr txBox="1"/>
          <p:nvPr/>
        </p:nvSpPr>
        <p:spPr>
          <a:xfrm>
            <a:off x="868680" y="2999232"/>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KIT BUSINESS PARTNER — NOM DE TRAVAIL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A06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Six leviers, des déclencheurs distincts.</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19</a:t>
            </a:r>
          </a:p>
        </p:txBody>
      </p:sp>
      <p:sp>
        <p:nvSpPr>
          <p:cNvPr id="8" name="TextBox 7"/>
          <p:cNvSpPr txBox="1"/>
          <p:nvPr/>
        </p:nvSpPr>
        <p:spPr>
          <a:xfrm>
            <a:off x="914400" y="3429000"/>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Témoignages clients premium</a:t>
            </a:r>
          </a:p>
        </p:txBody>
      </p:sp>
      <p:sp>
        <p:nvSpPr>
          <p:cNvPr id="9" name="TextBox 8"/>
          <p:cNvSpPr txBox="1"/>
          <p:nvPr/>
        </p:nvSpPr>
        <p:spPr>
          <a:xfrm>
            <a:off x="9235440" y="3429000"/>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PME / ETI / Grands Comptes ; principalement vidéo.</a:t>
            </a:r>
          </a:p>
          <a:p>
            <a:pPr>
              <a:lnSpc>
                <a:spcPts val="2900"/>
              </a:lnSpc>
              <a:spcBef>
                <a:spcPts val="0"/>
              </a:spcBef>
              <a:spcAft>
                <a:spcPts val="0"/>
              </a:spcAft>
              <a:defRPr sz="2400" b="0">
                <a:solidFill>
                  <a:srgbClr val="526777"/>
                </a:solidFill>
                <a:latin typeface="Montserrat"/>
              </a:defRPr>
            </a:pPr>
            <a:r>
              <a:t>Problème → accompagnement → résultat / valeur.</a:t>
            </a:r>
          </a:p>
        </p:txBody>
      </p:sp>
      <p:sp>
        <p:nvSpPr>
          <p:cNvPr id="10" name="Rectangle 9"/>
          <p:cNvSpPr/>
          <p:nvPr/>
        </p:nvSpPr>
        <p:spPr>
          <a:xfrm>
            <a:off x="914400" y="4160520"/>
            <a:ext cx="16459200" cy="10972"/>
          </a:xfrm>
          <a:prstGeom prst="rect">
            <a:avLst/>
          </a:prstGeom>
          <a:solidFill>
            <a:srgbClr val="D9E2E7"/>
          </a:solidFill>
          <a:ln>
            <a:noFill/>
          </a:ln>
        </p:spPr>
        <p:txBody>
          <a:bodyPr rtlCol="0" anchor="ctr"/>
          <a:lstStyle/>
          <a:p>
            <a:pPr algn="ctr"/>
          </a:p>
        </p:txBody>
      </p:sp>
      <p:sp>
        <p:nvSpPr>
          <p:cNvPr id="11" name="TextBox 10"/>
          <p:cNvSpPr txBox="1"/>
          <p:nvPr/>
        </p:nvSpPr>
        <p:spPr>
          <a:xfrm>
            <a:off x="914400" y="4279392"/>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Valorisation des outils orientés client</a:t>
            </a:r>
          </a:p>
        </p:txBody>
      </p:sp>
      <p:sp>
        <p:nvSpPr>
          <p:cNvPr id="12" name="TextBox 11"/>
          <p:cNvSpPr txBox="1"/>
          <p:nvPr/>
        </p:nvSpPr>
        <p:spPr>
          <a:xfrm>
            <a:off x="9235440" y="4279392"/>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Vidéos internes / externes si pertinent au lancement ;</a:t>
            </a:r>
          </a:p>
          <a:p>
            <a:pPr>
              <a:lnSpc>
                <a:spcPts val="2900"/>
              </a:lnSpc>
              <a:spcBef>
                <a:spcPts val="0"/>
              </a:spcBef>
              <a:spcAft>
                <a:spcPts val="0"/>
              </a:spcAft>
              <a:defRPr sz="2400" b="0">
                <a:solidFill>
                  <a:srgbClr val="526777"/>
                </a:solidFill>
                <a:latin typeface="Montserrat"/>
              </a:defRPr>
            </a:pPr>
            <a:r>
              <a:t>montrer la valeur réelle. Modèle Oryx.</a:t>
            </a:r>
          </a:p>
        </p:txBody>
      </p:sp>
      <p:sp>
        <p:nvSpPr>
          <p:cNvPr id="13" name="Rectangle 12"/>
          <p:cNvSpPr/>
          <p:nvPr/>
        </p:nvSpPr>
        <p:spPr>
          <a:xfrm>
            <a:off x="914400" y="5010912"/>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914400" y="5129784"/>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Témoignages “Tech + expérience client”</a:t>
            </a:r>
          </a:p>
        </p:txBody>
      </p:sp>
      <p:sp>
        <p:nvSpPr>
          <p:cNvPr id="15" name="TextBox 14"/>
          <p:cNvSpPr txBox="1"/>
          <p:nvPr/>
        </p:nvSpPr>
        <p:spPr>
          <a:xfrm>
            <a:off x="9235440" y="5129784"/>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Lorsque la valeur de l’outil est démontrable.</a:t>
            </a:r>
          </a:p>
          <a:p>
            <a:pPr>
              <a:lnSpc>
                <a:spcPts val="2900"/>
              </a:lnSpc>
              <a:spcBef>
                <a:spcPts val="0"/>
              </a:spcBef>
              <a:spcAft>
                <a:spcPts val="0"/>
              </a:spcAft>
              <a:defRPr sz="2400" b="0">
                <a:solidFill>
                  <a:srgbClr val="526777"/>
                </a:solidFill>
                <a:latin typeface="Montserrat"/>
              </a:defRPr>
            </a:pPr>
            <a:r>
              <a:t>Leyton For Me : exemple si cas concret.</a:t>
            </a:r>
          </a:p>
        </p:txBody>
      </p:sp>
      <p:sp>
        <p:nvSpPr>
          <p:cNvPr id="16" name="Rectangle 15"/>
          <p:cNvSpPr/>
          <p:nvPr/>
        </p:nvSpPr>
        <p:spPr>
          <a:xfrm>
            <a:off x="914400" y="5861304"/>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5980176"/>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Lancement / valorisation des</a:t>
            </a:r>
          </a:p>
          <a:p>
            <a:pPr>
              <a:lnSpc>
                <a:spcPts val="2900"/>
              </a:lnSpc>
              <a:spcBef>
                <a:spcPts val="0"/>
              </a:spcBef>
              <a:spcAft>
                <a:spcPts val="0"/>
              </a:spcAft>
              <a:defRPr sz="2400" b="1">
                <a:solidFill>
                  <a:srgbClr val="002C49"/>
                </a:solidFill>
                <a:latin typeface="Montserrat"/>
              </a:defRPr>
            </a:pPr>
            <a:r>
              <a:t>nouvelles offres stratégiques</a:t>
            </a:r>
          </a:p>
        </p:txBody>
      </p:sp>
      <p:sp>
        <p:nvSpPr>
          <p:cNvPr id="18" name="TextBox 17"/>
          <p:cNvSpPr txBox="1"/>
          <p:nvPr/>
        </p:nvSpPr>
        <p:spPr>
          <a:xfrm>
            <a:off x="9235440" y="5980176"/>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Expert, vidéo, fiche / support, preuve,</a:t>
            </a:r>
          </a:p>
          <a:p>
            <a:pPr>
              <a:lnSpc>
                <a:spcPts val="2900"/>
              </a:lnSpc>
              <a:spcBef>
                <a:spcPts val="0"/>
              </a:spcBef>
              <a:spcAft>
                <a:spcPts val="0"/>
              </a:spcAft>
              <a:defRPr sz="2400" b="0">
                <a:solidFill>
                  <a:srgbClr val="526777"/>
                </a:solidFill>
                <a:latin typeface="Montserrat"/>
              </a:defRPr>
            </a:pPr>
            <a:r>
              <a:t>interne + externe avec Marketing.</a:t>
            </a:r>
          </a:p>
        </p:txBody>
      </p:sp>
      <p:sp>
        <p:nvSpPr>
          <p:cNvPr id="19" name="Rectangle 18"/>
          <p:cNvSpPr/>
          <p:nvPr/>
        </p:nvSpPr>
        <p:spPr>
          <a:xfrm>
            <a:off x="914400" y="6711696"/>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6830568"/>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Top Performers</a:t>
            </a:r>
          </a:p>
        </p:txBody>
      </p:sp>
      <p:sp>
        <p:nvSpPr>
          <p:cNvPr id="21" name="TextBox 20"/>
          <p:cNvSpPr txBox="1"/>
          <p:nvPr/>
        </p:nvSpPr>
        <p:spPr>
          <a:xfrm>
            <a:off x="9235440" y="6830568"/>
            <a:ext cx="8138160" cy="71323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Performance individuelle / collective ;</a:t>
            </a:r>
          </a:p>
          <a:p>
            <a:pPr>
              <a:lnSpc>
                <a:spcPts val="2900"/>
              </a:lnSpc>
              <a:spcBef>
                <a:spcPts val="0"/>
              </a:spcBef>
              <a:spcAft>
                <a:spcPts val="0"/>
              </a:spcAft>
              <a:defRPr sz="2400" b="0">
                <a:solidFill>
                  <a:srgbClr val="526777"/>
                </a:solidFill>
                <a:latin typeface="Montserrat"/>
              </a:defRPr>
            </a:pPr>
            <a:r>
              <a:t>octobre–mi-décembre et février–avril.</a:t>
            </a:r>
          </a:p>
        </p:txBody>
      </p:sp>
      <p:sp>
        <p:nvSpPr>
          <p:cNvPr id="22" name="Rectangle 21"/>
          <p:cNvSpPr/>
          <p:nvPr/>
        </p:nvSpPr>
        <p:spPr>
          <a:xfrm>
            <a:off x="914400" y="7562088"/>
            <a:ext cx="16459200" cy="10972"/>
          </a:xfrm>
          <a:prstGeom prst="rect">
            <a:avLst/>
          </a:prstGeom>
          <a:solidFill>
            <a:srgbClr val="D9E2E7"/>
          </a:solidFill>
          <a:ln>
            <a:noFill/>
          </a:ln>
        </p:spPr>
        <p:txBody>
          <a:bodyPr rtlCol="0" anchor="ctr"/>
          <a:lstStyle/>
          <a:p>
            <a:pPr algn="ctr"/>
          </a:p>
        </p:txBody>
      </p:sp>
      <p:sp>
        <p:nvSpPr>
          <p:cNvPr id="23" name="TextBox 22"/>
          <p:cNvSpPr txBox="1"/>
          <p:nvPr/>
        </p:nvSpPr>
        <p:spPr>
          <a:xfrm>
            <a:off x="914400" y="7680960"/>
            <a:ext cx="7680960" cy="713232"/>
          </a:xfrm>
          <a:prstGeom prst="rect">
            <a:avLst/>
          </a:prstGeom>
          <a:noFill/>
        </p:spPr>
        <p:txBody>
          <a:bodyPr wrap="square" lIns="0" rIns="0" tIns="0" bIns="0">
            <a:spAutoFit/>
          </a:bodyPr>
          <a:lstStyle/>
          <a:p>
            <a:pPr>
              <a:lnSpc>
                <a:spcPts val="2900"/>
              </a:lnSpc>
              <a:spcBef>
                <a:spcPts val="0"/>
              </a:spcBef>
              <a:spcAft>
                <a:spcPts val="0"/>
              </a:spcAft>
              <a:defRPr sz="2400" b="1">
                <a:solidFill>
                  <a:srgbClr val="002C49"/>
                </a:solidFill>
                <a:latin typeface="Montserrat"/>
              </a:defRPr>
            </a:pPr>
            <a:r>
              <a:t>Vidéo corporate Groupe</a:t>
            </a:r>
          </a:p>
        </p:txBody>
      </p:sp>
      <p:sp>
        <p:nvSpPr>
          <p:cNvPr id="24" name="TextBox 23"/>
          <p:cNvSpPr txBox="1"/>
          <p:nvPr/>
        </p:nvSpPr>
        <p:spPr>
          <a:xfrm>
            <a:off x="9235440" y="7635240"/>
            <a:ext cx="8138160" cy="1124712"/>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Expertise ; montée en gamme ; preuves clients ; Tech / IA.
Outils propriétaires ; calendrier Groupe TBD.</a:t>
            </a:r>
          </a:p>
        </p:txBody>
      </p:sp>
      <p:sp>
        <p:nvSpPr>
          <p:cNvPr id="25" name="Rectangle 24"/>
          <p:cNvSpPr/>
          <p:nvPr/>
        </p:nvSpPr>
        <p:spPr>
          <a:xfrm>
            <a:off x="822960" y="8823960"/>
            <a:ext cx="16642080" cy="10972"/>
          </a:xfrm>
          <a:prstGeom prst="rect">
            <a:avLst/>
          </a:prstGeom>
          <a:solidFill>
            <a:srgbClr val="D9E2E7"/>
          </a:solidFill>
          <a:ln>
            <a:noFill/>
          </a:ln>
        </p:spPr>
        <p:txBody>
          <a:bodyPr rtlCol="0" anchor="ctr"/>
          <a:lstStyle/>
          <a:p>
            <a:pPr algn="ctr"/>
          </a:p>
        </p:txBody>
      </p:sp>
      <p:sp>
        <p:nvSpPr>
          <p:cNvPr id="26" name="TextBox 25"/>
          <p:cNvSpPr txBox="1"/>
          <p:nvPr/>
        </p:nvSpPr>
        <p:spPr>
          <a:xfrm>
            <a:off x="868680" y="902512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Salons = opportunités de captation ; experts = accompagnement au fil de l’eau. LinkedIn business = Marketing.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A08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Préserver la profondeur des dispositifs collaborateurs.</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21</a:t>
            </a:r>
          </a:p>
        </p:txBody>
      </p:sp>
      <p:sp>
        <p:nvSpPr>
          <p:cNvPr id="8" name="TextBox 7"/>
          <p:cNvSpPr txBox="1"/>
          <p:nvPr/>
        </p:nvSpPr>
        <p:spPr>
          <a:xfrm>
            <a:off x="914400" y="3502152"/>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Refonte onboarding Workelo</a:t>
            </a:r>
          </a:p>
        </p:txBody>
      </p:sp>
      <p:sp>
        <p:nvSpPr>
          <p:cNvPr id="9" name="TextBox 8"/>
          <p:cNvSpPr txBox="1"/>
          <p:nvPr/>
        </p:nvSpPr>
        <p:spPr>
          <a:xfrm>
            <a:off x="7479792" y="3502152"/>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J−60 → J+30 : séquencement, informations utiles, culture,</a:t>
            </a:r>
          </a:p>
          <a:p>
            <a:pPr>
              <a:lnSpc>
                <a:spcPts val="3000"/>
              </a:lnSpc>
              <a:spcBef>
                <a:spcPts val="0"/>
              </a:spcBef>
              <a:spcAft>
                <a:spcPts val="0"/>
              </a:spcAft>
              <a:defRPr sz="2400" b="0">
                <a:solidFill>
                  <a:srgbClr val="526777"/>
                </a:solidFill>
                <a:latin typeface="Montserrat"/>
              </a:defRPr>
            </a:pPr>
            <a:r>
              <a:t>ressources, outils, contacts, séminaire d’intégration.</a:t>
            </a:r>
          </a:p>
        </p:txBody>
      </p:sp>
      <p:sp>
        <p:nvSpPr>
          <p:cNvPr id="10" name="Rectangle 9"/>
          <p:cNvSpPr/>
          <p:nvPr/>
        </p:nvSpPr>
        <p:spPr>
          <a:xfrm>
            <a:off x="914400" y="4370832"/>
            <a:ext cx="16459200" cy="10972"/>
          </a:xfrm>
          <a:prstGeom prst="rect">
            <a:avLst/>
          </a:prstGeom>
          <a:solidFill>
            <a:srgbClr val="D9E2E7"/>
          </a:solidFill>
          <a:ln>
            <a:noFill/>
          </a:ln>
        </p:spPr>
        <p:txBody>
          <a:bodyPr rtlCol="0" anchor="ctr"/>
          <a:lstStyle/>
          <a:p>
            <a:pPr algn="ctr"/>
          </a:p>
        </p:txBody>
      </p:sp>
      <p:sp>
        <p:nvSpPr>
          <p:cNvPr id="11" name="TextBox 10"/>
          <p:cNvSpPr txBox="1"/>
          <p:nvPr/>
        </p:nvSpPr>
        <p:spPr>
          <a:xfrm>
            <a:off x="914400" y="4489704"/>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GPTW / CARE</a:t>
            </a:r>
          </a:p>
        </p:txBody>
      </p:sp>
      <p:sp>
        <p:nvSpPr>
          <p:cNvPr id="12" name="TextBox 11"/>
          <p:cNvSpPr txBox="1"/>
          <p:nvPr/>
        </p:nvSpPr>
        <p:spPr>
          <a:xfrm>
            <a:off x="7479792" y="4489704"/>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Résultats, enseignements, actions RH ; mobilité et formation.</a:t>
            </a:r>
          </a:p>
          <a:p>
            <a:pPr>
              <a:lnSpc>
                <a:spcPts val="3000"/>
              </a:lnSpc>
              <a:spcBef>
                <a:spcPts val="0"/>
              </a:spcBef>
              <a:spcAft>
                <a:spcPts val="0"/>
              </a:spcAft>
              <a:defRPr sz="2400" b="0">
                <a:solidFill>
                  <a:srgbClr val="526777"/>
                </a:solidFill>
                <a:latin typeface="Montserrat"/>
              </a:defRPr>
            </a:pPr>
            <a:r>
              <a:t>Développement et parcours internes. </a:t>
            </a:r>
          </a:p>
        </p:txBody>
      </p:sp>
      <p:sp>
        <p:nvSpPr>
          <p:cNvPr id="13" name="Rectangle 12"/>
          <p:cNvSpPr/>
          <p:nvPr/>
        </p:nvSpPr>
        <p:spPr>
          <a:xfrm>
            <a:off x="914400" y="5358384"/>
            <a:ext cx="16459200" cy="10972"/>
          </a:xfrm>
          <a:prstGeom prst="rect">
            <a:avLst/>
          </a:prstGeom>
          <a:solidFill>
            <a:srgbClr val="D9E2E7"/>
          </a:solidFill>
          <a:ln>
            <a:noFill/>
          </a:ln>
        </p:spPr>
        <p:txBody>
          <a:bodyPr rtlCol="0" anchor="ctr"/>
          <a:lstStyle/>
          <a:p>
            <a:pPr algn="ctr"/>
          </a:p>
        </p:txBody>
      </p:sp>
      <p:sp>
        <p:nvSpPr>
          <p:cNvPr id="14" name="TextBox 13"/>
          <p:cNvSpPr txBox="1"/>
          <p:nvPr/>
        </p:nvSpPr>
        <p:spPr>
          <a:xfrm>
            <a:off x="914400" y="5477256"/>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Leadership au féminin</a:t>
            </a:r>
          </a:p>
        </p:txBody>
      </p:sp>
      <p:sp>
        <p:nvSpPr>
          <p:cNvPr id="15" name="TextBox 14"/>
          <p:cNvSpPr txBox="1"/>
          <p:nvPr/>
        </p:nvSpPr>
        <p:spPr>
          <a:xfrm>
            <a:off x="7479792" y="5477256"/>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4 capsules : novembre, décembre, janvier, février.
Mash-up des quatre autour du 8 mars ; angles en calendrier.</a:t>
            </a:r>
          </a:p>
        </p:txBody>
      </p:sp>
      <p:sp>
        <p:nvSpPr>
          <p:cNvPr id="16" name="Rectangle 15"/>
          <p:cNvSpPr/>
          <p:nvPr/>
        </p:nvSpPr>
        <p:spPr>
          <a:xfrm>
            <a:off x="914400" y="6345936"/>
            <a:ext cx="16459200" cy="10972"/>
          </a:xfrm>
          <a:prstGeom prst="rect">
            <a:avLst/>
          </a:prstGeom>
          <a:solidFill>
            <a:srgbClr val="D9E2E7"/>
          </a:solidFill>
          <a:ln>
            <a:noFill/>
          </a:ln>
        </p:spPr>
        <p:txBody>
          <a:bodyPr rtlCol="0" anchor="ctr"/>
          <a:lstStyle/>
          <a:p>
            <a:pPr algn="ctr"/>
          </a:p>
        </p:txBody>
      </p:sp>
      <p:sp>
        <p:nvSpPr>
          <p:cNvPr id="17" name="TextBox 16"/>
          <p:cNvSpPr txBox="1"/>
          <p:nvPr/>
        </p:nvSpPr>
        <p:spPr>
          <a:xfrm>
            <a:off x="914400" y="6464808"/>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Culture Leyton</a:t>
            </a:r>
          </a:p>
        </p:txBody>
      </p:sp>
      <p:sp>
        <p:nvSpPr>
          <p:cNvPr id="18" name="TextBox 17"/>
          <p:cNvSpPr txBox="1"/>
          <p:nvPr/>
        </p:nvSpPr>
        <p:spPr>
          <a:xfrm>
            <a:off x="7479792" y="6464808"/>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Reconnaissance / Kudos ; initiatives collaborateurs ;</a:t>
            </a:r>
          </a:p>
          <a:p>
            <a:pPr>
              <a:lnSpc>
                <a:spcPts val="3000"/>
              </a:lnSpc>
              <a:spcBef>
                <a:spcPts val="0"/>
              </a:spcBef>
              <a:spcAft>
                <a:spcPts val="0"/>
              </a:spcAft>
              <a:defRPr sz="2400" b="0">
                <a:solidFill>
                  <a:srgbClr val="526777"/>
                </a:solidFill>
                <a:latin typeface="Montserrat"/>
              </a:defRPr>
            </a:pPr>
            <a:r>
              <a:t>collaborations transverses ; comportements incarnant la culture.</a:t>
            </a:r>
          </a:p>
        </p:txBody>
      </p:sp>
      <p:sp>
        <p:nvSpPr>
          <p:cNvPr id="19" name="Rectangle 18"/>
          <p:cNvSpPr/>
          <p:nvPr/>
        </p:nvSpPr>
        <p:spPr>
          <a:xfrm>
            <a:off x="914400" y="7333488"/>
            <a:ext cx="16459200" cy="10972"/>
          </a:xfrm>
          <a:prstGeom prst="rect">
            <a:avLst/>
          </a:prstGeom>
          <a:solidFill>
            <a:srgbClr val="D9E2E7"/>
          </a:solidFill>
          <a:ln>
            <a:noFill/>
          </a:ln>
        </p:spPr>
        <p:txBody>
          <a:bodyPr rtlCol="0" anchor="ctr"/>
          <a:lstStyle/>
          <a:p>
            <a:pPr algn="ctr"/>
          </a:p>
        </p:txBody>
      </p:sp>
      <p:sp>
        <p:nvSpPr>
          <p:cNvPr id="20" name="TextBox 19"/>
          <p:cNvSpPr txBox="1"/>
          <p:nvPr/>
        </p:nvSpPr>
        <p:spPr>
          <a:xfrm>
            <a:off x="914400" y="7452360"/>
            <a:ext cx="6400800" cy="822960"/>
          </a:xfrm>
          <a:prstGeom prst="rect">
            <a:avLst/>
          </a:prstGeom>
          <a:noFill/>
        </p:spPr>
        <p:txBody>
          <a:bodyPr wrap="square" lIns="0" rIns="0" tIns="0" bIns="0">
            <a:spAutoFit/>
          </a:bodyPr>
          <a:lstStyle/>
          <a:p>
            <a:pPr>
              <a:lnSpc>
                <a:spcPts val="3000"/>
              </a:lnSpc>
              <a:spcBef>
                <a:spcPts val="0"/>
              </a:spcBef>
              <a:spcAft>
                <a:spcPts val="0"/>
              </a:spcAft>
              <a:defRPr sz="2500" b="1">
                <a:solidFill>
                  <a:srgbClr val="002C49"/>
                </a:solidFill>
                <a:latin typeface="Montserrat"/>
              </a:defRPr>
            </a:pPr>
            <a:r>
              <a:t>Communication managériale</a:t>
            </a:r>
          </a:p>
        </p:txBody>
      </p:sp>
      <p:sp>
        <p:nvSpPr>
          <p:cNvPr id="21" name="TextBox 20"/>
          <p:cNvSpPr txBox="1"/>
          <p:nvPr/>
        </p:nvSpPr>
        <p:spPr>
          <a:xfrm>
            <a:off x="7479792" y="7452360"/>
            <a:ext cx="9838944" cy="877824"/>
          </a:xfrm>
          <a:prstGeom prst="rect">
            <a:avLst/>
          </a:prstGeom>
          <a:noFill/>
        </p:spPr>
        <p:txBody>
          <a:bodyPr wrap="square" lIns="0" rIns="0" tIns="0" bIns="0">
            <a:spAutoFit/>
          </a:bodyPr>
          <a:lstStyle/>
          <a:p>
            <a:pPr>
              <a:lnSpc>
                <a:spcPts val="3000"/>
              </a:lnSpc>
              <a:spcBef>
                <a:spcPts val="0"/>
              </a:spcBef>
              <a:spcAft>
                <a:spcPts val="0"/>
              </a:spcAft>
              <a:defRPr sz="2400" b="0">
                <a:solidFill>
                  <a:srgbClr val="526777"/>
                </a:solidFill>
                <a:latin typeface="Montserrat"/>
              </a:defRPr>
            </a:pPr>
            <a:r>
              <a:t>Grands sujets uniquement : messages clés, FAQ courte, support</a:t>
            </a:r>
          </a:p>
          <a:p>
            <a:pPr>
              <a:lnSpc>
                <a:spcPts val="3000"/>
              </a:lnSpc>
              <a:spcBef>
                <a:spcPts val="0"/>
              </a:spcBef>
              <a:spcAft>
                <a:spcPts val="0"/>
              </a:spcAft>
              <a:defRPr sz="2400" b="0">
                <a:solidFill>
                  <a:srgbClr val="526777"/>
                </a:solidFill>
                <a:latin typeface="Montserrat"/>
              </a:defRPr>
            </a:pPr>
            <a:r>
              <a:t>équipe, ressources, questions / feedback.</a:t>
            </a:r>
          </a:p>
        </p:txBody>
      </p:sp>
      <p:sp>
        <p:nvSpPr>
          <p:cNvPr id="22" name="Rectangle 21"/>
          <p:cNvSpPr/>
          <p:nvPr/>
        </p:nvSpPr>
        <p:spPr>
          <a:xfrm>
            <a:off x="822960" y="8778240"/>
            <a:ext cx="16642080" cy="10972"/>
          </a:xfrm>
          <a:prstGeom prst="rect">
            <a:avLst/>
          </a:prstGeom>
          <a:solidFill>
            <a:srgbClr val="D9E2E7"/>
          </a:solidFill>
          <a:ln>
            <a:noFill/>
          </a:ln>
        </p:spPr>
        <p:txBody>
          <a:bodyPr rtlCol="0" anchor="ctr"/>
          <a:lstStyle/>
          <a:p>
            <a:pPr algn="ctr"/>
          </a:p>
        </p:txBody>
      </p:sp>
      <p:sp>
        <p:nvSpPr>
          <p:cNvPr id="23" name="TextBox 22"/>
          <p:cNvSpPr txBox="1"/>
          <p:nvPr/>
        </p:nvSpPr>
        <p:spPr>
          <a:xfrm>
            <a:off x="868680" y="8979408"/>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GPTW / CARE : « vous avez dit / nous avons fait » lorsque pertinent. Kits managériaux réservés aux grands sujets.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A10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8 chantiers Change / 6 leviers Business</a:t>
            </a:r>
          </a:p>
        </p:txBody>
      </p:sp>
      <p:sp>
        <p:nvSpPr>
          <p:cNvPr id="5" name="TextBox 4"/>
          <p:cNvSpPr txBox="1"/>
          <p:nvPr/>
        </p:nvSpPr>
        <p:spPr>
          <a:xfrm>
            <a:off x="868680" y="2742285"/>
            <a:ext cx="16504920" cy="54864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Validation du portefeuille ≠ priorité arbitrée ≠ calendrier confirmé.</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23</a:t>
            </a:r>
          </a:p>
        </p:txBody>
      </p:sp>
      <p:sp>
        <p:nvSpPr>
          <p:cNvPr id="9" name="TextBox 8"/>
          <p:cNvSpPr txBox="1"/>
          <p:nvPr/>
        </p:nvSpPr>
        <p:spPr>
          <a:xfrm>
            <a:off x="914400" y="3602736"/>
            <a:ext cx="7699248" cy="512064"/>
          </a:xfrm>
          <a:prstGeom prst="rect">
            <a:avLst/>
          </a:prstGeom>
          <a:noFill/>
        </p:spPr>
        <p:txBody>
          <a:bodyPr wrap="square" lIns="0" rIns="0" tIns="0" bIns="0">
            <a:spAutoFit/>
          </a:bodyPr>
          <a:lstStyle/>
          <a:p>
            <a:pPr>
              <a:lnSpc>
                <a:spcPts val="3444"/>
              </a:lnSpc>
              <a:spcBef>
                <a:spcPts val="0"/>
              </a:spcBef>
              <a:spcAft>
                <a:spcPts val="0"/>
              </a:spcAft>
              <a:defRPr sz="2800" b="1">
                <a:solidFill>
                  <a:srgbClr val="FF6633"/>
                </a:solidFill>
                <a:latin typeface="Montserrat"/>
              </a:defRPr>
            </a:pPr>
            <a:r>
              <a:t>CHANGE</a:t>
            </a:r>
          </a:p>
        </p:txBody>
      </p:sp>
      <p:sp>
        <p:nvSpPr>
          <p:cNvPr id="10" name="TextBox 9"/>
          <p:cNvSpPr txBox="1"/>
          <p:nvPr/>
        </p:nvSpPr>
        <p:spPr>
          <a:xfrm>
            <a:off x="914400" y="4389120"/>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Adoption de l’IA</a:t>
            </a:r>
          </a:p>
        </p:txBody>
      </p:sp>
      <p:sp>
        <p:nvSpPr>
          <p:cNvPr id="11" name="TextBox 10"/>
          <p:cNvSpPr txBox="1"/>
          <p:nvPr/>
        </p:nvSpPr>
        <p:spPr>
          <a:xfrm>
            <a:off x="914400" y="4901183"/>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Toolbox Leyton / adoption des outils</a:t>
            </a:r>
          </a:p>
        </p:txBody>
      </p:sp>
      <p:sp>
        <p:nvSpPr>
          <p:cNvPr id="12" name="TextBox 11"/>
          <p:cNvSpPr txBox="1"/>
          <p:nvPr/>
        </p:nvSpPr>
        <p:spPr>
          <a:xfrm>
            <a:off x="914400" y="5413248"/>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Kit Business Partner par pôle</a:t>
            </a:r>
          </a:p>
        </p:txBody>
      </p:sp>
      <p:sp>
        <p:nvSpPr>
          <p:cNvPr id="13" name="TextBox 12"/>
          <p:cNvSpPr txBox="1"/>
          <p:nvPr/>
        </p:nvSpPr>
        <p:spPr>
          <a:xfrm>
            <a:off x="914400" y="5925312"/>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Valorisation du cross-sell</a:t>
            </a:r>
          </a:p>
        </p:txBody>
      </p:sp>
      <p:sp>
        <p:nvSpPr>
          <p:cNvPr id="14" name="TextBox 13"/>
          <p:cNvSpPr txBox="1"/>
          <p:nvPr/>
        </p:nvSpPr>
        <p:spPr>
          <a:xfrm>
            <a:off x="914400" y="6437376"/>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Les offres qui performent</a:t>
            </a:r>
          </a:p>
        </p:txBody>
      </p:sp>
      <p:sp>
        <p:nvSpPr>
          <p:cNvPr id="15" name="TextBox 14"/>
          <p:cNvSpPr txBox="1"/>
          <p:nvPr/>
        </p:nvSpPr>
        <p:spPr>
          <a:xfrm>
            <a:off x="914400" y="6949440"/>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Relais de la performance post-All Staff</a:t>
            </a:r>
          </a:p>
        </p:txBody>
      </p:sp>
      <p:sp>
        <p:nvSpPr>
          <p:cNvPr id="16" name="TextBox 15"/>
          <p:cNvSpPr txBox="1"/>
          <p:nvPr/>
        </p:nvSpPr>
        <p:spPr>
          <a:xfrm>
            <a:off x="914400" y="7461504"/>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Déploiement Neoscreen agences</a:t>
            </a:r>
          </a:p>
        </p:txBody>
      </p:sp>
      <p:sp>
        <p:nvSpPr>
          <p:cNvPr id="17" name="TextBox 16"/>
          <p:cNvSpPr txBox="1"/>
          <p:nvPr/>
        </p:nvSpPr>
        <p:spPr>
          <a:xfrm>
            <a:off x="914400" y="7973568"/>
            <a:ext cx="7744968" cy="502920"/>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Intranet</a:t>
            </a:r>
          </a:p>
        </p:txBody>
      </p:sp>
      <p:sp>
        <p:nvSpPr>
          <p:cNvPr id="18" name="TextBox 17"/>
          <p:cNvSpPr txBox="1"/>
          <p:nvPr/>
        </p:nvSpPr>
        <p:spPr>
          <a:xfrm>
            <a:off x="914400" y="8650224"/>
            <a:ext cx="7635240" cy="594360"/>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Tous validés ; Intranet : planning TBD.</a:t>
            </a:r>
          </a:p>
        </p:txBody>
      </p:sp>
      <p:cxnSp>
        <p:nvCxnSpPr>
          <p:cNvPr id="19" name="Connector 18"/>
          <p:cNvCxnSpPr/>
          <p:nvPr/>
        </p:nvCxnSpPr>
        <p:spPr>
          <a:xfrm>
            <a:off x="8961120" y="3593592"/>
            <a:ext cx="0" cy="5632704"/>
          </a:xfrm>
          <a:prstGeom prst="line">
            <a:avLst/>
          </a:prstGeom>
          <a:ln w="16510">
            <a:solidFill>
              <a:srgbClr val="D9E2E7"/>
            </a:solidFill>
          </a:ln>
        </p:spPr>
      </p:cxnSp>
      <p:sp>
        <p:nvSpPr>
          <p:cNvPr id="20" name="TextBox 19"/>
          <p:cNvSpPr txBox="1"/>
          <p:nvPr/>
        </p:nvSpPr>
        <p:spPr>
          <a:xfrm>
            <a:off x="9509760" y="3602736"/>
            <a:ext cx="7799831" cy="512064"/>
          </a:xfrm>
          <a:prstGeom prst="rect">
            <a:avLst/>
          </a:prstGeom>
          <a:noFill/>
        </p:spPr>
        <p:txBody>
          <a:bodyPr wrap="square" lIns="0" rIns="0" tIns="0" bIns="0">
            <a:spAutoFit/>
          </a:bodyPr>
          <a:lstStyle/>
          <a:p>
            <a:pPr>
              <a:lnSpc>
                <a:spcPts val="3444"/>
              </a:lnSpc>
              <a:spcBef>
                <a:spcPts val="0"/>
              </a:spcBef>
              <a:spcAft>
                <a:spcPts val="0"/>
              </a:spcAft>
              <a:defRPr sz="2800" b="1">
                <a:solidFill>
                  <a:srgbClr val="FF6633"/>
                </a:solidFill>
                <a:latin typeface="Montserrat"/>
              </a:defRPr>
            </a:pPr>
            <a:r>
              <a:t>BUSINESS</a:t>
            </a:r>
          </a:p>
        </p:txBody>
      </p:sp>
      <p:sp>
        <p:nvSpPr>
          <p:cNvPr id="21" name="TextBox 20"/>
          <p:cNvSpPr txBox="1"/>
          <p:nvPr/>
        </p:nvSpPr>
        <p:spPr>
          <a:xfrm>
            <a:off x="9509760" y="4389120"/>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Témoignages clients premium</a:t>
            </a:r>
          </a:p>
        </p:txBody>
      </p:sp>
      <p:sp>
        <p:nvSpPr>
          <p:cNvPr id="22" name="TextBox 21"/>
          <p:cNvSpPr txBox="1"/>
          <p:nvPr/>
        </p:nvSpPr>
        <p:spPr>
          <a:xfrm>
            <a:off x="9509760" y="5010912"/>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Valorisation des outils orientés client</a:t>
            </a:r>
          </a:p>
        </p:txBody>
      </p:sp>
      <p:sp>
        <p:nvSpPr>
          <p:cNvPr id="23" name="TextBox 22"/>
          <p:cNvSpPr txBox="1"/>
          <p:nvPr/>
        </p:nvSpPr>
        <p:spPr>
          <a:xfrm>
            <a:off x="9509760" y="5632703"/>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Témoignages “Tech + expérience client”</a:t>
            </a:r>
          </a:p>
        </p:txBody>
      </p:sp>
      <p:sp>
        <p:nvSpPr>
          <p:cNvPr id="24" name="TextBox 23"/>
          <p:cNvSpPr txBox="1"/>
          <p:nvPr/>
        </p:nvSpPr>
        <p:spPr>
          <a:xfrm>
            <a:off x="9509760" y="6254495"/>
            <a:ext cx="7772400" cy="1033271"/>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Lancement / valorisation des</a:t>
            </a:r>
          </a:p>
          <a:p>
            <a:pPr>
              <a:lnSpc>
                <a:spcPts val="2700"/>
              </a:lnSpc>
              <a:spcBef>
                <a:spcPts val="0"/>
              </a:spcBef>
              <a:spcAft>
                <a:spcPts val="0"/>
              </a:spcAft>
              <a:defRPr sz="2400" b="0">
                <a:solidFill>
                  <a:srgbClr val="002C49"/>
                </a:solidFill>
                <a:latin typeface="Montserrat"/>
              </a:defRPr>
            </a:pPr>
            <a:r>
              <a:t>nouvelles offres stratégiques</a:t>
            </a:r>
          </a:p>
        </p:txBody>
      </p:sp>
      <p:sp>
        <p:nvSpPr>
          <p:cNvPr id="25" name="TextBox 24"/>
          <p:cNvSpPr txBox="1"/>
          <p:nvPr/>
        </p:nvSpPr>
        <p:spPr>
          <a:xfrm>
            <a:off x="9509760" y="7370063"/>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Top Performers</a:t>
            </a:r>
          </a:p>
        </p:txBody>
      </p:sp>
      <p:sp>
        <p:nvSpPr>
          <p:cNvPr id="26" name="TextBox 25"/>
          <p:cNvSpPr txBox="1"/>
          <p:nvPr/>
        </p:nvSpPr>
        <p:spPr>
          <a:xfrm>
            <a:off x="9509760" y="7991855"/>
            <a:ext cx="7772400" cy="585216"/>
          </a:xfrm>
          <a:prstGeom prst="rect">
            <a:avLst/>
          </a:prstGeom>
          <a:noFill/>
        </p:spPr>
        <p:txBody>
          <a:bodyPr wrap="square" lIns="0" rIns="0" tIns="0" bIns="0">
            <a:spAutoFit/>
          </a:bodyPr>
          <a:lstStyle/>
          <a:p>
            <a:pPr>
              <a:lnSpc>
                <a:spcPts val="2700"/>
              </a:lnSpc>
              <a:spcBef>
                <a:spcPts val="0"/>
              </a:spcBef>
              <a:spcAft>
                <a:spcPts val="0"/>
              </a:spcAft>
              <a:defRPr sz="2400" b="0">
                <a:solidFill>
                  <a:srgbClr val="002C49"/>
                </a:solidFill>
                <a:latin typeface="Montserrat"/>
              </a:defRPr>
            </a:pPr>
            <a:r>
              <a:t>Vidéo corporate Groupe</a:t>
            </a:r>
          </a:p>
        </p:txBody>
      </p:sp>
      <p:sp>
        <p:nvSpPr>
          <p:cNvPr id="27" name="TextBox 26"/>
          <p:cNvSpPr txBox="1"/>
          <p:nvPr/>
        </p:nvSpPr>
        <p:spPr>
          <a:xfrm>
            <a:off x="9509760" y="8549640"/>
            <a:ext cx="7726679" cy="850392"/>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Validés ; Tech + expérience client selon opportunités.</a:t>
            </a:r>
          </a:p>
          <a:p>
            <a:pPr>
              <a:lnSpc>
                <a:spcPts val="2800"/>
              </a:lnSpc>
              <a:spcBef>
                <a:spcPts val="0"/>
              </a:spcBef>
              <a:spcAft>
                <a:spcPts val="0"/>
              </a:spcAft>
              <a:defRPr sz="2300" b="0">
                <a:solidFill>
                  <a:srgbClr val="526777"/>
                </a:solidFill>
                <a:latin typeface="Montserrat"/>
              </a:defRPr>
            </a:pPr>
            <a:r>
              <a:t>Vidéo corporate Groupe : calendrier TBD.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logo3.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A11 / DÉTAILS DU PORTEFEUILLE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11 dispositifs People / image corporate</a:t>
            </a:r>
          </a:p>
        </p:txBody>
      </p:sp>
      <p:sp>
        <p:nvSpPr>
          <p:cNvPr id="5" name="Rectangle 4"/>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6" name="TextBox 5"/>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7" name="TextBox 6"/>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24</a:t>
            </a:r>
          </a:p>
        </p:txBody>
      </p:sp>
      <p:sp>
        <p:nvSpPr>
          <p:cNvPr id="8" name="TextBox 7"/>
          <p:cNvSpPr txBox="1"/>
          <p:nvPr/>
        </p:nvSpPr>
        <p:spPr>
          <a:xfrm>
            <a:off x="914400" y="3319272"/>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All Staff France</a:t>
            </a:r>
          </a:p>
        </p:txBody>
      </p:sp>
      <p:sp>
        <p:nvSpPr>
          <p:cNvPr id="9" name="TextBox 8"/>
          <p:cNvSpPr txBox="1"/>
          <p:nvPr/>
        </p:nvSpPr>
        <p:spPr>
          <a:xfrm>
            <a:off x="9738360" y="3319272"/>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Rituel existant</a:t>
            </a:r>
          </a:p>
        </p:txBody>
      </p:sp>
      <p:sp>
        <p:nvSpPr>
          <p:cNvPr id="10" name="TextBox 9"/>
          <p:cNvSpPr txBox="1"/>
          <p:nvPr/>
        </p:nvSpPr>
        <p:spPr>
          <a:xfrm>
            <a:off x="914400" y="3758183"/>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La Leytonienne</a:t>
            </a:r>
          </a:p>
        </p:txBody>
      </p:sp>
      <p:sp>
        <p:nvSpPr>
          <p:cNvPr id="11" name="TextBox 10"/>
          <p:cNvSpPr txBox="1"/>
          <p:nvPr/>
        </p:nvSpPr>
        <p:spPr>
          <a:xfrm>
            <a:off x="9738360" y="3758183"/>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Rituel existant</a:t>
            </a:r>
          </a:p>
        </p:txBody>
      </p:sp>
      <p:sp>
        <p:nvSpPr>
          <p:cNvPr id="12" name="TextBox 11"/>
          <p:cNvSpPr txBox="1"/>
          <p:nvPr/>
        </p:nvSpPr>
        <p:spPr>
          <a:xfrm>
            <a:off x="914400" y="4197096"/>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Refonte onboarding Workelo</a:t>
            </a:r>
          </a:p>
        </p:txBody>
      </p:sp>
      <p:sp>
        <p:nvSpPr>
          <p:cNvPr id="13" name="TextBox 12"/>
          <p:cNvSpPr txBox="1"/>
          <p:nvPr/>
        </p:nvSpPr>
        <p:spPr>
          <a:xfrm>
            <a:off x="9738360" y="4197096"/>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À retravailler</a:t>
            </a:r>
          </a:p>
        </p:txBody>
      </p:sp>
      <p:sp>
        <p:nvSpPr>
          <p:cNvPr id="14" name="TextBox 13"/>
          <p:cNvSpPr txBox="1"/>
          <p:nvPr/>
        </p:nvSpPr>
        <p:spPr>
          <a:xfrm>
            <a:off x="914400" y="4636008"/>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Leadership au féminin</a:t>
            </a:r>
          </a:p>
        </p:txBody>
      </p:sp>
      <p:sp>
        <p:nvSpPr>
          <p:cNvPr id="15" name="TextBox 14"/>
          <p:cNvSpPr txBox="1"/>
          <p:nvPr/>
        </p:nvSpPr>
        <p:spPr>
          <a:xfrm>
            <a:off x="9738360" y="4636008"/>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a:t>
            </a:r>
          </a:p>
        </p:txBody>
      </p:sp>
      <p:sp>
        <p:nvSpPr>
          <p:cNvPr id="16" name="TextBox 15"/>
          <p:cNvSpPr txBox="1"/>
          <p:nvPr/>
        </p:nvSpPr>
        <p:spPr>
          <a:xfrm>
            <a:off x="914400" y="5074920"/>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GPTW / CARE</a:t>
            </a:r>
          </a:p>
        </p:txBody>
      </p:sp>
      <p:sp>
        <p:nvSpPr>
          <p:cNvPr id="17" name="TextBox 16"/>
          <p:cNvSpPr txBox="1"/>
          <p:nvPr/>
        </p:nvSpPr>
        <p:spPr>
          <a:xfrm>
            <a:off x="9738360" y="5074920"/>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En cours</a:t>
            </a:r>
          </a:p>
        </p:txBody>
      </p:sp>
      <p:sp>
        <p:nvSpPr>
          <p:cNvPr id="18" name="TextBox 17"/>
          <p:cNvSpPr txBox="1"/>
          <p:nvPr/>
        </p:nvSpPr>
        <p:spPr>
          <a:xfrm>
            <a:off x="914400" y="5513831"/>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Rendez-vous collaborateurs</a:t>
            </a:r>
          </a:p>
        </p:txBody>
      </p:sp>
      <p:sp>
        <p:nvSpPr>
          <p:cNvPr id="19" name="TextBox 18"/>
          <p:cNvSpPr txBox="1"/>
          <p:nvPr/>
        </p:nvSpPr>
        <p:spPr>
          <a:xfrm>
            <a:off x="9738360" y="5513831"/>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minimum mensuel</a:t>
            </a:r>
          </a:p>
        </p:txBody>
      </p:sp>
      <p:sp>
        <p:nvSpPr>
          <p:cNvPr id="20" name="TextBox 19"/>
          <p:cNvSpPr txBox="1"/>
          <p:nvPr/>
        </p:nvSpPr>
        <p:spPr>
          <a:xfrm>
            <a:off x="914400" y="5952744"/>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Programme RSE</a:t>
            </a:r>
          </a:p>
        </p:txBody>
      </p:sp>
      <p:sp>
        <p:nvSpPr>
          <p:cNvPr id="21" name="TextBox 20"/>
          <p:cNvSpPr txBox="1"/>
          <p:nvPr/>
        </p:nvSpPr>
        <p:spPr>
          <a:xfrm>
            <a:off x="9738360" y="5952744"/>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minimum mensuel interne</a:t>
            </a:r>
          </a:p>
        </p:txBody>
      </p:sp>
      <p:sp>
        <p:nvSpPr>
          <p:cNvPr id="22" name="TextBox 21"/>
          <p:cNvSpPr txBox="1"/>
          <p:nvPr/>
        </p:nvSpPr>
        <p:spPr>
          <a:xfrm>
            <a:off x="914400" y="6391656"/>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Culture Leyton</a:t>
            </a:r>
          </a:p>
        </p:txBody>
      </p:sp>
      <p:sp>
        <p:nvSpPr>
          <p:cNvPr id="23" name="TextBox 22"/>
          <p:cNvSpPr txBox="1"/>
          <p:nvPr/>
        </p:nvSpPr>
        <p:spPr>
          <a:xfrm>
            <a:off x="9738360" y="6391656"/>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a:t>
            </a:r>
          </a:p>
        </p:txBody>
      </p:sp>
      <p:sp>
        <p:nvSpPr>
          <p:cNvPr id="24" name="TextBox 23"/>
          <p:cNvSpPr txBox="1"/>
          <p:nvPr/>
        </p:nvSpPr>
        <p:spPr>
          <a:xfrm>
            <a:off x="914400" y="6830568"/>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Communication managériale</a:t>
            </a:r>
          </a:p>
        </p:txBody>
      </p:sp>
      <p:sp>
        <p:nvSpPr>
          <p:cNvPr id="25" name="TextBox 24"/>
          <p:cNvSpPr txBox="1"/>
          <p:nvPr/>
        </p:nvSpPr>
        <p:spPr>
          <a:xfrm>
            <a:off x="9738360" y="6830568"/>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activation sur grands sujets</a:t>
            </a:r>
          </a:p>
        </p:txBody>
      </p:sp>
      <p:sp>
        <p:nvSpPr>
          <p:cNvPr id="26" name="TextBox 25"/>
          <p:cNvSpPr txBox="1"/>
          <p:nvPr/>
        </p:nvSpPr>
        <p:spPr>
          <a:xfrm>
            <a:off x="914400" y="7269480"/>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Temps forts collectifs</a:t>
            </a:r>
          </a:p>
        </p:txBody>
      </p:sp>
      <p:sp>
        <p:nvSpPr>
          <p:cNvPr id="27" name="TextBox 26"/>
          <p:cNvSpPr txBox="1"/>
          <p:nvPr/>
        </p:nvSpPr>
        <p:spPr>
          <a:xfrm>
            <a:off x="9738360" y="7269480"/>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Validé ; séminaire date à confirmer</a:t>
            </a:r>
          </a:p>
        </p:txBody>
      </p:sp>
      <p:sp>
        <p:nvSpPr>
          <p:cNvPr id="28" name="TextBox 27"/>
          <p:cNvSpPr txBox="1"/>
          <p:nvPr/>
        </p:nvSpPr>
        <p:spPr>
          <a:xfrm>
            <a:off x="914400" y="7708392"/>
            <a:ext cx="8229600" cy="384048"/>
          </a:xfrm>
          <a:prstGeom prst="rect">
            <a:avLst/>
          </a:prstGeom>
          <a:noFill/>
        </p:spPr>
        <p:txBody>
          <a:bodyPr wrap="square" lIns="0" rIns="0" tIns="0" bIns="0">
            <a:spAutoFit/>
          </a:bodyPr>
          <a:lstStyle/>
          <a:p>
            <a:pPr>
              <a:lnSpc>
                <a:spcPts val="2700"/>
              </a:lnSpc>
              <a:spcBef>
                <a:spcPts val="0"/>
              </a:spcBef>
              <a:spcAft>
                <a:spcPts val="0"/>
              </a:spcAft>
              <a:defRPr sz="2400" b="1">
                <a:solidFill>
                  <a:srgbClr val="002C49"/>
                </a:solidFill>
                <a:latin typeface="Montserrat"/>
              </a:defRPr>
            </a:pPr>
            <a:r>
              <a:t>LinkedIn corporate</a:t>
            </a:r>
          </a:p>
        </p:txBody>
      </p:sp>
      <p:sp>
        <p:nvSpPr>
          <p:cNvPr id="29" name="TextBox 28"/>
          <p:cNvSpPr txBox="1"/>
          <p:nvPr/>
        </p:nvSpPr>
        <p:spPr>
          <a:xfrm>
            <a:off x="9738360" y="7708392"/>
            <a:ext cx="7589520" cy="384048"/>
          </a:xfrm>
          <a:prstGeom prst="rect">
            <a:avLst/>
          </a:prstGeom>
          <a:noFill/>
        </p:spPr>
        <p:txBody>
          <a:bodyPr wrap="square" lIns="0" rIns="0" tIns="0" bIns="0">
            <a:spAutoFit/>
          </a:bodyPr>
          <a:lstStyle/>
          <a:p>
            <a:pPr>
              <a:lnSpc>
                <a:spcPts val="2700"/>
              </a:lnSpc>
              <a:spcBef>
                <a:spcPts val="0"/>
              </a:spcBef>
              <a:spcAft>
                <a:spcPts val="0"/>
              </a:spcAft>
              <a:defRPr sz="2400" b="0">
                <a:solidFill>
                  <a:srgbClr val="526777"/>
                </a:solidFill>
                <a:latin typeface="Montserrat"/>
              </a:defRPr>
            </a:pPr>
            <a:r>
              <a:t>Run annuel</a:t>
            </a:r>
          </a:p>
        </p:txBody>
      </p:sp>
      <p:sp>
        <p:nvSpPr>
          <p:cNvPr id="30" name="TextBox 29"/>
          <p:cNvSpPr txBox="1"/>
          <p:nvPr/>
        </p:nvSpPr>
        <p:spPr>
          <a:xfrm>
            <a:off x="914400" y="8540496"/>
            <a:ext cx="16459200" cy="868680"/>
          </a:xfrm>
          <a:prstGeom prst="rect">
            <a:avLst/>
          </a:prstGeom>
          <a:noFill/>
        </p:spPr>
        <p:txBody>
          <a:bodyPr wrap="square" lIns="0" rIns="0" tIns="0" bIns="0">
            <a:spAutoFit/>
          </a:bodyPr>
          <a:lstStyle/>
          <a:p>
            <a:pPr>
              <a:lnSpc>
                <a:spcPts val="2800"/>
              </a:lnSpc>
              <a:spcBef>
                <a:spcPts val="0"/>
              </a:spcBef>
              <a:spcAft>
                <a:spcPts val="0"/>
              </a:spcAft>
              <a:defRPr sz="2300" b="0">
                <a:solidFill>
                  <a:srgbClr val="002C49"/>
                </a:solidFill>
                <a:latin typeface="Montserrat"/>
              </a:defRPr>
            </a:pPr>
            <a:r>
              <a:t>Hors cœur du plan : programme ambassadeur ; « 1 semaine, 1 métier » ; Makers / Behind the tool.</a:t>
            </a:r>
          </a:p>
          <a:p>
            <a:pPr>
              <a:lnSpc>
                <a:spcPts val="2800"/>
              </a:lnSpc>
              <a:spcBef>
                <a:spcPts val="0"/>
              </a:spcBef>
              <a:spcAft>
                <a:spcPts val="0"/>
              </a:spcAft>
              <a:defRPr sz="2300" b="0">
                <a:solidFill>
                  <a:srgbClr val="002C49"/>
                </a:solidFill>
                <a:latin typeface="Montserrat"/>
              </a:defRPr>
            </a:pPr>
            <a:r>
              <a:t>Run canaux : Neoscreen après déploiement ; intranet après lancement ; LinkedIn annuel ; Teams / email ciblés.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2C4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9DB0BD"/>
                </a:solidFill>
                <a:latin typeface="Montserrat"/>
              </a:defRPr>
            </a:pPr>
            <a:r>
              <a:t>FRANCE • JUILLET 2026 – JUIN 2027</a:t>
            </a:r>
          </a:p>
        </p:txBody>
      </p:sp>
      <p:sp>
        <p:nvSpPr>
          <p:cNvPr id="4" name="Rectangle 3"/>
          <p:cNvSpPr/>
          <p:nvPr/>
        </p:nvSpPr>
        <p:spPr>
          <a:xfrm>
            <a:off x="822960" y="9738360"/>
            <a:ext cx="16642080" cy="10972"/>
          </a:xfrm>
          <a:prstGeom prst="rect">
            <a:avLst/>
          </a:prstGeom>
          <a:solidFill>
            <a:srgbClr val="0C405C"/>
          </a:solidFill>
          <a:ln>
            <a:noFill/>
          </a:ln>
        </p:spPr>
        <p:txBody>
          <a:bodyPr rtlCol="0" anchor="ctr"/>
          <a:lstStyle/>
          <a:p>
            <a:pPr algn="ctr"/>
          </a:p>
        </p:txBody>
      </p:sp>
      <p:sp>
        <p:nvSpPr>
          <p:cNvPr id="5" name="TextBox 4"/>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9DB0BD"/>
                </a:solidFill>
                <a:latin typeface="Montserrat"/>
              </a:defRPr>
            </a:pPr>
            <a:r>
              <a:t>LEYTON FRANCE  /  PLAN DE COMMUNICATION  /  FY2026/27</a:t>
            </a:r>
          </a:p>
        </p:txBody>
      </p:sp>
      <p:sp>
        <p:nvSpPr>
          <p:cNvPr id="6" name="TextBox 5"/>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01</a:t>
            </a:r>
          </a:p>
        </p:txBody>
      </p:sp>
      <p:sp>
        <p:nvSpPr>
          <p:cNvPr id="7" name="TextBox 6"/>
          <p:cNvSpPr txBox="1"/>
          <p:nvPr/>
        </p:nvSpPr>
        <p:spPr>
          <a:xfrm>
            <a:off x="822960" y="1874519"/>
            <a:ext cx="11521440" cy="3337560"/>
          </a:xfrm>
          <a:prstGeom prst="rect">
            <a:avLst/>
          </a:prstGeom>
          <a:noFill/>
        </p:spPr>
        <p:txBody>
          <a:bodyPr wrap="square" lIns="0" rIns="0" tIns="0" bIns="0">
            <a:spAutoFit/>
          </a:bodyPr>
          <a:lstStyle/>
          <a:p>
            <a:pPr>
              <a:lnSpc>
                <a:spcPts val="7700"/>
              </a:lnSpc>
              <a:spcBef>
                <a:spcPts val="0"/>
              </a:spcBef>
              <a:spcAft>
                <a:spcPts val="0"/>
              </a:spcAft>
              <a:defRPr sz="6700" b="0">
                <a:solidFill>
                  <a:srgbClr val="FFFFFF"/>
                </a:solidFill>
                <a:latin typeface="Nohemi"/>
              </a:defRPr>
            </a:pPr>
            <a:r>
              <a:t>Plan de</a:t>
            </a:r>
          </a:p>
          <a:p>
            <a:pPr>
              <a:lnSpc>
                <a:spcPts val="7700"/>
              </a:lnSpc>
              <a:spcBef>
                <a:spcPts val="0"/>
              </a:spcBef>
              <a:spcAft>
                <a:spcPts val="0"/>
              </a:spcAft>
              <a:defRPr sz="6700" b="0">
                <a:solidFill>
                  <a:srgbClr val="FFFFFF"/>
                </a:solidFill>
                <a:latin typeface="Nohemi"/>
              </a:defRPr>
            </a:pPr>
            <a:r>
              <a:t>Communication</a:t>
            </a:r>
          </a:p>
          <a:p>
            <a:pPr>
              <a:lnSpc>
                <a:spcPts val="7700"/>
              </a:lnSpc>
              <a:spcBef>
                <a:spcPts val="0"/>
              </a:spcBef>
              <a:spcAft>
                <a:spcPts val="0"/>
              </a:spcAft>
              <a:defRPr sz="6700" b="0">
                <a:solidFill>
                  <a:srgbClr val="FFFFFF"/>
                </a:solidFill>
                <a:latin typeface="Nohemi"/>
              </a:defRPr>
            </a:pPr>
            <a:r>
              <a:t>France</a:t>
            </a:r>
          </a:p>
        </p:txBody>
      </p:sp>
      <p:sp>
        <p:nvSpPr>
          <p:cNvPr id="8" name="TextBox 7"/>
          <p:cNvSpPr txBox="1"/>
          <p:nvPr/>
        </p:nvSpPr>
        <p:spPr>
          <a:xfrm>
            <a:off x="841248" y="5897880"/>
            <a:ext cx="12435840" cy="1371600"/>
          </a:xfrm>
          <a:prstGeom prst="rect">
            <a:avLst/>
          </a:prstGeom>
          <a:noFill/>
        </p:spPr>
        <p:txBody>
          <a:bodyPr wrap="square" lIns="0" rIns="0" tIns="0" bIns="0">
            <a:spAutoFit/>
          </a:bodyPr>
          <a:lstStyle/>
          <a:p>
            <a:pPr>
              <a:lnSpc>
                <a:spcPts val="10000"/>
              </a:lnSpc>
              <a:spcBef>
                <a:spcPts val="0"/>
              </a:spcBef>
              <a:spcAft>
                <a:spcPts val="0"/>
              </a:spcAft>
              <a:defRPr sz="8900" b="0">
                <a:solidFill>
                  <a:srgbClr val="FF6633"/>
                </a:solidFill>
                <a:latin typeface="Nohemi"/>
              </a:defRPr>
            </a:pPr>
            <a:r>
              <a:t>FY2026/27.</a:t>
            </a:r>
          </a:p>
        </p:txBody>
      </p:sp>
      <p:cxnSp>
        <p:nvCxnSpPr>
          <p:cNvPr id="9" name="Connector 8"/>
          <p:cNvCxnSpPr/>
          <p:nvPr/>
        </p:nvCxnSpPr>
        <p:spPr>
          <a:xfrm>
            <a:off x="12801600" y="1965960"/>
            <a:ext cx="0" cy="6675120"/>
          </a:xfrm>
          <a:prstGeom prst="line">
            <a:avLst/>
          </a:prstGeom>
          <a:ln w="19050">
            <a:solidFill>
              <a:srgbClr val="0C405C"/>
            </a:solidFill>
          </a:ln>
        </p:spPr>
      </p:cxnSp>
      <p:pic>
        <p:nvPicPr>
          <p:cNvPr id="10" name="Picture 9" descr="image.png"/>
          <p:cNvPicPr>
            <a:picLocks noChangeAspect="1"/>
          </p:cNvPicPr>
          <p:nvPr/>
        </p:nvPicPr>
        <p:blipFill>
          <a:blip r:embed="rId4"/>
          <a:stretch>
            <a:fillRect/>
          </a:stretch>
        </p:blipFill>
        <p:spPr>
          <a:xfrm>
            <a:off x="13807440" y="2240280"/>
            <a:ext cx="3383280" cy="3321253"/>
          </a:xfrm>
          <a:prstGeom prst="rect">
            <a:avLst/>
          </a:prstGeom>
        </p:spPr>
      </p:pic>
      <p:sp>
        <p:nvSpPr>
          <p:cNvPr id="11" name="TextBox 10"/>
          <p:cNvSpPr txBox="1"/>
          <p:nvPr/>
        </p:nvSpPr>
        <p:spPr>
          <a:xfrm>
            <a:off x="13716000" y="6126480"/>
            <a:ext cx="3703320" cy="2240280"/>
          </a:xfrm>
          <a:prstGeom prst="rect">
            <a:avLst/>
          </a:prstGeom>
          <a:noFill/>
        </p:spPr>
        <p:txBody>
          <a:bodyPr wrap="square" lIns="0" rIns="0" tIns="0" bIns="0">
            <a:spAutoFit/>
          </a:bodyPr>
          <a:lstStyle/>
          <a:p>
            <a:pPr>
              <a:lnSpc>
                <a:spcPts val="4000"/>
              </a:lnSpc>
              <a:spcBef>
                <a:spcPts val="0"/>
              </a:spcBef>
              <a:spcAft>
                <a:spcPts val="0"/>
              </a:spcAft>
              <a:defRPr sz="2900" b="0">
                <a:solidFill>
                  <a:srgbClr val="FFFFFF"/>
                </a:solidFill>
                <a:latin typeface="Montserrat"/>
              </a:defRPr>
            </a:pPr>
            <a:r>
              <a:t>Pilotage.</a:t>
            </a:r>
          </a:p>
          <a:p>
            <a:pPr>
              <a:lnSpc>
                <a:spcPts val="4000"/>
              </a:lnSpc>
              <a:spcBef>
                <a:spcPts val="0"/>
              </a:spcBef>
              <a:spcAft>
                <a:spcPts val="0"/>
              </a:spcAft>
              <a:defRPr sz="2900" b="0">
                <a:solidFill>
                  <a:srgbClr val="FFFFFF"/>
                </a:solidFill>
                <a:latin typeface="Montserrat"/>
              </a:defRPr>
            </a:pPr>
            <a:r>
              <a:t>Orchestration.</a:t>
            </a:r>
          </a:p>
          <a:p>
            <a:pPr>
              <a:lnSpc>
                <a:spcPts val="4000"/>
              </a:lnSpc>
              <a:spcBef>
                <a:spcPts val="0"/>
              </a:spcBef>
              <a:spcAft>
                <a:spcPts val="0"/>
              </a:spcAft>
              <a:defRPr sz="2900" b="0">
                <a:solidFill>
                  <a:srgbClr val="FFFFFF"/>
                </a:solidFill>
                <a:latin typeface="Montserrat"/>
              </a:defRPr>
            </a:pPr>
            <a:r>
              <a:t>Influence.</a:t>
            </a:r>
          </a:p>
        </p:txBody>
      </p:sp>
      <p:sp>
        <p:nvSpPr>
          <p:cNvPr id="12" name="TextBox 11"/>
          <p:cNvSpPr txBox="1"/>
          <p:nvPr/>
        </p:nvSpPr>
        <p:spPr>
          <a:xfrm>
            <a:off x="886968" y="8375904"/>
            <a:ext cx="11612880" cy="502920"/>
          </a:xfrm>
          <a:prstGeom prst="rect">
            <a:avLst/>
          </a:prstGeom>
          <a:noFill/>
        </p:spPr>
        <p:txBody>
          <a:bodyPr wrap="square" lIns="0" rIns="0" tIns="0" bIns="0">
            <a:spAutoFit/>
          </a:bodyPr>
          <a:lstStyle/>
          <a:p>
            <a:pPr>
              <a:lnSpc>
                <a:spcPts val="3444"/>
              </a:lnSpc>
              <a:spcBef>
                <a:spcPts val="0"/>
              </a:spcBef>
              <a:spcAft>
                <a:spcPts val="0"/>
              </a:spcAft>
              <a:defRPr sz="2800" b="0">
                <a:solidFill>
                  <a:srgbClr val="FFFFFF"/>
                </a:solidFill>
                <a:latin typeface="Montserrat"/>
              </a:defRPr>
            </a:pPr>
            <a:r>
              <a:t>Les choix de Communication France, au service de Leyton 2030.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01 / DIAGNOSTIC</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Trois constats. Trois réponses pour FY2026/27.</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Un portefeuille pertinent ; une manière de le piloter à faire évoluer.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02</a:t>
            </a:r>
          </a:p>
        </p:txBody>
      </p:sp>
      <p:sp>
        <p:nvSpPr>
          <p:cNvPr id="9" name="TextBox 8"/>
          <p:cNvSpPr txBox="1"/>
          <p:nvPr/>
        </p:nvSpPr>
        <p:spPr>
          <a:xfrm>
            <a:off x="914400" y="3566160"/>
            <a:ext cx="7315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CONSTATS</a:t>
            </a:r>
          </a:p>
        </p:txBody>
      </p:sp>
      <p:sp>
        <p:nvSpPr>
          <p:cNvPr id="10" name="TextBox 9"/>
          <p:cNvSpPr txBox="1"/>
          <p:nvPr/>
        </p:nvSpPr>
        <p:spPr>
          <a:xfrm>
            <a:off x="9601200" y="3566160"/>
            <a:ext cx="7315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RÉPONSES</a:t>
            </a:r>
          </a:p>
        </p:txBody>
      </p:sp>
      <p:sp>
        <p:nvSpPr>
          <p:cNvPr id="11" name="TextBox 10"/>
          <p:cNvSpPr txBox="1"/>
          <p:nvPr/>
        </p:nvSpPr>
        <p:spPr>
          <a:xfrm>
            <a:off x="914400" y="4206240"/>
            <a:ext cx="731520" cy="594360"/>
          </a:xfrm>
          <a:prstGeom prst="rect">
            <a:avLst/>
          </a:prstGeom>
          <a:noFill/>
        </p:spPr>
        <p:txBody>
          <a:bodyPr wrap="square" lIns="0" rIns="0" tIns="0" bIns="0">
            <a:spAutoFit/>
          </a:bodyPr>
          <a:lstStyle/>
          <a:p>
            <a:pPr>
              <a:lnSpc>
                <a:spcPts val="4674"/>
              </a:lnSpc>
              <a:spcBef>
                <a:spcPts val="0"/>
              </a:spcBef>
              <a:spcAft>
                <a:spcPts val="0"/>
              </a:spcAft>
              <a:defRPr sz="3800" b="1">
                <a:solidFill>
                  <a:srgbClr val="FF6633"/>
                </a:solidFill>
                <a:latin typeface="Nohemi"/>
              </a:defRPr>
            </a:pPr>
            <a:r>
              <a:t>01</a:t>
            </a:r>
          </a:p>
        </p:txBody>
      </p:sp>
      <p:sp>
        <p:nvSpPr>
          <p:cNvPr id="12" name="TextBox 11"/>
          <p:cNvSpPr txBox="1"/>
          <p:nvPr/>
        </p:nvSpPr>
        <p:spPr>
          <a:xfrm>
            <a:off x="1965960" y="4251959"/>
            <a:ext cx="7040880" cy="1143000"/>
          </a:xfrm>
          <a:prstGeom prst="rect">
            <a:avLst/>
          </a:prstGeom>
          <a:noFill/>
        </p:spPr>
        <p:txBody>
          <a:bodyPr wrap="square" lIns="0" rIns="0" tIns="0" bIns="0">
            <a:spAutoFit/>
          </a:bodyPr>
          <a:lstStyle/>
          <a:p>
            <a:pPr>
              <a:lnSpc>
                <a:spcPts val="3500"/>
              </a:lnSpc>
              <a:spcBef>
                <a:spcPts val="0"/>
              </a:spcBef>
              <a:spcAft>
                <a:spcPts val="0"/>
              </a:spcAft>
              <a:defRPr sz="2900" b="1">
                <a:solidFill>
                  <a:srgbClr val="002C49"/>
                </a:solidFill>
                <a:latin typeface="Montserrat"/>
              </a:defRPr>
            </a:pPr>
            <a:r>
              <a:t>Plusieurs transformations</a:t>
            </a:r>
          </a:p>
          <a:p>
            <a:pPr>
              <a:lnSpc>
                <a:spcPts val="3500"/>
              </a:lnSpc>
              <a:spcBef>
                <a:spcPts val="0"/>
              </a:spcBef>
              <a:spcAft>
                <a:spcPts val="0"/>
              </a:spcAft>
              <a:defRPr sz="2900" b="1">
                <a:solidFill>
                  <a:srgbClr val="002C49"/>
                </a:solidFill>
                <a:latin typeface="Montserrat"/>
              </a:defRPr>
            </a:pPr>
            <a:r>
              <a:t>structurantes à accompagner.</a:t>
            </a:r>
          </a:p>
        </p:txBody>
      </p:sp>
      <p:sp>
        <p:nvSpPr>
          <p:cNvPr id="13" name="TextBox 12"/>
          <p:cNvSpPr txBox="1"/>
          <p:nvPr/>
        </p:nvSpPr>
        <p:spPr>
          <a:xfrm>
            <a:off x="9601200" y="4251959"/>
            <a:ext cx="7498079" cy="987552"/>
          </a:xfrm>
          <a:prstGeom prst="rect">
            <a:avLst/>
          </a:prstGeom>
          <a:noFill/>
        </p:spPr>
        <p:txBody>
          <a:bodyPr wrap="square" lIns="0" rIns="0" tIns="0" bIns="0">
            <a:spAutoFit/>
          </a:bodyPr>
          <a:lstStyle/>
          <a:p>
            <a:pPr>
              <a:lnSpc>
                <a:spcPts val="3500"/>
              </a:lnSpc>
              <a:spcBef>
                <a:spcPts val="0"/>
              </a:spcBef>
              <a:spcAft>
                <a:spcPts val="0"/>
              </a:spcAft>
              <a:defRPr sz="2800" b="0">
                <a:solidFill>
                  <a:srgbClr val="526777"/>
                </a:solidFill>
                <a:latin typeface="Montserrat"/>
              </a:defRPr>
            </a:pPr>
            <a:r>
              <a:t>Relier les actions à Leyton 2030</a:t>
            </a:r>
          </a:p>
          <a:p>
            <a:pPr>
              <a:lnSpc>
                <a:spcPts val="3500"/>
              </a:lnSpc>
              <a:spcBef>
                <a:spcPts val="0"/>
              </a:spcBef>
              <a:spcAft>
                <a:spcPts val="0"/>
              </a:spcAft>
              <a:defRPr sz="2800" b="0">
                <a:solidFill>
                  <a:srgbClr val="526777"/>
                </a:solidFill>
                <a:latin typeface="Montserrat"/>
              </a:defRPr>
            </a:pPr>
            <a:r>
              <a:t>et séquencer les priorités.</a:t>
            </a:r>
          </a:p>
        </p:txBody>
      </p:sp>
      <p:sp>
        <p:nvSpPr>
          <p:cNvPr id="14" name="Rectangle 13"/>
          <p:cNvSpPr/>
          <p:nvPr/>
        </p:nvSpPr>
        <p:spPr>
          <a:xfrm>
            <a:off x="1965960" y="5349240"/>
            <a:ext cx="15087600" cy="10972"/>
          </a:xfrm>
          <a:prstGeom prst="rect">
            <a:avLst/>
          </a:prstGeom>
          <a:solidFill>
            <a:srgbClr val="D9E2E7"/>
          </a:solidFill>
          <a:ln>
            <a:noFill/>
          </a:ln>
        </p:spPr>
        <p:txBody>
          <a:bodyPr rtlCol="0" anchor="ctr"/>
          <a:lstStyle/>
          <a:p>
            <a:pPr algn="ctr"/>
          </a:p>
        </p:txBody>
      </p:sp>
      <p:sp>
        <p:nvSpPr>
          <p:cNvPr id="15" name="TextBox 14"/>
          <p:cNvSpPr txBox="1"/>
          <p:nvPr/>
        </p:nvSpPr>
        <p:spPr>
          <a:xfrm>
            <a:off x="914400" y="5623559"/>
            <a:ext cx="731520" cy="594360"/>
          </a:xfrm>
          <a:prstGeom prst="rect">
            <a:avLst/>
          </a:prstGeom>
          <a:noFill/>
        </p:spPr>
        <p:txBody>
          <a:bodyPr wrap="square" lIns="0" rIns="0" tIns="0" bIns="0">
            <a:spAutoFit/>
          </a:bodyPr>
          <a:lstStyle/>
          <a:p>
            <a:pPr>
              <a:lnSpc>
                <a:spcPts val="4674"/>
              </a:lnSpc>
              <a:spcBef>
                <a:spcPts val="0"/>
              </a:spcBef>
              <a:spcAft>
                <a:spcPts val="0"/>
              </a:spcAft>
              <a:defRPr sz="3800" b="1">
                <a:solidFill>
                  <a:srgbClr val="FF6633"/>
                </a:solidFill>
                <a:latin typeface="Nohemi"/>
              </a:defRPr>
            </a:pPr>
            <a:r>
              <a:t>02</a:t>
            </a:r>
          </a:p>
        </p:txBody>
      </p:sp>
      <p:sp>
        <p:nvSpPr>
          <p:cNvPr id="16" name="TextBox 15"/>
          <p:cNvSpPr txBox="1"/>
          <p:nvPr/>
        </p:nvSpPr>
        <p:spPr>
          <a:xfrm>
            <a:off x="1965960" y="5669279"/>
            <a:ext cx="7040880" cy="1143000"/>
          </a:xfrm>
          <a:prstGeom prst="rect">
            <a:avLst/>
          </a:prstGeom>
          <a:noFill/>
        </p:spPr>
        <p:txBody>
          <a:bodyPr wrap="square" lIns="0" rIns="0" tIns="0" bIns="0">
            <a:spAutoFit/>
          </a:bodyPr>
          <a:lstStyle/>
          <a:p>
            <a:pPr>
              <a:lnSpc>
                <a:spcPts val="3500"/>
              </a:lnSpc>
              <a:spcBef>
                <a:spcPts val="0"/>
              </a:spcBef>
              <a:spcAft>
                <a:spcPts val="0"/>
              </a:spcAft>
              <a:defRPr sz="2900" b="1">
                <a:solidFill>
                  <a:srgbClr val="002C49"/>
                </a:solidFill>
                <a:latin typeface="Montserrat"/>
              </a:defRPr>
            </a:pPr>
            <a:r>
              <a:t>Une logique encore centrée</a:t>
            </a:r>
          </a:p>
          <a:p>
            <a:pPr>
              <a:lnSpc>
                <a:spcPts val="3500"/>
              </a:lnSpc>
              <a:spcBef>
                <a:spcPts val="0"/>
              </a:spcBef>
              <a:spcAft>
                <a:spcPts val="0"/>
              </a:spcAft>
              <a:defRPr sz="2900" b="1">
                <a:solidFill>
                  <a:srgbClr val="002C49"/>
                </a:solidFill>
                <a:latin typeface="Montserrat"/>
              </a:defRPr>
            </a:pPr>
            <a:r>
              <a:t>sur la production et la diffusion.</a:t>
            </a:r>
          </a:p>
        </p:txBody>
      </p:sp>
      <p:sp>
        <p:nvSpPr>
          <p:cNvPr id="17" name="TextBox 16"/>
          <p:cNvSpPr txBox="1"/>
          <p:nvPr/>
        </p:nvSpPr>
        <p:spPr>
          <a:xfrm>
            <a:off x="9601200" y="5669279"/>
            <a:ext cx="7498079" cy="987552"/>
          </a:xfrm>
          <a:prstGeom prst="rect">
            <a:avLst/>
          </a:prstGeom>
          <a:noFill/>
        </p:spPr>
        <p:txBody>
          <a:bodyPr wrap="square" lIns="0" rIns="0" tIns="0" bIns="0">
            <a:spAutoFit/>
          </a:bodyPr>
          <a:lstStyle/>
          <a:p>
            <a:pPr>
              <a:lnSpc>
                <a:spcPts val="3500"/>
              </a:lnSpc>
              <a:spcBef>
                <a:spcPts val="0"/>
              </a:spcBef>
              <a:spcAft>
                <a:spcPts val="0"/>
              </a:spcAft>
              <a:defRPr sz="2800" b="0">
                <a:solidFill>
                  <a:srgbClr val="526777"/>
                </a:solidFill>
                <a:latin typeface="Montserrat"/>
              </a:defRPr>
            </a:pPr>
            <a:r>
              <a:t>Piloter les effets recherchés ;</a:t>
            </a:r>
          </a:p>
          <a:p>
            <a:pPr>
              <a:lnSpc>
                <a:spcPts val="3500"/>
              </a:lnSpc>
              <a:spcBef>
                <a:spcPts val="0"/>
              </a:spcBef>
              <a:spcAft>
                <a:spcPts val="0"/>
              </a:spcAft>
              <a:defRPr sz="2800" b="0">
                <a:solidFill>
                  <a:srgbClr val="526777"/>
                </a:solidFill>
                <a:latin typeface="Montserrat"/>
              </a:defRPr>
            </a:pPr>
            <a:r>
              <a:t>orchestrer messages et relais.</a:t>
            </a:r>
          </a:p>
        </p:txBody>
      </p:sp>
      <p:sp>
        <p:nvSpPr>
          <p:cNvPr id="18" name="Rectangle 17"/>
          <p:cNvSpPr/>
          <p:nvPr/>
        </p:nvSpPr>
        <p:spPr>
          <a:xfrm>
            <a:off x="1965960" y="6766559"/>
            <a:ext cx="15087600" cy="10972"/>
          </a:xfrm>
          <a:prstGeom prst="rect">
            <a:avLst/>
          </a:prstGeom>
          <a:solidFill>
            <a:srgbClr val="D9E2E7"/>
          </a:solidFill>
          <a:ln>
            <a:noFill/>
          </a:ln>
        </p:spPr>
        <p:txBody>
          <a:bodyPr rtlCol="0" anchor="ctr"/>
          <a:lstStyle/>
          <a:p>
            <a:pPr algn="ctr"/>
          </a:p>
        </p:txBody>
      </p:sp>
      <p:sp>
        <p:nvSpPr>
          <p:cNvPr id="19" name="TextBox 18"/>
          <p:cNvSpPr txBox="1"/>
          <p:nvPr/>
        </p:nvSpPr>
        <p:spPr>
          <a:xfrm>
            <a:off x="914400" y="7040879"/>
            <a:ext cx="731520" cy="594360"/>
          </a:xfrm>
          <a:prstGeom prst="rect">
            <a:avLst/>
          </a:prstGeom>
          <a:noFill/>
        </p:spPr>
        <p:txBody>
          <a:bodyPr wrap="square" lIns="0" rIns="0" tIns="0" bIns="0">
            <a:spAutoFit/>
          </a:bodyPr>
          <a:lstStyle/>
          <a:p>
            <a:pPr>
              <a:lnSpc>
                <a:spcPts val="4674"/>
              </a:lnSpc>
              <a:spcBef>
                <a:spcPts val="0"/>
              </a:spcBef>
              <a:spcAft>
                <a:spcPts val="0"/>
              </a:spcAft>
              <a:defRPr sz="3800" b="1">
                <a:solidFill>
                  <a:srgbClr val="FF6633"/>
                </a:solidFill>
                <a:latin typeface="Nohemi"/>
              </a:defRPr>
            </a:pPr>
            <a:r>
              <a:t>03</a:t>
            </a:r>
          </a:p>
        </p:txBody>
      </p:sp>
      <p:sp>
        <p:nvSpPr>
          <p:cNvPr id="20" name="TextBox 19"/>
          <p:cNvSpPr txBox="1"/>
          <p:nvPr/>
        </p:nvSpPr>
        <p:spPr>
          <a:xfrm>
            <a:off x="1965960" y="7086599"/>
            <a:ext cx="7040880" cy="1143000"/>
          </a:xfrm>
          <a:prstGeom prst="rect">
            <a:avLst/>
          </a:prstGeom>
          <a:noFill/>
        </p:spPr>
        <p:txBody>
          <a:bodyPr wrap="square" lIns="0" rIns="0" tIns="0" bIns="0">
            <a:spAutoFit/>
          </a:bodyPr>
          <a:lstStyle/>
          <a:p>
            <a:pPr>
              <a:lnSpc>
                <a:spcPts val="3500"/>
              </a:lnSpc>
              <a:spcBef>
                <a:spcPts val="0"/>
              </a:spcBef>
              <a:spcAft>
                <a:spcPts val="0"/>
              </a:spcAft>
              <a:defRPr sz="2900" b="1">
                <a:solidFill>
                  <a:srgbClr val="002C49"/>
                </a:solidFill>
                <a:latin typeface="Montserrat"/>
              </a:defRPr>
            </a:pPr>
            <a:r>
              <a:t>Un portefeuille important,</a:t>
            </a:r>
          </a:p>
          <a:p>
            <a:pPr>
              <a:lnSpc>
                <a:spcPts val="3500"/>
              </a:lnSpc>
              <a:spcBef>
                <a:spcPts val="0"/>
              </a:spcBef>
              <a:spcAft>
                <a:spcPts val="0"/>
              </a:spcAft>
              <a:defRPr sz="2900" b="1">
                <a:solidFill>
                  <a:srgbClr val="002C49"/>
                </a:solidFill>
                <a:latin typeface="Montserrat"/>
              </a:defRPr>
            </a:pPr>
            <a:r>
              <a:t>des canaux à mieux articuler.</a:t>
            </a:r>
          </a:p>
        </p:txBody>
      </p:sp>
      <p:sp>
        <p:nvSpPr>
          <p:cNvPr id="21" name="TextBox 20"/>
          <p:cNvSpPr txBox="1"/>
          <p:nvPr/>
        </p:nvSpPr>
        <p:spPr>
          <a:xfrm>
            <a:off x="9601200" y="7086599"/>
            <a:ext cx="7498079" cy="987552"/>
          </a:xfrm>
          <a:prstGeom prst="rect">
            <a:avLst/>
          </a:prstGeom>
          <a:noFill/>
        </p:spPr>
        <p:txBody>
          <a:bodyPr wrap="square" lIns="0" rIns="0" tIns="0" bIns="0">
            <a:spAutoFit/>
          </a:bodyPr>
          <a:lstStyle/>
          <a:p>
            <a:pPr>
              <a:lnSpc>
                <a:spcPts val="3500"/>
              </a:lnSpc>
              <a:spcBef>
                <a:spcPts val="0"/>
              </a:spcBef>
              <a:spcAft>
                <a:spcPts val="0"/>
              </a:spcAft>
              <a:defRPr sz="2800" b="0">
                <a:solidFill>
                  <a:srgbClr val="526777"/>
                </a:solidFill>
                <a:latin typeface="Montserrat"/>
              </a:defRPr>
            </a:pPr>
            <a:r>
              <a:t>Prioriser, mutualiser et capitaliser</a:t>
            </a:r>
          </a:p>
          <a:p>
            <a:pPr>
              <a:lnSpc>
                <a:spcPts val="3500"/>
              </a:lnSpc>
              <a:spcBef>
                <a:spcPts val="0"/>
              </a:spcBef>
              <a:spcAft>
                <a:spcPts val="0"/>
              </a:spcAft>
              <a:defRPr sz="2800" b="0">
                <a:solidFill>
                  <a:srgbClr val="526777"/>
                </a:solidFill>
                <a:latin typeface="Montserrat"/>
              </a:defRPr>
            </a:pPr>
            <a:r>
              <a:t>pour éviter les doublons.</a:t>
            </a:r>
          </a:p>
        </p:txBody>
      </p:sp>
      <p:sp>
        <p:nvSpPr>
          <p:cNvPr id="22" name="Rectangle 21"/>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3" name="TextBox 22"/>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Faire mieux, pas plus : moins de dispositifs isolés, davantage de cohérence et de capitalisation.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02 / AMBITION</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Piloter. Orchestrer. Influencer.</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Passer d’une logique de production et de diffusion à une logique de pilotage, d’orchestration et d’influence.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03</a:t>
            </a:r>
          </a:p>
        </p:txBody>
      </p:sp>
      <p:sp>
        <p:nvSpPr>
          <p:cNvPr id="9" name="TextBox 8"/>
          <p:cNvSpPr txBox="1"/>
          <p:nvPr/>
        </p:nvSpPr>
        <p:spPr>
          <a:xfrm>
            <a:off x="868680" y="4114800"/>
            <a:ext cx="5257800" cy="59436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PILOTER</a:t>
            </a:r>
          </a:p>
        </p:txBody>
      </p:sp>
      <p:sp>
        <p:nvSpPr>
          <p:cNvPr id="10" name="Rectangle 9"/>
          <p:cNvSpPr/>
          <p:nvPr/>
        </p:nvSpPr>
        <p:spPr>
          <a:xfrm>
            <a:off x="868680" y="5029200"/>
            <a:ext cx="4983480" cy="10972"/>
          </a:xfrm>
          <a:prstGeom prst="rect">
            <a:avLst/>
          </a:prstGeom>
          <a:solidFill>
            <a:srgbClr val="D9E2E7"/>
          </a:solidFill>
          <a:ln>
            <a:noFill/>
          </a:ln>
        </p:spPr>
        <p:txBody>
          <a:bodyPr rtlCol="0" anchor="ctr"/>
          <a:lstStyle/>
          <a:p>
            <a:pPr algn="ctr"/>
          </a:p>
        </p:txBody>
      </p:sp>
      <p:sp>
        <p:nvSpPr>
          <p:cNvPr id="11" name="TextBox 10"/>
          <p:cNvSpPr txBox="1"/>
          <p:nvPr/>
        </p:nvSpPr>
        <p:spPr>
          <a:xfrm>
            <a:off x="868680" y="5349240"/>
            <a:ext cx="4983480" cy="1737360"/>
          </a:xfrm>
          <a:prstGeom prst="rect">
            <a:avLst/>
          </a:prstGeom>
          <a:noFill/>
        </p:spPr>
        <p:txBody>
          <a:bodyPr wrap="square" lIns="0" rIns="0" tIns="0" bIns="0">
            <a:spAutoFit/>
          </a:bodyPr>
          <a:lstStyle/>
          <a:p>
            <a:pPr>
              <a:lnSpc>
                <a:spcPts val="3600"/>
              </a:lnSpc>
              <a:spcBef>
                <a:spcPts val="0"/>
              </a:spcBef>
              <a:spcAft>
                <a:spcPts val="0"/>
              </a:spcAft>
              <a:defRPr sz="2900" b="0">
                <a:solidFill>
                  <a:srgbClr val="002C49"/>
                </a:solidFill>
                <a:latin typeface="Montserrat"/>
              </a:defRPr>
            </a:pPr>
            <a:r>
              <a:t>Choisir et séquencer</a:t>
            </a:r>
          </a:p>
          <a:p>
            <a:pPr>
              <a:lnSpc>
                <a:spcPts val="3600"/>
              </a:lnSpc>
              <a:spcBef>
                <a:spcPts val="0"/>
              </a:spcBef>
              <a:spcAft>
                <a:spcPts val="0"/>
              </a:spcAft>
              <a:defRPr sz="2900" b="0">
                <a:solidFill>
                  <a:srgbClr val="002C49"/>
                </a:solidFill>
                <a:latin typeface="Montserrat"/>
              </a:defRPr>
            </a:pPr>
            <a:r>
              <a:t>les priorités.</a:t>
            </a:r>
          </a:p>
        </p:txBody>
      </p:sp>
      <p:sp>
        <p:nvSpPr>
          <p:cNvPr id="12" name="TextBox 11"/>
          <p:cNvSpPr txBox="1"/>
          <p:nvPr/>
        </p:nvSpPr>
        <p:spPr>
          <a:xfrm>
            <a:off x="6446520" y="4114800"/>
            <a:ext cx="5257800" cy="59436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ORCHESTRER</a:t>
            </a:r>
          </a:p>
        </p:txBody>
      </p:sp>
      <p:sp>
        <p:nvSpPr>
          <p:cNvPr id="13" name="Rectangle 12"/>
          <p:cNvSpPr/>
          <p:nvPr/>
        </p:nvSpPr>
        <p:spPr>
          <a:xfrm>
            <a:off x="6446520" y="5029200"/>
            <a:ext cx="4983480" cy="10972"/>
          </a:xfrm>
          <a:prstGeom prst="rect">
            <a:avLst/>
          </a:prstGeom>
          <a:solidFill>
            <a:srgbClr val="D9E2E7"/>
          </a:solidFill>
          <a:ln>
            <a:noFill/>
          </a:ln>
        </p:spPr>
        <p:txBody>
          <a:bodyPr rtlCol="0" anchor="ctr"/>
          <a:lstStyle/>
          <a:p>
            <a:pPr algn="ctr"/>
          </a:p>
        </p:txBody>
      </p:sp>
      <p:sp>
        <p:nvSpPr>
          <p:cNvPr id="14" name="TextBox 13"/>
          <p:cNvSpPr txBox="1"/>
          <p:nvPr/>
        </p:nvSpPr>
        <p:spPr>
          <a:xfrm>
            <a:off x="6446520" y="5349240"/>
            <a:ext cx="4983480" cy="1737360"/>
          </a:xfrm>
          <a:prstGeom prst="rect">
            <a:avLst/>
          </a:prstGeom>
          <a:noFill/>
        </p:spPr>
        <p:txBody>
          <a:bodyPr wrap="square" lIns="0" rIns="0" tIns="0" bIns="0">
            <a:spAutoFit/>
          </a:bodyPr>
          <a:lstStyle/>
          <a:p>
            <a:pPr>
              <a:lnSpc>
                <a:spcPts val="3600"/>
              </a:lnSpc>
              <a:spcBef>
                <a:spcPts val="0"/>
              </a:spcBef>
              <a:spcAft>
                <a:spcPts val="0"/>
              </a:spcAft>
              <a:defRPr sz="2900" b="0">
                <a:solidFill>
                  <a:srgbClr val="002C49"/>
                </a:solidFill>
                <a:latin typeface="Montserrat"/>
              </a:defRPr>
            </a:pPr>
            <a:r>
              <a:t>Faire travailler ensemble</a:t>
            </a:r>
          </a:p>
          <a:p>
            <a:pPr>
              <a:lnSpc>
                <a:spcPts val="3600"/>
              </a:lnSpc>
              <a:spcBef>
                <a:spcPts val="0"/>
              </a:spcBef>
              <a:spcAft>
                <a:spcPts val="0"/>
              </a:spcAft>
              <a:defRPr sz="2900" b="0">
                <a:solidFill>
                  <a:srgbClr val="002C49"/>
                </a:solidFill>
                <a:latin typeface="Montserrat"/>
              </a:defRPr>
            </a:pPr>
            <a:r>
              <a:t>messages, projets et canaux.</a:t>
            </a:r>
          </a:p>
        </p:txBody>
      </p:sp>
      <p:sp>
        <p:nvSpPr>
          <p:cNvPr id="15" name="TextBox 14"/>
          <p:cNvSpPr txBox="1"/>
          <p:nvPr/>
        </p:nvSpPr>
        <p:spPr>
          <a:xfrm>
            <a:off x="12024359" y="4114800"/>
            <a:ext cx="5257800" cy="594360"/>
          </a:xfrm>
          <a:prstGeom prst="rect">
            <a:avLst/>
          </a:prstGeom>
          <a:noFill/>
        </p:spPr>
        <p:txBody>
          <a:bodyPr wrap="square" lIns="0" rIns="0" tIns="0" bIns="0">
            <a:spAutoFit/>
          </a:bodyPr>
          <a:lstStyle/>
          <a:p>
            <a:pPr>
              <a:lnSpc>
                <a:spcPts val="4551"/>
              </a:lnSpc>
              <a:spcBef>
                <a:spcPts val="0"/>
              </a:spcBef>
              <a:spcAft>
                <a:spcPts val="0"/>
              </a:spcAft>
              <a:defRPr sz="3700" b="1">
                <a:solidFill>
                  <a:srgbClr val="FF6633"/>
                </a:solidFill>
                <a:latin typeface="Nohemi"/>
              </a:defRPr>
            </a:pPr>
            <a:r>
              <a:t>INFLUENCER</a:t>
            </a:r>
          </a:p>
        </p:txBody>
      </p:sp>
      <p:sp>
        <p:nvSpPr>
          <p:cNvPr id="16" name="Rectangle 15"/>
          <p:cNvSpPr/>
          <p:nvPr/>
        </p:nvSpPr>
        <p:spPr>
          <a:xfrm>
            <a:off x="12024359" y="5029200"/>
            <a:ext cx="4983480" cy="10972"/>
          </a:xfrm>
          <a:prstGeom prst="rect">
            <a:avLst/>
          </a:prstGeom>
          <a:solidFill>
            <a:srgbClr val="D9E2E7"/>
          </a:solidFill>
          <a:ln>
            <a:noFill/>
          </a:ln>
        </p:spPr>
        <p:txBody>
          <a:bodyPr rtlCol="0" anchor="ctr"/>
          <a:lstStyle/>
          <a:p>
            <a:pPr algn="ctr"/>
          </a:p>
        </p:txBody>
      </p:sp>
      <p:sp>
        <p:nvSpPr>
          <p:cNvPr id="17" name="TextBox 16"/>
          <p:cNvSpPr txBox="1"/>
          <p:nvPr/>
        </p:nvSpPr>
        <p:spPr>
          <a:xfrm>
            <a:off x="12024359" y="5349240"/>
            <a:ext cx="4983480" cy="1737360"/>
          </a:xfrm>
          <a:prstGeom prst="rect">
            <a:avLst/>
          </a:prstGeom>
          <a:noFill/>
        </p:spPr>
        <p:txBody>
          <a:bodyPr wrap="square" lIns="0" rIns="0" tIns="0" bIns="0">
            <a:spAutoFit/>
          </a:bodyPr>
          <a:lstStyle/>
          <a:p>
            <a:pPr>
              <a:lnSpc>
                <a:spcPts val="3600"/>
              </a:lnSpc>
              <a:spcBef>
                <a:spcPts val="0"/>
              </a:spcBef>
              <a:spcAft>
                <a:spcPts val="0"/>
              </a:spcAft>
              <a:defRPr sz="2900" b="0">
                <a:solidFill>
                  <a:srgbClr val="002C49"/>
                </a:solidFill>
                <a:latin typeface="Montserrat"/>
              </a:defRPr>
            </a:pPr>
            <a:r>
              <a:t>Contribuer à l’adoption,</a:t>
            </a:r>
          </a:p>
          <a:p>
            <a:pPr>
              <a:lnSpc>
                <a:spcPts val="3600"/>
              </a:lnSpc>
              <a:spcBef>
                <a:spcPts val="0"/>
              </a:spcBef>
              <a:spcAft>
                <a:spcPts val="0"/>
              </a:spcAft>
              <a:defRPr sz="2900" b="0">
                <a:solidFill>
                  <a:srgbClr val="002C49"/>
                </a:solidFill>
                <a:latin typeface="Montserrat"/>
              </a:defRPr>
            </a:pPr>
            <a:r>
              <a:t>à la crédibilité et à la mobilisation.</a:t>
            </a:r>
          </a:p>
        </p:txBody>
      </p:sp>
      <p:sp>
        <p:nvSpPr>
          <p:cNvPr id="18" name="TextBox 17"/>
          <p:cNvSpPr txBox="1"/>
          <p:nvPr/>
        </p:nvSpPr>
        <p:spPr>
          <a:xfrm>
            <a:off x="868680" y="7863840"/>
            <a:ext cx="16550640" cy="548640"/>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PRIORISER  /  MUTUALISER  /  RÉUTILISER  /  FUSIONNER</a:t>
            </a:r>
          </a:p>
        </p:txBody>
      </p:sp>
      <p:sp>
        <p:nvSpPr>
          <p:cNvPr id="19" name="Rectangle 18"/>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0" name="TextBox 19"/>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La Communication contribue aux résultats avec les équipes responsables ; elle ne les porte pas seule.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03 / LEYTON 2030</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Quatre grands récits à rendre visibles.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Les projets sont les preuves et dispositifs qui servent ces récits.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04</a:t>
            </a:r>
          </a:p>
        </p:txBody>
      </p:sp>
      <p:sp>
        <p:nvSpPr>
          <p:cNvPr id="9" name="Rectangle 8"/>
          <p:cNvSpPr/>
          <p:nvPr/>
        </p:nvSpPr>
        <p:spPr>
          <a:xfrm>
            <a:off x="868680" y="3520440"/>
            <a:ext cx="8138160" cy="2240280"/>
          </a:xfrm>
          <a:prstGeom prst="rect">
            <a:avLst/>
          </a:prstGeom>
          <a:solidFill>
            <a:srgbClr val="F7F7F3"/>
          </a:solidFill>
          <a:ln>
            <a:noFill/>
          </a:ln>
        </p:spPr>
        <p:txBody>
          <a:bodyPr rtlCol="0" anchor="ctr"/>
          <a:lstStyle/>
          <a:p>
            <a:pPr algn="ctr"/>
          </a:p>
        </p:txBody>
      </p:sp>
      <p:sp>
        <p:nvSpPr>
          <p:cNvPr id="10" name="TextBox 9"/>
          <p:cNvSpPr txBox="1"/>
          <p:nvPr/>
        </p:nvSpPr>
        <p:spPr>
          <a:xfrm>
            <a:off x="1143000" y="3749039"/>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Discipline financière &amp; performance</a:t>
            </a:r>
          </a:p>
        </p:txBody>
      </p:sp>
      <p:sp>
        <p:nvSpPr>
          <p:cNvPr id="11" name="TextBox 10"/>
          <p:cNvSpPr txBox="1"/>
          <p:nvPr/>
        </p:nvSpPr>
        <p:spPr>
          <a:xfrm>
            <a:off x="1143000" y="4233672"/>
            <a:ext cx="758952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PERFORMANCE</a:t>
            </a:r>
          </a:p>
        </p:txBody>
      </p:sp>
      <p:sp>
        <p:nvSpPr>
          <p:cNvPr id="12" name="TextBox 11"/>
          <p:cNvSpPr txBox="1"/>
          <p:nvPr/>
        </p:nvSpPr>
        <p:spPr>
          <a:xfrm>
            <a:off x="1143000" y="4892040"/>
            <a:ext cx="7589520" cy="777240"/>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Faire mieux, mieux choisir,</a:t>
            </a:r>
          </a:p>
          <a:p>
            <a:pPr>
              <a:lnSpc>
                <a:spcPts val="3100"/>
              </a:lnSpc>
              <a:spcBef>
                <a:spcPts val="0"/>
              </a:spcBef>
              <a:spcAft>
                <a:spcPts val="0"/>
              </a:spcAft>
              <a:defRPr sz="2500" b="0">
                <a:solidFill>
                  <a:srgbClr val="526777"/>
                </a:solidFill>
                <a:latin typeface="Montserrat"/>
              </a:defRPr>
            </a:pPr>
            <a:r>
              <a:t>rendre la performance compréhensible.</a:t>
            </a:r>
          </a:p>
        </p:txBody>
      </p:sp>
      <p:sp>
        <p:nvSpPr>
          <p:cNvPr id="13" name="Rectangle 12"/>
          <p:cNvSpPr/>
          <p:nvPr/>
        </p:nvSpPr>
        <p:spPr>
          <a:xfrm>
            <a:off x="9372600" y="3520440"/>
            <a:ext cx="8138160" cy="2240280"/>
          </a:xfrm>
          <a:prstGeom prst="rect">
            <a:avLst/>
          </a:prstGeom>
          <a:solidFill>
            <a:srgbClr val="F7F7F3"/>
          </a:solidFill>
          <a:ln>
            <a:noFill/>
          </a:ln>
        </p:spPr>
        <p:txBody>
          <a:bodyPr rtlCol="0" anchor="ctr"/>
          <a:lstStyle/>
          <a:p>
            <a:pPr algn="ctr"/>
          </a:p>
        </p:txBody>
      </p:sp>
      <p:sp>
        <p:nvSpPr>
          <p:cNvPr id="14" name="TextBox 13"/>
          <p:cNvSpPr txBox="1"/>
          <p:nvPr/>
        </p:nvSpPr>
        <p:spPr>
          <a:xfrm>
            <a:off x="9646920" y="3749039"/>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Montée en gamme &amp; leadership marché</a:t>
            </a:r>
          </a:p>
        </p:txBody>
      </p:sp>
      <p:sp>
        <p:nvSpPr>
          <p:cNvPr id="15" name="TextBox 14"/>
          <p:cNvSpPr txBox="1"/>
          <p:nvPr/>
        </p:nvSpPr>
        <p:spPr>
          <a:xfrm>
            <a:off x="9646920" y="4233672"/>
            <a:ext cx="758952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MONTÉE EN GAMME</a:t>
            </a:r>
          </a:p>
        </p:txBody>
      </p:sp>
      <p:sp>
        <p:nvSpPr>
          <p:cNvPr id="16" name="TextBox 15"/>
          <p:cNvSpPr txBox="1"/>
          <p:nvPr/>
        </p:nvSpPr>
        <p:spPr>
          <a:xfrm>
            <a:off x="9646920" y="4892040"/>
            <a:ext cx="7589520" cy="777240"/>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Renforcer la perception d’expertise,</a:t>
            </a:r>
          </a:p>
          <a:p>
            <a:pPr>
              <a:lnSpc>
                <a:spcPts val="3100"/>
              </a:lnSpc>
              <a:spcBef>
                <a:spcPts val="0"/>
              </a:spcBef>
              <a:spcAft>
                <a:spcPts val="0"/>
              </a:spcAft>
              <a:defRPr sz="2500" b="0">
                <a:solidFill>
                  <a:srgbClr val="526777"/>
                </a:solidFill>
                <a:latin typeface="Montserrat"/>
              </a:defRPr>
            </a:pPr>
            <a:r>
              <a:t>de valeur et de crédibilité.</a:t>
            </a:r>
          </a:p>
        </p:txBody>
      </p:sp>
      <p:sp>
        <p:nvSpPr>
          <p:cNvPr id="17" name="Rectangle 16"/>
          <p:cNvSpPr/>
          <p:nvPr/>
        </p:nvSpPr>
        <p:spPr>
          <a:xfrm>
            <a:off x="868680" y="6035040"/>
            <a:ext cx="8138160" cy="2240280"/>
          </a:xfrm>
          <a:prstGeom prst="rect">
            <a:avLst/>
          </a:prstGeom>
          <a:solidFill>
            <a:srgbClr val="F7F7F3"/>
          </a:solidFill>
          <a:ln>
            <a:noFill/>
          </a:ln>
        </p:spPr>
        <p:txBody>
          <a:bodyPr rtlCol="0" anchor="ctr"/>
          <a:lstStyle/>
          <a:p>
            <a:pPr algn="ctr"/>
          </a:p>
        </p:txBody>
      </p:sp>
      <p:sp>
        <p:nvSpPr>
          <p:cNvPr id="18" name="TextBox 17"/>
          <p:cNvSpPr txBox="1"/>
          <p:nvPr/>
        </p:nvSpPr>
        <p:spPr>
          <a:xfrm>
            <a:off x="1143000" y="6263640"/>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Digital, IA &amp; outils</a:t>
            </a:r>
          </a:p>
        </p:txBody>
      </p:sp>
      <p:sp>
        <p:nvSpPr>
          <p:cNvPr id="19" name="TextBox 18"/>
          <p:cNvSpPr txBox="1"/>
          <p:nvPr/>
        </p:nvSpPr>
        <p:spPr>
          <a:xfrm>
            <a:off x="1143000" y="6748272"/>
            <a:ext cx="758952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DIGITAL / IA / OUTILS</a:t>
            </a:r>
          </a:p>
        </p:txBody>
      </p:sp>
      <p:sp>
        <p:nvSpPr>
          <p:cNvPr id="20" name="TextBox 19"/>
          <p:cNvSpPr txBox="1"/>
          <p:nvPr/>
        </p:nvSpPr>
        <p:spPr>
          <a:xfrm>
            <a:off x="1143000" y="7406640"/>
            <a:ext cx="7589520" cy="777240"/>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Accompagner la transformation</a:t>
            </a:r>
          </a:p>
          <a:p>
            <a:pPr>
              <a:lnSpc>
                <a:spcPts val="3100"/>
              </a:lnSpc>
              <a:spcBef>
                <a:spcPts val="0"/>
              </a:spcBef>
              <a:spcAft>
                <a:spcPts val="0"/>
              </a:spcAft>
              <a:defRPr sz="2500" b="0">
                <a:solidFill>
                  <a:srgbClr val="526777"/>
                </a:solidFill>
                <a:latin typeface="Montserrat"/>
              </a:defRPr>
            </a:pPr>
            <a:r>
              <a:t>des métiers et des usages.</a:t>
            </a:r>
          </a:p>
        </p:txBody>
      </p:sp>
      <p:sp>
        <p:nvSpPr>
          <p:cNvPr id="21" name="Rectangle 20"/>
          <p:cNvSpPr/>
          <p:nvPr/>
        </p:nvSpPr>
        <p:spPr>
          <a:xfrm>
            <a:off x="9372600" y="6035040"/>
            <a:ext cx="8138160" cy="2240280"/>
          </a:xfrm>
          <a:prstGeom prst="rect">
            <a:avLst/>
          </a:prstGeom>
          <a:solidFill>
            <a:srgbClr val="F7F7F3"/>
          </a:solidFill>
          <a:ln>
            <a:noFill/>
          </a:ln>
        </p:spPr>
        <p:txBody>
          <a:bodyPr rtlCol="0" anchor="ctr"/>
          <a:lstStyle/>
          <a:p>
            <a:pPr algn="ctr"/>
          </a:p>
        </p:txBody>
      </p:sp>
      <p:sp>
        <p:nvSpPr>
          <p:cNvPr id="22" name="TextBox 21"/>
          <p:cNvSpPr txBox="1"/>
          <p:nvPr/>
        </p:nvSpPr>
        <p:spPr>
          <a:xfrm>
            <a:off x="9646920" y="6263640"/>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526777"/>
                </a:solidFill>
                <a:latin typeface="Montserrat"/>
              </a:defRPr>
            </a:pPr>
            <a:r>
              <a:t>Culture, équipes &amp; collectif</a:t>
            </a:r>
          </a:p>
        </p:txBody>
      </p:sp>
      <p:sp>
        <p:nvSpPr>
          <p:cNvPr id="23" name="TextBox 22"/>
          <p:cNvSpPr txBox="1"/>
          <p:nvPr/>
        </p:nvSpPr>
        <p:spPr>
          <a:xfrm>
            <a:off x="9646920" y="6748272"/>
            <a:ext cx="7589520" cy="640080"/>
          </a:xfrm>
          <a:prstGeom prst="rect">
            <a:avLst/>
          </a:prstGeom>
          <a:noFill/>
        </p:spPr>
        <p:txBody>
          <a:bodyPr wrap="square" lIns="0" rIns="0" tIns="0" bIns="0">
            <a:spAutoFit/>
          </a:bodyPr>
          <a:lstStyle/>
          <a:p>
            <a:pPr>
              <a:lnSpc>
                <a:spcPts val="3936"/>
              </a:lnSpc>
              <a:spcBef>
                <a:spcPts val="0"/>
              </a:spcBef>
              <a:spcAft>
                <a:spcPts val="0"/>
              </a:spcAft>
              <a:defRPr sz="3200" b="1">
                <a:solidFill>
                  <a:srgbClr val="002C49"/>
                </a:solidFill>
                <a:latin typeface="Montserrat"/>
              </a:defRPr>
            </a:pPr>
            <a:r>
              <a:t>CULTURE &amp; COLLECTIF</a:t>
            </a:r>
          </a:p>
        </p:txBody>
      </p:sp>
      <p:sp>
        <p:nvSpPr>
          <p:cNvPr id="24" name="TextBox 23"/>
          <p:cNvSpPr txBox="1"/>
          <p:nvPr/>
        </p:nvSpPr>
        <p:spPr>
          <a:xfrm>
            <a:off x="9646920" y="7406640"/>
            <a:ext cx="7589520" cy="777240"/>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Renforcer compréhension, engagement,</a:t>
            </a:r>
          </a:p>
          <a:p>
            <a:pPr>
              <a:lnSpc>
                <a:spcPts val="3100"/>
              </a:lnSpc>
              <a:spcBef>
                <a:spcPts val="0"/>
              </a:spcBef>
              <a:spcAft>
                <a:spcPts val="0"/>
              </a:spcAft>
              <a:defRPr sz="2500" b="0">
                <a:solidFill>
                  <a:srgbClr val="526777"/>
                </a:solidFill>
                <a:latin typeface="Montserrat"/>
              </a:defRPr>
            </a:pPr>
            <a:r>
              <a:t>collaboration et culture commune.</a:t>
            </a:r>
          </a:p>
        </p:txBody>
      </p:sp>
      <p:sp>
        <p:nvSpPr>
          <p:cNvPr id="25" name="Rectangle 24"/>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6" name="TextBox 25"/>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Une action peut servir plusieurs récits. Aucun projet n’est créé pour remplir une case.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04 / CONTRIBUTIONS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Trois piliers au service de Leyton 2030.</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Contributions principales — les piliers se croisent, ils ne se succèdent pas.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05</a:t>
            </a:r>
          </a:p>
        </p:txBody>
      </p:sp>
      <p:sp>
        <p:nvSpPr>
          <p:cNvPr id="9" name="TextBox 8"/>
          <p:cNvSpPr txBox="1"/>
          <p:nvPr/>
        </p:nvSpPr>
        <p:spPr>
          <a:xfrm>
            <a:off x="868680" y="3520440"/>
            <a:ext cx="5303520" cy="438912"/>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LEYTON 2030</a:t>
            </a:r>
          </a:p>
        </p:txBody>
      </p:sp>
      <p:sp>
        <p:nvSpPr>
          <p:cNvPr id="10" name="TextBox 9"/>
          <p:cNvSpPr txBox="1"/>
          <p:nvPr/>
        </p:nvSpPr>
        <p:spPr>
          <a:xfrm>
            <a:off x="6492240" y="3520440"/>
            <a:ext cx="3337560" cy="438912"/>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CHANGE</a:t>
            </a:r>
          </a:p>
        </p:txBody>
      </p:sp>
      <p:sp>
        <p:nvSpPr>
          <p:cNvPr id="11" name="TextBox 10"/>
          <p:cNvSpPr txBox="1"/>
          <p:nvPr/>
        </p:nvSpPr>
        <p:spPr>
          <a:xfrm>
            <a:off x="10149840" y="3520440"/>
            <a:ext cx="3337560" cy="438912"/>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BUSINESS</a:t>
            </a:r>
          </a:p>
        </p:txBody>
      </p:sp>
      <p:sp>
        <p:nvSpPr>
          <p:cNvPr id="12" name="TextBox 11"/>
          <p:cNvSpPr txBox="1"/>
          <p:nvPr/>
        </p:nvSpPr>
        <p:spPr>
          <a:xfrm>
            <a:off x="13807440" y="3520440"/>
            <a:ext cx="3520440" cy="438912"/>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PEOPLE</a:t>
            </a:r>
          </a:p>
        </p:txBody>
      </p:sp>
      <p:sp>
        <p:nvSpPr>
          <p:cNvPr id="13" name="Rectangle 12"/>
          <p:cNvSpPr/>
          <p:nvPr/>
        </p:nvSpPr>
        <p:spPr>
          <a:xfrm>
            <a:off x="868680" y="4069080"/>
            <a:ext cx="16550640" cy="10972"/>
          </a:xfrm>
          <a:prstGeom prst="rect">
            <a:avLst/>
          </a:prstGeom>
          <a:solidFill>
            <a:srgbClr val="002C49"/>
          </a:solidFill>
          <a:ln>
            <a:noFill/>
          </a:ln>
        </p:spPr>
        <p:txBody>
          <a:bodyPr rtlCol="0" anchor="ctr"/>
          <a:lstStyle/>
          <a:p>
            <a:pPr algn="ctr"/>
          </a:p>
        </p:txBody>
      </p:sp>
      <p:sp>
        <p:nvSpPr>
          <p:cNvPr id="14" name="TextBox 13"/>
          <p:cNvSpPr txBox="1"/>
          <p:nvPr/>
        </p:nvSpPr>
        <p:spPr>
          <a:xfrm>
            <a:off x="868680" y="4297680"/>
            <a:ext cx="5303520" cy="822960"/>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Discipline financière</a:t>
            </a:r>
          </a:p>
          <a:p>
            <a:pPr>
              <a:lnSpc>
                <a:spcPts val="2900"/>
              </a:lnSpc>
              <a:spcBef>
                <a:spcPts val="0"/>
              </a:spcBef>
              <a:spcAft>
                <a:spcPts val="0"/>
              </a:spcAft>
              <a:defRPr sz="2500" b="1">
                <a:solidFill>
                  <a:srgbClr val="002C49"/>
                </a:solidFill>
                <a:latin typeface="Montserrat"/>
              </a:defRPr>
            </a:pPr>
            <a:r>
              <a:t>&amp; performance</a:t>
            </a:r>
          </a:p>
        </p:txBody>
      </p:sp>
      <p:sp>
        <p:nvSpPr>
          <p:cNvPr id="15" name="TextBox 14"/>
          <p:cNvSpPr txBox="1"/>
          <p:nvPr/>
        </p:nvSpPr>
        <p:spPr>
          <a:xfrm>
            <a:off x="6492240" y="4297680"/>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Lisibilité de</a:t>
            </a:r>
          </a:p>
          <a:p>
            <a:pPr>
              <a:lnSpc>
                <a:spcPts val="2900"/>
              </a:lnSpc>
              <a:spcBef>
                <a:spcPts val="0"/>
              </a:spcBef>
              <a:spcAft>
                <a:spcPts val="0"/>
              </a:spcAft>
              <a:defRPr sz="2500" b="0">
                <a:solidFill>
                  <a:srgbClr val="526777"/>
                </a:solidFill>
                <a:latin typeface="Montserrat"/>
              </a:defRPr>
            </a:pPr>
            <a:r>
              <a:t>la performance</a:t>
            </a:r>
          </a:p>
        </p:txBody>
      </p:sp>
      <p:sp>
        <p:nvSpPr>
          <p:cNvPr id="16" name="TextBox 15"/>
          <p:cNvSpPr txBox="1"/>
          <p:nvPr/>
        </p:nvSpPr>
        <p:spPr>
          <a:xfrm>
            <a:off x="10149840" y="4297680"/>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Preuves de</a:t>
            </a:r>
          </a:p>
          <a:p>
            <a:pPr>
              <a:lnSpc>
                <a:spcPts val="2900"/>
              </a:lnSpc>
              <a:spcBef>
                <a:spcPts val="0"/>
              </a:spcBef>
              <a:spcAft>
                <a:spcPts val="0"/>
              </a:spcAft>
              <a:defRPr sz="2500" b="0">
                <a:solidFill>
                  <a:srgbClr val="526777"/>
                </a:solidFill>
                <a:latin typeface="Montserrat"/>
              </a:defRPr>
            </a:pPr>
            <a:r>
              <a:t>valeur</a:t>
            </a:r>
          </a:p>
        </p:txBody>
      </p:sp>
      <p:sp>
        <p:nvSpPr>
          <p:cNvPr id="17" name="TextBox 16"/>
          <p:cNvSpPr txBox="1"/>
          <p:nvPr/>
        </p:nvSpPr>
        <p:spPr>
          <a:xfrm>
            <a:off x="13807440" y="4297680"/>
            <a:ext cx="352044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Repères</a:t>
            </a:r>
          </a:p>
          <a:p>
            <a:pPr>
              <a:lnSpc>
                <a:spcPts val="2900"/>
              </a:lnSpc>
              <a:spcBef>
                <a:spcPts val="0"/>
              </a:spcBef>
              <a:spcAft>
                <a:spcPts val="0"/>
              </a:spcAft>
              <a:defRPr sz="2500" b="0">
                <a:solidFill>
                  <a:srgbClr val="526777"/>
                </a:solidFill>
                <a:latin typeface="Montserrat"/>
              </a:defRPr>
            </a:pPr>
            <a:r>
              <a:t>collectifs</a:t>
            </a:r>
          </a:p>
        </p:txBody>
      </p:sp>
      <p:sp>
        <p:nvSpPr>
          <p:cNvPr id="18" name="Rectangle 17"/>
          <p:cNvSpPr/>
          <p:nvPr/>
        </p:nvSpPr>
        <p:spPr>
          <a:xfrm>
            <a:off x="868680" y="5166360"/>
            <a:ext cx="1655064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5266944"/>
            <a:ext cx="5303520" cy="822960"/>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Montée en gamme</a:t>
            </a:r>
          </a:p>
          <a:p>
            <a:pPr>
              <a:lnSpc>
                <a:spcPts val="2900"/>
              </a:lnSpc>
              <a:spcBef>
                <a:spcPts val="0"/>
              </a:spcBef>
              <a:spcAft>
                <a:spcPts val="0"/>
              </a:spcAft>
              <a:defRPr sz="2500" b="1">
                <a:solidFill>
                  <a:srgbClr val="002C49"/>
                </a:solidFill>
                <a:latin typeface="Montserrat"/>
              </a:defRPr>
            </a:pPr>
            <a:r>
              <a:t>&amp; leadership marché</a:t>
            </a:r>
          </a:p>
        </p:txBody>
      </p:sp>
      <p:sp>
        <p:nvSpPr>
          <p:cNvPr id="20" name="TextBox 19"/>
          <p:cNvSpPr txBox="1"/>
          <p:nvPr/>
        </p:nvSpPr>
        <p:spPr>
          <a:xfrm>
            <a:off x="6492240" y="5266944"/>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Offres et expertises</a:t>
            </a:r>
          </a:p>
          <a:p>
            <a:pPr>
              <a:lnSpc>
                <a:spcPts val="2900"/>
              </a:lnSpc>
              <a:spcBef>
                <a:spcPts val="0"/>
              </a:spcBef>
              <a:spcAft>
                <a:spcPts val="0"/>
              </a:spcAft>
              <a:defRPr sz="2500" b="0">
                <a:solidFill>
                  <a:srgbClr val="526777"/>
                </a:solidFill>
                <a:latin typeface="Montserrat"/>
              </a:defRPr>
            </a:pPr>
            <a:r>
              <a:t>mobilisables</a:t>
            </a:r>
          </a:p>
        </p:txBody>
      </p:sp>
      <p:sp>
        <p:nvSpPr>
          <p:cNvPr id="21" name="TextBox 20"/>
          <p:cNvSpPr txBox="1"/>
          <p:nvPr/>
        </p:nvSpPr>
        <p:spPr>
          <a:xfrm>
            <a:off x="10149840" y="5266944"/>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Expertise</a:t>
            </a:r>
          </a:p>
          <a:p>
            <a:pPr>
              <a:lnSpc>
                <a:spcPts val="2900"/>
              </a:lnSpc>
              <a:spcBef>
                <a:spcPts val="0"/>
              </a:spcBef>
              <a:spcAft>
                <a:spcPts val="0"/>
              </a:spcAft>
              <a:defRPr sz="2500" b="0">
                <a:solidFill>
                  <a:srgbClr val="526777"/>
                </a:solidFill>
                <a:latin typeface="Montserrat"/>
              </a:defRPr>
            </a:pPr>
            <a:r>
              <a:t>et crédibilité</a:t>
            </a:r>
          </a:p>
        </p:txBody>
      </p:sp>
      <p:sp>
        <p:nvSpPr>
          <p:cNvPr id="22" name="TextBox 21"/>
          <p:cNvSpPr txBox="1"/>
          <p:nvPr/>
        </p:nvSpPr>
        <p:spPr>
          <a:xfrm>
            <a:off x="13807440" y="5266944"/>
            <a:ext cx="352044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Collaborations</a:t>
            </a:r>
          </a:p>
          <a:p>
            <a:pPr>
              <a:lnSpc>
                <a:spcPts val="2900"/>
              </a:lnSpc>
              <a:spcBef>
                <a:spcPts val="0"/>
              </a:spcBef>
              <a:spcAft>
                <a:spcPts val="0"/>
              </a:spcAft>
              <a:defRPr sz="2500" b="0">
                <a:solidFill>
                  <a:srgbClr val="526777"/>
                </a:solidFill>
                <a:latin typeface="Montserrat"/>
              </a:defRPr>
            </a:pPr>
            <a:r>
              <a:t>et expertises</a:t>
            </a:r>
          </a:p>
        </p:txBody>
      </p:sp>
      <p:sp>
        <p:nvSpPr>
          <p:cNvPr id="23" name="Rectangle 22"/>
          <p:cNvSpPr/>
          <p:nvPr/>
        </p:nvSpPr>
        <p:spPr>
          <a:xfrm>
            <a:off x="868680" y="6135624"/>
            <a:ext cx="1655064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6236208"/>
            <a:ext cx="5303520" cy="822960"/>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Digital, IA &amp; outils</a:t>
            </a:r>
          </a:p>
        </p:txBody>
      </p:sp>
      <p:sp>
        <p:nvSpPr>
          <p:cNvPr id="25" name="TextBox 24"/>
          <p:cNvSpPr txBox="1"/>
          <p:nvPr/>
        </p:nvSpPr>
        <p:spPr>
          <a:xfrm>
            <a:off x="6492240" y="6236208"/>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Adoption</a:t>
            </a:r>
          </a:p>
          <a:p>
            <a:pPr>
              <a:lnSpc>
                <a:spcPts val="2900"/>
              </a:lnSpc>
              <a:spcBef>
                <a:spcPts val="0"/>
              </a:spcBef>
              <a:spcAft>
                <a:spcPts val="0"/>
              </a:spcAft>
              <a:defRPr sz="2500" b="0">
                <a:solidFill>
                  <a:srgbClr val="526777"/>
                </a:solidFill>
                <a:latin typeface="Montserrat"/>
              </a:defRPr>
            </a:pPr>
            <a:r>
              <a:t>des usages</a:t>
            </a:r>
          </a:p>
        </p:txBody>
      </p:sp>
      <p:sp>
        <p:nvSpPr>
          <p:cNvPr id="26" name="TextBox 25"/>
          <p:cNvSpPr txBox="1"/>
          <p:nvPr/>
        </p:nvSpPr>
        <p:spPr>
          <a:xfrm>
            <a:off x="10149840" y="6236208"/>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Valeur pour</a:t>
            </a:r>
          </a:p>
          <a:p>
            <a:pPr>
              <a:lnSpc>
                <a:spcPts val="2900"/>
              </a:lnSpc>
              <a:spcBef>
                <a:spcPts val="0"/>
              </a:spcBef>
              <a:spcAft>
                <a:spcPts val="0"/>
              </a:spcAft>
              <a:defRPr sz="2500" b="0">
                <a:solidFill>
                  <a:srgbClr val="526777"/>
                </a:solidFill>
                <a:latin typeface="Montserrat"/>
              </a:defRPr>
            </a:pPr>
            <a:r>
              <a:t>le client</a:t>
            </a:r>
          </a:p>
        </p:txBody>
      </p:sp>
      <p:sp>
        <p:nvSpPr>
          <p:cNvPr id="27" name="TextBox 26"/>
          <p:cNvSpPr txBox="1"/>
          <p:nvPr/>
        </p:nvSpPr>
        <p:spPr>
          <a:xfrm>
            <a:off x="13807440" y="6236208"/>
            <a:ext cx="352044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Accès aux</a:t>
            </a:r>
          </a:p>
          <a:p>
            <a:pPr>
              <a:lnSpc>
                <a:spcPts val="2900"/>
              </a:lnSpc>
              <a:spcBef>
                <a:spcPts val="0"/>
              </a:spcBef>
              <a:spcAft>
                <a:spcPts val="0"/>
              </a:spcAft>
              <a:defRPr sz="2500" b="0">
                <a:solidFill>
                  <a:srgbClr val="526777"/>
                </a:solidFill>
                <a:latin typeface="Montserrat"/>
              </a:defRPr>
            </a:pPr>
            <a:r>
              <a:t>ressources</a:t>
            </a:r>
          </a:p>
        </p:txBody>
      </p:sp>
      <p:sp>
        <p:nvSpPr>
          <p:cNvPr id="28" name="Rectangle 27"/>
          <p:cNvSpPr/>
          <p:nvPr/>
        </p:nvSpPr>
        <p:spPr>
          <a:xfrm>
            <a:off x="868680" y="7104888"/>
            <a:ext cx="16550640" cy="10972"/>
          </a:xfrm>
          <a:prstGeom prst="rect">
            <a:avLst/>
          </a:prstGeom>
          <a:solidFill>
            <a:srgbClr val="D9E2E7"/>
          </a:solidFill>
          <a:ln>
            <a:noFill/>
          </a:ln>
        </p:spPr>
        <p:txBody>
          <a:bodyPr rtlCol="0" anchor="ctr"/>
          <a:lstStyle/>
          <a:p>
            <a:pPr algn="ctr"/>
          </a:p>
        </p:txBody>
      </p:sp>
      <p:sp>
        <p:nvSpPr>
          <p:cNvPr id="29" name="TextBox 28"/>
          <p:cNvSpPr txBox="1"/>
          <p:nvPr/>
        </p:nvSpPr>
        <p:spPr>
          <a:xfrm>
            <a:off x="868680" y="7205472"/>
            <a:ext cx="5303520" cy="822960"/>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Culture, équipes</a:t>
            </a:r>
          </a:p>
          <a:p>
            <a:pPr>
              <a:lnSpc>
                <a:spcPts val="2900"/>
              </a:lnSpc>
              <a:spcBef>
                <a:spcPts val="0"/>
              </a:spcBef>
              <a:spcAft>
                <a:spcPts val="0"/>
              </a:spcAft>
              <a:defRPr sz="2500" b="1">
                <a:solidFill>
                  <a:srgbClr val="002C49"/>
                </a:solidFill>
                <a:latin typeface="Montserrat"/>
              </a:defRPr>
            </a:pPr>
            <a:r>
              <a:t>&amp; collectif</a:t>
            </a:r>
          </a:p>
        </p:txBody>
      </p:sp>
      <p:sp>
        <p:nvSpPr>
          <p:cNvPr id="30" name="TextBox 29"/>
          <p:cNvSpPr txBox="1"/>
          <p:nvPr/>
        </p:nvSpPr>
        <p:spPr>
          <a:xfrm>
            <a:off x="6492240" y="7205472"/>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Sens des</a:t>
            </a:r>
          </a:p>
          <a:p>
            <a:pPr>
              <a:lnSpc>
                <a:spcPts val="2900"/>
              </a:lnSpc>
              <a:spcBef>
                <a:spcPts val="0"/>
              </a:spcBef>
              <a:spcAft>
                <a:spcPts val="0"/>
              </a:spcAft>
              <a:defRPr sz="2500" b="0">
                <a:solidFill>
                  <a:srgbClr val="526777"/>
                </a:solidFill>
                <a:latin typeface="Montserrat"/>
              </a:defRPr>
            </a:pPr>
            <a:r>
              <a:t>transformations</a:t>
            </a:r>
          </a:p>
        </p:txBody>
      </p:sp>
      <p:sp>
        <p:nvSpPr>
          <p:cNvPr id="31" name="TextBox 30"/>
          <p:cNvSpPr txBox="1"/>
          <p:nvPr/>
        </p:nvSpPr>
        <p:spPr>
          <a:xfrm>
            <a:off x="10149840" y="7205472"/>
            <a:ext cx="333756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a:t>
            </a:r>
          </a:p>
        </p:txBody>
      </p:sp>
      <p:sp>
        <p:nvSpPr>
          <p:cNvPr id="32" name="TextBox 31"/>
          <p:cNvSpPr txBox="1"/>
          <p:nvPr/>
        </p:nvSpPr>
        <p:spPr>
          <a:xfrm>
            <a:off x="13807440" y="7205472"/>
            <a:ext cx="3520440" cy="822960"/>
          </a:xfrm>
          <a:prstGeom prst="rect">
            <a:avLst/>
          </a:prstGeom>
          <a:noFill/>
        </p:spPr>
        <p:txBody>
          <a:bodyPr wrap="square" lIns="0" rIns="0" tIns="0" bIns="0">
            <a:spAutoFit/>
          </a:bodyPr>
          <a:lstStyle/>
          <a:p>
            <a:pPr>
              <a:lnSpc>
                <a:spcPts val="2900"/>
              </a:lnSpc>
              <a:spcBef>
                <a:spcPts val="0"/>
              </a:spcBef>
              <a:spcAft>
                <a:spcPts val="0"/>
              </a:spcAft>
              <a:defRPr sz="2500" b="0">
                <a:solidFill>
                  <a:srgbClr val="526777"/>
                </a:solidFill>
                <a:latin typeface="Montserrat"/>
              </a:defRPr>
            </a:pPr>
            <a:r>
              <a:t>Engagement</a:t>
            </a:r>
          </a:p>
          <a:p>
            <a:pPr>
              <a:lnSpc>
                <a:spcPts val="2900"/>
              </a:lnSpc>
              <a:spcBef>
                <a:spcPts val="0"/>
              </a:spcBef>
              <a:spcAft>
                <a:spcPts val="0"/>
              </a:spcAft>
              <a:defRPr sz="2500" b="0">
                <a:solidFill>
                  <a:srgbClr val="526777"/>
                </a:solidFill>
                <a:latin typeface="Montserrat"/>
              </a:defRPr>
            </a:pPr>
            <a:r>
              <a:t>et culture</a:t>
            </a:r>
          </a:p>
        </p:txBody>
      </p:sp>
      <p:sp>
        <p:nvSpPr>
          <p:cNvPr id="33" name="TextBox 32"/>
          <p:cNvSpPr txBox="1"/>
          <p:nvPr/>
        </p:nvSpPr>
        <p:spPr>
          <a:xfrm>
            <a:off x="868680" y="8430768"/>
            <a:ext cx="16550640" cy="566928"/>
          </a:xfrm>
          <a:prstGeom prst="rect">
            <a:avLst/>
          </a:prstGeom>
          <a:noFill/>
        </p:spPr>
        <p:txBody>
          <a:bodyPr wrap="square" lIns="0" rIns="0" tIns="0" bIns="0">
            <a:spAutoFit/>
          </a:bodyPr>
          <a:lstStyle/>
          <a:p>
            <a:pPr>
              <a:lnSpc>
                <a:spcPts val="2500"/>
              </a:lnSpc>
              <a:spcBef>
                <a:spcPts val="0"/>
              </a:spcBef>
              <a:spcAft>
                <a:spcPts val="0"/>
              </a:spcAft>
              <a:defRPr sz="2000" b="1">
                <a:solidFill>
                  <a:srgbClr val="002C49"/>
                </a:solidFill>
                <a:latin typeface="Montserrat"/>
              </a:defRPr>
            </a:pPr>
            <a:r>
              <a:t>CHANGE : comprendre / adopter  •  BUSINESS : preuve / crédibilité  •  PEOPLE : information / engagement / collectif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05 / CHOIX FY2026/27</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Six ensembles structurants. Un socle à maintenir.</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Hiérarchisation proposée ; le séquencement reste à arbitrer dans la capacité réelle.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06</a:t>
            </a:r>
          </a:p>
        </p:txBody>
      </p:sp>
      <p:sp>
        <p:nvSpPr>
          <p:cNvPr id="9" name="TextBox 8"/>
          <p:cNvSpPr txBox="1"/>
          <p:nvPr/>
        </p:nvSpPr>
        <p:spPr>
          <a:xfrm>
            <a:off x="868680" y="3566160"/>
            <a:ext cx="109728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PRIORITÉS STRUCTURANTES</a:t>
            </a:r>
          </a:p>
        </p:txBody>
      </p:sp>
      <p:sp>
        <p:nvSpPr>
          <p:cNvPr id="10" name="Rectangle 9"/>
          <p:cNvSpPr/>
          <p:nvPr/>
        </p:nvSpPr>
        <p:spPr>
          <a:xfrm>
            <a:off x="868680" y="4160520"/>
            <a:ext cx="5504688" cy="1060704"/>
          </a:xfrm>
          <a:prstGeom prst="rect">
            <a:avLst/>
          </a:prstGeom>
          <a:solidFill>
            <a:srgbClr val="F7F7F3"/>
          </a:solidFill>
          <a:ln>
            <a:noFill/>
          </a:ln>
        </p:spPr>
        <p:txBody>
          <a:bodyPr rtlCol="0" anchor="ctr"/>
          <a:lstStyle/>
          <a:p>
            <a:pPr algn="ctr"/>
          </a:p>
        </p:txBody>
      </p:sp>
      <p:sp>
        <p:nvSpPr>
          <p:cNvPr id="11" name="TextBox 10"/>
          <p:cNvSpPr txBox="1"/>
          <p:nvPr/>
        </p:nvSpPr>
        <p:spPr>
          <a:xfrm>
            <a:off x="1069848" y="4334256"/>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1</a:t>
            </a:r>
          </a:p>
        </p:txBody>
      </p:sp>
      <p:sp>
        <p:nvSpPr>
          <p:cNvPr id="12" name="TextBox 11"/>
          <p:cNvSpPr txBox="1"/>
          <p:nvPr/>
        </p:nvSpPr>
        <p:spPr>
          <a:xfrm>
            <a:off x="1691640" y="4270248"/>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Adoption de l’IA</a:t>
            </a:r>
          </a:p>
        </p:txBody>
      </p:sp>
      <p:sp>
        <p:nvSpPr>
          <p:cNvPr id="13" name="Rectangle 12"/>
          <p:cNvSpPr/>
          <p:nvPr/>
        </p:nvSpPr>
        <p:spPr>
          <a:xfrm>
            <a:off x="6675120" y="4160520"/>
            <a:ext cx="5504688" cy="1060704"/>
          </a:xfrm>
          <a:prstGeom prst="rect">
            <a:avLst/>
          </a:prstGeom>
          <a:solidFill>
            <a:srgbClr val="F7F7F3"/>
          </a:solidFill>
          <a:ln>
            <a:noFill/>
          </a:ln>
        </p:spPr>
        <p:txBody>
          <a:bodyPr rtlCol="0" anchor="ctr"/>
          <a:lstStyle/>
          <a:p>
            <a:pPr algn="ctr"/>
          </a:p>
        </p:txBody>
      </p:sp>
      <p:sp>
        <p:nvSpPr>
          <p:cNvPr id="14" name="TextBox 13"/>
          <p:cNvSpPr txBox="1"/>
          <p:nvPr/>
        </p:nvSpPr>
        <p:spPr>
          <a:xfrm>
            <a:off x="6876288" y="4334256"/>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2</a:t>
            </a:r>
          </a:p>
        </p:txBody>
      </p:sp>
      <p:sp>
        <p:nvSpPr>
          <p:cNvPr id="15" name="TextBox 14"/>
          <p:cNvSpPr txBox="1"/>
          <p:nvPr/>
        </p:nvSpPr>
        <p:spPr>
          <a:xfrm>
            <a:off x="7498079" y="4270248"/>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Toolbox / adoption des outils</a:t>
            </a:r>
          </a:p>
        </p:txBody>
      </p:sp>
      <p:sp>
        <p:nvSpPr>
          <p:cNvPr id="16" name="Rectangle 15"/>
          <p:cNvSpPr/>
          <p:nvPr/>
        </p:nvSpPr>
        <p:spPr>
          <a:xfrm>
            <a:off x="868680" y="5312664"/>
            <a:ext cx="5504688" cy="1060704"/>
          </a:xfrm>
          <a:prstGeom prst="rect">
            <a:avLst/>
          </a:prstGeom>
          <a:solidFill>
            <a:srgbClr val="F7F7F3"/>
          </a:solidFill>
          <a:ln>
            <a:noFill/>
          </a:ln>
        </p:spPr>
        <p:txBody>
          <a:bodyPr rtlCol="0" anchor="ctr"/>
          <a:lstStyle/>
          <a:p>
            <a:pPr algn="ctr"/>
          </a:p>
        </p:txBody>
      </p:sp>
      <p:sp>
        <p:nvSpPr>
          <p:cNvPr id="17" name="TextBox 16"/>
          <p:cNvSpPr txBox="1"/>
          <p:nvPr/>
        </p:nvSpPr>
        <p:spPr>
          <a:xfrm>
            <a:off x="1069848" y="5486400"/>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3</a:t>
            </a:r>
          </a:p>
        </p:txBody>
      </p:sp>
      <p:sp>
        <p:nvSpPr>
          <p:cNvPr id="18" name="TextBox 17"/>
          <p:cNvSpPr txBox="1"/>
          <p:nvPr/>
        </p:nvSpPr>
        <p:spPr>
          <a:xfrm>
            <a:off x="1691640" y="5422392"/>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Business Partner &amp; cross-sell</a:t>
            </a:r>
          </a:p>
        </p:txBody>
      </p:sp>
      <p:sp>
        <p:nvSpPr>
          <p:cNvPr id="19" name="Rectangle 18"/>
          <p:cNvSpPr/>
          <p:nvPr/>
        </p:nvSpPr>
        <p:spPr>
          <a:xfrm>
            <a:off x="6675120" y="5312664"/>
            <a:ext cx="5504688" cy="1060704"/>
          </a:xfrm>
          <a:prstGeom prst="rect">
            <a:avLst/>
          </a:prstGeom>
          <a:solidFill>
            <a:srgbClr val="F7F7F3"/>
          </a:solidFill>
          <a:ln>
            <a:noFill/>
          </a:ln>
        </p:spPr>
        <p:txBody>
          <a:bodyPr rtlCol="0" anchor="ctr"/>
          <a:lstStyle/>
          <a:p>
            <a:pPr algn="ctr"/>
          </a:p>
        </p:txBody>
      </p:sp>
      <p:sp>
        <p:nvSpPr>
          <p:cNvPr id="20" name="TextBox 19"/>
          <p:cNvSpPr txBox="1"/>
          <p:nvPr/>
        </p:nvSpPr>
        <p:spPr>
          <a:xfrm>
            <a:off x="6876288" y="5486400"/>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4</a:t>
            </a:r>
          </a:p>
        </p:txBody>
      </p:sp>
      <p:sp>
        <p:nvSpPr>
          <p:cNvPr id="21" name="TextBox 20"/>
          <p:cNvSpPr txBox="1"/>
          <p:nvPr/>
        </p:nvSpPr>
        <p:spPr>
          <a:xfrm>
            <a:off x="7498079" y="5422392"/>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Preuves &amp; montée en gamme</a:t>
            </a:r>
          </a:p>
        </p:txBody>
      </p:sp>
      <p:sp>
        <p:nvSpPr>
          <p:cNvPr id="22" name="Rectangle 21"/>
          <p:cNvSpPr/>
          <p:nvPr/>
        </p:nvSpPr>
        <p:spPr>
          <a:xfrm>
            <a:off x="868680" y="6464808"/>
            <a:ext cx="5504688" cy="1060704"/>
          </a:xfrm>
          <a:prstGeom prst="rect">
            <a:avLst/>
          </a:prstGeom>
          <a:solidFill>
            <a:srgbClr val="F7F7F3"/>
          </a:solidFill>
          <a:ln>
            <a:noFill/>
          </a:ln>
        </p:spPr>
        <p:txBody>
          <a:bodyPr rtlCol="0" anchor="ctr"/>
          <a:lstStyle/>
          <a:p>
            <a:pPr algn="ctr"/>
          </a:p>
        </p:txBody>
      </p:sp>
      <p:sp>
        <p:nvSpPr>
          <p:cNvPr id="23" name="TextBox 22"/>
          <p:cNvSpPr txBox="1"/>
          <p:nvPr/>
        </p:nvSpPr>
        <p:spPr>
          <a:xfrm>
            <a:off x="1069848" y="6638544"/>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5</a:t>
            </a:r>
          </a:p>
        </p:txBody>
      </p:sp>
      <p:sp>
        <p:nvSpPr>
          <p:cNvPr id="24" name="TextBox 23"/>
          <p:cNvSpPr txBox="1"/>
          <p:nvPr/>
        </p:nvSpPr>
        <p:spPr>
          <a:xfrm>
            <a:off x="1691640" y="6574536"/>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Performance</a:t>
            </a:r>
          </a:p>
        </p:txBody>
      </p:sp>
      <p:sp>
        <p:nvSpPr>
          <p:cNvPr id="25" name="Rectangle 24"/>
          <p:cNvSpPr/>
          <p:nvPr/>
        </p:nvSpPr>
        <p:spPr>
          <a:xfrm>
            <a:off x="6675120" y="6464808"/>
            <a:ext cx="5504688" cy="1060704"/>
          </a:xfrm>
          <a:prstGeom prst="rect">
            <a:avLst/>
          </a:prstGeom>
          <a:solidFill>
            <a:srgbClr val="F7F7F3"/>
          </a:solidFill>
          <a:ln>
            <a:noFill/>
          </a:ln>
        </p:spPr>
        <p:txBody>
          <a:bodyPr rtlCol="0" anchor="ctr"/>
          <a:lstStyle/>
          <a:p>
            <a:pPr algn="ctr"/>
          </a:p>
        </p:txBody>
      </p:sp>
      <p:sp>
        <p:nvSpPr>
          <p:cNvPr id="26" name="TextBox 25"/>
          <p:cNvSpPr txBox="1"/>
          <p:nvPr/>
        </p:nvSpPr>
        <p:spPr>
          <a:xfrm>
            <a:off x="6876288" y="6638544"/>
            <a:ext cx="502920" cy="548640"/>
          </a:xfrm>
          <a:prstGeom prst="rect">
            <a:avLst/>
          </a:prstGeom>
          <a:noFill/>
        </p:spPr>
        <p:txBody>
          <a:bodyPr wrap="square" lIns="0" rIns="0" tIns="0" bIns="0">
            <a:spAutoFit/>
          </a:bodyPr>
          <a:lstStyle/>
          <a:p>
            <a:pPr>
              <a:lnSpc>
                <a:spcPts val="3567"/>
              </a:lnSpc>
              <a:spcBef>
                <a:spcPts val="0"/>
              </a:spcBef>
              <a:spcAft>
                <a:spcPts val="0"/>
              </a:spcAft>
              <a:defRPr sz="2900" b="1">
                <a:solidFill>
                  <a:srgbClr val="FF6633"/>
                </a:solidFill>
                <a:latin typeface="Montserrat"/>
              </a:defRPr>
            </a:pPr>
            <a:r>
              <a:t>6</a:t>
            </a:r>
          </a:p>
        </p:txBody>
      </p:sp>
      <p:sp>
        <p:nvSpPr>
          <p:cNvPr id="27" name="TextBox 26"/>
          <p:cNvSpPr txBox="1"/>
          <p:nvPr/>
        </p:nvSpPr>
        <p:spPr>
          <a:xfrm>
            <a:off x="7498079" y="6574536"/>
            <a:ext cx="4443984" cy="859536"/>
          </a:xfrm>
          <a:prstGeom prst="rect">
            <a:avLst/>
          </a:prstGeom>
          <a:noFill/>
        </p:spPr>
        <p:txBody>
          <a:bodyPr wrap="square" lIns="0" rIns="0" tIns="0" bIns="0">
            <a:spAutoFit/>
          </a:bodyPr>
          <a:lstStyle/>
          <a:p>
            <a:pPr>
              <a:lnSpc>
                <a:spcPts val="2900"/>
              </a:lnSpc>
              <a:spcBef>
                <a:spcPts val="0"/>
              </a:spcBef>
              <a:spcAft>
                <a:spcPts val="0"/>
              </a:spcAft>
              <a:defRPr sz="2500" b="1">
                <a:solidFill>
                  <a:srgbClr val="002C49"/>
                </a:solidFill>
                <a:latin typeface="Montserrat"/>
              </a:defRPr>
            </a:pPr>
            <a:r>
              <a:t>Culture, engagement &amp; image corporate</a:t>
            </a:r>
          </a:p>
        </p:txBody>
      </p:sp>
      <p:sp>
        <p:nvSpPr>
          <p:cNvPr id="28" name="Rectangle 27"/>
          <p:cNvSpPr/>
          <p:nvPr/>
        </p:nvSpPr>
        <p:spPr>
          <a:xfrm>
            <a:off x="12664440" y="3566160"/>
            <a:ext cx="4800600" cy="2221992"/>
          </a:xfrm>
          <a:prstGeom prst="rect">
            <a:avLst/>
          </a:prstGeom>
          <a:solidFill>
            <a:srgbClr val="EAF0F3"/>
          </a:solidFill>
          <a:ln>
            <a:noFill/>
          </a:ln>
        </p:spPr>
        <p:txBody>
          <a:bodyPr rtlCol="0" anchor="ctr"/>
          <a:lstStyle/>
          <a:p>
            <a:pPr algn="ctr"/>
          </a:p>
        </p:txBody>
      </p:sp>
      <p:sp>
        <p:nvSpPr>
          <p:cNvPr id="29" name="TextBox 28"/>
          <p:cNvSpPr txBox="1"/>
          <p:nvPr/>
        </p:nvSpPr>
        <p:spPr>
          <a:xfrm>
            <a:off x="12938760" y="3822191"/>
            <a:ext cx="425196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002C49"/>
                </a:solidFill>
                <a:latin typeface="Montserrat"/>
              </a:defRPr>
            </a:pPr>
            <a:r>
              <a:t>SOCLE / RUN</a:t>
            </a:r>
          </a:p>
        </p:txBody>
      </p:sp>
      <p:sp>
        <p:nvSpPr>
          <p:cNvPr id="30" name="TextBox 29"/>
          <p:cNvSpPr txBox="1"/>
          <p:nvPr/>
        </p:nvSpPr>
        <p:spPr>
          <a:xfrm>
            <a:off x="12938760" y="4434840"/>
            <a:ext cx="4251960" cy="1298448"/>
          </a:xfrm>
          <a:prstGeom prst="rect">
            <a:avLst/>
          </a:prstGeom>
          <a:noFill/>
        </p:spPr>
        <p:txBody>
          <a:bodyPr wrap="square" lIns="0" rIns="0" tIns="0" bIns="0">
            <a:spAutoFit/>
          </a:bodyPr>
          <a:lstStyle/>
          <a:p>
            <a:pPr>
              <a:lnSpc>
                <a:spcPts val="3200"/>
              </a:lnSpc>
              <a:spcBef>
                <a:spcPts val="0"/>
              </a:spcBef>
              <a:spcAft>
                <a:spcPts val="0"/>
              </a:spcAft>
              <a:defRPr sz="2600" b="0">
                <a:solidFill>
                  <a:srgbClr val="526777"/>
                </a:solidFill>
                <a:latin typeface="Montserrat"/>
              </a:defRPr>
            </a:pPr>
            <a:r>
              <a:t>Rituels, rendez-vous,</a:t>
            </a:r>
          </a:p>
          <a:p>
            <a:pPr>
              <a:lnSpc>
                <a:spcPts val="3200"/>
              </a:lnSpc>
              <a:spcBef>
                <a:spcPts val="0"/>
              </a:spcBef>
              <a:spcAft>
                <a:spcPts val="0"/>
              </a:spcAft>
              <a:defRPr sz="2600" b="0">
                <a:solidFill>
                  <a:srgbClr val="526777"/>
                </a:solidFill>
                <a:latin typeface="Montserrat"/>
              </a:defRPr>
            </a:pPr>
            <a:r>
              <a:t>RSE et canaux permanents.</a:t>
            </a:r>
          </a:p>
        </p:txBody>
      </p:sp>
      <p:sp>
        <p:nvSpPr>
          <p:cNvPr id="31" name="Rectangle 30"/>
          <p:cNvSpPr/>
          <p:nvPr/>
        </p:nvSpPr>
        <p:spPr>
          <a:xfrm>
            <a:off x="12664440" y="6016752"/>
            <a:ext cx="4800600" cy="2404872"/>
          </a:xfrm>
          <a:prstGeom prst="rect">
            <a:avLst/>
          </a:prstGeom>
          <a:solidFill>
            <a:srgbClr val="F7F7F3"/>
          </a:solidFill>
          <a:ln>
            <a:noFill/>
          </a:ln>
        </p:spPr>
        <p:txBody>
          <a:bodyPr rtlCol="0" anchor="ctr"/>
          <a:lstStyle/>
          <a:p>
            <a:pPr algn="ctr"/>
          </a:p>
        </p:txBody>
      </p:sp>
      <p:sp>
        <p:nvSpPr>
          <p:cNvPr id="32" name="TextBox 31"/>
          <p:cNvSpPr txBox="1"/>
          <p:nvPr/>
        </p:nvSpPr>
        <p:spPr>
          <a:xfrm>
            <a:off x="12938760" y="6281928"/>
            <a:ext cx="425196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CONDITIONNEL / TBD</a:t>
            </a:r>
          </a:p>
        </p:txBody>
      </p:sp>
      <p:sp>
        <p:nvSpPr>
          <p:cNvPr id="33" name="TextBox 32"/>
          <p:cNvSpPr txBox="1"/>
          <p:nvPr/>
        </p:nvSpPr>
        <p:spPr>
          <a:xfrm>
            <a:off x="12938760" y="6903720"/>
            <a:ext cx="4251960" cy="1399032"/>
          </a:xfrm>
          <a:prstGeom prst="rect">
            <a:avLst/>
          </a:prstGeom>
          <a:noFill/>
        </p:spPr>
        <p:txBody>
          <a:bodyPr wrap="square" lIns="0" rIns="0" tIns="0" bIns="0">
            <a:spAutoFit/>
          </a:bodyPr>
          <a:lstStyle/>
          <a:p>
            <a:pPr>
              <a:lnSpc>
                <a:spcPts val="3000"/>
              </a:lnSpc>
              <a:spcBef>
                <a:spcPts val="0"/>
              </a:spcBef>
              <a:spcAft>
                <a:spcPts val="0"/>
              </a:spcAft>
              <a:defRPr sz="2500" b="0">
                <a:solidFill>
                  <a:srgbClr val="526777"/>
                </a:solidFill>
                <a:latin typeface="Montserrat"/>
              </a:defRPr>
            </a:pPr>
            <a:r>
              <a:t>Selon les lancements</a:t>
            </a:r>
          </a:p>
          <a:p>
            <a:pPr>
              <a:lnSpc>
                <a:spcPts val="3000"/>
              </a:lnSpc>
              <a:spcBef>
                <a:spcPts val="0"/>
              </a:spcBef>
              <a:spcAft>
                <a:spcPts val="0"/>
              </a:spcAft>
              <a:defRPr sz="2500" b="0">
                <a:solidFill>
                  <a:srgbClr val="526777"/>
                </a:solidFill>
                <a:latin typeface="Montserrat"/>
              </a:defRPr>
            </a:pPr>
            <a:r>
              <a:t>et les opportunités.</a:t>
            </a:r>
          </a:p>
          <a:p>
            <a:pPr>
              <a:lnSpc>
                <a:spcPts val="3000"/>
              </a:lnSpc>
              <a:spcBef>
                <a:spcPts val="0"/>
              </a:spcBef>
              <a:spcAft>
                <a:spcPts val="0"/>
              </a:spcAft>
              <a:defRPr sz="2500" b="0">
                <a:solidFill>
                  <a:srgbClr val="526777"/>
                </a:solidFill>
                <a:latin typeface="Montserrat"/>
              </a:defRPr>
            </a:pPr>
            <a:r>
              <a:t>Cadrages à confirmer.</a:t>
            </a:r>
          </a:p>
        </p:txBody>
      </p:sp>
      <p:sp>
        <p:nvSpPr>
          <p:cNvPr id="34" name="TextBox 33"/>
          <p:cNvSpPr txBox="1"/>
          <p:nvPr/>
        </p:nvSpPr>
        <p:spPr>
          <a:xfrm>
            <a:off x="868680" y="7955279"/>
            <a:ext cx="11201400" cy="685800"/>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Écosystème interne à transformer : Neoscreen / intranet.</a:t>
            </a:r>
          </a:p>
        </p:txBody>
      </p:sp>
      <p:sp>
        <p:nvSpPr>
          <p:cNvPr id="35" name="Rectangle 34"/>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36" name="TextBox 35"/>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Ne pas tout lancer simultanément. Les six ensembles ne représentent pas six projets de poids égal.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06 / CHANGE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Faire comprendre. Équiper. Accompagner les usages.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Des dispositifs complémentaires, pilotés avec les équipes responsables du fond.</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07</a:t>
            </a:r>
          </a:p>
        </p:txBody>
      </p:sp>
      <p:sp>
        <p:nvSpPr>
          <p:cNvPr id="9" name="TextBox 8"/>
          <p:cNvSpPr txBox="1"/>
          <p:nvPr/>
        </p:nvSpPr>
        <p:spPr>
          <a:xfrm>
            <a:off x="868680" y="3611880"/>
            <a:ext cx="5349240" cy="832104"/>
          </a:xfrm>
          <a:prstGeom prst="rect">
            <a:avLst/>
          </a:prstGeom>
          <a:noFill/>
        </p:spPr>
        <p:txBody>
          <a:bodyPr wrap="square" lIns="0" rIns="0" tIns="0" bIns="0">
            <a:spAutoFit/>
          </a:bodyPr>
          <a:lstStyle/>
          <a:p>
            <a:pPr>
              <a:lnSpc>
                <a:spcPts val="3300"/>
              </a:lnSpc>
              <a:spcBef>
                <a:spcPts val="0"/>
              </a:spcBef>
              <a:spcAft>
                <a:spcPts val="0"/>
              </a:spcAft>
              <a:defRPr sz="2800" b="1">
                <a:solidFill>
                  <a:srgbClr val="002C49"/>
                </a:solidFill>
                <a:latin typeface="Montserrat"/>
              </a:defRPr>
            </a:pPr>
            <a:r>
              <a:t>Adoption de l’IA</a:t>
            </a:r>
          </a:p>
        </p:txBody>
      </p:sp>
      <p:sp>
        <p:nvSpPr>
          <p:cNvPr id="10" name="TextBox 9"/>
          <p:cNvSpPr txBox="1"/>
          <p:nvPr/>
        </p:nvSpPr>
        <p:spPr>
          <a:xfrm>
            <a:off x="6492240" y="3611880"/>
            <a:ext cx="7040880" cy="896112"/>
          </a:xfrm>
          <a:prstGeom prst="rect">
            <a:avLst/>
          </a:prstGeom>
          <a:noFill/>
        </p:spPr>
        <p:txBody>
          <a:bodyPr wrap="square" lIns="0" rIns="0" tIns="0" bIns="0">
            <a:spAutoFit/>
          </a:bodyPr>
          <a:lstStyle/>
          <a:p>
            <a:pPr>
              <a:lnSpc>
                <a:spcPts val="3000"/>
              </a:lnSpc>
              <a:spcBef>
                <a:spcPts val="0"/>
              </a:spcBef>
              <a:spcAft>
                <a:spcPts val="0"/>
              </a:spcAft>
              <a:defRPr sz="2500" b="0">
                <a:solidFill>
                  <a:srgbClr val="526777"/>
                </a:solidFill>
                <a:latin typeface="Montserrat"/>
              </a:defRPr>
            </a:pPr>
            <a:r>
              <a:t>Un parcours collaborateur,</a:t>
            </a:r>
          </a:p>
          <a:p>
            <a:pPr>
              <a:lnSpc>
                <a:spcPts val="3000"/>
              </a:lnSpc>
              <a:spcBef>
                <a:spcPts val="0"/>
              </a:spcBef>
              <a:spcAft>
                <a:spcPts val="0"/>
              </a:spcAft>
              <a:defRPr sz="2500" b="0">
                <a:solidFill>
                  <a:srgbClr val="526777"/>
                </a:solidFill>
                <a:latin typeface="Montserrat"/>
              </a:defRPr>
            </a:pPr>
            <a:r>
              <a:t>pas un seul temps fort.</a:t>
            </a:r>
          </a:p>
        </p:txBody>
      </p:sp>
      <p:sp>
        <p:nvSpPr>
          <p:cNvPr id="11" name="TextBox 10"/>
          <p:cNvSpPr txBox="1"/>
          <p:nvPr/>
        </p:nvSpPr>
        <p:spPr>
          <a:xfrm>
            <a:off x="13898880" y="3648456"/>
            <a:ext cx="342900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FF6633"/>
                </a:solidFill>
                <a:latin typeface="Montserrat"/>
              </a:defRPr>
            </a:pPr>
            <a:r>
              <a:t>Tous collaborateurs</a:t>
            </a:r>
          </a:p>
        </p:txBody>
      </p:sp>
      <p:sp>
        <p:nvSpPr>
          <p:cNvPr id="12" name="Rectangle 11"/>
          <p:cNvSpPr/>
          <p:nvPr/>
        </p:nvSpPr>
        <p:spPr>
          <a:xfrm>
            <a:off x="868680" y="4599432"/>
            <a:ext cx="16550640" cy="10972"/>
          </a:xfrm>
          <a:prstGeom prst="rect">
            <a:avLst/>
          </a:prstGeom>
          <a:solidFill>
            <a:srgbClr val="D9E2E7"/>
          </a:solidFill>
          <a:ln>
            <a:noFill/>
          </a:ln>
        </p:spPr>
        <p:txBody>
          <a:bodyPr rtlCol="0" anchor="ctr"/>
          <a:lstStyle/>
          <a:p>
            <a:pPr algn="ctr"/>
          </a:p>
        </p:txBody>
      </p:sp>
      <p:sp>
        <p:nvSpPr>
          <p:cNvPr id="13" name="TextBox 12"/>
          <p:cNvSpPr txBox="1"/>
          <p:nvPr/>
        </p:nvSpPr>
        <p:spPr>
          <a:xfrm>
            <a:off x="868680" y="4745736"/>
            <a:ext cx="5349240" cy="832104"/>
          </a:xfrm>
          <a:prstGeom prst="rect">
            <a:avLst/>
          </a:prstGeom>
          <a:noFill/>
        </p:spPr>
        <p:txBody>
          <a:bodyPr wrap="square" lIns="0" rIns="0" tIns="0" bIns="0">
            <a:spAutoFit/>
          </a:bodyPr>
          <a:lstStyle/>
          <a:p>
            <a:pPr>
              <a:lnSpc>
                <a:spcPts val="3300"/>
              </a:lnSpc>
              <a:spcBef>
                <a:spcPts val="0"/>
              </a:spcBef>
              <a:spcAft>
                <a:spcPts val="0"/>
              </a:spcAft>
              <a:defRPr sz="2800" b="1">
                <a:solidFill>
                  <a:srgbClr val="002C49"/>
                </a:solidFill>
                <a:latin typeface="Montserrat"/>
              </a:defRPr>
            </a:pPr>
            <a:r>
              <a:t>Toolbox / adoption des outils</a:t>
            </a:r>
          </a:p>
        </p:txBody>
      </p:sp>
      <p:sp>
        <p:nvSpPr>
          <p:cNvPr id="14" name="TextBox 13"/>
          <p:cNvSpPr txBox="1"/>
          <p:nvPr/>
        </p:nvSpPr>
        <p:spPr>
          <a:xfrm>
            <a:off x="6492240" y="4745736"/>
            <a:ext cx="7040880" cy="896112"/>
          </a:xfrm>
          <a:prstGeom prst="rect">
            <a:avLst/>
          </a:prstGeom>
          <a:noFill/>
        </p:spPr>
        <p:txBody>
          <a:bodyPr wrap="square" lIns="0" rIns="0" tIns="0" bIns="0">
            <a:spAutoFit/>
          </a:bodyPr>
          <a:lstStyle/>
          <a:p>
            <a:pPr>
              <a:lnSpc>
                <a:spcPts val="3000"/>
              </a:lnSpc>
              <a:spcBef>
                <a:spcPts val="0"/>
              </a:spcBef>
              <a:spcAft>
                <a:spcPts val="0"/>
              </a:spcAft>
              <a:defRPr sz="2500" b="0">
                <a:solidFill>
                  <a:srgbClr val="526777"/>
                </a:solidFill>
                <a:latin typeface="Montserrat"/>
              </a:defRPr>
            </a:pPr>
            <a:r>
              <a:t>Un hub et des relais multicanaux ;</a:t>
            </a:r>
          </a:p>
          <a:p>
            <a:pPr>
              <a:lnSpc>
                <a:spcPts val="3000"/>
              </a:lnSpc>
              <a:spcBef>
                <a:spcPts val="0"/>
              </a:spcBef>
              <a:spcAft>
                <a:spcPts val="0"/>
              </a:spcAft>
              <a:defRPr sz="2500" b="0">
                <a:solidFill>
                  <a:srgbClr val="526777"/>
                </a:solidFill>
                <a:latin typeface="Montserrat"/>
              </a:defRPr>
            </a:pPr>
            <a:r>
              <a:t>un standard de lancement.</a:t>
            </a:r>
          </a:p>
        </p:txBody>
      </p:sp>
      <p:sp>
        <p:nvSpPr>
          <p:cNvPr id="15" name="TextBox 14"/>
          <p:cNvSpPr txBox="1"/>
          <p:nvPr/>
        </p:nvSpPr>
        <p:spPr>
          <a:xfrm>
            <a:off x="13898880" y="4782312"/>
            <a:ext cx="342900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FF6633"/>
                </a:solidFill>
                <a:latin typeface="Montserrat"/>
              </a:defRPr>
            </a:pPr>
            <a:r>
              <a:t>Collaborateurs utilisateurs</a:t>
            </a:r>
          </a:p>
        </p:txBody>
      </p:sp>
      <p:sp>
        <p:nvSpPr>
          <p:cNvPr id="16" name="Rectangle 15"/>
          <p:cNvSpPr/>
          <p:nvPr/>
        </p:nvSpPr>
        <p:spPr>
          <a:xfrm>
            <a:off x="868680" y="5733288"/>
            <a:ext cx="16550640" cy="10972"/>
          </a:xfrm>
          <a:prstGeom prst="rect">
            <a:avLst/>
          </a:prstGeom>
          <a:solidFill>
            <a:srgbClr val="D9E2E7"/>
          </a:solidFill>
          <a:ln>
            <a:noFill/>
          </a:ln>
        </p:spPr>
        <p:txBody>
          <a:bodyPr rtlCol="0" anchor="ctr"/>
          <a:lstStyle/>
          <a:p>
            <a:pPr algn="ctr"/>
          </a:p>
        </p:txBody>
      </p:sp>
      <p:sp>
        <p:nvSpPr>
          <p:cNvPr id="17" name="TextBox 16"/>
          <p:cNvSpPr txBox="1"/>
          <p:nvPr/>
        </p:nvSpPr>
        <p:spPr>
          <a:xfrm>
            <a:off x="868680" y="5879592"/>
            <a:ext cx="5349240" cy="832104"/>
          </a:xfrm>
          <a:prstGeom prst="rect">
            <a:avLst/>
          </a:prstGeom>
          <a:noFill/>
        </p:spPr>
        <p:txBody>
          <a:bodyPr wrap="square" lIns="0" rIns="0" tIns="0" bIns="0">
            <a:spAutoFit/>
          </a:bodyPr>
          <a:lstStyle/>
          <a:p>
            <a:pPr>
              <a:lnSpc>
                <a:spcPts val="3300"/>
              </a:lnSpc>
              <a:spcBef>
                <a:spcPts val="0"/>
              </a:spcBef>
              <a:spcAft>
                <a:spcPts val="0"/>
              </a:spcAft>
              <a:defRPr sz="2800" b="1">
                <a:solidFill>
                  <a:srgbClr val="002C49"/>
                </a:solidFill>
                <a:latin typeface="Montserrat"/>
              </a:defRPr>
            </a:pPr>
            <a:r>
              <a:t>Business Partner &amp; cross-sell</a:t>
            </a:r>
          </a:p>
        </p:txBody>
      </p:sp>
      <p:sp>
        <p:nvSpPr>
          <p:cNvPr id="18" name="TextBox 17"/>
          <p:cNvSpPr txBox="1"/>
          <p:nvPr/>
        </p:nvSpPr>
        <p:spPr>
          <a:xfrm>
            <a:off x="6492240" y="5879592"/>
            <a:ext cx="7040880" cy="896112"/>
          </a:xfrm>
          <a:prstGeom prst="rect">
            <a:avLst/>
          </a:prstGeom>
          <a:noFill/>
        </p:spPr>
        <p:txBody>
          <a:bodyPr wrap="square" lIns="0" rIns="0" tIns="0" bIns="0">
            <a:spAutoFit/>
          </a:bodyPr>
          <a:lstStyle/>
          <a:p>
            <a:pPr>
              <a:lnSpc>
                <a:spcPts val="3000"/>
              </a:lnSpc>
              <a:spcBef>
                <a:spcPts val="0"/>
              </a:spcBef>
              <a:spcAft>
                <a:spcPts val="0"/>
              </a:spcAft>
              <a:defRPr sz="2500" b="0">
                <a:solidFill>
                  <a:srgbClr val="526777"/>
                </a:solidFill>
                <a:latin typeface="Montserrat"/>
              </a:defRPr>
            </a:pPr>
            <a:r>
              <a:t>Équiper par pôle ; rendre visibles</a:t>
            </a:r>
          </a:p>
          <a:p>
            <a:pPr>
              <a:lnSpc>
                <a:spcPts val="3000"/>
              </a:lnSpc>
              <a:spcBef>
                <a:spcPts val="0"/>
              </a:spcBef>
              <a:spcAft>
                <a:spcPts val="0"/>
              </a:spcAft>
              <a:defRPr sz="2500" b="0">
                <a:solidFill>
                  <a:srgbClr val="526777"/>
                </a:solidFill>
                <a:latin typeface="Montserrat"/>
              </a:defRPr>
            </a:pPr>
            <a:r>
              <a:t>et capitaliser les collaborations.</a:t>
            </a:r>
          </a:p>
        </p:txBody>
      </p:sp>
      <p:sp>
        <p:nvSpPr>
          <p:cNvPr id="19" name="TextBox 18"/>
          <p:cNvSpPr txBox="1"/>
          <p:nvPr/>
        </p:nvSpPr>
        <p:spPr>
          <a:xfrm>
            <a:off x="13898880" y="5916168"/>
            <a:ext cx="342900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FF6633"/>
                </a:solidFill>
                <a:latin typeface="Montserrat"/>
              </a:defRPr>
            </a:pPr>
            <a:r>
              <a:t>Commerciaux / consultants</a:t>
            </a:r>
          </a:p>
        </p:txBody>
      </p:sp>
      <p:sp>
        <p:nvSpPr>
          <p:cNvPr id="20" name="Rectangle 19"/>
          <p:cNvSpPr/>
          <p:nvPr/>
        </p:nvSpPr>
        <p:spPr>
          <a:xfrm>
            <a:off x="868680" y="6867144"/>
            <a:ext cx="16550640" cy="10972"/>
          </a:xfrm>
          <a:prstGeom prst="rect">
            <a:avLst/>
          </a:prstGeom>
          <a:solidFill>
            <a:srgbClr val="D9E2E7"/>
          </a:solidFill>
          <a:ln>
            <a:noFill/>
          </a:ln>
        </p:spPr>
        <p:txBody>
          <a:bodyPr rtlCol="0" anchor="ctr"/>
          <a:lstStyle/>
          <a:p>
            <a:pPr algn="ctr"/>
          </a:p>
        </p:txBody>
      </p:sp>
      <p:sp>
        <p:nvSpPr>
          <p:cNvPr id="21" name="TextBox 20"/>
          <p:cNvSpPr txBox="1"/>
          <p:nvPr/>
        </p:nvSpPr>
        <p:spPr>
          <a:xfrm>
            <a:off x="868680" y="7013448"/>
            <a:ext cx="5349240" cy="832104"/>
          </a:xfrm>
          <a:prstGeom prst="rect">
            <a:avLst/>
          </a:prstGeom>
          <a:noFill/>
        </p:spPr>
        <p:txBody>
          <a:bodyPr wrap="square" lIns="0" rIns="0" tIns="0" bIns="0">
            <a:spAutoFit/>
          </a:bodyPr>
          <a:lstStyle/>
          <a:p>
            <a:pPr>
              <a:lnSpc>
                <a:spcPts val="3300"/>
              </a:lnSpc>
              <a:spcBef>
                <a:spcPts val="0"/>
              </a:spcBef>
              <a:spcAft>
                <a:spcPts val="0"/>
              </a:spcAft>
              <a:defRPr sz="2800" b="1">
                <a:solidFill>
                  <a:srgbClr val="002C49"/>
                </a:solidFill>
                <a:latin typeface="Montserrat"/>
              </a:defRPr>
            </a:pPr>
            <a:r>
              <a:t>Performance</a:t>
            </a:r>
          </a:p>
        </p:txBody>
      </p:sp>
      <p:sp>
        <p:nvSpPr>
          <p:cNvPr id="22" name="TextBox 21"/>
          <p:cNvSpPr txBox="1"/>
          <p:nvPr/>
        </p:nvSpPr>
        <p:spPr>
          <a:xfrm>
            <a:off x="6492240" y="7013448"/>
            <a:ext cx="7040880" cy="896112"/>
          </a:xfrm>
          <a:prstGeom prst="rect">
            <a:avLst/>
          </a:prstGeom>
          <a:noFill/>
        </p:spPr>
        <p:txBody>
          <a:bodyPr wrap="square" lIns="0" rIns="0" tIns="0" bIns="0">
            <a:spAutoFit/>
          </a:bodyPr>
          <a:lstStyle/>
          <a:p>
            <a:pPr>
              <a:lnSpc>
                <a:spcPts val="3000"/>
              </a:lnSpc>
              <a:spcBef>
                <a:spcPts val="0"/>
              </a:spcBef>
              <a:spcAft>
                <a:spcPts val="0"/>
              </a:spcAft>
              <a:defRPr sz="2500" b="0">
                <a:solidFill>
                  <a:srgbClr val="526777"/>
                </a:solidFill>
                <a:latin typeface="Montserrat"/>
              </a:defRPr>
            </a:pPr>
            <a:r>
              <a:t>Offres qui performent et relais</a:t>
            </a:r>
          </a:p>
          <a:p>
            <a:pPr>
              <a:lnSpc>
                <a:spcPts val="3000"/>
              </a:lnSpc>
              <a:spcBef>
                <a:spcPts val="0"/>
              </a:spcBef>
              <a:spcAft>
                <a:spcPts val="0"/>
              </a:spcAft>
              <a:defRPr sz="2500" b="0">
                <a:solidFill>
                  <a:srgbClr val="526777"/>
                </a:solidFill>
                <a:latin typeface="Montserrat"/>
              </a:defRPr>
            </a:pPr>
            <a:r>
              <a:t>des chiffres validés post-All Staff.</a:t>
            </a:r>
          </a:p>
        </p:txBody>
      </p:sp>
      <p:sp>
        <p:nvSpPr>
          <p:cNvPr id="23" name="TextBox 22"/>
          <p:cNvSpPr txBox="1"/>
          <p:nvPr/>
        </p:nvSpPr>
        <p:spPr>
          <a:xfrm>
            <a:off x="13898880" y="7050024"/>
            <a:ext cx="342900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FF6633"/>
                </a:solidFill>
                <a:latin typeface="Montserrat"/>
              </a:defRPr>
            </a:pPr>
            <a:r>
              <a:t>Équipes / managers</a:t>
            </a:r>
          </a:p>
        </p:txBody>
      </p:sp>
      <p:sp>
        <p:nvSpPr>
          <p:cNvPr id="24" name="TextBox 23"/>
          <p:cNvSpPr txBox="1"/>
          <p:nvPr/>
        </p:nvSpPr>
        <p:spPr>
          <a:xfrm>
            <a:off x="868680" y="8257031"/>
            <a:ext cx="16550640" cy="777240"/>
          </a:xfrm>
          <a:prstGeom prst="rect">
            <a:avLst/>
          </a:prstGeom>
          <a:noFill/>
        </p:spPr>
        <p:txBody>
          <a:bodyPr wrap="square" lIns="0" rIns="0" tIns="0" bIns="0">
            <a:spAutoFit/>
          </a:bodyPr>
          <a:lstStyle/>
          <a:p>
            <a:pPr>
              <a:lnSpc>
                <a:spcPts val="3000"/>
              </a:lnSpc>
              <a:spcBef>
                <a:spcPts val="0"/>
              </a:spcBef>
              <a:spcAft>
                <a:spcPts val="0"/>
              </a:spcAft>
              <a:defRPr sz="2400" b="1">
                <a:solidFill>
                  <a:srgbClr val="002C49"/>
                </a:solidFill>
                <a:latin typeface="Montserrat"/>
              </a:defRPr>
            </a:pPr>
            <a:r>
              <a:t>Neoscreen : déploiement à partir d’octobre.  Intranet : planning après revue de production / arbitrage prestataire.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07 / BUSINESS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Produire des preuves de valeur.</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Renforcer l’expertise, la crédibilité et la montée en gamme — avec Marketing, Business et Customer Success.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08</a:t>
            </a:r>
          </a:p>
        </p:txBody>
      </p:sp>
      <p:sp>
        <p:nvSpPr>
          <p:cNvPr id="9" name="Rectangle 8"/>
          <p:cNvSpPr/>
          <p:nvPr/>
        </p:nvSpPr>
        <p:spPr>
          <a:xfrm>
            <a:off x="868680" y="3566160"/>
            <a:ext cx="10058400" cy="4498848"/>
          </a:xfrm>
          <a:prstGeom prst="rect">
            <a:avLst/>
          </a:prstGeom>
          <a:solidFill>
            <a:srgbClr val="F7F7F3"/>
          </a:solidFill>
          <a:ln>
            <a:noFill/>
          </a:ln>
        </p:spPr>
        <p:txBody>
          <a:bodyPr rtlCol="0" anchor="ctr"/>
          <a:lstStyle/>
          <a:p>
            <a:pPr algn="ctr"/>
          </a:p>
        </p:txBody>
      </p:sp>
      <p:sp>
        <p:nvSpPr>
          <p:cNvPr id="10" name="TextBox 9"/>
          <p:cNvSpPr txBox="1"/>
          <p:nvPr/>
        </p:nvSpPr>
        <p:spPr>
          <a:xfrm>
            <a:off x="1188720" y="3886200"/>
            <a:ext cx="94183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PREUVES &amp; MONTÉE EN GAMME</a:t>
            </a:r>
          </a:p>
        </p:txBody>
      </p:sp>
      <p:sp>
        <p:nvSpPr>
          <p:cNvPr id="11" name="TextBox 10"/>
          <p:cNvSpPr txBox="1"/>
          <p:nvPr/>
        </p:nvSpPr>
        <p:spPr>
          <a:xfrm>
            <a:off x="1188720" y="4553712"/>
            <a:ext cx="9372600" cy="1005840"/>
          </a:xfrm>
          <a:prstGeom prst="rect">
            <a:avLst/>
          </a:prstGeom>
          <a:noFill/>
        </p:spPr>
        <p:txBody>
          <a:bodyPr wrap="square" lIns="0" rIns="0" tIns="0" bIns="0">
            <a:spAutoFit/>
          </a:bodyPr>
          <a:lstStyle/>
          <a:p>
            <a:pPr>
              <a:lnSpc>
                <a:spcPts val="3700"/>
              </a:lnSpc>
              <a:spcBef>
                <a:spcPts val="0"/>
              </a:spcBef>
              <a:spcAft>
                <a:spcPts val="0"/>
              </a:spcAft>
              <a:defRPr sz="3000" b="1">
                <a:solidFill>
                  <a:srgbClr val="002C49"/>
                </a:solidFill>
                <a:latin typeface="Montserrat"/>
              </a:defRPr>
            </a:pPr>
            <a:r>
              <a:t>Problème client → accompagnement Leyton</a:t>
            </a:r>
          </a:p>
          <a:p>
            <a:pPr>
              <a:lnSpc>
                <a:spcPts val="3700"/>
              </a:lnSpc>
              <a:spcBef>
                <a:spcPts val="0"/>
              </a:spcBef>
              <a:spcAft>
                <a:spcPts val="0"/>
              </a:spcAft>
              <a:defRPr sz="3000" b="1">
                <a:solidFill>
                  <a:srgbClr val="002C49"/>
                </a:solidFill>
                <a:latin typeface="Montserrat"/>
              </a:defRPr>
            </a:pPr>
            <a:r>
              <a:t>→ résultat / valeur créée.</a:t>
            </a:r>
          </a:p>
        </p:txBody>
      </p:sp>
      <p:sp>
        <p:nvSpPr>
          <p:cNvPr id="12" name="TextBox 11"/>
          <p:cNvSpPr txBox="1"/>
          <p:nvPr/>
        </p:nvSpPr>
        <p:spPr>
          <a:xfrm>
            <a:off x="1188720" y="5852160"/>
            <a:ext cx="9372600" cy="1371600"/>
          </a:xfrm>
          <a:prstGeom prst="rect">
            <a:avLst/>
          </a:prstGeom>
          <a:noFill/>
        </p:spPr>
        <p:txBody>
          <a:bodyPr wrap="square" lIns="0" rIns="0" tIns="0" bIns="0">
            <a:spAutoFit/>
          </a:bodyPr>
          <a:lstStyle/>
          <a:p>
            <a:pPr>
              <a:lnSpc>
                <a:spcPts val="3300"/>
              </a:lnSpc>
              <a:spcBef>
                <a:spcPts val="0"/>
              </a:spcBef>
              <a:spcAft>
                <a:spcPts val="0"/>
              </a:spcAft>
              <a:defRPr sz="2600" b="0">
                <a:solidFill>
                  <a:srgbClr val="526777"/>
                </a:solidFill>
                <a:latin typeface="Montserrat"/>
              </a:defRPr>
            </a:pPr>
            <a:r>
              <a:t>Témoignages premium • outils orientés client</a:t>
            </a:r>
          </a:p>
          <a:p>
            <a:pPr>
              <a:lnSpc>
                <a:spcPts val="3300"/>
              </a:lnSpc>
              <a:spcBef>
                <a:spcPts val="0"/>
              </a:spcBef>
              <a:spcAft>
                <a:spcPts val="0"/>
              </a:spcAft>
              <a:defRPr sz="2600" b="0">
                <a:solidFill>
                  <a:srgbClr val="526777"/>
                </a:solidFill>
                <a:latin typeface="Montserrat"/>
              </a:defRPr>
            </a:pPr>
            <a:r>
              <a:t>• témoignages Tech + expérience client.</a:t>
            </a:r>
          </a:p>
          <a:p>
            <a:pPr>
              <a:lnSpc>
                <a:spcPts val="3300"/>
              </a:lnSpc>
              <a:spcBef>
                <a:spcPts val="0"/>
              </a:spcBef>
              <a:spcAft>
                <a:spcPts val="0"/>
              </a:spcAft>
              <a:defRPr sz="2600" b="0">
                <a:solidFill>
                  <a:srgbClr val="526777"/>
                </a:solidFill>
                <a:latin typeface="Montserrat"/>
              </a:defRPr>
            </a:pPr>
            <a:r>
              <a:t>Cibles : clients / prospects, avec relais internes.</a:t>
            </a:r>
          </a:p>
        </p:txBody>
      </p:sp>
      <p:sp>
        <p:nvSpPr>
          <p:cNvPr id="13" name="TextBox 12"/>
          <p:cNvSpPr txBox="1"/>
          <p:nvPr/>
        </p:nvSpPr>
        <p:spPr>
          <a:xfrm>
            <a:off x="11521440" y="3767328"/>
            <a:ext cx="5897880" cy="630936"/>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TOP PERFORMERS</a:t>
            </a:r>
          </a:p>
        </p:txBody>
      </p:sp>
      <p:sp>
        <p:nvSpPr>
          <p:cNvPr id="14" name="TextBox 13"/>
          <p:cNvSpPr txBox="1"/>
          <p:nvPr/>
        </p:nvSpPr>
        <p:spPr>
          <a:xfrm>
            <a:off x="11521440" y="4636008"/>
            <a:ext cx="5897880" cy="1371600"/>
          </a:xfrm>
          <a:prstGeom prst="rect">
            <a:avLst/>
          </a:prstGeom>
          <a:noFill/>
        </p:spPr>
        <p:txBody>
          <a:bodyPr wrap="square" lIns="0" rIns="0" tIns="0" bIns="0">
            <a:spAutoFit/>
          </a:bodyPr>
          <a:lstStyle/>
          <a:p>
            <a:pPr>
              <a:lnSpc>
                <a:spcPts val="3300"/>
              </a:lnSpc>
              <a:spcBef>
                <a:spcPts val="0"/>
              </a:spcBef>
              <a:spcAft>
                <a:spcPts val="0"/>
              </a:spcAft>
              <a:defRPr sz="2600" b="0">
                <a:solidFill>
                  <a:srgbClr val="526777"/>
                </a:solidFill>
                <a:latin typeface="Montserrat"/>
              </a:defRPr>
            </a:pPr>
            <a:r>
              <a:t>Performance individuelle / collective.</a:t>
            </a:r>
          </a:p>
          <a:p>
            <a:pPr>
              <a:lnSpc>
                <a:spcPts val="3300"/>
              </a:lnSpc>
              <a:spcBef>
                <a:spcPts val="0"/>
              </a:spcBef>
              <a:spcAft>
                <a:spcPts val="0"/>
              </a:spcAft>
              <a:defRPr sz="2600" b="0">
                <a:solidFill>
                  <a:srgbClr val="526777"/>
                </a:solidFill>
                <a:latin typeface="Montserrat"/>
              </a:defRPr>
            </a:pPr>
            <a:r>
              <a:t>Oct. → mi-déc. ; fév. → avr.</a:t>
            </a:r>
          </a:p>
        </p:txBody>
      </p:sp>
      <p:sp>
        <p:nvSpPr>
          <p:cNvPr id="15" name="Rectangle 14"/>
          <p:cNvSpPr/>
          <p:nvPr/>
        </p:nvSpPr>
        <p:spPr>
          <a:xfrm>
            <a:off x="11521440" y="6144768"/>
            <a:ext cx="5897880" cy="10972"/>
          </a:xfrm>
          <a:prstGeom prst="rect">
            <a:avLst/>
          </a:prstGeom>
          <a:solidFill>
            <a:srgbClr val="D9E2E7"/>
          </a:solidFill>
          <a:ln>
            <a:noFill/>
          </a:ln>
        </p:spPr>
        <p:txBody>
          <a:bodyPr rtlCol="0" anchor="ctr"/>
          <a:lstStyle/>
          <a:p>
            <a:pPr algn="ctr"/>
          </a:p>
        </p:txBody>
      </p:sp>
      <p:sp>
        <p:nvSpPr>
          <p:cNvPr id="16" name="TextBox 15"/>
          <p:cNvSpPr txBox="1"/>
          <p:nvPr/>
        </p:nvSpPr>
        <p:spPr>
          <a:xfrm>
            <a:off x="11521440" y="6400800"/>
            <a:ext cx="589788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ACTIVATION CONDITIONNELLE</a:t>
            </a:r>
          </a:p>
        </p:txBody>
      </p:sp>
      <p:sp>
        <p:nvSpPr>
          <p:cNvPr id="17" name="TextBox 16"/>
          <p:cNvSpPr txBox="1"/>
          <p:nvPr/>
        </p:nvSpPr>
        <p:spPr>
          <a:xfrm>
            <a:off x="11521440" y="6949440"/>
            <a:ext cx="5897880" cy="1188720"/>
          </a:xfrm>
          <a:prstGeom prst="rect">
            <a:avLst/>
          </a:prstGeom>
          <a:noFill/>
        </p:spPr>
        <p:txBody>
          <a:bodyPr wrap="square" lIns="0" rIns="0" tIns="0" bIns="0">
            <a:spAutoFit/>
          </a:bodyPr>
          <a:lstStyle/>
          <a:p>
            <a:pPr>
              <a:lnSpc>
                <a:spcPts val="3100"/>
              </a:lnSpc>
              <a:spcBef>
                <a:spcPts val="0"/>
              </a:spcBef>
              <a:spcAft>
                <a:spcPts val="0"/>
              </a:spcAft>
              <a:defRPr sz="2500" b="0">
                <a:solidFill>
                  <a:srgbClr val="526777"/>
                </a:solidFill>
                <a:latin typeface="Montserrat"/>
              </a:defRPr>
            </a:pPr>
            <a:r>
              <a:t>Nouvelles offres selon lancements.</a:t>
            </a:r>
          </a:p>
          <a:p>
            <a:pPr>
              <a:lnSpc>
                <a:spcPts val="3100"/>
              </a:lnSpc>
              <a:spcBef>
                <a:spcPts val="0"/>
              </a:spcBef>
              <a:spcAft>
                <a:spcPts val="0"/>
              </a:spcAft>
              <a:defRPr sz="2500" b="0">
                <a:solidFill>
                  <a:srgbClr val="526777"/>
                </a:solidFill>
                <a:latin typeface="Montserrat"/>
              </a:defRPr>
            </a:pPr>
            <a:r>
              <a:t>Captations selon opportunités.</a:t>
            </a:r>
          </a:p>
          <a:p>
            <a:pPr>
              <a:lnSpc>
                <a:spcPts val="3100"/>
              </a:lnSpc>
              <a:spcBef>
                <a:spcPts val="0"/>
              </a:spcBef>
              <a:spcAft>
                <a:spcPts val="0"/>
              </a:spcAft>
              <a:defRPr sz="2500" b="0">
                <a:solidFill>
                  <a:srgbClr val="526777"/>
                </a:solidFill>
                <a:latin typeface="Montserrat"/>
              </a:defRPr>
            </a:pPr>
            <a:r>
              <a:t>Vidéo corporate : calendrier Groupe.</a:t>
            </a:r>
          </a:p>
        </p:txBody>
      </p:sp>
      <p:sp>
        <p:nvSpPr>
          <p:cNvPr id="18" name="Rectangle 17"/>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Marketing / Business / CS : fond commercial. Communication : récit, formats, cohérence et amplification.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08 / PEOPLE &amp; IMAGE CORPORATE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Mobiliser le collectif. Donner à voir la culture Leyton.</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Une priorité de culture et d’image, appuyée sur des dispositifs RH et un socle régulier.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09</a:t>
            </a:r>
          </a:p>
        </p:txBody>
      </p:sp>
      <p:sp>
        <p:nvSpPr>
          <p:cNvPr id="9" name="Rectangle 8"/>
          <p:cNvSpPr/>
          <p:nvPr/>
        </p:nvSpPr>
        <p:spPr>
          <a:xfrm>
            <a:off x="868680" y="3566160"/>
            <a:ext cx="8138160" cy="3291840"/>
          </a:xfrm>
          <a:prstGeom prst="rect">
            <a:avLst/>
          </a:prstGeom>
          <a:solidFill>
            <a:srgbClr val="F7F7F3"/>
          </a:solidFill>
          <a:ln>
            <a:noFill/>
          </a:ln>
        </p:spPr>
        <p:txBody>
          <a:bodyPr rtlCol="0" anchor="ctr"/>
          <a:lstStyle/>
          <a:p>
            <a:pPr algn="ctr"/>
          </a:p>
        </p:txBody>
      </p:sp>
      <p:sp>
        <p:nvSpPr>
          <p:cNvPr id="10" name="TextBox 9"/>
          <p:cNvSpPr txBox="1"/>
          <p:nvPr/>
        </p:nvSpPr>
        <p:spPr>
          <a:xfrm>
            <a:off x="1143000" y="3840480"/>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CULTURE &amp; ENGAGEMENT</a:t>
            </a:r>
          </a:p>
        </p:txBody>
      </p:sp>
      <p:sp>
        <p:nvSpPr>
          <p:cNvPr id="11" name="TextBox 10"/>
          <p:cNvSpPr txBox="1"/>
          <p:nvPr/>
        </p:nvSpPr>
        <p:spPr>
          <a:xfrm>
            <a:off x="1143000" y="4507992"/>
            <a:ext cx="7589520" cy="2240280"/>
          </a:xfrm>
          <a:prstGeom prst="rect">
            <a:avLst/>
          </a:prstGeom>
          <a:noFill/>
        </p:spPr>
        <p:txBody>
          <a:bodyPr wrap="square" lIns="0" rIns="0" tIns="0" bIns="0">
            <a:spAutoFit/>
          </a:bodyPr>
          <a:lstStyle/>
          <a:p>
            <a:pPr>
              <a:lnSpc>
                <a:spcPts val="3400"/>
              </a:lnSpc>
              <a:spcBef>
                <a:spcPts val="0"/>
              </a:spcBef>
              <a:spcAft>
                <a:spcPts val="0"/>
              </a:spcAft>
              <a:defRPr sz="2500" b="0">
                <a:solidFill>
                  <a:srgbClr val="526777"/>
                </a:solidFill>
                <a:latin typeface="Montserrat"/>
              </a:defRPr>
            </a:pPr>
            <a:r>
              <a:t>CARE : résultats → enseignements → actions RH.</a:t>
            </a:r>
          </a:p>
          <a:p>
            <a:pPr>
              <a:lnSpc>
                <a:spcPts val="3400"/>
              </a:lnSpc>
              <a:spcBef>
                <a:spcPts val="0"/>
              </a:spcBef>
              <a:spcAft>
                <a:spcPts val="0"/>
              </a:spcAft>
              <a:defRPr sz="2500" b="0">
                <a:solidFill>
                  <a:srgbClr val="526777"/>
                </a:solidFill>
                <a:latin typeface="Montserrat"/>
              </a:defRPr>
            </a:pPr>
            <a:r>
              <a:t>Culture Leyton : Kudos, initiatives, collaborations.</a:t>
            </a:r>
          </a:p>
          <a:p>
            <a:pPr>
              <a:lnSpc>
                <a:spcPts val="3400"/>
              </a:lnSpc>
              <a:spcBef>
                <a:spcPts val="0"/>
              </a:spcBef>
              <a:spcAft>
                <a:spcPts val="0"/>
              </a:spcAft>
              <a:defRPr sz="2500" b="0">
                <a:solidFill>
                  <a:srgbClr val="526777"/>
                </a:solidFill>
                <a:latin typeface="Montserrat"/>
              </a:defRPr>
            </a:pPr>
            <a:r>
              <a:t>Workelo : refonte J−60 → J+30, cadrage à confirmer.</a:t>
            </a:r>
          </a:p>
        </p:txBody>
      </p:sp>
      <p:sp>
        <p:nvSpPr>
          <p:cNvPr id="12" name="Rectangle 11"/>
          <p:cNvSpPr/>
          <p:nvPr/>
        </p:nvSpPr>
        <p:spPr>
          <a:xfrm>
            <a:off x="9372600" y="3566160"/>
            <a:ext cx="8138160" cy="3291840"/>
          </a:xfrm>
          <a:prstGeom prst="rect">
            <a:avLst/>
          </a:prstGeom>
          <a:solidFill>
            <a:srgbClr val="F7F7F3"/>
          </a:solidFill>
          <a:ln>
            <a:noFill/>
          </a:ln>
        </p:spPr>
        <p:txBody>
          <a:bodyPr rtlCol="0" anchor="ctr"/>
          <a:lstStyle/>
          <a:p>
            <a:pPr algn="ctr"/>
          </a:p>
        </p:txBody>
      </p:sp>
      <p:sp>
        <p:nvSpPr>
          <p:cNvPr id="13" name="TextBox 12"/>
          <p:cNvSpPr txBox="1"/>
          <p:nvPr/>
        </p:nvSpPr>
        <p:spPr>
          <a:xfrm>
            <a:off x="9646920" y="3840480"/>
            <a:ext cx="758952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IMAGE CORPORATE</a:t>
            </a:r>
          </a:p>
        </p:txBody>
      </p:sp>
      <p:sp>
        <p:nvSpPr>
          <p:cNvPr id="14" name="TextBox 13"/>
          <p:cNvSpPr txBox="1"/>
          <p:nvPr/>
        </p:nvSpPr>
        <p:spPr>
          <a:xfrm>
            <a:off x="9646920" y="4507992"/>
            <a:ext cx="7589520" cy="2240280"/>
          </a:xfrm>
          <a:prstGeom prst="rect">
            <a:avLst/>
          </a:prstGeom>
          <a:noFill/>
        </p:spPr>
        <p:txBody>
          <a:bodyPr wrap="square" lIns="0" rIns="0" tIns="0" bIns="0">
            <a:spAutoFit/>
          </a:bodyPr>
          <a:lstStyle/>
          <a:p>
            <a:pPr>
              <a:lnSpc>
                <a:spcPts val="3400"/>
              </a:lnSpc>
              <a:spcBef>
                <a:spcPts val="0"/>
              </a:spcBef>
              <a:spcAft>
                <a:spcPts val="0"/>
              </a:spcAft>
              <a:defRPr sz="2500" b="0">
                <a:solidFill>
                  <a:srgbClr val="526777"/>
                </a:solidFill>
                <a:latin typeface="Montserrat"/>
              </a:defRPr>
            </a:pPr>
            <a:r>
              <a:t>Leadership au féminin : 4 capsules nov. → fév.</a:t>
            </a:r>
          </a:p>
          <a:p>
            <a:pPr>
              <a:lnSpc>
                <a:spcPts val="3400"/>
              </a:lnSpc>
              <a:spcBef>
                <a:spcPts val="0"/>
              </a:spcBef>
              <a:spcAft>
                <a:spcPts val="0"/>
              </a:spcAft>
              <a:defRPr sz="2500" b="0">
                <a:solidFill>
                  <a:srgbClr val="526777"/>
                </a:solidFill>
                <a:latin typeface="Montserrat"/>
              </a:defRPr>
            </a:pPr>
            <a:r>
              <a:t>Puis un mash-up autour du 8 mars.</a:t>
            </a:r>
          </a:p>
          <a:p>
            <a:pPr>
              <a:lnSpc>
                <a:spcPts val="3400"/>
              </a:lnSpc>
              <a:spcBef>
                <a:spcPts val="0"/>
              </a:spcBef>
              <a:spcAft>
                <a:spcPts val="0"/>
              </a:spcAft>
              <a:defRPr sz="2500" b="0">
                <a:solidFill>
                  <a:srgbClr val="526777"/>
                </a:solidFill>
                <a:latin typeface="Montserrat"/>
              </a:defRPr>
            </a:pPr>
            <a:r>
              <a:t>LinkedIn : cinq territoires, selon calendrier joint.</a:t>
            </a:r>
          </a:p>
          <a:p>
            <a:pPr>
              <a:lnSpc>
                <a:spcPts val="3400"/>
              </a:lnSpc>
              <a:spcBef>
                <a:spcPts val="0"/>
              </a:spcBef>
              <a:spcAft>
                <a:spcPts val="0"/>
              </a:spcAft>
              <a:defRPr sz="2500" b="0">
                <a:solidFill>
                  <a:srgbClr val="526777"/>
                </a:solidFill>
                <a:latin typeface="Montserrat"/>
              </a:defRPr>
            </a:pPr>
            <a:r>
              <a:t>RSE : interne, puis sélection à l’externe.</a:t>
            </a:r>
          </a:p>
        </p:txBody>
      </p:sp>
      <p:sp>
        <p:nvSpPr>
          <p:cNvPr id="15" name="TextBox 14"/>
          <p:cNvSpPr txBox="1"/>
          <p:nvPr/>
        </p:nvSpPr>
        <p:spPr>
          <a:xfrm>
            <a:off x="868680" y="7132320"/>
            <a:ext cx="109728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002C49"/>
                </a:solidFill>
                <a:latin typeface="Montserrat"/>
              </a:defRPr>
            </a:pPr>
            <a:r>
              <a:t>SOCLE : RITUELS &amp; RENDEZ-VOUS</a:t>
            </a:r>
          </a:p>
        </p:txBody>
      </p:sp>
      <p:sp>
        <p:nvSpPr>
          <p:cNvPr id="16" name="TextBox 15"/>
          <p:cNvSpPr txBox="1"/>
          <p:nvPr/>
        </p:nvSpPr>
        <p:spPr>
          <a:xfrm>
            <a:off x="868680" y="7644383"/>
            <a:ext cx="16550640" cy="822960"/>
          </a:xfrm>
          <a:prstGeom prst="rect">
            <a:avLst/>
          </a:prstGeom>
          <a:noFill/>
        </p:spPr>
        <p:txBody>
          <a:bodyPr wrap="square" lIns="0" rIns="0" tIns="0" bIns="0">
            <a:spAutoFit/>
          </a:bodyPr>
          <a:lstStyle/>
          <a:p>
            <a:pPr>
              <a:lnSpc>
                <a:spcPts val="3200"/>
              </a:lnSpc>
              <a:spcBef>
                <a:spcPts val="0"/>
              </a:spcBef>
              <a:spcAft>
                <a:spcPts val="0"/>
              </a:spcAft>
              <a:defRPr sz="2500" b="0">
                <a:solidFill>
                  <a:srgbClr val="526777"/>
                </a:solidFill>
                <a:latin typeface="Montserrat"/>
              </a:defRPr>
            </a:pPr>
            <a:r>
              <a:t>All Staff • La Leytonienne • rendez-vous collaborateurs • RSE • temps forts RH / collectifs.</a:t>
            </a:r>
          </a:p>
          <a:p>
            <a:pPr>
              <a:lnSpc>
                <a:spcPts val="3200"/>
              </a:lnSpc>
              <a:spcBef>
                <a:spcPts val="0"/>
              </a:spcBef>
              <a:spcAft>
                <a:spcPts val="0"/>
              </a:spcAft>
              <a:defRPr sz="2500" b="0">
                <a:solidFill>
                  <a:srgbClr val="526777"/>
                </a:solidFill>
                <a:latin typeface="Montserrat"/>
              </a:defRPr>
            </a:pPr>
            <a:r>
              <a:t>Cibles : collaborateurs et managers ; image corporate à l’externe.</a:t>
            </a:r>
          </a:p>
        </p:txBody>
      </p:sp>
      <p:sp>
        <p:nvSpPr>
          <p:cNvPr id="17" name="Rectangle 16"/>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18" name="TextBox 17"/>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Le sport est un territoire de marque : collaborateurs / CSE et Sport Business. Un événement = maximum un post.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09 / ÉCOSYSTÈME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Un rôle par canal. Une production, plusieurs usages.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Orchestrer les contenus selon l’effet recherché ; ne pas produire pour remplir un canal.</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10</a:t>
            </a:r>
          </a:p>
        </p:txBody>
      </p:sp>
      <p:sp>
        <p:nvSpPr>
          <p:cNvPr id="9" name="TextBox 8"/>
          <p:cNvSpPr txBox="1"/>
          <p:nvPr/>
        </p:nvSpPr>
        <p:spPr>
          <a:xfrm>
            <a:off x="868680" y="3611880"/>
            <a:ext cx="77724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INTERNE</a:t>
            </a:r>
          </a:p>
        </p:txBody>
      </p:sp>
      <p:sp>
        <p:nvSpPr>
          <p:cNvPr id="10" name="TextBox 9"/>
          <p:cNvSpPr txBox="1"/>
          <p:nvPr/>
        </p:nvSpPr>
        <p:spPr>
          <a:xfrm>
            <a:off x="9418320" y="3611880"/>
            <a:ext cx="77724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EXTERNE CORPORATE FRANCE</a:t>
            </a:r>
          </a:p>
        </p:txBody>
      </p:sp>
      <p:sp>
        <p:nvSpPr>
          <p:cNvPr id="11" name="TextBox 10"/>
          <p:cNvSpPr txBox="1"/>
          <p:nvPr/>
        </p:nvSpPr>
        <p:spPr>
          <a:xfrm>
            <a:off x="868680" y="4224528"/>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Intranet</a:t>
            </a:r>
          </a:p>
        </p:txBody>
      </p:sp>
      <p:sp>
        <p:nvSpPr>
          <p:cNvPr id="12" name="TextBox 11"/>
          <p:cNvSpPr txBox="1"/>
          <p:nvPr/>
        </p:nvSpPr>
        <p:spPr>
          <a:xfrm>
            <a:off x="868680" y="4681728"/>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Hub / ressources / capitalisation — après lancement.</a:t>
            </a:r>
          </a:p>
        </p:txBody>
      </p:sp>
      <p:sp>
        <p:nvSpPr>
          <p:cNvPr id="13" name="TextBox 12"/>
          <p:cNvSpPr txBox="1"/>
          <p:nvPr/>
        </p:nvSpPr>
        <p:spPr>
          <a:xfrm>
            <a:off x="868680" y="5294376"/>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Neoscreen</a:t>
            </a:r>
          </a:p>
        </p:txBody>
      </p:sp>
      <p:sp>
        <p:nvSpPr>
          <p:cNvPr id="14" name="TextBox 13"/>
          <p:cNvSpPr txBox="1"/>
          <p:nvPr/>
        </p:nvSpPr>
        <p:spPr>
          <a:xfrm>
            <a:off x="868680" y="5751576"/>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Amplification en agences — après déploiement.</a:t>
            </a:r>
          </a:p>
        </p:txBody>
      </p:sp>
      <p:sp>
        <p:nvSpPr>
          <p:cNvPr id="15" name="TextBox 14"/>
          <p:cNvSpPr txBox="1"/>
          <p:nvPr/>
        </p:nvSpPr>
        <p:spPr>
          <a:xfrm>
            <a:off x="868680" y="6364224"/>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Teams / email</a:t>
            </a:r>
          </a:p>
        </p:txBody>
      </p:sp>
      <p:sp>
        <p:nvSpPr>
          <p:cNvPr id="16" name="TextBox 15"/>
          <p:cNvSpPr txBox="1"/>
          <p:nvPr/>
        </p:nvSpPr>
        <p:spPr>
          <a:xfrm>
            <a:off x="868680" y="6821424"/>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Sourcing et activation ciblée selon le besoin.</a:t>
            </a:r>
          </a:p>
        </p:txBody>
      </p:sp>
      <p:sp>
        <p:nvSpPr>
          <p:cNvPr id="17" name="TextBox 16"/>
          <p:cNvSpPr txBox="1"/>
          <p:nvPr/>
        </p:nvSpPr>
        <p:spPr>
          <a:xfrm>
            <a:off x="868680" y="7434071"/>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All Staff / Leytonienne</a:t>
            </a:r>
          </a:p>
        </p:txBody>
      </p:sp>
      <p:sp>
        <p:nvSpPr>
          <p:cNvPr id="18" name="TextBox 17"/>
          <p:cNvSpPr txBox="1"/>
          <p:nvPr/>
        </p:nvSpPr>
        <p:spPr>
          <a:xfrm>
            <a:off x="868680" y="7891271"/>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Alignement collectif / éditorialisation.</a:t>
            </a:r>
          </a:p>
        </p:txBody>
      </p:sp>
      <p:sp>
        <p:nvSpPr>
          <p:cNvPr id="19" name="TextBox 18"/>
          <p:cNvSpPr txBox="1"/>
          <p:nvPr/>
        </p:nvSpPr>
        <p:spPr>
          <a:xfrm>
            <a:off x="9418320" y="4224528"/>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LinkedIn</a:t>
            </a:r>
          </a:p>
        </p:txBody>
      </p:sp>
      <p:sp>
        <p:nvSpPr>
          <p:cNvPr id="20" name="TextBox 19"/>
          <p:cNvSpPr txBox="1"/>
          <p:nvPr/>
        </p:nvSpPr>
        <p:spPr>
          <a:xfrm>
            <a:off x="9418320" y="4681728"/>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Canal corporate prioritaire ; calendrier éditorial.</a:t>
            </a:r>
          </a:p>
        </p:txBody>
      </p:sp>
      <p:sp>
        <p:nvSpPr>
          <p:cNvPr id="21" name="TextBox 20"/>
          <p:cNvSpPr txBox="1"/>
          <p:nvPr/>
        </p:nvSpPr>
        <p:spPr>
          <a:xfrm>
            <a:off x="9418320" y="5294376"/>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Instagram</a:t>
            </a:r>
          </a:p>
        </p:txBody>
      </p:sp>
      <p:sp>
        <p:nvSpPr>
          <p:cNvPr id="22" name="TextBox 21"/>
          <p:cNvSpPr txBox="1"/>
          <p:nvPr/>
        </p:nvSpPr>
        <p:spPr>
          <a:xfrm>
            <a:off x="9418320" y="5751576"/>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Activation selon contenus visuels / événements.</a:t>
            </a:r>
          </a:p>
        </p:txBody>
      </p:sp>
      <p:sp>
        <p:nvSpPr>
          <p:cNvPr id="23" name="TextBox 22"/>
          <p:cNvSpPr txBox="1"/>
          <p:nvPr/>
        </p:nvSpPr>
        <p:spPr>
          <a:xfrm>
            <a:off x="9418320" y="6364224"/>
            <a:ext cx="7955279" cy="411480"/>
          </a:xfrm>
          <a:prstGeom prst="rect">
            <a:avLst/>
          </a:prstGeom>
          <a:noFill/>
        </p:spPr>
        <p:txBody>
          <a:bodyPr wrap="square" lIns="0" rIns="0" tIns="0" bIns="0">
            <a:spAutoFit/>
          </a:bodyPr>
          <a:lstStyle/>
          <a:p>
            <a:pPr>
              <a:lnSpc>
                <a:spcPts val="3321"/>
              </a:lnSpc>
              <a:spcBef>
                <a:spcPts val="0"/>
              </a:spcBef>
              <a:spcAft>
                <a:spcPts val="0"/>
              </a:spcAft>
              <a:defRPr sz="2700" b="1">
                <a:solidFill>
                  <a:srgbClr val="002C49"/>
                </a:solidFill>
                <a:latin typeface="Montserrat"/>
              </a:defRPr>
            </a:pPr>
            <a:r>
              <a:t>YouTube</a:t>
            </a:r>
          </a:p>
        </p:txBody>
      </p:sp>
      <p:sp>
        <p:nvSpPr>
          <p:cNvPr id="24" name="TextBox 23"/>
          <p:cNvSpPr txBox="1"/>
          <p:nvPr/>
        </p:nvSpPr>
        <p:spPr>
          <a:xfrm>
            <a:off x="9418320" y="6821424"/>
            <a:ext cx="7955279" cy="566928"/>
          </a:xfrm>
          <a:prstGeom prst="rect">
            <a:avLst/>
          </a:prstGeom>
          <a:noFill/>
        </p:spPr>
        <p:txBody>
          <a:bodyPr wrap="square" lIns="0" rIns="0" tIns="0" bIns="0">
            <a:spAutoFit/>
          </a:bodyPr>
          <a:lstStyle/>
          <a:p>
            <a:pPr>
              <a:lnSpc>
                <a:spcPts val="2800"/>
              </a:lnSpc>
              <a:spcBef>
                <a:spcPts val="0"/>
              </a:spcBef>
              <a:spcAft>
                <a:spcPts val="0"/>
              </a:spcAft>
              <a:defRPr sz="2300" b="0">
                <a:solidFill>
                  <a:srgbClr val="526777"/>
                </a:solidFill>
                <a:latin typeface="Montserrat"/>
              </a:defRPr>
            </a:pPr>
            <a:r>
              <a:t>Hébergement et valorisation des vidéos structurantes.</a:t>
            </a:r>
          </a:p>
        </p:txBody>
      </p:sp>
      <p:sp>
        <p:nvSpPr>
          <p:cNvPr id="25" name="TextBox 24"/>
          <p:cNvSpPr txBox="1"/>
          <p:nvPr/>
        </p:nvSpPr>
        <p:spPr>
          <a:xfrm>
            <a:off x="9418320" y="7818120"/>
            <a:ext cx="7955279" cy="566928"/>
          </a:xfrm>
          <a:prstGeom prst="rect">
            <a:avLst/>
          </a:prstGeom>
          <a:noFill/>
        </p:spPr>
        <p:txBody>
          <a:bodyPr wrap="square" lIns="0" rIns="0" tIns="0" bIns="0">
            <a:spAutoFit/>
          </a:bodyPr>
          <a:lstStyle/>
          <a:p>
            <a:pPr>
              <a:lnSpc>
                <a:spcPts val="3075"/>
              </a:lnSpc>
              <a:spcBef>
                <a:spcPts val="0"/>
              </a:spcBef>
              <a:spcAft>
                <a:spcPts val="0"/>
              </a:spcAft>
              <a:defRPr sz="2500" b="1">
                <a:solidFill>
                  <a:srgbClr val="002C49"/>
                </a:solidFill>
                <a:latin typeface="Montserrat"/>
              </a:defRPr>
            </a:pPr>
            <a:r>
              <a:t>LinkedIn business : Marketing.</a:t>
            </a:r>
          </a:p>
        </p:txBody>
      </p:sp>
      <p:sp>
        <p:nvSpPr>
          <p:cNvPr id="26" name="Rectangle 25"/>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7" name="TextBox 26"/>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Projet de déploiement / lancement ≠ alimentation continue. Les trois piliers nourrissent les canaux disponibles.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10 / TEMPORALITÉ</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Une roadmap exécutive. Les fenêtres qui comptent.</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Juillet 2026 → juin 2027 • août et vacances : rythme réduit • aucun score de charge.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11</a:t>
            </a:r>
          </a:p>
        </p:txBody>
      </p:sp>
      <p:sp>
        <p:nvSpPr>
          <p:cNvPr id="9" name="TextBox 8"/>
          <p:cNvSpPr txBox="1"/>
          <p:nvPr/>
        </p:nvSpPr>
        <p:spPr>
          <a:xfrm>
            <a:off x="534924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JUIL.</a:t>
            </a:r>
          </a:p>
        </p:txBody>
      </p:sp>
      <p:sp>
        <p:nvSpPr>
          <p:cNvPr id="10" name="TextBox 9"/>
          <p:cNvSpPr txBox="1"/>
          <p:nvPr/>
        </p:nvSpPr>
        <p:spPr>
          <a:xfrm>
            <a:off x="63550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AOÛT</a:t>
            </a:r>
          </a:p>
        </p:txBody>
      </p:sp>
      <p:sp>
        <p:nvSpPr>
          <p:cNvPr id="11" name="Rectangle 10"/>
          <p:cNvSpPr/>
          <p:nvPr/>
        </p:nvSpPr>
        <p:spPr>
          <a:xfrm>
            <a:off x="6355079" y="4032504"/>
            <a:ext cx="1005839" cy="4114800"/>
          </a:xfrm>
          <a:prstGeom prst="rect">
            <a:avLst/>
          </a:prstGeom>
          <a:solidFill>
            <a:srgbClr val="F7F7F3"/>
          </a:solidFill>
          <a:ln>
            <a:noFill/>
          </a:ln>
        </p:spPr>
        <p:txBody>
          <a:bodyPr rtlCol="0" anchor="ctr"/>
          <a:lstStyle/>
          <a:p>
            <a:pPr algn="ctr"/>
          </a:p>
        </p:txBody>
      </p:sp>
      <p:sp>
        <p:nvSpPr>
          <p:cNvPr id="12" name="TextBox 11"/>
          <p:cNvSpPr txBox="1"/>
          <p:nvPr/>
        </p:nvSpPr>
        <p:spPr>
          <a:xfrm>
            <a:off x="73609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SEPT.</a:t>
            </a:r>
          </a:p>
        </p:txBody>
      </p:sp>
      <p:sp>
        <p:nvSpPr>
          <p:cNvPr id="13" name="TextBox 12"/>
          <p:cNvSpPr txBox="1"/>
          <p:nvPr/>
        </p:nvSpPr>
        <p:spPr>
          <a:xfrm>
            <a:off x="83667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OCT.</a:t>
            </a:r>
          </a:p>
        </p:txBody>
      </p:sp>
      <p:sp>
        <p:nvSpPr>
          <p:cNvPr id="14" name="TextBox 13"/>
          <p:cNvSpPr txBox="1"/>
          <p:nvPr/>
        </p:nvSpPr>
        <p:spPr>
          <a:xfrm>
            <a:off x="937260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NOV.</a:t>
            </a:r>
          </a:p>
        </p:txBody>
      </p:sp>
      <p:sp>
        <p:nvSpPr>
          <p:cNvPr id="15" name="TextBox 14"/>
          <p:cNvSpPr txBox="1"/>
          <p:nvPr/>
        </p:nvSpPr>
        <p:spPr>
          <a:xfrm>
            <a:off x="103784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DÉC.</a:t>
            </a:r>
          </a:p>
        </p:txBody>
      </p:sp>
      <p:sp>
        <p:nvSpPr>
          <p:cNvPr id="16" name="TextBox 15"/>
          <p:cNvSpPr txBox="1"/>
          <p:nvPr/>
        </p:nvSpPr>
        <p:spPr>
          <a:xfrm>
            <a:off x="1138428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JAN.</a:t>
            </a:r>
          </a:p>
        </p:txBody>
      </p:sp>
      <p:sp>
        <p:nvSpPr>
          <p:cNvPr id="17" name="TextBox 16"/>
          <p:cNvSpPr txBox="1"/>
          <p:nvPr/>
        </p:nvSpPr>
        <p:spPr>
          <a:xfrm>
            <a:off x="123901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FÉV.</a:t>
            </a:r>
          </a:p>
        </p:txBody>
      </p:sp>
      <p:sp>
        <p:nvSpPr>
          <p:cNvPr id="18" name="TextBox 17"/>
          <p:cNvSpPr txBox="1"/>
          <p:nvPr/>
        </p:nvSpPr>
        <p:spPr>
          <a:xfrm>
            <a:off x="133959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MARS</a:t>
            </a:r>
          </a:p>
        </p:txBody>
      </p:sp>
      <p:sp>
        <p:nvSpPr>
          <p:cNvPr id="19" name="TextBox 18"/>
          <p:cNvSpPr txBox="1"/>
          <p:nvPr/>
        </p:nvSpPr>
        <p:spPr>
          <a:xfrm>
            <a:off x="1440179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AVR.</a:t>
            </a:r>
          </a:p>
        </p:txBody>
      </p:sp>
      <p:sp>
        <p:nvSpPr>
          <p:cNvPr id="20" name="TextBox 19"/>
          <p:cNvSpPr txBox="1"/>
          <p:nvPr/>
        </p:nvSpPr>
        <p:spPr>
          <a:xfrm>
            <a:off x="154076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MAI</a:t>
            </a:r>
          </a:p>
        </p:txBody>
      </p:sp>
      <p:sp>
        <p:nvSpPr>
          <p:cNvPr id="21" name="TextBox 20"/>
          <p:cNvSpPr txBox="1"/>
          <p:nvPr/>
        </p:nvSpPr>
        <p:spPr>
          <a:xfrm>
            <a:off x="164134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JUIN</a:t>
            </a:r>
          </a:p>
        </p:txBody>
      </p:sp>
      <p:sp>
        <p:nvSpPr>
          <p:cNvPr id="22" name="Rectangle 21"/>
          <p:cNvSpPr/>
          <p:nvPr/>
        </p:nvSpPr>
        <p:spPr>
          <a:xfrm>
            <a:off x="868680" y="4270248"/>
            <a:ext cx="16550640" cy="10972"/>
          </a:xfrm>
          <a:prstGeom prst="rect">
            <a:avLst/>
          </a:prstGeom>
          <a:solidFill>
            <a:srgbClr val="D9E2E7"/>
          </a:solidFill>
          <a:ln>
            <a:noFill/>
          </a:ln>
        </p:spPr>
        <p:txBody>
          <a:bodyPr rtlCol="0" anchor="ctr"/>
          <a:lstStyle/>
          <a:p>
            <a:pPr algn="ctr"/>
          </a:p>
        </p:txBody>
      </p:sp>
      <p:sp>
        <p:nvSpPr>
          <p:cNvPr id="23" name="Rectangle 22"/>
          <p:cNvSpPr/>
          <p:nvPr/>
        </p:nvSpPr>
        <p:spPr>
          <a:xfrm>
            <a:off x="868680" y="5660136"/>
            <a:ext cx="16550640" cy="10972"/>
          </a:xfrm>
          <a:prstGeom prst="rect">
            <a:avLst/>
          </a:prstGeom>
          <a:solidFill>
            <a:srgbClr val="D9E2E7"/>
          </a:solidFill>
          <a:ln>
            <a:noFill/>
          </a:ln>
        </p:spPr>
        <p:txBody>
          <a:bodyPr rtlCol="0" anchor="ctr"/>
          <a:lstStyle/>
          <a:p>
            <a:pPr algn="ctr"/>
          </a:p>
        </p:txBody>
      </p:sp>
      <p:sp>
        <p:nvSpPr>
          <p:cNvPr id="24" name="Rectangle 23"/>
          <p:cNvSpPr/>
          <p:nvPr/>
        </p:nvSpPr>
        <p:spPr>
          <a:xfrm>
            <a:off x="868680" y="7050024"/>
            <a:ext cx="16550640" cy="10972"/>
          </a:xfrm>
          <a:prstGeom prst="rect">
            <a:avLst/>
          </a:prstGeom>
          <a:solidFill>
            <a:srgbClr val="D9E2E7"/>
          </a:solidFill>
          <a:ln>
            <a:noFill/>
          </a:ln>
        </p:spPr>
        <p:txBody>
          <a:bodyPr rtlCol="0" anchor="ctr"/>
          <a:lstStyle/>
          <a:p>
            <a:pPr algn="ctr"/>
          </a:p>
        </p:txBody>
      </p:sp>
      <p:sp>
        <p:nvSpPr>
          <p:cNvPr id="25" name="TextBox 24"/>
          <p:cNvSpPr txBox="1"/>
          <p:nvPr/>
        </p:nvSpPr>
        <p:spPr>
          <a:xfrm>
            <a:off x="868680" y="4453128"/>
            <a:ext cx="429768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CHANGE</a:t>
            </a:r>
          </a:p>
        </p:txBody>
      </p:sp>
      <p:sp>
        <p:nvSpPr>
          <p:cNvPr id="26" name="TextBox 25"/>
          <p:cNvSpPr txBox="1"/>
          <p:nvPr/>
        </p:nvSpPr>
        <p:spPr>
          <a:xfrm>
            <a:off x="868680" y="4965192"/>
            <a:ext cx="4251960" cy="576072"/>
          </a:xfrm>
          <a:prstGeom prst="rect">
            <a:avLst/>
          </a:prstGeom>
          <a:noFill/>
        </p:spPr>
        <p:txBody>
          <a:bodyPr wrap="square" lIns="0" rIns="0" tIns="0" bIns="0">
            <a:spAutoFit/>
          </a:bodyPr>
          <a:lstStyle/>
          <a:p>
            <a:pPr>
              <a:lnSpc>
                <a:spcPts val="2706"/>
              </a:lnSpc>
              <a:spcBef>
                <a:spcPts val="0"/>
              </a:spcBef>
              <a:spcAft>
                <a:spcPts val="0"/>
              </a:spcAft>
              <a:defRPr sz="2200" b="1">
                <a:solidFill>
                  <a:srgbClr val="002C49"/>
                </a:solidFill>
                <a:latin typeface="Montserrat"/>
              </a:defRPr>
            </a:pPr>
            <a:r>
              <a:t>IA / outils / BP &amp; cross-sell</a:t>
            </a:r>
          </a:p>
        </p:txBody>
      </p:sp>
      <p:cxnSp>
        <p:nvCxnSpPr>
          <p:cNvPr id="27" name="Connector 26"/>
          <p:cNvCxnSpPr/>
          <p:nvPr/>
        </p:nvCxnSpPr>
        <p:spPr>
          <a:xfrm>
            <a:off x="5349240" y="4590288"/>
            <a:ext cx="12070079" cy="0"/>
          </a:xfrm>
          <a:prstGeom prst="line">
            <a:avLst/>
          </a:prstGeom>
          <a:ln w="25400">
            <a:solidFill>
              <a:srgbClr val="002C49"/>
            </a:solidFill>
            <a:prstDash val="dash"/>
          </a:ln>
        </p:spPr>
      </p:cxnSp>
      <p:sp>
        <p:nvSpPr>
          <p:cNvPr id="28" name="TextBox 27"/>
          <p:cNvSpPr txBox="1"/>
          <p:nvPr/>
        </p:nvSpPr>
        <p:spPr>
          <a:xfrm>
            <a:off x="5458968" y="4700016"/>
            <a:ext cx="11795760" cy="475488"/>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Programmes : séquencement après arbitrage priorités / capacité</a:t>
            </a:r>
          </a:p>
        </p:txBody>
      </p:sp>
      <p:sp>
        <p:nvSpPr>
          <p:cNvPr id="29" name="Oval 28"/>
          <p:cNvSpPr/>
          <p:nvPr/>
        </p:nvSpPr>
        <p:spPr>
          <a:xfrm>
            <a:off x="8778240" y="5276088"/>
            <a:ext cx="182880" cy="182880"/>
          </a:xfrm>
          <a:prstGeom prst="ellipse">
            <a:avLst/>
          </a:prstGeom>
          <a:solidFill>
            <a:srgbClr val="FF6633"/>
          </a:solidFill>
          <a:ln>
            <a:noFill/>
          </a:ln>
        </p:spPr>
        <p:txBody>
          <a:bodyPr rtlCol="0" anchor="ctr"/>
          <a:lstStyle/>
          <a:p>
            <a:pPr algn="ctr"/>
          </a:p>
        </p:txBody>
      </p:sp>
      <p:sp>
        <p:nvSpPr>
          <p:cNvPr id="30" name="TextBox 29"/>
          <p:cNvSpPr txBox="1"/>
          <p:nvPr/>
        </p:nvSpPr>
        <p:spPr>
          <a:xfrm>
            <a:off x="9221724" y="5111496"/>
            <a:ext cx="7955279" cy="493776"/>
          </a:xfrm>
          <a:prstGeom prst="rect">
            <a:avLst/>
          </a:prstGeom>
          <a:noFill/>
        </p:spPr>
        <p:txBody>
          <a:bodyPr wrap="square" lIns="0" rIns="0" tIns="0" bIns="0">
            <a:spAutoFit/>
          </a:bodyPr>
          <a:lstStyle/>
          <a:p>
            <a:pPr>
              <a:lnSpc>
                <a:spcPts val="2460"/>
              </a:lnSpc>
              <a:spcBef>
                <a:spcPts val="0"/>
              </a:spcBef>
              <a:spcAft>
                <a:spcPts val="0"/>
              </a:spcAft>
              <a:defRPr sz="2000" b="1">
                <a:solidFill>
                  <a:srgbClr val="002C49"/>
                </a:solidFill>
                <a:latin typeface="Montserrat"/>
              </a:defRPr>
            </a:pPr>
            <a:r>
              <a:t>Neoscreen : à partir d’octobre</a:t>
            </a:r>
          </a:p>
        </p:txBody>
      </p:sp>
      <p:sp>
        <p:nvSpPr>
          <p:cNvPr id="31" name="TextBox 30"/>
          <p:cNvSpPr txBox="1"/>
          <p:nvPr/>
        </p:nvSpPr>
        <p:spPr>
          <a:xfrm>
            <a:off x="868680" y="5843016"/>
            <a:ext cx="429768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BUSINESS</a:t>
            </a:r>
          </a:p>
        </p:txBody>
      </p:sp>
      <p:sp>
        <p:nvSpPr>
          <p:cNvPr id="32" name="TextBox 31"/>
          <p:cNvSpPr txBox="1"/>
          <p:nvPr/>
        </p:nvSpPr>
        <p:spPr>
          <a:xfrm>
            <a:off x="868680" y="6373368"/>
            <a:ext cx="4251960" cy="502920"/>
          </a:xfrm>
          <a:prstGeom prst="rect">
            <a:avLst/>
          </a:prstGeom>
          <a:noFill/>
        </p:spPr>
        <p:txBody>
          <a:bodyPr wrap="square" lIns="0" rIns="0" tIns="0" bIns="0">
            <a:spAutoFit/>
          </a:bodyPr>
          <a:lstStyle/>
          <a:p>
            <a:pPr>
              <a:lnSpc>
                <a:spcPts val="2706"/>
              </a:lnSpc>
              <a:spcBef>
                <a:spcPts val="0"/>
              </a:spcBef>
              <a:spcAft>
                <a:spcPts val="0"/>
              </a:spcAft>
              <a:defRPr sz="2200" b="1">
                <a:solidFill>
                  <a:srgbClr val="002C49"/>
                </a:solidFill>
                <a:latin typeface="Montserrat"/>
              </a:defRPr>
            </a:pPr>
            <a:r>
              <a:t>Fenêtres de performance</a:t>
            </a:r>
          </a:p>
        </p:txBody>
      </p:sp>
      <p:sp>
        <p:nvSpPr>
          <p:cNvPr id="33" name="Rectangle 32"/>
          <p:cNvSpPr/>
          <p:nvPr/>
        </p:nvSpPr>
        <p:spPr>
          <a:xfrm>
            <a:off x="8366759" y="6099048"/>
            <a:ext cx="2514599" cy="109728"/>
          </a:xfrm>
          <a:prstGeom prst="rect">
            <a:avLst/>
          </a:prstGeom>
          <a:solidFill>
            <a:srgbClr val="FF6633"/>
          </a:solidFill>
          <a:ln>
            <a:noFill/>
          </a:ln>
        </p:spPr>
        <p:txBody>
          <a:bodyPr rtlCol="0" anchor="ctr"/>
          <a:lstStyle/>
          <a:p>
            <a:pPr algn="ctr"/>
          </a:p>
        </p:txBody>
      </p:sp>
      <p:sp>
        <p:nvSpPr>
          <p:cNvPr id="34" name="Rectangle 33"/>
          <p:cNvSpPr/>
          <p:nvPr/>
        </p:nvSpPr>
        <p:spPr>
          <a:xfrm>
            <a:off x="12390119" y="6099048"/>
            <a:ext cx="3017520" cy="109728"/>
          </a:xfrm>
          <a:prstGeom prst="rect">
            <a:avLst/>
          </a:prstGeom>
          <a:solidFill>
            <a:srgbClr val="FF6633"/>
          </a:solidFill>
          <a:ln>
            <a:noFill/>
          </a:ln>
        </p:spPr>
        <p:txBody>
          <a:bodyPr rtlCol="0" anchor="ctr"/>
          <a:lstStyle/>
          <a:p>
            <a:pPr algn="ctr"/>
          </a:p>
        </p:txBody>
      </p:sp>
      <p:sp>
        <p:nvSpPr>
          <p:cNvPr id="35" name="TextBox 34"/>
          <p:cNvSpPr txBox="1"/>
          <p:nvPr/>
        </p:nvSpPr>
        <p:spPr>
          <a:xfrm>
            <a:off x="8417051" y="6345936"/>
            <a:ext cx="2743200" cy="548640"/>
          </a:xfrm>
          <a:prstGeom prst="rect">
            <a:avLst/>
          </a:prstGeom>
          <a:noFill/>
        </p:spPr>
        <p:txBody>
          <a:bodyPr wrap="square" lIns="0" rIns="0" tIns="0" bIns="0">
            <a:spAutoFit/>
          </a:bodyPr>
          <a:lstStyle/>
          <a:p>
            <a:pPr>
              <a:lnSpc>
                <a:spcPts val="2460"/>
              </a:lnSpc>
              <a:spcBef>
                <a:spcPts val="0"/>
              </a:spcBef>
              <a:spcAft>
                <a:spcPts val="0"/>
              </a:spcAft>
              <a:defRPr sz="2000" b="1">
                <a:solidFill>
                  <a:srgbClr val="002C49"/>
                </a:solidFill>
                <a:latin typeface="Montserrat"/>
              </a:defRPr>
            </a:pPr>
            <a:r>
              <a:t>Oct. → mi-déc.</a:t>
            </a:r>
          </a:p>
        </p:txBody>
      </p:sp>
      <p:sp>
        <p:nvSpPr>
          <p:cNvPr id="36" name="TextBox 35"/>
          <p:cNvSpPr txBox="1"/>
          <p:nvPr/>
        </p:nvSpPr>
        <p:spPr>
          <a:xfrm>
            <a:off x="12490703" y="6345936"/>
            <a:ext cx="2926080" cy="548640"/>
          </a:xfrm>
          <a:prstGeom prst="rect">
            <a:avLst/>
          </a:prstGeom>
          <a:noFill/>
        </p:spPr>
        <p:txBody>
          <a:bodyPr wrap="square" lIns="0" rIns="0" tIns="0" bIns="0">
            <a:spAutoFit/>
          </a:bodyPr>
          <a:lstStyle/>
          <a:p>
            <a:pPr>
              <a:lnSpc>
                <a:spcPts val="2460"/>
              </a:lnSpc>
              <a:spcBef>
                <a:spcPts val="0"/>
              </a:spcBef>
              <a:spcAft>
                <a:spcPts val="0"/>
              </a:spcAft>
              <a:defRPr sz="2000" b="1">
                <a:solidFill>
                  <a:srgbClr val="002C49"/>
                </a:solidFill>
                <a:latin typeface="Montserrat"/>
              </a:defRPr>
            </a:pPr>
            <a:r>
              <a:t>Fév. → avr.</a:t>
            </a:r>
          </a:p>
        </p:txBody>
      </p:sp>
      <p:sp>
        <p:nvSpPr>
          <p:cNvPr id="37" name="TextBox 36"/>
          <p:cNvSpPr txBox="1"/>
          <p:nvPr/>
        </p:nvSpPr>
        <p:spPr>
          <a:xfrm>
            <a:off x="868680" y="7232904"/>
            <a:ext cx="429768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PEOPLE</a:t>
            </a:r>
          </a:p>
        </p:txBody>
      </p:sp>
      <p:sp>
        <p:nvSpPr>
          <p:cNvPr id="38" name="TextBox 37"/>
          <p:cNvSpPr txBox="1"/>
          <p:nvPr/>
        </p:nvSpPr>
        <p:spPr>
          <a:xfrm>
            <a:off x="868680" y="7772400"/>
            <a:ext cx="4251960" cy="612648"/>
          </a:xfrm>
          <a:prstGeom prst="rect">
            <a:avLst/>
          </a:prstGeom>
          <a:noFill/>
        </p:spPr>
        <p:txBody>
          <a:bodyPr wrap="square" lIns="0" rIns="0" tIns="0" bIns="0">
            <a:spAutoFit/>
          </a:bodyPr>
          <a:lstStyle/>
          <a:p>
            <a:pPr>
              <a:lnSpc>
                <a:spcPts val="2706"/>
              </a:lnSpc>
              <a:spcBef>
                <a:spcPts val="0"/>
              </a:spcBef>
              <a:spcAft>
                <a:spcPts val="0"/>
              </a:spcAft>
              <a:defRPr sz="2200" b="1">
                <a:solidFill>
                  <a:srgbClr val="002C49"/>
                </a:solidFill>
                <a:latin typeface="Montserrat"/>
              </a:defRPr>
            </a:pPr>
            <a:r>
              <a:t>Rituels / série Leadership</a:t>
            </a:r>
          </a:p>
        </p:txBody>
      </p:sp>
      <p:sp>
        <p:nvSpPr>
          <p:cNvPr id="39" name="Oval 38"/>
          <p:cNvSpPr/>
          <p:nvPr/>
        </p:nvSpPr>
        <p:spPr>
          <a:xfrm>
            <a:off x="8778240" y="7296912"/>
            <a:ext cx="182880" cy="182880"/>
          </a:xfrm>
          <a:prstGeom prst="ellipse">
            <a:avLst/>
          </a:prstGeom>
          <a:solidFill>
            <a:srgbClr val="002C49"/>
          </a:solidFill>
          <a:ln>
            <a:noFill/>
          </a:ln>
        </p:spPr>
        <p:txBody>
          <a:bodyPr rtlCol="0" anchor="ctr"/>
          <a:lstStyle/>
          <a:p>
            <a:pPr algn="ctr"/>
          </a:p>
        </p:txBody>
      </p:sp>
      <p:sp>
        <p:nvSpPr>
          <p:cNvPr id="40" name="Oval 39"/>
          <p:cNvSpPr/>
          <p:nvPr/>
        </p:nvSpPr>
        <p:spPr>
          <a:xfrm>
            <a:off x="11795760" y="7296912"/>
            <a:ext cx="182880" cy="182880"/>
          </a:xfrm>
          <a:prstGeom prst="ellipse">
            <a:avLst/>
          </a:prstGeom>
          <a:solidFill>
            <a:srgbClr val="002C49"/>
          </a:solidFill>
          <a:ln>
            <a:noFill/>
          </a:ln>
        </p:spPr>
        <p:txBody>
          <a:bodyPr rtlCol="0" anchor="ctr"/>
          <a:lstStyle/>
          <a:p>
            <a:pPr algn="ctr"/>
          </a:p>
        </p:txBody>
      </p:sp>
      <p:sp>
        <p:nvSpPr>
          <p:cNvPr id="41" name="Oval 40"/>
          <p:cNvSpPr/>
          <p:nvPr/>
        </p:nvSpPr>
        <p:spPr>
          <a:xfrm>
            <a:off x="14813279" y="7296912"/>
            <a:ext cx="182880" cy="182880"/>
          </a:xfrm>
          <a:prstGeom prst="ellipse">
            <a:avLst/>
          </a:prstGeom>
          <a:solidFill>
            <a:srgbClr val="002C49"/>
          </a:solidFill>
          <a:ln>
            <a:noFill/>
          </a:ln>
        </p:spPr>
        <p:txBody>
          <a:bodyPr rtlCol="0" anchor="ctr"/>
          <a:lstStyle/>
          <a:p>
            <a:pPr algn="ctr"/>
          </a:p>
        </p:txBody>
      </p:sp>
      <p:sp>
        <p:nvSpPr>
          <p:cNvPr id="42" name="Oval 41"/>
          <p:cNvSpPr/>
          <p:nvPr/>
        </p:nvSpPr>
        <p:spPr>
          <a:xfrm>
            <a:off x="16824960" y="7296912"/>
            <a:ext cx="182880" cy="182880"/>
          </a:xfrm>
          <a:prstGeom prst="ellipse">
            <a:avLst/>
          </a:prstGeom>
          <a:solidFill>
            <a:srgbClr val="002C49"/>
          </a:solidFill>
          <a:ln>
            <a:noFill/>
          </a:ln>
        </p:spPr>
        <p:txBody>
          <a:bodyPr rtlCol="0" anchor="ctr"/>
          <a:lstStyle/>
          <a:p>
            <a:pPr algn="ctr"/>
          </a:p>
        </p:txBody>
      </p:sp>
      <p:sp>
        <p:nvSpPr>
          <p:cNvPr id="43" name="TextBox 42"/>
          <p:cNvSpPr txBox="1"/>
          <p:nvPr/>
        </p:nvSpPr>
        <p:spPr>
          <a:xfrm>
            <a:off x="5458968" y="7571231"/>
            <a:ext cx="11795760" cy="438912"/>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All Staff : oct. / jan. / avr. / fin d’exercice*</a:t>
            </a:r>
          </a:p>
        </p:txBody>
      </p:sp>
      <p:sp>
        <p:nvSpPr>
          <p:cNvPr id="44" name="Oval 43"/>
          <p:cNvSpPr/>
          <p:nvPr/>
        </p:nvSpPr>
        <p:spPr>
          <a:xfrm>
            <a:off x="9784080" y="8037576"/>
            <a:ext cx="182880" cy="182880"/>
          </a:xfrm>
          <a:prstGeom prst="ellipse">
            <a:avLst/>
          </a:prstGeom>
          <a:solidFill>
            <a:srgbClr val="FF6633"/>
          </a:solidFill>
          <a:ln>
            <a:noFill/>
          </a:ln>
        </p:spPr>
        <p:txBody>
          <a:bodyPr rtlCol="0" anchor="ctr"/>
          <a:lstStyle/>
          <a:p>
            <a:pPr algn="ctr"/>
          </a:p>
        </p:txBody>
      </p:sp>
      <p:sp>
        <p:nvSpPr>
          <p:cNvPr id="45" name="Oval 44"/>
          <p:cNvSpPr/>
          <p:nvPr/>
        </p:nvSpPr>
        <p:spPr>
          <a:xfrm>
            <a:off x="10789919" y="8037576"/>
            <a:ext cx="182880" cy="182880"/>
          </a:xfrm>
          <a:prstGeom prst="ellipse">
            <a:avLst/>
          </a:prstGeom>
          <a:solidFill>
            <a:srgbClr val="FF6633"/>
          </a:solidFill>
          <a:ln>
            <a:noFill/>
          </a:ln>
        </p:spPr>
        <p:txBody>
          <a:bodyPr rtlCol="0" anchor="ctr"/>
          <a:lstStyle/>
          <a:p>
            <a:pPr algn="ctr"/>
          </a:p>
        </p:txBody>
      </p:sp>
      <p:sp>
        <p:nvSpPr>
          <p:cNvPr id="46" name="Oval 45"/>
          <p:cNvSpPr/>
          <p:nvPr/>
        </p:nvSpPr>
        <p:spPr>
          <a:xfrm>
            <a:off x="11795760" y="8037576"/>
            <a:ext cx="182880" cy="182880"/>
          </a:xfrm>
          <a:prstGeom prst="ellipse">
            <a:avLst/>
          </a:prstGeom>
          <a:solidFill>
            <a:srgbClr val="FF6633"/>
          </a:solidFill>
          <a:ln>
            <a:noFill/>
          </a:ln>
        </p:spPr>
        <p:txBody>
          <a:bodyPr rtlCol="0" anchor="ctr"/>
          <a:lstStyle/>
          <a:p>
            <a:pPr algn="ctr"/>
          </a:p>
        </p:txBody>
      </p:sp>
      <p:sp>
        <p:nvSpPr>
          <p:cNvPr id="47" name="Oval 46"/>
          <p:cNvSpPr/>
          <p:nvPr/>
        </p:nvSpPr>
        <p:spPr>
          <a:xfrm>
            <a:off x="12801599" y="8037576"/>
            <a:ext cx="182880" cy="182880"/>
          </a:xfrm>
          <a:prstGeom prst="ellipse">
            <a:avLst/>
          </a:prstGeom>
          <a:solidFill>
            <a:srgbClr val="FF6633"/>
          </a:solidFill>
          <a:ln>
            <a:noFill/>
          </a:ln>
        </p:spPr>
        <p:txBody>
          <a:bodyPr rtlCol="0" anchor="ctr"/>
          <a:lstStyle/>
          <a:p>
            <a:pPr algn="ctr"/>
          </a:p>
        </p:txBody>
      </p:sp>
      <p:sp>
        <p:nvSpPr>
          <p:cNvPr id="48" name="Oval 47"/>
          <p:cNvSpPr/>
          <p:nvPr/>
        </p:nvSpPr>
        <p:spPr>
          <a:xfrm>
            <a:off x="13807440" y="8037576"/>
            <a:ext cx="182880" cy="182880"/>
          </a:xfrm>
          <a:prstGeom prst="ellipse">
            <a:avLst/>
          </a:prstGeom>
          <a:solidFill>
            <a:srgbClr val="FF6633"/>
          </a:solidFill>
          <a:ln>
            <a:noFill/>
          </a:ln>
        </p:spPr>
        <p:txBody>
          <a:bodyPr rtlCol="0" anchor="ctr"/>
          <a:lstStyle/>
          <a:p>
            <a:pPr algn="ctr"/>
          </a:p>
        </p:txBody>
      </p:sp>
      <p:sp>
        <p:nvSpPr>
          <p:cNvPr id="49" name="TextBox 48"/>
          <p:cNvSpPr txBox="1"/>
          <p:nvPr/>
        </p:nvSpPr>
        <p:spPr>
          <a:xfrm>
            <a:off x="5458968" y="8302752"/>
            <a:ext cx="11795760" cy="393192"/>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Leadership : capsules nov.–fév. ; mash-up autour du 8 mars</a:t>
            </a:r>
          </a:p>
        </p:txBody>
      </p:sp>
      <p:sp>
        <p:nvSpPr>
          <p:cNvPr id="50" name="TextBox 49"/>
          <p:cNvSpPr txBox="1"/>
          <p:nvPr/>
        </p:nvSpPr>
        <p:spPr>
          <a:xfrm>
            <a:off x="868680" y="8823960"/>
            <a:ext cx="16550640" cy="777240"/>
          </a:xfrm>
          <a:prstGeom prst="rect">
            <a:avLst/>
          </a:prstGeom>
          <a:noFill/>
        </p:spPr>
        <p:txBody>
          <a:bodyPr wrap="square" lIns="0" rIns="0" tIns="0" bIns="0">
            <a:spAutoFit/>
          </a:bodyPr>
          <a:lstStyle/>
          <a:p>
            <a:pPr>
              <a:lnSpc>
                <a:spcPts val="2300"/>
              </a:lnSpc>
              <a:spcBef>
                <a:spcPts val="0"/>
              </a:spcBef>
              <a:spcAft>
                <a:spcPts val="0"/>
              </a:spcAft>
              <a:defRPr sz="1800" b="0">
                <a:solidFill>
                  <a:srgbClr val="526777"/>
                </a:solidFill>
                <a:latin typeface="Montserrat"/>
              </a:defRPr>
            </a:pPr>
            <a:r>
              <a:t>Fils rouges : RDV / RSE internes mensuels ; LinkedIn corporate. Leytonienne : S1 fin janvier ; S2 préparée mai–juin, publiée fin juillet hors FY.</a:t>
            </a:r>
          </a:p>
          <a:p>
            <a:pPr>
              <a:lnSpc>
                <a:spcPts val="2300"/>
              </a:lnSpc>
              <a:spcBef>
                <a:spcPts val="0"/>
              </a:spcBef>
              <a:spcAft>
                <a:spcPts val="0"/>
              </a:spcAft>
              <a:defRPr sz="1800" b="0">
                <a:solidFill>
                  <a:srgbClr val="526777"/>
                </a:solidFill>
                <a:latin typeface="Montserrat"/>
              </a:defRPr>
            </a:pPr>
            <a:r>
              <a:t>Point = temps fort ; barre = fenêtre ; pointillé = séquencement à confirmer. *All Staff fin d’exercice : date à confirmer.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11 / PILOTAGE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Des responsabilités claires. Des effets suivis.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Le pilotage relie les priorités, les validations et les données disponibles.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12</a:t>
            </a:r>
          </a:p>
        </p:txBody>
      </p:sp>
      <p:sp>
        <p:nvSpPr>
          <p:cNvPr id="9" name="TextBox 8"/>
          <p:cNvSpPr txBox="1"/>
          <p:nvPr/>
        </p:nvSpPr>
        <p:spPr>
          <a:xfrm>
            <a:off x="868680" y="3611880"/>
            <a:ext cx="795527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GOUVERNANCE LÉGÈRE</a:t>
            </a:r>
          </a:p>
        </p:txBody>
      </p:sp>
      <p:sp>
        <p:nvSpPr>
          <p:cNvPr id="10" name="TextBox 9"/>
          <p:cNvSpPr txBox="1"/>
          <p:nvPr/>
        </p:nvSpPr>
        <p:spPr>
          <a:xfrm>
            <a:off x="9418320" y="3611880"/>
            <a:ext cx="795527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MESURE PAR GRAND PROGRAMME</a:t>
            </a:r>
          </a:p>
        </p:txBody>
      </p:sp>
      <p:sp>
        <p:nvSpPr>
          <p:cNvPr id="11" name="TextBox 10"/>
          <p:cNvSpPr txBox="1"/>
          <p:nvPr/>
        </p:nvSpPr>
        <p:spPr>
          <a:xfrm>
            <a:off x="868680" y="4297680"/>
            <a:ext cx="7818120" cy="1874519"/>
          </a:xfrm>
          <a:prstGeom prst="rect">
            <a:avLst/>
          </a:prstGeom>
          <a:noFill/>
        </p:spPr>
        <p:txBody>
          <a:bodyPr wrap="square" lIns="0" rIns="0" tIns="0" bIns="0">
            <a:spAutoFit/>
          </a:bodyPr>
          <a:lstStyle/>
          <a:p>
            <a:pPr>
              <a:lnSpc>
                <a:spcPts val="4700"/>
              </a:lnSpc>
              <a:spcBef>
                <a:spcPts val="0"/>
              </a:spcBef>
              <a:spcAft>
                <a:spcPts val="0"/>
              </a:spcAft>
              <a:defRPr sz="3000" b="1">
                <a:solidFill>
                  <a:srgbClr val="002C49"/>
                </a:solidFill>
                <a:latin typeface="Montserrat"/>
              </a:defRPr>
            </a:pPr>
            <a:r>
              <a:t>Owner du fond / contributeurs</a:t>
            </a:r>
          </a:p>
          <a:p>
            <a:pPr>
              <a:lnSpc>
                <a:spcPts val="4700"/>
              </a:lnSpc>
              <a:spcBef>
                <a:spcPts val="0"/>
              </a:spcBef>
              <a:spcAft>
                <a:spcPts val="0"/>
              </a:spcAft>
              <a:defRPr sz="3000" b="1">
                <a:solidFill>
                  <a:srgbClr val="002C49"/>
                </a:solidFill>
                <a:latin typeface="Montserrat"/>
              </a:defRPr>
            </a:pPr>
            <a:r>
              <a:t>Rôle Communication</a:t>
            </a:r>
          </a:p>
          <a:p>
            <a:pPr>
              <a:lnSpc>
                <a:spcPts val="4700"/>
              </a:lnSpc>
              <a:spcBef>
                <a:spcPts val="0"/>
              </a:spcBef>
              <a:spcAft>
                <a:spcPts val="0"/>
              </a:spcAft>
              <a:defRPr sz="3000" b="1">
                <a:solidFill>
                  <a:srgbClr val="002C49"/>
                </a:solidFill>
                <a:latin typeface="Montserrat"/>
              </a:defRPr>
            </a:pPr>
            <a:r>
              <a:t>Arbitrage nécessaire</a:t>
            </a:r>
          </a:p>
        </p:txBody>
      </p:sp>
      <p:sp>
        <p:nvSpPr>
          <p:cNvPr id="12" name="TextBox 11"/>
          <p:cNvSpPr txBox="1"/>
          <p:nvPr/>
        </p:nvSpPr>
        <p:spPr>
          <a:xfrm>
            <a:off x="868680" y="6556248"/>
            <a:ext cx="7818120" cy="1481328"/>
          </a:xfrm>
          <a:prstGeom prst="rect">
            <a:avLst/>
          </a:prstGeom>
          <a:noFill/>
        </p:spPr>
        <p:txBody>
          <a:bodyPr wrap="square" lIns="0" rIns="0" tIns="0" bIns="0">
            <a:spAutoFit/>
          </a:bodyPr>
          <a:lstStyle/>
          <a:p>
            <a:pPr>
              <a:lnSpc>
                <a:spcPts val="3400"/>
              </a:lnSpc>
              <a:spcBef>
                <a:spcPts val="0"/>
              </a:spcBef>
              <a:spcAft>
                <a:spcPts val="0"/>
              </a:spcAft>
              <a:defRPr sz="2500" b="0">
                <a:solidFill>
                  <a:srgbClr val="526777"/>
                </a:solidFill>
                <a:latin typeface="Montserrat"/>
              </a:defRPr>
            </a:pPr>
            <a:r>
              <a:t>Direction : priorités et arbitrages.</a:t>
            </a:r>
          </a:p>
          <a:p>
            <a:pPr>
              <a:lnSpc>
                <a:spcPts val="3400"/>
              </a:lnSpc>
              <a:spcBef>
                <a:spcPts val="0"/>
              </a:spcBef>
              <a:spcAft>
                <a:spcPts val="0"/>
              </a:spcAft>
              <a:defRPr sz="2500" b="0">
                <a:solidFill>
                  <a:srgbClr val="526777"/>
                </a:solidFill>
                <a:latin typeface="Montserrat"/>
              </a:defRPr>
            </a:pPr>
            <a:r>
              <a:t>Équipes expertes : fond et validation.</a:t>
            </a:r>
          </a:p>
          <a:p>
            <a:pPr>
              <a:lnSpc>
                <a:spcPts val="3400"/>
              </a:lnSpc>
              <a:spcBef>
                <a:spcPts val="0"/>
              </a:spcBef>
              <a:spcAft>
                <a:spcPts val="0"/>
              </a:spcAft>
              <a:defRPr sz="2500" b="0">
                <a:solidFill>
                  <a:srgbClr val="526777"/>
                </a:solidFill>
                <a:latin typeface="Montserrat"/>
              </a:defRPr>
            </a:pPr>
            <a:r>
              <a:t>Communication : orchestration / capitalisation.</a:t>
            </a:r>
          </a:p>
        </p:txBody>
      </p:sp>
      <p:sp>
        <p:nvSpPr>
          <p:cNvPr id="13" name="TextBox 12"/>
          <p:cNvSpPr txBox="1"/>
          <p:nvPr/>
        </p:nvSpPr>
        <p:spPr>
          <a:xfrm>
            <a:off x="9418320" y="4297680"/>
            <a:ext cx="7818120" cy="1874519"/>
          </a:xfrm>
          <a:prstGeom prst="rect">
            <a:avLst/>
          </a:prstGeom>
          <a:noFill/>
        </p:spPr>
        <p:txBody>
          <a:bodyPr wrap="square" lIns="0" rIns="0" tIns="0" bIns="0">
            <a:spAutoFit/>
          </a:bodyPr>
          <a:lstStyle/>
          <a:p>
            <a:pPr>
              <a:lnSpc>
                <a:spcPts val="4700"/>
              </a:lnSpc>
              <a:spcBef>
                <a:spcPts val="0"/>
              </a:spcBef>
              <a:spcAft>
                <a:spcPts val="0"/>
              </a:spcAft>
              <a:defRPr sz="3000" b="1">
                <a:solidFill>
                  <a:srgbClr val="002C49"/>
                </a:solidFill>
                <a:latin typeface="Montserrat"/>
              </a:defRPr>
            </a:pPr>
            <a:r>
              <a:t>1 effet recherché</a:t>
            </a:r>
          </a:p>
          <a:p>
            <a:pPr>
              <a:lnSpc>
                <a:spcPts val="4700"/>
              </a:lnSpc>
              <a:spcBef>
                <a:spcPts val="0"/>
              </a:spcBef>
              <a:spcAft>
                <a:spcPts val="0"/>
              </a:spcAft>
              <a:defRPr sz="3000" b="1">
                <a:solidFill>
                  <a:srgbClr val="002C49"/>
                </a:solidFill>
                <a:latin typeface="Montserrat"/>
              </a:defRPr>
            </a:pPr>
            <a:r>
              <a:t>1 ou 2 indicateurs</a:t>
            </a:r>
          </a:p>
          <a:p>
            <a:pPr>
              <a:lnSpc>
                <a:spcPts val="4700"/>
              </a:lnSpc>
              <a:spcBef>
                <a:spcPts val="0"/>
              </a:spcBef>
              <a:spcAft>
                <a:spcPts val="0"/>
              </a:spcAft>
              <a:defRPr sz="3000" b="1">
                <a:solidFill>
                  <a:srgbClr val="002C49"/>
                </a:solidFill>
                <a:latin typeface="Montserrat"/>
              </a:defRPr>
            </a:pPr>
            <a:r>
              <a:t>Une source de données</a:t>
            </a:r>
          </a:p>
        </p:txBody>
      </p:sp>
      <p:sp>
        <p:nvSpPr>
          <p:cNvPr id="14" name="TextBox 13"/>
          <p:cNvSpPr txBox="1"/>
          <p:nvPr/>
        </p:nvSpPr>
        <p:spPr>
          <a:xfrm>
            <a:off x="9418320" y="6556248"/>
            <a:ext cx="7818120" cy="1463040"/>
          </a:xfrm>
          <a:prstGeom prst="rect">
            <a:avLst/>
          </a:prstGeom>
          <a:noFill/>
        </p:spPr>
        <p:txBody>
          <a:bodyPr wrap="square" lIns="0" rIns="0" tIns="0" bIns="0">
            <a:spAutoFit/>
          </a:bodyPr>
          <a:lstStyle/>
          <a:p>
            <a:pPr>
              <a:lnSpc>
                <a:spcPts val="3400"/>
              </a:lnSpc>
              <a:spcBef>
                <a:spcPts val="0"/>
              </a:spcBef>
              <a:spcAft>
                <a:spcPts val="0"/>
              </a:spcAft>
              <a:defRPr sz="2500" b="0">
                <a:solidFill>
                  <a:srgbClr val="526777"/>
                </a:solidFill>
                <a:latin typeface="Montserrat"/>
              </a:defRPr>
            </a:pPr>
            <a:r>
              <a:t>Adoption, participation, usage, preuves.</a:t>
            </a:r>
          </a:p>
          <a:p>
            <a:pPr>
              <a:lnSpc>
                <a:spcPts val="3400"/>
              </a:lnSpc>
              <a:spcBef>
                <a:spcPts val="0"/>
              </a:spcBef>
              <a:spcAft>
                <a:spcPts val="0"/>
              </a:spcAft>
              <a:defRPr sz="2500" b="0">
                <a:solidFill>
                  <a:srgbClr val="526777"/>
                </a:solidFill>
                <a:latin typeface="Montserrat"/>
              </a:defRPr>
            </a:pPr>
            <a:r>
              <a:t>Sources à mobiliser avec les équipes.</a:t>
            </a:r>
          </a:p>
          <a:p>
            <a:pPr>
              <a:lnSpc>
                <a:spcPts val="3400"/>
              </a:lnSpc>
              <a:spcBef>
                <a:spcPts val="0"/>
              </a:spcBef>
              <a:spcAft>
                <a:spcPts val="0"/>
              </a:spcAft>
              <a:defRPr sz="2500" b="0">
                <a:solidFill>
                  <a:srgbClr val="526777"/>
                </a:solidFill>
                <a:latin typeface="Montserrat"/>
              </a:defRPr>
            </a:pPr>
            <a:r>
              <a:t>Aucune cible chiffrée ajoutée.</a:t>
            </a:r>
          </a:p>
        </p:txBody>
      </p:sp>
      <p:sp>
        <p:nvSpPr>
          <p:cNvPr id="15" name="Rectangle 14"/>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16" name="TextBox 15"/>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Les volumes de production sont des repères d’activité, pas une preuve d’impact. Détails par programme en annexes.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2C49"/>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9DB0BD"/>
                </a:solidFill>
                <a:latin typeface="Montserrat"/>
              </a:defRPr>
            </a:pPr>
            <a:r>
              <a:t>12 / DÉCISIONS ATTENDUES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FFFFFF"/>
                </a:solidFill>
                <a:latin typeface="Nohemi"/>
              </a:defRPr>
            </a:pPr>
            <a:r>
              <a:t>Les arbitrages qui rendent le plan exécutable.</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9DB0BD"/>
                </a:solidFill>
                <a:latin typeface="Montserrat"/>
              </a:defRPr>
            </a:pPr>
            <a:r>
              <a:t>Valider les choix, leur séquencement et les conditions de mise en œuvre.</a:t>
            </a:r>
          </a:p>
        </p:txBody>
      </p:sp>
      <p:sp>
        <p:nvSpPr>
          <p:cNvPr id="6" name="Rectangle 5"/>
          <p:cNvSpPr/>
          <p:nvPr/>
        </p:nvSpPr>
        <p:spPr>
          <a:xfrm>
            <a:off x="822960" y="9738360"/>
            <a:ext cx="16642080" cy="10972"/>
          </a:xfrm>
          <a:prstGeom prst="rect">
            <a:avLst/>
          </a:prstGeom>
          <a:solidFill>
            <a:srgbClr val="0C405C"/>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9DB0BD"/>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13</a:t>
            </a:r>
          </a:p>
        </p:txBody>
      </p:sp>
      <p:sp>
        <p:nvSpPr>
          <p:cNvPr id="9" name="Rectangle 8"/>
          <p:cNvSpPr/>
          <p:nvPr/>
        </p:nvSpPr>
        <p:spPr>
          <a:xfrm>
            <a:off x="868680" y="3611880"/>
            <a:ext cx="5257800" cy="4535424"/>
          </a:xfrm>
          <a:prstGeom prst="rect">
            <a:avLst/>
          </a:prstGeom>
          <a:solidFill>
            <a:srgbClr val="0C405C"/>
          </a:solidFill>
          <a:ln>
            <a:noFill/>
          </a:ln>
        </p:spPr>
        <p:txBody>
          <a:bodyPr rtlCol="0" anchor="ctr"/>
          <a:lstStyle/>
          <a:p>
            <a:pPr algn="ctr"/>
          </a:p>
        </p:txBody>
      </p:sp>
      <p:sp>
        <p:nvSpPr>
          <p:cNvPr id="10" name="TextBox 9"/>
          <p:cNvSpPr txBox="1"/>
          <p:nvPr/>
        </p:nvSpPr>
        <p:spPr>
          <a:xfrm>
            <a:off x="1124712" y="3922776"/>
            <a:ext cx="4745736"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PRIORITÉS &amp; CAPACITÉ</a:t>
            </a:r>
          </a:p>
        </p:txBody>
      </p:sp>
      <p:sp>
        <p:nvSpPr>
          <p:cNvPr id="11" name="TextBox 10"/>
          <p:cNvSpPr txBox="1"/>
          <p:nvPr/>
        </p:nvSpPr>
        <p:spPr>
          <a:xfrm>
            <a:off x="1124712" y="4700016"/>
            <a:ext cx="4800600" cy="3429000"/>
          </a:xfrm>
          <a:prstGeom prst="rect">
            <a:avLst/>
          </a:prstGeom>
          <a:noFill/>
        </p:spPr>
        <p:txBody>
          <a:bodyPr wrap="square" lIns="0" rIns="0" tIns="0" bIns="0">
            <a:spAutoFit/>
          </a:bodyPr>
          <a:lstStyle/>
          <a:p>
            <a:pPr>
              <a:lnSpc>
                <a:spcPts val="3700"/>
              </a:lnSpc>
              <a:spcBef>
                <a:spcPts val="0"/>
              </a:spcBef>
              <a:spcAft>
                <a:spcPts val="0"/>
              </a:spcAft>
              <a:defRPr sz="2600" b="0">
                <a:solidFill>
                  <a:srgbClr val="FFFFFF"/>
                </a:solidFill>
                <a:latin typeface="Montserrat"/>
              </a:defRPr>
            </a:pPr>
            <a:r>
              <a:t>Quels ensembles lancer en premier ?</a:t>
            </a:r>
          </a:p>
          <a:p>
            <a:pPr>
              <a:lnSpc>
                <a:spcPts val="3700"/>
              </a:lnSpc>
              <a:spcBef>
                <a:spcPts val="0"/>
              </a:spcBef>
              <a:spcAft>
                <a:spcPts val="0"/>
              </a:spcAft>
              <a:defRPr sz="2600" b="0">
                <a:solidFill>
                  <a:srgbClr val="FFFFFF"/>
                </a:solidFill>
                <a:latin typeface="Montserrat"/>
              </a:defRPr>
            </a:pPr>
            <a:r>
              <a:t>Que peut absorber l’équipe ?</a:t>
            </a:r>
          </a:p>
          <a:p>
            <a:pPr>
              <a:lnSpc>
                <a:spcPts val="3700"/>
              </a:lnSpc>
              <a:spcBef>
                <a:spcPts val="0"/>
              </a:spcBef>
              <a:spcAft>
                <a:spcPts val="0"/>
              </a:spcAft>
              <a:defRPr sz="2600" b="0">
                <a:solidFill>
                  <a:srgbClr val="FFFFFF"/>
                </a:solidFill>
                <a:latin typeface="Montserrat"/>
              </a:defRPr>
            </a:pPr>
            <a:r>
              <a:t>Que séquencer ou différer ?</a:t>
            </a:r>
          </a:p>
        </p:txBody>
      </p:sp>
      <p:sp>
        <p:nvSpPr>
          <p:cNvPr id="12" name="Rectangle 11"/>
          <p:cNvSpPr/>
          <p:nvPr/>
        </p:nvSpPr>
        <p:spPr>
          <a:xfrm>
            <a:off x="6446520" y="3611880"/>
            <a:ext cx="5257800" cy="4535424"/>
          </a:xfrm>
          <a:prstGeom prst="rect">
            <a:avLst/>
          </a:prstGeom>
          <a:solidFill>
            <a:srgbClr val="0C405C"/>
          </a:solidFill>
          <a:ln>
            <a:noFill/>
          </a:ln>
        </p:spPr>
        <p:txBody>
          <a:bodyPr rtlCol="0" anchor="ctr"/>
          <a:lstStyle/>
          <a:p>
            <a:pPr algn="ctr"/>
          </a:p>
        </p:txBody>
      </p:sp>
      <p:sp>
        <p:nvSpPr>
          <p:cNvPr id="13" name="TextBox 12"/>
          <p:cNvSpPr txBox="1"/>
          <p:nvPr/>
        </p:nvSpPr>
        <p:spPr>
          <a:xfrm>
            <a:off x="6702552" y="3922776"/>
            <a:ext cx="4745736"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DÉPENDANCES &amp; CADRAGES</a:t>
            </a:r>
          </a:p>
        </p:txBody>
      </p:sp>
      <p:sp>
        <p:nvSpPr>
          <p:cNvPr id="14" name="TextBox 13"/>
          <p:cNvSpPr txBox="1"/>
          <p:nvPr/>
        </p:nvSpPr>
        <p:spPr>
          <a:xfrm>
            <a:off x="6702552" y="4700016"/>
            <a:ext cx="4800600" cy="3429000"/>
          </a:xfrm>
          <a:prstGeom prst="rect">
            <a:avLst/>
          </a:prstGeom>
          <a:noFill/>
        </p:spPr>
        <p:txBody>
          <a:bodyPr wrap="square" lIns="0" rIns="0" tIns="0" bIns="0">
            <a:spAutoFit/>
          </a:bodyPr>
          <a:lstStyle/>
          <a:p>
            <a:pPr>
              <a:lnSpc>
                <a:spcPts val="3700"/>
              </a:lnSpc>
              <a:spcBef>
                <a:spcPts val="0"/>
              </a:spcBef>
              <a:spcAft>
                <a:spcPts val="0"/>
              </a:spcAft>
              <a:defRPr sz="2600" b="0">
                <a:solidFill>
                  <a:srgbClr val="FFFFFF"/>
                </a:solidFill>
                <a:latin typeface="Montserrat"/>
              </a:defRPr>
            </a:pPr>
            <a:r>
              <a:t>Intranet : revue / prestataire.</a:t>
            </a:r>
          </a:p>
          <a:p>
            <a:pPr>
              <a:lnSpc>
                <a:spcPts val="3700"/>
              </a:lnSpc>
              <a:spcBef>
                <a:spcPts val="0"/>
              </a:spcBef>
              <a:spcAft>
                <a:spcPts val="0"/>
              </a:spcAft>
              <a:defRPr sz="2600" b="0">
                <a:solidFill>
                  <a:srgbClr val="FFFFFF"/>
                </a:solidFill>
                <a:latin typeface="Montserrat"/>
              </a:defRPr>
            </a:pPr>
            <a:r>
              <a:t>IA : date du Zoom,</a:t>
            </a:r>
          </a:p>
          <a:p>
            <a:pPr>
              <a:lnSpc>
                <a:spcPts val="3700"/>
              </a:lnSpc>
              <a:spcBef>
                <a:spcPts val="0"/>
              </a:spcBef>
              <a:spcAft>
                <a:spcPts val="0"/>
              </a:spcAft>
              <a:defRPr sz="2600" b="0">
                <a:solidFill>
                  <a:srgbClr val="FFFFFF"/>
                </a:solidFill>
                <a:latin typeface="Montserrat"/>
              </a:defRPr>
            </a:pPr>
            <a:r>
              <a:t>sans bloquer le parcours.</a:t>
            </a:r>
          </a:p>
          <a:p>
            <a:pPr>
              <a:lnSpc>
                <a:spcPts val="3700"/>
              </a:lnSpc>
              <a:spcBef>
                <a:spcPts val="0"/>
              </a:spcBef>
              <a:spcAft>
                <a:spcPts val="0"/>
              </a:spcAft>
              <a:defRPr sz="2600" b="0">
                <a:solidFill>
                  <a:srgbClr val="FFFFFF"/>
                </a:solidFill>
                <a:latin typeface="Montserrat"/>
              </a:defRPr>
            </a:pPr>
            <a:r>
              <a:t>Business Partner : périmètre / owner.</a:t>
            </a:r>
          </a:p>
          <a:p>
            <a:pPr>
              <a:lnSpc>
                <a:spcPts val="3700"/>
              </a:lnSpc>
              <a:spcBef>
                <a:spcPts val="0"/>
              </a:spcBef>
              <a:spcAft>
                <a:spcPts val="0"/>
              </a:spcAft>
              <a:defRPr sz="2600" b="0">
                <a:solidFill>
                  <a:srgbClr val="FFFFFF"/>
                </a:solidFill>
                <a:latin typeface="Montserrat"/>
              </a:defRPr>
            </a:pPr>
            <a:r>
              <a:t>Workelo : cadrage / temporalité.</a:t>
            </a:r>
          </a:p>
        </p:txBody>
      </p:sp>
      <p:sp>
        <p:nvSpPr>
          <p:cNvPr id="15" name="Rectangle 14"/>
          <p:cNvSpPr/>
          <p:nvPr/>
        </p:nvSpPr>
        <p:spPr>
          <a:xfrm>
            <a:off x="12024359" y="3611880"/>
            <a:ext cx="5257800" cy="4535424"/>
          </a:xfrm>
          <a:prstGeom prst="rect">
            <a:avLst/>
          </a:prstGeom>
          <a:solidFill>
            <a:srgbClr val="0C405C"/>
          </a:solidFill>
          <a:ln>
            <a:noFill/>
          </a:ln>
        </p:spPr>
        <p:txBody>
          <a:bodyPr rtlCol="0" anchor="ctr"/>
          <a:lstStyle/>
          <a:p>
            <a:pPr algn="ctr"/>
          </a:p>
        </p:txBody>
      </p:sp>
      <p:sp>
        <p:nvSpPr>
          <p:cNvPr id="16" name="TextBox 15"/>
          <p:cNvSpPr txBox="1"/>
          <p:nvPr/>
        </p:nvSpPr>
        <p:spPr>
          <a:xfrm>
            <a:off x="12280391" y="3922776"/>
            <a:ext cx="4745736"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CALENDRIERS &amp; PILOTAGE</a:t>
            </a:r>
          </a:p>
        </p:txBody>
      </p:sp>
      <p:sp>
        <p:nvSpPr>
          <p:cNvPr id="17" name="TextBox 16"/>
          <p:cNvSpPr txBox="1"/>
          <p:nvPr/>
        </p:nvSpPr>
        <p:spPr>
          <a:xfrm>
            <a:off x="12280391" y="4700016"/>
            <a:ext cx="4800600" cy="3429000"/>
          </a:xfrm>
          <a:prstGeom prst="rect">
            <a:avLst/>
          </a:prstGeom>
          <a:noFill/>
        </p:spPr>
        <p:txBody>
          <a:bodyPr wrap="square" lIns="0" rIns="0" tIns="0" bIns="0">
            <a:spAutoFit/>
          </a:bodyPr>
          <a:lstStyle/>
          <a:p>
            <a:pPr>
              <a:lnSpc>
                <a:spcPts val="3700"/>
              </a:lnSpc>
              <a:spcBef>
                <a:spcPts val="0"/>
              </a:spcBef>
              <a:spcAft>
                <a:spcPts val="0"/>
              </a:spcAft>
              <a:defRPr sz="2600" b="0">
                <a:solidFill>
                  <a:srgbClr val="FFFFFF"/>
                </a:solidFill>
                <a:latin typeface="Montserrat"/>
              </a:defRPr>
            </a:pPr>
            <a:r>
              <a:t>Vidéo corporate : calendrier Groupe.</a:t>
            </a:r>
          </a:p>
          <a:p>
            <a:pPr>
              <a:lnSpc>
                <a:spcPts val="3700"/>
              </a:lnSpc>
              <a:spcBef>
                <a:spcPts val="0"/>
              </a:spcBef>
              <a:spcAft>
                <a:spcPts val="0"/>
              </a:spcAft>
              <a:defRPr sz="2600" b="0">
                <a:solidFill>
                  <a:srgbClr val="FFFFFF"/>
                </a:solidFill>
                <a:latin typeface="Montserrat"/>
              </a:defRPr>
            </a:pPr>
            <a:r>
              <a:t>Séminaire : date à confirmer.</a:t>
            </a:r>
          </a:p>
          <a:p>
            <a:pPr>
              <a:lnSpc>
                <a:spcPts val="3700"/>
              </a:lnSpc>
              <a:spcBef>
                <a:spcPts val="0"/>
              </a:spcBef>
              <a:spcAft>
                <a:spcPts val="0"/>
              </a:spcAft>
              <a:defRPr sz="2600" b="0">
                <a:solidFill>
                  <a:srgbClr val="FFFFFF"/>
                </a:solidFill>
                <a:latin typeface="Montserrat"/>
              </a:defRPr>
            </a:pPr>
            <a:r>
              <a:t>Owners, validations et rythme</a:t>
            </a:r>
          </a:p>
          <a:p>
            <a:pPr>
              <a:lnSpc>
                <a:spcPts val="3700"/>
              </a:lnSpc>
              <a:spcBef>
                <a:spcPts val="0"/>
              </a:spcBef>
              <a:spcAft>
                <a:spcPts val="0"/>
              </a:spcAft>
              <a:defRPr sz="2600" b="0">
                <a:solidFill>
                  <a:srgbClr val="FFFFFF"/>
                </a:solidFill>
                <a:latin typeface="Montserrat"/>
              </a:defRPr>
            </a:pPr>
            <a:r>
              <a:t>de pilotage à arrêter.</a:t>
            </a:r>
          </a:p>
        </p:txBody>
      </p:sp>
      <p:sp>
        <p:nvSpPr>
          <p:cNvPr id="18" name="Rectangle 17"/>
          <p:cNvSpPr/>
          <p:nvPr/>
        </p:nvSpPr>
        <p:spPr>
          <a:xfrm>
            <a:off x="822960" y="8705088"/>
            <a:ext cx="16642080" cy="10972"/>
          </a:xfrm>
          <a:prstGeom prst="rect">
            <a:avLst/>
          </a:prstGeom>
          <a:solidFill>
            <a:srgbClr val="0C405C"/>
          </a:solidFill>
          <a:ln>
            <a:noFill/>
          </a:ln>
        </p:spPr>
        <p:txBody>
          <a:bodyPr rtlCol="0" anchor="ctr"/>
          <a:lstStyle/>
          <a:p>
            <a:pPr algn="ctr"/>
          </a:p>
        </p:txBody>
      </p:sp>
      <p:sp>
        <p:nvSpPr>
          <p:cNvPr id="19" name="TextBox 18"/>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FFFFFF"/>
                </a:solidFill>
                <a:latin typeface="Montserrat"/>
              </a:defRPr>
            </a:pPr>
            <a:r>
              <a:t>L’enjeu : arrêter un plan priorisé et pilotable dans la capacité réelle de Communication France.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A12 / ROADMAP DÉTAILLÉE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Projets : fenêtres validées et dépendances.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Pointillés = temporalité à arbitrer, pas une période de production engagée.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25</a:t>
            </a:r>
          </a:p>
        </p:txBody>
      </p:sp>
      <p:sp>
        <p:nvSpPr>
          <p:cNvPr id="9" name="TextBox 8"/>
          <p:cNvSpPr txBox="1"/>
          <p:nvPr/>
        </p:nvSpPr>
        <p:spPr>
          <a:xfrm>
            <a:off x="534924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JUIL.</a:t>
            </a:r>
          </a:p>
        </p:txBody>
      </p:sp>
      <p:sp>
        <p:nvSpPr>
          <p:cNvPr id="10" name="TextBox 9"/>
          <p:cNvSpPr txBox="1"/>
          <p:nvPr/>
        </p:nvSpPr>
        <p:spPr>
          <a:xfrm>
            <a:off x="63550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AOÛT</a:t>
            </a:r>
          </a:p>
        </p:txBody>
      </p:sp>
      <p:sp>
        <p:nvSpPr>
          <p:cNvPr id="11" name="Rectangle 10"/>
          <p:cNvSpPr/>
          <p:nvPr/>
        </p:nvSpPr>
        <p:spPr>
          <a:xfrm>
            <a:off x="6355079" y="4032504"/>
            <a:ext cx="1005839" cy="4114800"/>
          </a:xfrm>
          <a:prstGeom prst="rect">
            <a:avLst/>
          </a:prstGeom>
          <a:solidFill>
            <a:srgbClr val="F7F7F3"/>
          </a:solidFill>
          <a:ln>
            <a:noFill/>
          </a:ln>
        </p:spPr>
        <p:txBody>
          <a:bodyPr rtlCol="0" anchor="ctr"/>
          <a:lstStyle/>
          <a:p>
            <a:pPr algn="ctr"/>
          </a:p>
        </p:txBody>
      </p:sp>
      <p:sp>
        <p:nvSpPr>
          <p:cNvPr id="12" name="TextBox 11"/>
          <p:cNvSpPr txBox="1"/>
          <p:nvPr/>
        </p:nvSpPr>
        <p:spPr>
          <a:xfrm>
            <a:off x="73609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SEPT.</a:t>
            </a:r>
          </a:p>
        </p:txBody>
      </p:sp>
      <p:sp>
        <p:nvSpPr>
          <p:cNvPr id="13" name="TextBox 12"/>
          <p:cNvSpPr txBox="1"/>
          <p:nvPr/>
        </p:nvSpPr>
        <p:spPr>
          <a:xfrm>
            <a:off x="83667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OCT.</a:t>
            </a:r>
          </a:p>
        </p:txBody>
      </p:sp>
      <p:sp>
        <p:nvSpPr>
          <p:cNvPr id="14" name="TextBox 13"/>
          <p:cNvSpPr txBox="1"/>
          <p:nvPr/>
        </p:nvSpPr>
        <p:spPr>
          <a:xfrm>
            <a:off x="937260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NOV.</a:t>
            </a:r>
          </a:p>
        </p:txBody>
      </p:sp>
      <p:sp>
        <p:nvSpPr>
          <p:cNvPr id="15" name="TextBox 14"/>
          <p:cNvSpPr txBox="1"/>
          <p:nvPr/>
        </p:nvSpPr>
        <p:spPr>
          <a:xfrm>
            <a:off x="103784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DÉC.</a:t>
            </a:r>
          </a:p>
        </p:txBody>
      </p:sp>
      <p:sp>
        <p:nvSpPr>
          <p:cNvPr id="16" name="TextBox 15"/>
          <p:cNvSpPr txBox="1"/>
          <p:nvPr/>
        </p:nvSpPr>
        <p:spPr>
          <a:xfrm>
            <a:off x="1138428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JAN.</a:t>
            </a:r>
          </a:p>
        </p:txBody>
      </p:sp>
      <p:sp>
        <p:nvSpPr>
          <p:cNvPr id="17" name="TextBox 16"/>
          <p:cNvSpPr txBox="1"/>
          <p:nvPr/>
        </p:nvSpPr>
        <p:spPr>
          <a:xfrm>
            <a:off x="123901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FÉV.</a:t>
            </a:r>
          </a:p>
        </p:txBody>
      </p:sp>
      <p:sp>
        <p:nvSpPr>
          <p:cNvPr id="18" name="TextBox 17"/>
          <p:cNvSpPr txBox="1"/>
          <p:nvPr/>
        </p:nvSpPr>
        <p:spPr>
          <a:xfrm>
            <a:off x="133959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MARS</a:t>
            </a:r>
          </a:p>
        </p:txBody>
      </p:sp>
      <p:sp>
        <p:nvSpPr>
          <p:cNvPr id="19" name="TextBox 18"/>
          <p:cNvSpPr txBox="1"/>
          <p:nvPr/>
        </p:nvSpPr>
        <p:spPr>
          <a:xfrm>
            <a:off x="1440179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AVR.</a:t>
            </a:r>
          </a:p>
        </p:txBody>
      </p:sp>
      <p:sp>
        <p:nvSpPr>
          <p:cNvPr id="20" name="TextBox 19"/>
          <p:cNvSpPr txBox="1"/>
          <p:nvPr/>
        </p:nvSpPr>
        <p:spPr>
          <a:xfrm>
            <a:off x="154076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MAI</a:t>
            </a:r>
          </a:p>
        </p:txBody>
      </p:sp>
      <p:sp>
        <p:nvSpPr>
          <p:cNvPr id="21" name="TextBox 20"/>
          <p:cNvSpPr txBox="1"/>
          <p:nvPr/>
        </p:nvSpPr>
        <p:spPr>
          <a:xfrm>
            <a:off x="164134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JUIN</a:t>
            </a:r>
          </a:p>
        </p:txBody>
      </p:sp>
      <p:sp>
        <p:nvSpPr>
          <p:cNvPr id="22" name="TextBox 21"/>
          <p:cNvSpPr txBox="1"/>
          <p:nvPr/>
        </p:nvSpPr>
        <p:spPr>
          <a:xfrm>
            <a:off x="868680" y="4069080"/>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CHANGE / IA &amp; Toolbox</a:t>
            </a:r>
          </a:p>
        </p:txBody>
      </p:sp>
      <p:cxnSp>
        <p:nvCxnSpPr>
          <p:cNvPr id="23" name="Connector 22"/>
          <p:cNvCxnSpPr/>
          <p:nvPr/>
        </p:nvCxnSpPr>
        <p:spPr>
          <a:xfrm>
            <a:off x="5349240" y="4251960"/>
            <a:ext cx="12070079" cy="0"/>
          </a:xfrm>
          <a:prstGeom prst="line">
            <a:avLst/>
          </a:prstGeom>
          <a:ln w="25400">
            <a:solidFill>
              <a:srgbClr val="526777"/>
            </a:solidFill>
            <a:prstDash val="dash"/>
          </a:ln>
        </p:spPr>
      </p:cxnSp>
      <p:sp>
        <p:nvSpPr>
          <p:cNvPr id="24" name="Rectangle 23"/>
          <p:cNvSpPr/>
          <p:nvPr/>
        </p:nvSpPr>
        <p:spPr>
          <a:xfrm>
            <a:off x="868680" y="4553712"/>
            <a:ext cx="16550640" cy="10972"/>
          </a:xfrm>
          <a:prstGeom prst="rect">
            <a:avLst/>
          </a:prstGeom>
          <a:solidFill>
            <a:srgbClr val="D9E2E7"/>
          </a:solidFill>
          <a:ln>
            <a:noFill/>
          </a:ln>
        </p:spPr>
        <p:txBody>
          <a:bodyPr rtlCol="0" anchor="ctr"/>
          <a:lstStyle/>
          <a:p>
            <a:pPr algn="ctr"/>
          </a:p>
        </p:txBody>
      </p:sp>
      <p:sp>
        <p:nvSpPr>
          <p:cNvPr id="25" name="TextBox 24"/>
          <p:cNvSpPr txBox="1"/>
          <p:nvPr/>
        </p:nvSpPr>
        <p:spPr>
          <a:xfrm>
            <a:off x="868680" y="4745736"/>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CHANGE / BP &amp; cross-sell</a:t>
            </a:r>
          </a:p>
        </p:txBody>
      </p:sp>
      <p:cxnSp>
        <p:nvCxnSpPr>
          <p:cNvPr id="26" name="Connector 25"/>
          <p:cNvCxnSpPr/>
          <p:nvPr/>
        </p:nvCxnSpPr>
        <p:spPr>
          <a:xfrm>
            <a:off x="5349240" y="4928616"/>
            <a:ext cx="12070079" cy="0"/>
          </a:xfrm>
          <a:prstGeom prst="line">
            <a:avLst/>
          </a:prstGeom>
          <a:ln w="25400">
            <a:solidFill>
              <a:srgbClr val="526777"/>
            </a:solidFill>
            <a:prstDash val="dash"/>
          </a:ln>
        </p:spPr>
      </p:cxnSp>
      <p:sp>
        <p:nvSpPr>
          <p:cNvPr id="27" name="Rectangle 26"/>
          <p:cNvSpPr/>
          <p:nvPr/>
        </p:nvSpPr>
        <p:spPr>
          <a:xfrm>
            <a:off x="868680" y="5230368"/>
            <a:ext cx="16550640" cy="10972"/>
          </a:xfrm>
          <a:prstGeom prst="rect">
            <a:avLst/>
          </a:prstGeom>
          <a:solidFill>
            <a:srgbClr val="D9E2E7"/>
          </a:solidFill>
          <a:ln>
            <a:noFill/>
          </a:ln>
        </p:spPr>
        <p:txBody>
          <a:bodyPr rtlCol="0" anchor="ctr"/>
          <a:lstStyle/>
          <a:p>
            <a:pPr algn="ctr"/>
          </a:p>
        </p:txBody>
      </p:sp>
      <p:sp>
        <p:nvSpPr>
          <p:cNvPr id="28" name="TextBox 27"/>
          <p:cNvSpPr txBox="1"/>
          <p:nvPr/>
        </p:nvSpPr>
        <p:spPr>
          <a:xfrm>
            <a:off x="868680" y="5422392"/>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CHANGE / Neoscreen</a:t>
            </a:r>
          </a:p>
        </p:txBody>
      </p:sp>
      <p:sp>
        <p:nvSpPr>
          <p:cNvPr id="29" name="Oval 28"/>
          <p:cNvSpPr/>
          <p:nvPr/>
        </p:nvSpPr>
        <p:spPr>
          <a:xfrm>
            <a:off x="8778240" y="5513832"/>
            <a:ext cx="182880" cy="182880"/>
          </a:xfrm>
          <a:prstGeom prst="ellipse">
            <a:avLst/>
          </a:prstGeom>
          <a:solidFill>
            <a:srgbClr val="FF6633"/>
          </a:solidFill>
          <a:ln>
            <a:noFill/>
          </a:ln>
        </p:spPr>
        <p:txBody>
          <a:bodyPr rtlCol="0" anchor="ctr"/>
          <a:lstStyle/>
          <a:p>
            <a:pPr algn="ctr"/>
          </a:p>
        </p:txBody>
      </p:sp>
      <p:cxnSp>
        <p:nvCxnSpPr>
          <p:cNvPr id="30" name="Connector 29"/>
          <p:cNvCxnSpPr/>
          <p:nvPr/>
        </p:nvCxnSpPr>
        <p:spPr>
          <a:xfrm>
            <a:off x="8769096" y="5605272"/>
            <a:ext cx="8650223" cy="0"/>
          </a:xfrm>
          <a:prstGeom prst="line">
            <a:avLst/>
          </a:prstGeom>
          <a:ln w="25400">
            <a:solidFill>
              <a:srgbClr val="002C49"/>
            </a:solidFill>
            <a:prstDash val="dash"/>
          </a:ln>
        </p:spPr>
      </p:cxnSp>
      <p:sp>
        <p:nvSpPr>
          <p:cNvPr id="31" name="Rectangle 30"/>
          <p:cNvSpPr/>
          <p:nvPr/>
        </p:nvSpPr>
        <p:spPr>
          <a:xfrm>
            <a:off x="868680" y="5907024"/>
            <a:ext cx="16550640" cy="10972"/>
          </a:xfrm>
          <a:prstGeom prst="rect">
            <a:avLst/>
          </a:prstGeom>
          <a:solidFill>
            <a:srgbClr val="D9E2E7"/>
          </a:solidFill>
          <a:ln>
            <a:noFill/>
          </a:ln>
        </p:spPr>
        <p:txBody>
          <a:bodyPr rtlCol="0" anchor="ctr"/>
          <a:lstStyle/>
          <a:p>
            <a:pPr algn="ctr"/>
          </a:p>
        </p:txBody>
      </p:sp>
      <p:sp>
        <p:nvSpPr>
          <p:cNvPr id="32" name="TextBox 31"/>
          <p:cNvSpPr txBox="1"/>
          <p:nvPr/>
        </p:nvSpPr>
        <p:spPr>
          <a:xfrm>
            <a:off x="868680" y="6099048"/>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Les offres qui performent</a:t>
            </a:r>
          </a:p>
        </p:txBody>
      </p:sp>
      <p:sp>
        <p:nvSpPr>
          <p:cNvPr id="33" name="Rectangle 32"/>
          <p:cNvSpPr/>
          <p:nvPr/>
        </p:nvSpPr>
        <p:spPr>
          <a:xfrm>
            <a:off x="8366759" y="6227064"/>
            <a:ext cx="2514599" cy="109728"/>
          </a:xfrm>
          <a:prstGeom prst="rect">
            <a:avLst/>
          </a:prstGeom>
          <a:solidFill>
            <a:srgbClr val="FF6633"/>
          </a:solidFill>
          <a:ln>
            <a:noFill/>
          </a:ln>
        </p:spPr>
        <p:txBody>
          <a:bodyPr rtlCol="0" anchor="ctr"/>
          <a:lstStyle/>
          <a:p>
            <a:pPr algn="ctr"/>
          </a:p>
        </p:txBody>
      </p:sp>
      <p:sp>
        <p:nvSpPr>
          <p:cNvPr id="34" name="Rectangle 33"/>
          <p:cNvSpPr/>
          <p:nvPr/>
        </p:nvSpPr>
        <p:spPr>
          <a:xfrm>
            <a:off x="12390119" y="6227064"/>
            <a:ext cx="3017520" cy="109728"/>
          </a:xfrm>
          <a:prstGeom prst="rect">
            <a:avLst/>
          </a:prstGeom>
          <a:solidFill>
            <a:srgbClr val="FF6633"/>
          </a:solidFill>
          <a:ln>
            <a:noFill/>
          </a:ln>
        </p:spPr>
        <p:txBody>
          <a:bodyPr rtlCol="0" anchor="ctr"/>
          <a:lstStyle/>
          <a:p>
            <a:pPr algn="ctr"/>
          </a:p>
        </p:txBody>
      </p:sp>
      <p:sp>
        <p:nvSpPr>
          <p:cNvPr id="35" name="Rectangle 34"/>
          <p:cNvSpPr/>
          <p:nvPr/>
        </p:nvSpPr>
        <p:spPr>
          <a:xfrm>
            <a:off x="868680" y="6583680"/>
            <a:ext cx="16550640" cy="10972"/>
          </a:xfrm>
          <a:prstGeom prst="rect">
            <a:avLst/>
          </a:prstGeom>
          <a:solidFill>
            <a:srgbClr val="D9E2E7"/>
          </a:solidFill>
          <a:ln>
            <a:noFill/>
          </a:ln>
        </p:spPr>
        <p:txBody>
          <a:bodyPr rtlCol="0" anchor="ctr"/>
          <a:lstStyle/>
          <a:p>
            <a:pPr algn="ctr"/>
          </a:p>
        </p:txBody>
      </p:sp>
      <p:sp>
        <p:nvSpPr>
          <p:cNvPr id="36" name="TextBox 35"/>
          <p:cNvSpPr txBox="1"/>
          <p:nvPr/>
        </p:nvSpPr>
        <p:spPr>
          <a:xfrm>
            <a:off x="868680" y="6775704"/>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BUSINESS / Preuves clients</a:t>
            </a:r>
          </a:p>
        </p:txBody>
      </p:sp>
      <p:cxnSp>
        <p:nvCxnSpPr>
          <p:cNvPr id="37" name="Connector 36"/>
          <p:cNvCxnSpPr/>
          <p:nvPr/>
        </p:nvCxnSpPr>
        <p:spPr>
          <a:xfrm>
            <a:off x="5349240" y="6958584"/>
            <a:ext cx="12070079" cy="0"/>
          </a:xfrm>
          <a:prstGeom prst="line">
            <a:avLst/>
          </a:prstGeom>
          <a:ln w="25400">
            <a:solidFill>
              <a:srgbClr val="526777"/>
            </a:solidFill>
            <a:prstDash val="dash"/>
          </a:ln>
        </p:spPr>
      </p:cxnSp>
      <p:sp>
        <p:nvSpPr>
          <p:cNvPr id="38" name="Rectangle 37"/>
          <p:cNvSpPr/>
          <p:nvPr/>
        </p:nvSpPr>
        <p:spPr>
          <a:xfrm>
            <a:off x="868680" y="7260336"/>
            <a:ext cx="16550640" cy="10972"/>
          </a:xfrm>
          <a:prstGeom prst="rect">
            <a:avLst/>
          </a:prstGeom>
          <a:solidFill>
            <a:srgbClr val="D9E2E7"/>
          </a:solidFill>
          <a:ln>
            <a:noFill/>
          </a:ln>
        </p:spPr>
        <p:txBody>
          <a:bodyPr rtlCol="0" anchor="ctr"/>
          <a:lstStyle/>
          <a:p>
            <a:pPr algn="ctr"/>
          </a:p>
        </p:txBody>
      </p:sp>
      <p:sp>
        <p:nvSpPr>
          <p:cNvPr id="39" name="TextBox 38"/>
          <p:cNvSpPr txBox="1"/>
          <p:nvPr/>
        </p:nvSpPr>
        <p:spPr>
          <a:xfrm>
            <a:off x="868680" y="7452360"/>
            <a:ext cx="4206240" cy="566928"/>
          </a:xfrm>
          <a:prstGeom prst="rect">
            <a:avLst/>
          </a:prstGeom>
          <a:noFill/>
        </p:spPr>
        <p:txBody>
          <a:bodyPr wrap="square" lIns="0" rIns="0" tIns="0" bIns="0">
            <a:spAutoFit/>
          </a:bodyPr>
          <a:lstStyle/>
          <a:p>
            <a:pPr>
              <a:lnSpc>
                <a:spcPts val="2600"/>
              </a:lnSpc>
              <a:spcBef>
                <a:spcPts val="0"/>
              </a:spcBef>
              <a:spcAft>
                <a:spcPts val="0"/>
              </a:spcAft>
              <a:defRPr sz="2200" b="1">
                <a:solidFill>
                  <a:srgbClr val="002C49"/>
                </a:solidFill>
                <a:latin typeface="Montserrat"/>
              </a:defRPr>
            </a:pPr>
            <a:r>
              <a:t>BUSINESS / Top Performers</a:t>
            </a:r>
          </a:p>
        </p:txBody>
      </p:sp>
      <p:sp>
        <p:nvSpPr>
          <p:cNvPr id="40" name="Rectangle 39"/>
          <p:cNvSpPr/>
          <p:nvPr/>
        </p:nvSpPr>
        <p:spPr>
          <a:xfrm>
            <a:off x="8366759" y="7580376"/>
            <a:ext cx="2514599" cy="109728"/>
          </a:xfrm>
          <a:prstGeom prst="rect">
            <a:avLst/>
          </a:prstGeom>
          <a:solidFill>
            <a:srgbClr val="FF6633"/>
          </a:solidFill>
          <a:ln>
            <a:noFill/>
          </a:ln>
        </p:spPr>
        <p:txBody>
          <a:bodyPr rtlCol="0" anchor="ctr"/>
          <a:lstStyle/>
          <a:p>
            <a:pPr algn="ctr"/>
          </a:p>
        </p:txBody>
      </p:sp>
      <p:sp>
        <p:nvSpPr>
          <p:cNvPr id="41" name="Rectangle 40"/>
          <p:cNvSpPr/>
          <p:nvPr/>
        </p:nvSpPr>
        <p:spPr>
          <a:xfrm>
            <a:off x="12390119" y="7580376"/>
            <a:ext cx="3017520" cy="109728"/>
          </a:xfrm>
          <a:prstGeom prst="rect">
            <a:avLst/>
          </a:prstGeom>
          <a:solidFill>
            <a:srgbClr val="FF6633"/>
          </a:solidFill>
          <a:ln>
            <a:noFill/>
          </a:ln>
        </p:spPr>
        <p:txBody>
          <a:bodyPr rtlCol="0" anchor="ctr"/>
          <a:lstStyle/>
          <a:p>
            <a:pPr algn="ctr"/>
          </a:p>
        </p:txBody>
      </p:sp>
      <p:sp>
        <p:nvSpPr>
          <p:cNvPr id="42" name="Rectangle 41"/>
          <p:cNvSpPr/>
          <p:nvPr/>
        </p:nvSpPr>
        <p:spPr>
          <a:xfrm>
            <a:off x="868680" y="7936992"/>
            <a:ext cx="16550640" cy="10972"/>
          </a:xfrm>
          <a:prstGeom prst="rect">
            <a:avLst/>
          </a:prstGeom>
          <a:solidFill>
            <a:srgbClr val="D9E2E7"/>
          </a:solidFill>
          <a:ln>
            <a:noFill/>
          </a:ln>
        </p:spPr>
        <p:txBody>
          <a:bodyPr rtlCol="0" anchor="ctr"/>
          <a:lstStyle/>
          <a:p>
            <a:pPr algn="ctr"/>
          </a:p>
        </p:txBody>
      </p:sp>
      <p:sp>
        <p:nvSpPr>
          <p:cNvPr id="43" name="TextBox 42"/>
          <p:cNvSpPr txBox="1"/>
          <p:nvPr/>
        </p:nvSpPr>
        <p:spPr>
          <a:xfrm>
            <a:off x="868680" y="8421624"/>
            <a:ext cx="16550640" cy="777240"/>
          </a:xfrm>
          <a:prstGeom prst="rect">
            <a:avLst/>
          </a:prstGeom>
          <a:noFill/>
        </p:spPr>
        <p:txBody>
          <a:bodyPr wrap="square" lIns="0" rIns="0" tIns="0" bIns="0">
            <a:spAutoFit/>
          </a:bodyPr>
          <a:lstStyle/>
          <a:p>
            <a:pPr>
              <a:lnSpc>
                <a:spcPts val="2900"/>
              </a:lnSpc>
              <a:spcBef>
                <a:spcPts val="0"/>
              </a:spcBef>
              <a:spcAft>
                <a:spcPts val="0"/>
              </a:spcAft>
              <a:defRPr sz="2200" b="0">
                <a:solidFill>
                  <a:srgbClr val="526777"/>
                </a:solidFill>
                <a:latin typeface="Montserrat"/>
              </a:defRPr>
            </a:pPr>
            <a:r>
              <a:t>Intranet : après revue / arbitrage prestataire.  Nouvelles offres : selon lancements.</a:t>
            </a:r>
          </a:p>
          <a:p>
            <a:pPr>
              <a:lnSpc>
                <a:spcPts val="2900"/>
              </a:lnSpc>
              <a:spcBef>
                <a:spcPts val="0"/>
              </a:spcBef>
              <a:spcAft>
                <a:spcPts val="0"/>
              </a:spcAft>
              <a:defRPr sz="2200" b="0">
                <a:solidFill>
                  <a:srgbClr val="526777"/>
                </a:solidFill>
                <a:latin typeface="Montserrat"/>
              </a:defRPr>
            </a:pPr>
            <a:r>
              <a:t>Vidéo corporate : calendrier Groupe.  Zoom IA : date à confirmer, parcours non bloqué.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A13 / ROADMAP DÉTAILLÉE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Rituels, série éditoriale et fils rouges.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Août / vacances : rythme réduit. Les fils rouges ne sont pas des campagnes ponctuelles.</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26</a:t>
            </a:r>
          </a:p>
        </p:txBody>
      </p:sp>
      <p:sp>
        <p:nvSpPr>
          <p:cNvPr id="9" name="TextBox 8"/>
          <p:cNvSpPr txBox="1"/>
          <p:nvPr/>
        </p:nvSpPr>
        <p:spPr>
          <a:xfrm>
            <a:off x="534924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JUIL.</a:t>
            </a:r>
          </a:p>
        </p:txBody>
      </p:sp>
      <p:sp>
        <p:nvSpPr>
          <p:cNvPr id="10" name="TextBox 9"/>
          <p:cNvSpPr txBox="1"/>
          <p:nvPr/>
        </p:nvSpPr>
        <p:spPr>
          <a:xfrm>
            <a:off x="63550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AOÛT</a:t>
            </a:r>
          </a:p>
        </p:txBody>
      </p:sp>
      <p:sp>
        <p:nvSpPr>
          <p:cNvPr id="11" name="Rectangle 10"/>
          <p:cNvSpPr/>
          <p:nvPr/>
        </p:nvSpPr>
        <p:spPr>
          <a:xfrm>
            <a:off x="6355079" y="4032504"/>
            <a:ext cx="1005839" cy="4114800"/>
          </a:xfrm>
          <a:prstGeom prst="rect">
            <a:avLst/>
          </a:prstGeom>
          <a:solidFill>
            <a:srgbClr val="F7F7F3"/>
          </a:solidFill>
          <a:ln>
            <a:noFill/>
          </a:ln>
        </p:spPr>
        <p:txBody>
          <a:bodyPr rtlCol="0" anchor="ctr"/>
          <a:lstStyle/>
          <a:p>
            <a:pPr algn="ctr"/>
          </a:p>
        </p:txBody>
      </p:sp>
      <p:sp>
        <p:nvSpPr>
          <p:cNvPr id="12" name="TextBox 11"/>
          <p:cNvSpPr txBox="1"/>
          <p:nvPr/>
        </p:nvSpPr>
        <p:spPr>
          <a:xfrm>
            <a:off x="73609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SEPT.</a:t>
            </a:r>
          </a:p>
        </p:txBody>
      </p:sp>
      <p:sp>
        <p:nvSpPr>
          <p:cNvPr id="13" name="TextBox 12"/>
          <p:cNvSpPr txBox="1"/>
          <p:nvPr/>
        </p:nvSpPr>
        <p:spPr>
          <a:xfrm>
            <a:off x="83667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OCT.</a:t>
            </a:r>
          </a:p>
        </p:txBody>
      </p:sp>
      <p:sp>
        <p:nvSpPr>
          <p:cNvPr id="14" name="TextBox 13"/>
          <p:cNvSpPr txBox="1"/>
          <p:nvPr/>
        </p:nvSpPr>
        <p:spPr>
          <a:xfrm>
            <a:off x="937260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NOV.</a:t>
            </a:r>
          </a:p>
        </p:txBody>
      </p:sp>
      <p:sp>
        <p:nvSpPr>
          <p:cNvPr id="15" name="TextBox 14"/>
          <p:cNvSpPr txBox="1"/>
          <p:nvPr/>
        </p:nvSpPr>
        <p:spPr>
          <a:xfrm>
            <a:off x="103784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DÉC.</a:t>
            </a:r>
          </a:p>
        </p:txBody>
      </p:sp>
      <p:sp>
        <p:nvSpPr>
          <p:cNvPr id="16" name="TextBox 15"/>
          <p:cNvSpPr txBox="1"/>
          <p:nvPr/>
        </p:nvSpPr>
        <p:spPr>
          <a:xfrm>
            <a:off x="11384280"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JAN.</a:t>
            </a:r>
          </a:p>
        </p:txBody>
      </p:sp>
      <p:sp>
        <p:nvSpPr>
          <p:cNvPr id="17" name="TextBox 16"/>
          <p:cNvSpPr txBox="1"/>
          <p:nvPr/>
        </p:nvSpPr>
        <p:spPr>
          <a:xfrm>
            <a:off x="1239011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FÉV.</a:t>
            </a:r>
          </a:p>
        </p:txBody>
      </p:sp>
      <p:sp>
        <p:nvSpPr>
          <p:cNvPr id="18" name="TextBox 17"/>
          <p:cNvSpPr txBox="1"/>
          <p:nvPr/>
        </p:nvSpPr>
        <p:spPr>
          <a:xfrm>
            <a:off x="1339595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MARS</a:t>
            </a:r>
          </a:p>
        </p:txBody>
      </p:sp>
      <p:sp>
        <p:nvSpPr>
          <p:cNvPr id="19" name="TextBox 18"/>
          <p:cNvSpPr txBox="1"/>
          <p:nvPr/>
        </p:nvSpPr>
        <p:spPr>
          <a:xfrm>
            <a:off x="1440179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AVR.</a:t>
            </a:r>
          </a:p>
        </p:txBody>
      </p:sp>
      <p:sp>
        <p:nvSpPr>
          <p:cNvPr id="20" name="TextBox 19"/>
          <p:cNvSpPr txBox="1"/>
          <p:nvPr/>
        </p:nvSpPr>
        <p:spPr>
          <a:xfrm>
            <a:off x="1540763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MAI</a:t>
            </a:r>
          </a:p>
        </p:txBody>
      </p:sp>
      <p:sp>
        <p:nvSpPr>
          <p:cNvPr id="21" name="TextBox 20"/>
          <p:cNvSpPr txBox="1"/>
          <p:nvPr/>
        </p:nvSpPr>
        <p:spPr>
          <a:xfrm>
            <a:off x="16413479" y="3520440"/>
            <a:ext cx="1005839" cy="365760"/>
          </a:xfrm>
          <a:prstGeom prst="rect">
            <a:avLst/>
          </a:prstGeom>
          <a:noFill/>
        </p:spPr>
        <p:txBody>
          <a:bodyPr wrap="square" lIns="0" rIns="0" tIns="0" bIns="0">
            <a:spAutoFit/>
          </a:bodyPr>
          <a:lstStyle/>
          <a:p>
            <a:pPr algn="ctr">
              <a:lnSpc>
                <a:spcPts val="2091"/>
              </a:lnSpc>
              <a:spcBef>
                <a:spcPts val="0"/>
              </a:spcBef>
              <a:spcAft>
                <a:spcPts val="0"/>
              </a:spcAft>
              <a:defRPr sz="1700" b="1">
                <a:solidFill>
                  <a:srgbClr val="002C49"/>
                </a:solidFill>
                <a:latin typeface="Montserrat"/>
              </a:defRPr>
            </a:pPr>
            <a:r>
              <a:t>JUIN</a:t>
            </a:r>
          </a:p>
        </p:txBody>
      </p:sp>
      <p:sp>
        <p:nvSpPr>
          <p:cNvPr id="22" name="TextBox 21"/>
          <p:cNvSpPr txBox="1"/>
          <p:nvPr/>
        </p:nvSpPr>
        <p:spPr>
          <a:xfrm>
            <a:off x="868680" y="4059936"/>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All Staff France</a:t>
            </a:r>
          </a:p>
        </p:txBody>
      </p:sp>
      <p:sp>
        <p:nvSpPr>
          <p:cNvPr id="23" name="Oval 22"/>
          <p:cNvSpPr/>
          <p:nvPr/>
        </p:nvSpPr>
        <p:spPr>
          <a:xfrm>
            <a:off x="8778240" y="4169664"/>
            <a:ext cx="182880" cy="182880"/>
          </a:xfrm>
          <a:prstGeom prst="ellipse">
            <a:avLst/>
          </a:prstGeom>
          <a:solidFill>
            <a:srgbClr val="002C49"/>
          </a:solidFill>
          <a:ln>
            <a:noFill/>
          </a:ln>
        </p:spPr>
        <p:txBody>
          <a:bodyPr rtlCol="0" anchor="ctr"/>
          <a:lstStyle/>
          <a:p>
            <a:pPr algn="ctr"/>
          </a:p>
        </p:txBody>
      </p:sp>
      <p:sp>
        <p:nvSpPr>
          <p:cNvPr id="24" name="Oval 23"/>
          <p:cNvSpPr/>
          <p:nvPr/>
        </p:nvSpPr>
        <p:spPr>
          <a:xfrm>
            <a:off x="11795760" y="4169664"/>
            <a:ext cx="182880" cy="182880"/>
          </a:xfrm>
          <a:prstGeom prst="ellipse">
            <a:avLst/>
          </a:prstGeom>
          <a:solidFill>
            <a:srgbClr val="002C49"/>
          </a:solidFill>
          <a:ln>
            <a:noFill/>
          </a:ln>
        </p:spPr>
        <p:txBody>
          <a:bodyPr rtlCol="0" anchor="ctr"/>
          <a:lstStyle/>
          <a:p>
            <a:pPr algn="ctr"/>
          </a:p>
        </p:txBody>
      </p:sp>
      <p:sp>
        <p:nvSpPr>
          <p:cNvPr id="25" name="Oval 24"/>
          <p:cNvSpPr/>
          <p:nvPr/>
        </p:nvSpPr>
        <p:spPr>
          <a:xfrm>
            <a:off x="14813279" y="4169664"/>
            <a:ext cx="182880" cy="182880"/>
          </a:xfrm>
          <a:prstGeom prst="ellipse">
            <a:avLst/>
          </a:prstGeom>
          <a:solidFill>
            <a:srgbClr val="002C49"/>
          </a:solidFill>
          <a:ln>
            <a:noFill/>
          </a:ln>
        </p:spPr>
        <p:txBody>
          <a:bodyPr rtlCol="0" anchor="ctr"/>
          <a:lstStyle/>
          <a:p>
            <a:pPr algn="ctr"/>
          </a:p>
        </p:txBody>
      </p:sp>
      <p:sp>
        <p:nvSpPr>
          <p:cNvPr id="26" name="Oval 25"/>
          <p:cNvSpPr/>
          <p:nvPr/>
        </p:nvSpPr>
        <p:spPr>
          <a:xfrm>
            <a:off x="16824960" y="4169664"/>
            <a:ext cx="182880" cy="182880"/>
          </a:xfrm>
          <a:prstGeom prst="ellipse">
            <a:avLst/>
          </a:prstGeom>
          <a:solidFill>
            <a:srgbClr val="002C49"/>
          </a:solidFill>
          <a:ln>
            <a:noFill/>
          </a:ln>
        </p:spPr>
        <p:txBody>
          <a:bodyPr rtlCol="0" anchor="ctr"/>
          <a:lstStyle/>
          <a:p>
            <a:pPr algn="ctr"/>
          </a:p>
        </p:txBody>
      </p:sp>
      <p:sp>
        <p:nvSpPr>
          <p:cNvPr id="27" name="Rectangle 26"/>
          <p:cNvSpPr/>
          <p:nvPr/>
        </p:nvSpPr>
        <p:spPr>
          <a:xfrm>
            <a:off x="868680" y="4572000"/>
            <a:ext cx="16550640" cy="10972"/>
          </a:xfrm>
          <a:prstGeom prst="rect">
            <a:avLst/>
          </a:prstGeom>
          <a:solidFill>
            <a:srgbClr val="D9E2E7"/>
          </a:solidFill>
          <a:ln>
            <a:noFill/>
          </a:ln>
        </p:spPr>
        <p:txBody>
          <a:bodyPr rtlCol="0" anchor="ctr"/>
          <a:lstStyle/>
          <a:p>
            <a:pPr algn="ctr"/>
          </a:p>
        </p:txBody>
      </p:sp>
      <p:sp>
        <p:nvSpPr>
          <p:cNvPr id="28" name="TextBox 27"/>
          <p:cNvSpPr txBox="1"/>
          <p:nvPr/>
        </p:nvSpPr>
        <p:spPr>
          <a:xfrm>
            <a:off x="868680" y="4736592"/>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La Leytonienne</a:t>
            </a:r>
          </a:p>
        </p:txBody>
      </p:sp>
      <p:sp>
        <p:nvSpPr>
          <p:cNvPr id="29" name="Oval 28"/>
          <p:cNvSpPr/>
          <p:nvPr/>
        </p:nvSpPr>
        <p:spPr>
          <a:xfrm>
            <a:off x="11795760" y="4846320"/>
            <a:ext cx="182880" cy="182880"/>
          </a:xfrm>
          <a:prstGeom prst="ellipse">
            <a:avLst/>
          </a:prstGeom>
          <a:solidFill>
            <a:srgbClr val="FF6633"/>
          </a:solidFill>
          <a:ln>
            <a:noFill/>
          </a:ln>
        </p:spPr>
        <p:txBody>
          <a:bodyPr rtlCol="0" anchor="ctr"/>
          <a:lstStyle/>
          <a:p>
            <a:pPr algn="ctr"/>
          </a:p>
        </p:txBody>
      </p:sp>
      <p:sp>
        <p:nvSpPr>
          <p:cNvPr id="30" name="Rectangle 29"/>
          <p:cNvSpPr/>
          <p:nvPr/>
        </p:nvSpPr>
        <p:spPr>
          <a:xfrm>
            <a:off x="15407639" y="4882896"/>
            <a:ext cx="2011679" cy="109728"/>
          </a:xfrm>
          <a:prstGeom prst="rect">
            <a:avLst/>
          </a:prstGeom>
          <a:solidFill>
            <a:srgbClr val="002C49"/>
          </a:solidFill>
          <a:ln>
            <a:noFill/>
          </a:ln>
        </p:spPr>
        <p:txBody>
          <a:bodyPr rtlCol="0" anchor="ctr"/>
          <a:lstStyle/>
          <a:p>
            <a:pPr algn="ctr"/>
          </a:p>
        </p:txBody>
      </p:sp>
      <p:sp>
        <p:nvSpPr>
          <p:cNvPr id="31" name="Rectangle 30"/>
          <p:cNvSpPr/>
          <p:nvPr/>
        </p:nvSpPr>
        <p:spPr>
          <a:xfrm>
            <a:off x="868680" y="5248656"/>
            <a:ext cx="16550640" cy="10972"/>
          </a:xfrm>
          <a:prstGeom prst="rect">
            <a:avLst/>
          </a:prstGeom>
          <a:solidFill>
            <a:srgbClr val="D9E2E7"/>
          </a:solidFill>
          <a:ln>
            <a:noFill/>
          </a:ln>
        </p:spPr>
        <p:txBody>
          <a:bodyPr rtlCol="0" anchor="ctr"/>
          <a:lstStyle/>
          <a:p>
            <a:pPr algn="ctr"/>
          </a:p>
        </p:txBody>
      </p:sp>
      <p:sp>
        <p:nvSpPr>
          <p:cNvPr id="32" name="TextBox 31"/>
          <p:cNvSpPr txBox="1"/>
          <p:nvPr/>
        </p:nvSpPr>
        <p:spPr>
          <a:xfrm>
            <a:off x="868680" y="5413248"/>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Leadership au féminin</a:t>
            </a:r>
          </a:p>
        </p:txBody>
      </p:sp>
      <p:sp>
        <p:nvSpPr>
          <p:cNvPr id="33" name="Oval 32"/>
          <p:cNvSpPr/>
          <p:nvPr/>
        </p:nvSpPr>
        <p:spPr>
          <a:xfrm>
            <a:off x="9784080" y="5522976"/>
            <a:ext cx="182880" cy="182880"/>
          </a:xfrm>
          <a:prstGeom prst="ellipse">
            <a:avLst/>
          </a:prstGeom>
          <a:solidFill>
            <a:srgbClr val="FF6633"/>
          </a:solidFill>
          <a:ln>
            <a:noFill/>
          </a:ln>
        </p:spPr>
        <p:txBody>
          <a:bodyPr rtlCol="0" anchor="ctr"/>
          <a:lstStyle/>
          <a:p>
            <a:pPr algn="ctr"/>
          </a:p>
        </p:txBody>
      </p:sp>
      <p:sp>
        <p:nvSpPr>
          <p:cNvPr id="34" name="Oval 33"/>
          <p:cNvSpPr/>
          <p:nvPr/>
        </p:nvSpPr>
        <p:spPr>
          <a:xfrm>
            <a:off x="10789919" y="5522976"/>
            <a:ext cx="182880" cy="182880"/>
          </a:xfrm>
          <a:prstGeom prst="ellipse">
            <a:avLst/>
          </a:prstGeom>
          <a:solidFill>
            <a:srgbClr val="FF6633"/>
          </a:solidFill>
          <a:ln>
            <a:noFill/>
          </a:ln>
        </p:spPr>
        <p:txBody>
          <a:bodyPr rtlCol="0" anchor="ctr"/>
          <a:lstStyle/>
          <a:p>
            <a:pPr algn="ctr"/>
          </a:p>
        </p:txBody>
      </p:sp>
      <p:sp>
        <p:nvSpPr>
          <p:cNvPr id="35" name="Oval 34"/>
          <p:cNvSpPr/>
          <p:nvPr/>
        </p:nvSpPr>
        <p:spPr>
          <a:xfrm>
            <a:off x="11795760" y="5522976"/>
            <a:ext cx="182880" cy="182880"/>
          </a:xfrm>
          <a:prstGeom prst="ellipse">
            <a:avLst/>
          </a:prstGeom>
          <a:solidFill>
            <a:srgbClr val="FF6633"/>
          </a:solidFill>
          <a:ln>
            <a:noFill/>
          </a:ln>
        </p:spPr>
        <p:txBody>
          <a:bodyPr rtlCol="0" anchor="ctr"/>
          <a:lstStyle/>
          <a:p>
            <a:pPr algn="ctr"/>
          </a:p>
        </p:txBody>
      </p:sp>
      <p:sp>
        <p:nvSpPr>
          <p:cNvPr id="36" name="Oval 35"/>
          <p:cNvSpPr/>
          <p:nvPr/>
        </p:nvSpPr>
        <p:spPr>
          <a:xfrm>
            <a:off x="12801599" y="5522976"/>
            <a:ext cx="182880" cy="182880"/>
          </a:xfrm>
          <a:prstGeom prst="ellipse">
            <a:avLst/>
          </a:prstGeom>
          <a:solidFill>
            <a:srgbClr val="FF6633"/>
          </a:solidFill>
          <a:ln>
            <a:noFill/>
          </a:ln>
        </p:spPr>
        <p:txBody>
          <a:bodyPr rtlCol="0" anchor="ctr"/>
          <a:lstStyle/>
          <a:p>
            <a:pPr algn="ctr"/>
          </a:p>
        </p:txBody>
      </p:sp>
      <p:sp>
        <p:nvSpPr>
          <p:cNvPr id="37" name="Oval 36"/>
          <p:cNvSpPr/>
          <p:nvPr/>
        </p:nvSpPr>
        <p:spPr>
          <a:xfrm>
            <a:off x="13807440" y="5522976"/>
            <a:ext cx="182880" cy="182880"/>
          </a:xfrm>
          <a:prstGeom prst="ellipse">
            <a:avLst/>
          </a:prstGeom>
          <a:solidFill>
            <a:srgbClr val="FF6633"/>
          </a:solidFill>
          <a:ln>
            <a:noFill/>
          </a:ln>
        </p:spPr>
        <p:txBody>
          <a:bodyPr rtlCol="0" anchor="ctr"/>
          <a:lstStyle/>
          <a:p>
            <a:pPr algn="ctr"/>
          </a:p>
        </p:txBody>
      </p:sp>
      <p:sp>
        <p:nvSpPr>
          <p:cNvPr id="38" name="Rectangle 37"/>
          <p:cNvSpPr/>
          <p:nvPr/>
        </p:nvSpPr>
        <p:spPr>
          <a:xfrm>
            <a:off x="868680" y="5925312"/>
            <a:ext cx="16550640" cy="10972"/>
          </a:xfrm>
          <a:prstGeom prst="rect">
            <a:avLst/>
          </a:prstGeom>
          <a:solidFill>
            <a:srgbClr val="D9E2E7"/>
          </a:solidFill>
          <a:ln>
            <a:noFill/>
          </a:ln>
        </p:spPr>
        <p:txBody>
          <a:bodyPr rtlCol="0" anchor="ctr"/>
          <a:lstStyle/>
          <a:p>
            <a:pPr algn="ctr"/>
          </a:p>
        </p:txBody>
      </p:sp>
      <p:sp>
        <p:nvSpPr>
          <p:cNvPr id="39" name="TextBox 38"/>
          <p:cNvSpPr txBox="1"/>
          <p:nvPr/>
        </p:nvSpPr>
        <p:spPr>
          <a:xfrm>
            <a:off x="868680" y="6089904"/>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RDV / RSE mensuels</a:t>
            </a:r>
          </a:p>
        </p:txBody>
      </p:sp>
      <p:sp>
        <p:nvSpPr>
          <p:cNvPr id="40" name="Oval 39"/>
          <p:cNvSpPr/>
          <p:nvPr/>
        </p:nvSpPr>
        <p:spPr>
          <a:xfrm>
            <a:off x="5760720" y="6199632"/>
            <a:ext cx="182880" cy="182880"/>
          </a:xfrm>
          <a:prstGeom prst="ellipse">
            <a:avLst/>
          </a:prstGeom>
          <a:solidFill>
            <a:srgbClr val="002C49"/>
          </a:solidFill>
          <a:ln>
            <a:noFill/>
          </a:ln>
        </p:spPr>
        <p:txBody>
          <a:bodyPr rtlCol="0" anchor="ctr"/>
          <a:lstStyle/>
          <a:p>
            <a:pPr algn="ctr"/>
          </a:p>
        </p:txBody>
      </p:sp>
      <p:sp>
        <p:nvSpPr>
          <p:cNvPr id="41" name="Oval 40"/>
          <p:cNvSpPr/>
          <p:nvPr/>
        </p:nvSpPr>
        <p:spPr>
          <a:xfrm>
            <a:off x="6766560" y="6199632"/>
            <a:ext cx="182880" cy="182880"/>
          </a:xfrm>
          <a:prstGeom prst="ellipse">
            <a:avLst/>
          </a:prstGeom>
          <a:solidFill>
            <a:srgbClr val="002C49"/>
          </a:solidFill>
          <a:ln>
            <a:noFill/>
          </a:ln>
        </p:spPr>
        <p:txBody>
          <a:bodyPr rtlCol="0" anchor="ctr"/>
          <a:lstStyle/>
          <a:p>
            <a:pPr algn="ctr"/>
          </a:p>
        </p:txBody>
      </p:sp>
      <p:sp>
        <p:nvSpPr>
          <p:cNvPr id="42" name="Oval 41"/>
          <p:cNvSpPr/>
          <p:nvPr/>
        </p:nvSpPr>
        <p:spPr>
          <a:xfrm>
            <a:off x="7772400" y="6199632"/>
            <a:ext cx="182880" cy="182880"/>
          </a:xfrm>
          <a:prstGeom prst="ellipse">
            <a:avLst/>
          </a:prstGeom>
          <a:solidFill>
            <a:srgbClr val="002C49"/>
          </a:solidFill>
          <a:ln>
            <a:noFill/>
          </a:ln>
        </p:spPr>
        <p:txBody>
          <a:bodyPr rtlCol="0" anchor="ctr"/>
          <a:lstStyle/>
          <a:p>
            <a:pPr algn="ctr"/>
          </a:p>
        </p:txBody>
      </p:sp>
      <p:sp>
        <p:nvSpPr>
          <p:cNvPr id="43" name="Oval 42"/>
          <p:cNvSpPr/>
          <p:nvPr/>
        </p:nvSpPr>
        <p:spPr>
          <a:xfrm>
            <a:off x="8778240" y="6199632"/>
            <a:ext cx="182880" cy="182880"/>
          </a:xfrm>
          <a:prstGeom prst="ellipse">
            <a:avLst/>
          </a:prstGeom>
          <a:solidFill>
            <a:srgbClr val="002C49"/>
          </a:solidFill>
          <a:ln>
            <a:noFill/>
          </a:ln>
        </p:spPr>
        <p:txBody>
          <a:bodyPr rtlCol="0" anchor="ctr"/>
          <a:lstStyle/>
          <a:p>
            <a:pPr algn="ctr"/>
          </a:p>
        </p:txBody>
      </p:sp>
      <p:sp>
        <p:nvSpPr>
          <p:cNvPr id="44" name="Oval 43"/>
          <p:cNvSpPr/>
          <p:nvPr/>
        </p:nvSpPr>
        <p:spPr>
          <a:xfrm>
            <a:off x="9784080" y="6199632"/>
            <a:ext cx="182880" cy="182880"/>
          </a:xfrm>
          <a:prstGeom prst="ellipse">
            <a:avLst/>
          </a:prstGeom>
          <a:solidFill>
            <a:srgbClr val="002C49"/>
          </a:solidFill>
          <a:ln>
            <a:noFill/>
          </a:ln>
        </p:spPr>
        <p:txBody>
          <a:bodyPr rtlCol="0" anchor="ctr"/>
          <a:lstStyle/>
          <a:p>
            <a:pPr algn="ctr"/>
          </a:p>
        </p:txBody>
      </p:sp>
      <p:sp>
        <p:nvSpPr>
          <p:cNvPr id="45" name="Oval 44"/>
          <p:cNvSpPr/>
          <p:nvPr/>
        </p:nvSpPr>
        <p:spPr>
          <a:xfrm>
            <a:off x="10789919" y="6199632"/>
            <a:ext cx="182880" cy="182880"/>
          </a:xfrm>
          <a:prstGeom prst="ellipse">
            <a:avLst/>
          </a:prstGeom>
          <a:solidFill>
            <a:srgbClr val="002C49"/>
          </a:solidFill>
          <a:ln>
            <a:noFill/>
          </a:ln>
        </p:spPr>
        <p:txBody>
          <a:bodyPr rtlCol="0" anchor="ctr"/>
          <a:lstStyle/>
          <a:p>
            <a:pPr algn="ctr"/>
          </a:p>
        </p:txBody>
      </p:sp>
      <p:sp>
        <p:nvSpPr>
          <p:cNvPr id="46" name="Oval 45"/>
          <p:cNvSpPr/>
          <p:nvPr/>
        </p:nvSpPr>
        <p:spPr>
          <a:xfrm>
            <a:off x="11795760" y="6199632"/>
            <a:ext cx="182880" cy="182880"/>
          </a:xfrm>
          <a:prstGeom prst="ellipse">
            <a:avLst/>
          </a:prstGeom>
          <a:solidFill>
            <a:srgbClr val="002C49"/>
          </a:solidFill>
          <a:ln>
            <a:noFill/>
          </a:ln>
        </p:spPr>
        <p:txBody>
          <a:bodyPr rtlCol="0" anchor="ctr"/>
          <a:lstStyle/>
          <a:p>
            <a:pPr algn="ctr"/>
          </a:p>
        </p:txBody>
      </p:sp>
      <p:sp>
        <p:nvSpPr>
          <p:cNvPr id="47" name="Oval 46"/>
          <p:cNvSpPr/>
          <p:nvPr/>
        </p:nvSpPr>
        <p:spPr>
          <a:xfrm>
            <a:off x="12801599" y="6199632"/>
            <a:ext cx="182880" cy="182880"/>
          </a:xfrm>
          <a:prstGeom prst="ellipse">
            <a:avLst/>
          </a:prstGeom>
          <a:solidFill>
            <a:srgbClr val="002C49"/>
          </a:solidFill>
          <a:ln>
            <a:noFill/>
          </a:ln>
        </p:spPr>
        <p:txBody>
          <a:bodyPr rtlCol="0" anchor="ctr"/>
          <a:lstStyle/>
          <a:p>
            <a:pPr algn="ctr"/>
          </a:p>
        </p:txBody>
      </p:sp>
      <p:sp>
        <p:nvSpPr>
          <p:cNvPr id="48" name="Oval 47"/>
          <p:cNvSpPr/>
          <p:nvPr/>
        </p:nvSpPr>
        <p:spPr>
          <a:xfrm>
            <a:off x="13807440" y="6199632"/>
            <a:ext cx="182880" cy="182880"/>
          </a:xfrm>
          <a:prstGeom prst="ellipse">
            <a:avLst/>
          </a:prstGeom>
          <a:solidFill>
            <a:srgbClr val="002C49"/>
          </a:solidFill>
          <a:ln>
            <a:noFill/>
          </a:ln>
        </p:spPr>
        <p:txBody>
          <a:bodyPr rtlCol="0" anchor="ctr"/>
          <a:lstStyle/>
          <a:p>
            <a:pPr algn="ctr"/>
          </a:p>
        </p:txBody>
      </p:sp>
      <p:sp>
        <p:nvSpPr>
          <p:cNvPr id="49" name="Oval 48"/>
          <p:cNvSpPr/>
          <p:nvPr/>
        </p:nvSpPr>
        <p:spPr>
          <a:xfrm>
            <a:off x="14813279" y="6199632"/>
            <a:ext cx="182880" cy="182880"/>
          </a:xfrm>
          <a:prstGeom prst="ellipse">
            <a:avLst/>
          </a:prstGeom>
          <a:solidFill>
            <a:srgbClr val="002C49"/>
          </a:solidFill>
          <a:ln>
            <a:noFill/>
          </a:ln>
        </p:spPr>
        <p:txBody>
          <a:bodyPr rtlCol="0" anchor="ctr"/>
          <a:lstStyle/>
          <a:p>
            <a:pPr algn="ctr"/>
          </a:p>
        </p:txBody>
      </p:sp>
      <p:sp>
        <p:nvSpPr>
          <p:cNvPr id="50" name="Oval 49"/>
          <p:cNvSpPr/>
          <p:nvPr/>
        </p:nvSpPr>
        <p:spPr>
          <a:xfrm>
            <a:off x="15819119" y="6199632"/>
            <a:ext cx="182880" cy="182880"/>
          </a:xfrm>
          <a:prstGeom prst="ellipse">
            <a:avLst/>
          </a:prstGeom>
          <a:solidFill>
            <a:srgbClr val="002C49"/>
          </a:solidFill>
          <a:ln>
            <a:noFill/>
          </a:ln>
        </p:spPr>
        <p:txBody>
          <a:bodyPr rtlCol="0" anchor="ctr"/>
          <a:lstStyle/>
          <a:p>
            <a:pPr algn="ctr"/>
          </a:p>
        </p:txBody>
      </p:sp>
      <p:sp>
        <p:nvSpPr>
          <p:cNvPr id="51" name="Oval 50"/>
          <p:cNvSpPr/>
          <p:nvPr/>
        </p:nvSpPr>
        <p:spPr>
          <a:xfrm>
            <a:off x="16824960" y="6199632"/>
            <a:ext cx="182880" cy="182880"/>
          </a:xfrm>
          <a:prstGeom prst="ellipse">
            <a:avLst/>
          </a:prstGeom>
          <a:solidFill>
            <a:srgbClr val="002C49"/>
          </a:solidFill>
          <a:ln>
            <a:noFill/>
          </a:ln>
        </p:spPr>
        <p:txBody>
          <a:bodyPr rtlCol="0" anchor="ctr"/>
          <a:lstStyle/>
          <a:p>
            <a:pPr algn="ctr"/>
          </a:p>
        </p:txBody>
      </p:sp>
      <p:sp>
        <p:nvSpPr>
          <p:cNvPr id="52" name="Rectangle 51"/>
          <p:cNvSpPr/>
          <p:nvPr/>
        </p:nvSpPr>
        <p:spPr>
          <a:xfrm>
            <a:off x="868680" y="6601968"/>
            <a:ext cx="16550640" cy="10972"/>
          </a:xfrm>
          <a:prstGeom prst="rect">
            <a:avLst/>
          </a:prstGeom>
          <a:solidFill>
            <a:srgbClr val="D9E2E7"/>
          </a:solidFill>
          <a:ln>
            <a:noFill/>
          </a:ln>
        </p:spPr>
        <p:txBody>
          <a:bodyPr rtlCol="0" anchor="ctr"/>
          <a:lstStyle/>
          <a:p>
            <a:pPr algn="ctr"/>
          </a:p>
        </p:txBody>
      </p:sp>
      <p:sp>
        <p:nvSpPr>
          <p:cNvPr id="53" name="TextBox 52"/>
          <p:cNvSpPr txBox="1"/>
          <p:nvPr/>
        </p:nvSpPr>
        <p:spPr>
          <a:xfrm>
            <a:off x="868680" y="6766560"/>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LinkedIn corporate</a:t>
            </a:r>
          </a:p>
        </p:txBody>
      </p:sp>
      <p:sp>
        <p:nvSpPr>
          <p:cNvPr id="54" name="Rectangle 53"/>
          <p:cNvSpPr/>
          <p:nvPr/>
        </p:nvSpPr>
        <p:spPr>
          <a:xfrm>
            <a:off x="5349240" y="6912864"/>
            <a:ext cx="12070080" cy="109728"/>
          </a:xfrm>
          <a:prstGeom prst="rect">
            <a:avLst/>
          </a:prstGeom>
          <a:solidFill>
            <a:srgbClr val="002C49"/>
          </a:solidFill>
          <a:ln>
            <a:noFill/>
          </a:ln>
        </p:spPr>
        <p:txBody>
          <a:bodyPr rtlCol="0" anchor="ctr"/>
          <a:lstStyle/>
          <a:p>
            <a:pPr algn="ctr"/>
          </a:p>
        </p:txBody>
      </p:sp>
      <p:sp>
        <p:nvSpPr>
          <p:cNvPr id="55" name="Rectangle 54"/>
          <p:cNvSpPr/>
          <p:nvPr/>
        </p:nvSpPr>
        <p:spPr>
          <a:xfrm>
            <a:off x="868680" y="7278624"/>
            <a:ext cx="16550640" cy="10972"/>
          </a:xfrm>
          <a:prstGeom prst="rect">
            <a:avLst/>
          </a:prstGeom>
          <a:solidFill>
            <a:srgbClr val="D9E2E7"/>
          </a:solidFill>
          <a:ln>
            <a:noFill/>
          </a:ln>
        </p:spPr>
        <p:txBody>
          <a:bodyPr rtlCol="0" anchor="ctr"/>
          <a:lstStyle/>
          <a:p>
            <a:pPr algn="ctr"/>
          </a:p>
        </p:txBody>
      </p:sp>
      <p:sp>
        <p:nvSpPr>
          <p:cNvPr id="56" name="TextBox 55"/>
          <p:cNvSpPr txBox="1"/>
          <p:nvPr/>
        </p:nvSpPr>
        <p:spPr>
          <a:xfrm>
            <a:off x="868680" y="7443215"/>
            <a:ext cx="4206240" cy="795528"/>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Temps forts collectifs</a:t>
            </a:r>
          </a:p>
        </p:txBody>
      </p:sp>
      <p:cxnSp>
        <p:nvCxnSpPr>
          <p:cNvPr id="57" name="Connector 56"/>
          <p:cNvCxnSpPr/>
          <p:nvPr/>
        </p:nvCxnSpPr>
        <p:spPr>
          <a:xfrm>
            <a:off x="5349240" y="7781544"/>
            <a:ext cx="12070079" cy="0"/>
          </a:xfrm>
          <a:prstGeom prst="line">
            <a:avLst/>
          </a:prstGeom>
          <a:ln w="25400">
            <a:solidFill>
              <a:srgbClr val="526777"/>
            </a:solidFill>
            <a:prstDash val="dash"/>
          </a:ln>
        </p:spPr>
      </p:cxnSp>
      <p:sp>
        <p:nvSpPr>
          <p:cNvPr id="58" name="TextBox 57"/>
          <p:cNvSpPr txBox="1"/>
          <p:nvPr/>
        </p:nvSpPr>
        <p:spPr>
          <a:xfrm>
            <a:off x="5495544" y="7333488"/>
            <a:ext cx="11430000" cy="411480"/>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Christmas Party / séminaire : dates à confirmer</a:t>
            </a:r>
          </a:p>
        </p:txBody>
      </p:sp>
      <p:sp>
        <p:nvSpPr>
          <p:cNvPr id="59" name="Rectangle 58"/>
          <p:cNvSpPr/>
          <p:nvPr/>
        </p:nvSpPr>
        <p:spPr>
          <a:xfrm>
            <a:off x="868680" y="7955279"/>
            <a:ext cx="16550640" cy="10972"/>
          </a:xfrm>
          <a:prstGeom prst="rect">
            <a:avLst/>
          </a:prstGeom>
          <a:solidFill>
            <a:srgbClr val="D9E2E7"/>
          </a:solidFill>
          <a:ln>
            <a:noFill/>
          </a:ln>
        </p:spPr>
        <p:txBody>
          <a:bodyPr rtlCol="0" anchor="ctr"/>
          <a:lstStyle/>
          <a:p>
            <a:pPr algn="ctr"/>
          </a:p>
        </p:txBody>
      </p:sp>
      <p:sp>
        <p:nvSpPr>
          <p:cNvPr id="60" name="TextBox 59"/>
          <p:cNvSpPr txBox="1"/>
          <p:nvPr/>
        </p:nvSpPr>
        <p:spPr>
          <a:xfrm>
            <a:off x="868680" y="8385048"/>
            <a:ext cx="16550640" cy="822960"/>
          </a:xfrm>
          <a:prstGeom prst="rect">
            <a:avLst/>
          </a:prstGeom>
          <a:noFill/>
        </p:spPr>
        <p:txBody>
          <a:bodyPr wrap="square" lIns="0" rIns="0" tIns="0" bIns="0">
            <a:spAutoFit/>
          </a:bodyPr>
          <a:lstStyle/>
          <a:p>
            <a:pPr>
              <a:lnSpc>
                <a:spcPts val="2900"/>
              </a:lnSpc>
              <a:spcBef>
                <a:spcPts val="0"/>
              </a:spcBef>
              <a:spcAft>
                <a:spcPts val="0"/>
              </a:spcAft>
              <a:defRPr sz="2200" b="0">
                <a:solidFill>
                  <a:srgbClr val="526777"/>
                </a:solidFill>
                <a:latin typeface="Montserrat"/>
              </a:defRPr>
            </a:pPr>
            <a:r>
              <a:t>Leytonienne : S1 fin janvier ; S2 préparation mai–juin → publication fin juillet, hors FY.</a:t>
            </a:r>
          </a:p>
          <a:p>
            <a:pPr>
              <a:lnSpc>
                <a:spcPts val="2900"/>
              </a:lnSpc>
              <a:spcBef>
                <a:spcPts val="0"/>
              </a:spcBef>
              <a:spcAft>
                <a:spcPts val="0"/>
              </a:spcAft>
              <a:defRPr sz="2200" b="0">
                <a:solidFill>
                  <a:srgbClr val="526777"/>
                </a:solidFill>
                <a:latin typeface="Montserrat"/>
              </a:defRPr>
            </a:pPr>
            <a:r>
              <a:t>Leadership : 4 capsules nov.–fév. + mash-up autour du 8 mars. All Staff fin exercice : date à confirmer.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A14 / GOUVERNANCE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Transformation : fond, orchestration et arbitrages.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Responsabilités fonctionnelles fournies ; owners opérationnels et validations à confirmer.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27</a:t>
            </a:r>
          </a:p>
        </p:txBody>
      </p:sp>
      <p:sp>
        <p:nvSpPr>
          <p:cNvPr id="9" name="TextBox 8"/>
          <p:cNvSpPr txBox="1"/>
          <p:nvPr/>
        </p:nvSpPr>
        <p:spPr>
          <a:xfrm>
            <a:off x="868680" y="3520440"/>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ADOPTION DE L’IA</a:t>
            </a:r>
          </a:p>
        </p:txBody>
      </p:sp>
      <p:sp>
        <p:nvSpPr>
          <p:cNvPr id="10" name="TextBox 9"/>
          <p:cNvSpPr txBox="1"/>
          <p:nvPr/>
        </p:nvSpPr>
        <p:spPr>
          <a:xfrm>
            <a:off x="868680" y="4050791"/>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Direction / DSI / Juridique</a:t>
            </a:r>
          </a:p>
          <a:p>
            <a:pPr>
              <a:lnSpc>
                <a:spcPts val="2700"/>
              </a:lnSpc>
              <a:spcBef>
                <a:spcPts val="0"/>
              </a:spcBef>
              <a:spcAft>
                <a:spcPts val="0"/>
              </a:spcAft>
              <a:defRPr sz="2100" b="0">
                <a:solidFill>
                  <a:srgbClr val="002C49"/>
                </a:solidFill>
                <a:latin typeface="Montserrat"/>
              </a:defRPr>
            </a:pPr>
            <a:r>
              <a:t>AVEC : RH Formation / métiers</a:t>
            </a:r>
          </a:p>
        </p:txBody>
      </p:sp>
      <p:sp>
        <p:nvSpPr>
          <p:cNvPr id="11" name="TextBox 10"/>
          <p:cNvSpPr txBox="1"/>
          <p:nvPr/>
        </p:nvSpPr>
        <p:spPr>
          <a:xfrm>
            <a:off x="6309360" y="4050791"/>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Parcours, ressources, relais</a:t>
            </a:r>
          </a:p>
        </p:txBody>
      </p:sp>
      <p:sp>
        <p:nvSpPr>
          <p:cNvPr id="12" name="TextBox 11"/>
          <p:cNvSpPr txBox="1"/>
          <p:nvPr/>
        </p:nvSpPr>
        <p:spPr>
          <a:xfrm>
            <a:off x="12481560" y="4050791"/>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Owners par volet / Zoom IA</a:t>
            </a:r>
          </a:p>
        </p:txBody>
      </p:sp>
      <p:sp>
        <p:nvSpPr>
          <p:cNvPr id="13" name="Rectangle 12"/>
          <p:cNvSpPr/>
          <p:nvPr/>
        </p:nvSpPr>
        <p:spPr>
          <a:xfrm>
            <a:off x="868680" y="5029200"/>
            <a:ext cx="1655064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5148072"/>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TOOLBOX / ADOPTION DES OUTILS</a:t>
            </a:r>
          </a:p>
        </p:txBody>
      </p:sp>
      <p:sp>
        <p:nvSpPr>
          <p:cNvPr id="15" name="TextBox 14"/>
          <p:cNvSpPr txBox="1"/>
          <p:nvPr/>
        </p:nvSpPr>
        <p:spPr>
          <a:xfrm>
            <a:off x="868680" y="5678424"/>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DSI / métiers, selon outil</a:t>
            </a:r>
          </a:p>
          <a:p>
            <a:pPr>
              <a:lnSpc>
                <a:spcPts val="2700"/>
              </a:lnSpc>
              <a:spcBef>
                <a:spcPts val="0"/>
              </a:spcBef>
              <a:spcAft>
                <a:spcPts val="0"/>
              </a:spcAft>
              <a:defRPr sz="2100" b="0">
                <a:solidFill>
                  <a:srgbClr val="002C49"/>
                </a:solidFill>
                <a:latin typeface="Montserrat"/>
              </a:defRPr>
            </a:pPr>
            <a:r>
              <a:t>AVEC : RH Formation selon besoin</a:t>
            </a:r>
          </a:p>
        </p:txBody>
      </p:sp>
      <p:sp>
        <p:nvSpPr>
          <p:cNvPr id="16" name="TextBox 15"/>
          <p:cNvSpPr txBox="1"/>
          <p:nvPr/>
        </p:nvSpPr>
        <p:spPr>
          <a:xfrm>
            <a:off x="6309360" y="5678424"/>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Hub, fiches, standard, relais</a:t>
            </a:r>
          </a:p>
        </p:txBody>
      </p:sp>
      <p:sp>
        <p:nvSpPr>
          <p:cNvPr id="17" name="TextBox 16"/>
          <p:cNvSpPr txBox="1"/>
          <p:nvPr/>
        </p:nvSpPr>
        <p:spPr>
          <a:xfrm>
            <a:off x="12481560" y="5678424"/>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Inventaire / validations / séquence</a:t>
            </a:r>
          </a:p>
        </p:txBody>
      </p:sp>
      <p:sp>
        <p:nvSpPr>
          <p:cNvPr id="18" name="Rectangle 17"/>
          <p:cNvSpPr/>
          <p:nvPr/>
        </p:nvSpPr>
        <p:spPr>
          <a:xfrm>
            <a:off x="868680" y="6656831"/>
            <a:ext cx="1655064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6775704"/>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BUSINESS PARTNER &amp; CROSS-SELL</a:t>
            </a:r>
          </a:p>
        </p:txBody>
      </p:sp>
      <p:sp>
        <p:nvSpPr>
          <p:cNvPr id="20" name="TextBox 19"/>
          <p:cNvSpPr txBox="1"/>
          <p:nvPr/>
        </p:nvSpPr>
        <p:spPr>
          <a:xfrm>
            <a:off x="868680" y="7306056"/>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Marketing / métiers / Business</a:t>
            </a:r>
          </a:p>
          <a:p>
            <a:pPr>
              <a:lnSpc>
                <a:spcPts val="2700"/>
              </a:lnSpc>
              <a:spcBef>
                <a:spcPts val="0"/>
              </a:spcBef>
              <a:spcAft>
                <a:spcPts val="0"/>
              </a:spcAft>
              <a:defRPr sz="2100" b="0">
                <a:solidFill>
                  <a:srgbClr val="002C49"/>
                </a:solidFill>
                <a:latin typeface="Montserrat"/>
              </a:defRPr>
            </a:pPr>
            <a:r>
              <a:t>AVEC : CS / experts concernés</a:t>
            </a:r>
          </a:p>
        </p:txBody>
      </p:sp>
      <p:sp>
        <p:nvSpPr>
          <p:cNvPr id="21" name="TextBox 20"/>
          <p:cNvSpPr txBox="1"/>
          <p:nvPr/>
        </p:nvSpPr>
        <p:spPr>
          <a:xfrm>
            <a:off x="6309360" y="7306056"/>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Expérience, branding, récit, capitalisation</a:t>
            </a:r>
          </a:p>
        </p:txBody>
      </p:sp>
      <p:sp>
        <p:nvSpPr>
          <p:cNvPr id="22" name="TextBox 21"/>
          <p:cNvSpPr txBox="1"/>
          <p:nvPr/>
        </p:nvSpPr>
        <p:spPr>
          <a:xfrm>
            <a:off x="12481560" y="7306056"/>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Périmètre BP / owner / sourcing</a:t>
            </a:r>
          </a:p>
        </p:txBody>
      </p:sp>
      <p:sp>
        <p:nvSpPr>
          <p:cNvPr id="23" name="Rectangle 22"/>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Neoscreen / intranet : owner projet et responsable technique à confirmer ; Communication : expérience et contenus.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A15 / GOUVERNANCE &amp; PÉRIMÈTRES</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Preuves, performance, People : travailler avec le fond.</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Responsabilités fonctionnelles fournies ; owners opérationnels et validations à confirmer.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28</a:t>
            </a:r>
          </a:p>
        </p:txBody>
      </p:sp>
      <p:sp>
        <p:nvSpPr>
          <p:cNvPr id="9" name="TextBox 8"/>
          <p:cNvSpPr txBox="1"/>
          <p:nvPr/>
        </p:nvSpPr>
        <p:spPr>
          <a:xfrm>
            <a:off x="868680" y="3520440"/>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PREUVES &amp; MONTÉE EN GAMME</a:t>
            </a:r>
          </a:p>
        </p:txBody>
      </p:sp>
      <p:sp>
        <p:nvSpPr>
          <p:cNvPr id="10" name="TextBox 9"/>
          <p:cNvSpPr txBox="1"/>
          <p:nvPr/>
        </p:nvSpPr>
        <p:spPr>
          <a:xfrm>
            <a:off x="868680" y="4050791"/>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Marketing / Business / CS</a:t>
            </a:r>
          </a:p>
          <a:p>
            <a:pPr>
              <a:lnSpc>
                <a:spcPts val="2700"/>
              </a:lnSpc>
              <a:spcBef>
                <a:spcPts val="0"/>
              </a:spcBef>
              <a:spcAft>
                <a:spcPts val="0"/>
              </a:spcAft>
              <a:defRPr sz="2100" b="0">
                <a:solidFill>
                  <a:srgbClr val="002C49"/>
                </a:solidFill>
                <a:latin typeface="Montserrat"/>
              </a:defRPr>
            </a:pPr>
            <a:r>
              <a:t>AVEC : Métiers / clients / Groupe</a:t>
            </a:r>
          </a:p>
        </p:txBody>
      </p:sp>
      <p:sp>
        <p:nvSpPr>
          <p:cNvPr id="11" name="TextBox 10"/>
          <p:cNvSpPr txBox="1"/>
          <p:nvPr/>
        </p:nvSpPr>
        <p:spPr>
          <a:xfrm>
            <a:off x="6309360" y="4050791"/>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Storytelling, formats, cohérence</a:t>
            </a:r>
          </a:p>
        </p:txBody>
      </p:sp>
      <p:sp>
        <p:nvSpPr>
          <p:cNvPr id="12" name="TextBox 11"/>
          <p:cNvSpPr txBox="1"/>
          <p:nvPr/>
        </p:nvSpPr>
        <p:spPr>
          <a:xfrm>
            <a:off x="12481560" y="4050791"/>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Cas / droits / offre / calendrier Groupe</a:t>
            </a:r>
          </a:p>
        </p:txBody>
      </p:sp>
      <p:sp>
        <p:nvSpPr>
          <p:cNvPr id="13" name="Rectangle 12"/>
          <p:cNvSpPr/>
          <p:nvPr/>
        </p:nvSpPr>
        <p:spPr>
          <a:xfrm>
            <a:off x="868680" y="5029200"/>
            <a:ext cx="1655064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5148072"/>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PERFORMANCE</a:t>
            </a:r>
          </a:p>
        </p:txBody>
      </p:sp>
      <p:sp>
        <p:nvSpPr>
          <p:cNvPr id="15" name="TextBox 14"/>
          <p:cNvSpPr txBox="1"/>
          <p:nvPr/>
        </p:nvSpPr>
        <p:spPr>
          <a:xfrm>
            <a:off x="868680" y="5678424"/>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Direction / Finance</a:t>
            </a:r>
          </a:p>
          <a:p>
            <a:pPr>
              <a:lnSpc>
                <a:spcPts val="2700"/>
              </a:lnSpc>
              <a:spcBef>
                <a:spcPts val="0"/>
              </a:spcBef>
              <a:spcAft>
                <a:spcPts val="0"/>
              </a:spcAft>
              <a:defRPr sz="2100" b="0">
                <a:solidFill>
                  <a:srgbClr val="002C49"/>
                </a:solidFill>
                <a:latin typeface="Montserrat"/>
              </a:defRPr>
            </a:pPr>
            <a:r>
              <a:t>AVEC : Marketing / Business / métiers</a:t>
            </a:r>
          </a:p>
        </p:txBody>
      </p:sp>
      <p:sp>
        <p:nvSpPr>
          <p:cNvPr id="16" name="TextBox 15"/>
          <p:cNvSpPr txBox="1"/>
          <p:nvPr/>
        </p:nvSpPr>
        <p:spPr>
          <a:xfrm>
            <a:off x="6309360" y="5678424"/>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Déclinaisons validées / valorisation</a:t>
            </a:r>
          </a:p>
        </p:txBody>
      </p:sp>
      <p:sp>
        <p:nvSpPr>
          <p:cNvPr id="17" name="TextBox 16"/>
          <p:cNvSpPr txBox="1"/>
          <p:nvPr/>
        </p:nvSpPr>
        <p:spPr>
          <a:xfrm>
            <a:off x="12481560" y="5678424"/>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Validation chiffres / critères</a:t>
            </a:r>
          </a:p>
        </p:txBody>
      </p:sp>
      <p:sp>
        <p:nvSpPr>
          <p:cNvPr id="18" name="Rectangle 17"/>
          <p:cNvSpPr/>
          <p:nvPr/>
        </p:nvSpPr>
        <p:spPr>
          <a:xfrm>
            <a:off x="868680" y="6656831"/>
            <a:ext cx="1655064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6775704"/>
            <a:ext cx="16367759"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CULTURE, ENGAGEMENT &amp; IMAGE</a:t>
            </a:r>
          </a:p>
        </p:txBody>
      </p:sp>
      <p:sp>
        <p:nvSpPr>
          <p:cNvPr id="20" name="TextBox 19"/>
          <p:cNvSpPr txBox="1"/>
          <p:nvPr/>
        </p:nvSpPr>
        <p:spPr>
          <a:xfrm>
            <a:off x="868680" y="7306056"/>
            <a:ext cx="49834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002C49"/>
                </a:solidFill>
                <a:latin typeface="Montserrat"/>
              </a:defRPr>
            </a:pPr>
            <a:r>
              <a:t>FOND : RH / métiers</a:t>
            </a:r>
          </a:p>
          <a:p>
            <a:pPr>
              <a:lnSpc>
                <a:spcPts val="2700"/>
              </a:lnSpc>
              <a:spcBef>
                <a:spcPts val="0"/>
              </a:spcBef>
              <a:spcAft>
                <a:spcPts val="0"/>
              </a:spcAft>
              <a:defRPr sz="2100" b="0">
                <a:solidFill>
                  <a:srgbClr val="002C49"/>
                </a:solidFill>
                <a:latin typeface="Montserrat"/>
              </a:defRPr>
            </a:pPr>
            <a:r>
              <a:t>AVEC : Managers / CSE / Sport Business</a:t>
            </a:r>
          </a:p>
        </p:txBody>
      </p:sp>
      <p:sp>
        <p:nvSpPr>
          <p:cNvPr id="21" name="TextBox 20"/>
          <p:cNvSpPr txBox="1"/>
          <p:nvPr/>
        </p:nvSpPr>
        <p:spPr>
          <a:xfrm>
            <a:off x="6309360" y="7306056"/>
            <a:ext cx="566928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COMMUNICATION</a:t>
            </a:r>
          </a:p>
          <a:p>
            <a:pPr>
              <a:lnSpc>
                <a:spcPts val="2700"/>
              </a:lnSpc>
              <a:spcBef>
                <a:spcPts val="0"/>
              </a:spcBef>
              <a:spcAft>
                <a:spcPts val="0"/>
              </a:spcAft>
              <a:defRPr sz="2100" b="0">
                <a:solidFill>
                  <a:srgbClr val="526777"/>
                </a:solidFill>
                <a:latin typeface="Montserrat"/>
              </a:defRPr>
            </a:pPr>
            <a:r>
              <a:t>Orchestration / série / image corporate</a:t>
            </a:r>
          </a:p>
        </p:txBody>
      </p:sp>
      <p:sp>
        <p:nvSpPr>
          <p:cNvPr id="22" name="TextBox 21"/>
          <p:cNvSpPr txBox="1"/>
          <p:nvPr/>
        </p:nvSpPr>
        <p:spPr>
          <a:xfrm>
            <a:off x="12481560" y="7306056"/>
            <a:ext cx="4937760" cy="1078992"/>
          </a:xfrm>
          <a:prstGeom prst="rect">
            <a:avLst/>
          </a:prstGeom>
          <a:noFill/>
        </p:spPr>
        <p:txBody>
          <a:bodyPr wrap="square" lIns="0" rIns="0" tIns="0" bIns="0">
            <a:spAutoFit/>
          </a:bodyPr>
          <a:lstStyle/>
          <a:p>
            <a:pPr>
              <a:lnSpc>
                <a:spcPts val="2700"/>
              </a:lnSpc>
              <a:spcBef>
                <a:spcPts val="0"/>
              </a:spcBef>
              <a:spcAft>
                <a:spcPts val="0"/>
              </a:spcAft>
              <a:defRPr sz="2100" b="0">
                <a:solidFill>
                  <a:srgbClr val="526777"/>
                </a:solidFill>
                <a:latin typeface="Montserrat"/>
              </a:defRPr>
            </a:pPr>
            <a:r>
              <a:t>ARBITRAGE</a:t>
            </a:r>
          </a:p>
          <a:p>
            <a:pPr>
              <a:lnSpc>
                <a:spcPts val="2700"/>
              </a:lnSpc>
              <a:spcBef>
                <a:spcPts val="0"/>
              </a:spcBef>
              <a:spcAft>
                <a:spcPts val="0"/>
              </a:spcAft>
              <a:defRPr sz="2100" b="0">
                <a:solidFill>
                  <a:srgbClr val="526777"/>
                </a:solidFill>
                <a:latin typeface="Montserrat"/>
              </a:defRPr>
            </a:pPr>
            <a:r>
              <a:t>Workelo / événements / validation</a:t>
            </a:r>
          </a:p>
        </p:txBody>
      </p:sp>
      <p:sp>
        <p:nvSpPr>
          <p:cNvPr id="23" name="Rectangle 22"/>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France Communication : corporate. Marketing : LinkedIn business. Groupe : projets Groupe. Sport Business : hospitalités sélectionnées.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A16 / MESURE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Effets recherchés, indicateurs et sources.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Indicateurs proposés à valider selon disponibilité des données. Aucune cible numérique ajoutée.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29</a:t>
            </a:r>
          </a:p>
        </p:txBody>
      </p:sp>
      <p:sp>
        <p:nvSpPr>
          <p:cNvPr id="9" name="TextBox 8"/>
          <p:cNvSpPr txBox="1"/>
          <p:nvPr/>
        </p:nvSpPr>
        <p:spPr>
          <a:xfrm>
            <a:off x="868680" y="3520440"/>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Adoption de l’IA</a:t>
            </a:r>
          </a:p>
        </p:txBody>
      </p:sp>
      <p:sp>
        <p:nvSpPr>
          <p:cNvPr id="10" name="TextBox 9"/>
          <p:cNvSpPr txBox="1"/>
          <p:nvPr/>
        </p:nvSpPr>
        <p:spPr>
          <a:xfrm>
            <a:off x="868680" y="3950208"/>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Contribuer à des usages compris et responsables.</a:t>
            </a:r>
          </a:p>
        </p:txBody>
      </p:sp>
      <p:sp>
        <p:nvSpPr>
          <p:cNvPr id="11" name="TextBox 10"/>
          <p:cNvSpPr txBox="1"/>
          <p:nvPr/>
        </p:nvSpPr>
        <p:spPr>
          <a:xfrm>
            <a:off x="6217920" y="3950208"/>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Participation aux formations ;</a:t>
            </a:r>
          </a:p>
          <a:p>
            <a:pPr>
              <a:lnSpc>
                <a:spcPts val="2700"/>
              </a:lnSpc>
              <a:spcBef>
                <a:spcPts val="0"/>
              </a:spcBef>
              <a:spcAft>
                <a:spcPts val="0"/>
              </a:spcAft>
              <a:defRPr sz="2200" b="0">
                <a:solidFill>
                  <a:srgbClr val="526777"/>
                </a:solidFill>
                <a:latin typeface="Montserrat"/>
              </a:defRPr>
            </a:pPr>
            <a:r>
              <a:t>usages déclarés.</a:t>
            </a:r>
          </a:p>
        </p:txBody>
      </p:sp>
      <p:sp>
        <p:nvSpPr>
          <p:cNvPr id="12" name="TextBox 11"/>
          <p:cNvSpPr txBox="1"/>
          <p:nvPr/>
        </p:nvSpPr>
        <p:spPr>
          <a:xfrm>
            <a:off x="11887200" y="3950208"/>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RH Formation ; retours métiers / enquête, à valider.</a:t>
            </a:r>
          </a:p>
        </p:txBody>
      </p:sp>
      <p:sp>
        <p:nvSpPr>
          <p:cNvPr id="13" name="Rectangle 12"/>
          <p:cNvSpPr/>
          <p:nvPr/>
        </p:nvSpPr>
        <p:spPr>
          <a:xfrm>
            <a:off x="868680" y="4892040"/>
            <a:ext cx="1655064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5029200"/>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Toolbox / adoption des outils</a:t>
            </a:r>
          </a:p>
        </p:txBody>
      </p:sp>
      <p:sp>
        <p:nvSpPr>
          <p:cNvPr id="15" name="TextBox 14"/>
          <p:cNvSpPr txBox="1"/>
          <p:nvPr/>
        </p:nvSpPr>
        <p:spPr>
          <a:xfrm>
            <a:off x="868680" y="5458968"/>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Faciliter l’accès et l’usage des outils utiles.</a:t>
            </a:r>
          </a:p>
        </p:txBody>
      </p:sp>
      <p:sp>
        <p:nvSpPr>
          <p:cNvPr id="16" name="TextBox 15"/>
          <p:cNvSpPr txBox="1"/>
          <p:nvPr/>
        </p:nvSpPr>
        <p:spPr>
          <a:xfrm>
            <a:off x="6217920" y="5458968"/>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Consultations des ressources ; usages des outils.</a:t>
            </a:r>
          </a:p>
        </p:txBody>
      </p:sp>
      <p:sp>
        <p:nvSpPr>
          <p:cNvPr id="17" name="TextBox 16"/>
          <p:cNvSpPr txBox="1"/>
          <p:nvPr/>
        </p:nvSpPr>
        <p:spPr>
          <a:xfrm>
            <a:off x="11887200" y="5458968"/>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Statistiques hub après lancement ; DSI / métiers.</a:t>
            </a:r>
          </a:p>
        </p:txBody>
      </p:sp>
      <p:sp>
        <p:nvSpPr>
          <p:cNvPr id="18" name="Rectangle 17"/>
          <p:cNvSpPr/>
          <p:nvPr/>
        </p:nvSpPr>
        <p:spPr>
          <a:xfrm>
            <a:off x="868680" y="6400800"/>
            <a:ext cx="1655064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6537960"/>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Business Partner &amp; cross-sell</a:t>
            </a:r>
          </a:p>
        </p:txBody>
      </p:sp>
      <p:sp>
        <p:nvSpPr>
          <p:cNvPr id="20" name="TextBox 19"/>
          <p:cNvSpPr txBox="1"/>
          <p:nvPr/>
        </p:nvSpPr>
        <p:spPr>
          <a:xfrm>
            <a:off x="868680" y="6967728"/>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Équiper et faire capitaliser les collaborations.</a:t>
            </a:r>
          </a:p>
        </p:txBody>
      </p:sp>
      <p:sp>
        <p:nvSpPr>
          <p:cNvPr id="21" name="TextBox 20"/>
          <p:cNvSpPr txBox="1"/>
          <p:nvPr/>
        </p:nvSpPr>
        <p:spPr>
          <a:xfrm>
            <a:off x="6217920" y="6967728"/>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Usage du kit ; cas qualifiés / capitalisés.</a:t>
            </a:r>
          </a:p>
        </p:txBody>
      </p:sp>
      <p:sp>
        <p:nvSpPr>
          <p:cNvPr id="22" name="TextBox 21"/>
          <p:cNvSpPr txBox="1"/>
          <p:nvPr/>
        </p:nvSpPr>
        <p:spPr>
          <a:xfrm>
            <a:off x="11887200" y="6967728"/>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Données hub disponibles ; registre de sourcing.</a:t>
            </a:r>
          </a:p>
        </p:txBody>
      </p:sp>
      <p:sp>
        <p:nvSpPr>
          <p:cNvPr id="23" name="Rectangle 22"/>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Repères d’activité : ≥ 4 vidéos cross-sell / FY ; ≥ 1 RDV et ≥ 1 activation RSE / mois ; 4 All Staff.</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A17 / MESURE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Effets recherchés, indicateurs et sources.</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Indicateurs proposés à valider selon disponibilité des données. Aucune cible numérique ajoutée.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30</a:t>
            </a:r>
          </a:p>
        </p:txBody>
      </p:sp>
      <p:sp>
        <p:nvSpPr>
          <p:cNvPr id="9" name="TextBox 8"/>
          <p:cNvSpPr txBox="1"/>
          <p:nvPr/>
        </p:nvSpPr>
        <p:spPr>
          <a:xfrm>
            <a:off x="868680" y="3520440"/>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Preuves &amp; montée en gamme</a:t>
            </a:r>
          </a:p>
        </p:txBody>
      </p:sp>
      <p:sp>
        <p:nvSpPr>
          <p:cNvPr id="10" name="TextBox 9"/>
          <p:cNvSpPr txBox="1"/>
          <p:nvPr/>
        </p:nvSpPr>
        <p:spPr>
          <a:xfrm>
            <a:off x="868680" y="3950208"/>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Renforcer la crédibilité par des preuves de valeur.</a:t>
            </a:r>
          </a:p>
        </p:txBody>
      </p:sp>
      <p:sp>
        <p:nvSpPr>
          <p:cNvPr id="11" name="TextBox 10"/>
          <p:cNvSpPr txBox="1"/>
          <p:nvPr/>
        </p:nvSpPr>
        <p:spPr>
          <a:xfrm>
            <a:off x="6217920" y="3950208"/>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Preuves validées ; performance des contenus vidéo.</a:t>
            </a:r>
          </a:p>
        </p:txBody>
      </p:sp>
      <p:sp>
        <p:nvSpPr>
          <p:cNvPr id="12" name="TextBox 11"/>
          <p:cNvSpPr txBox="1"/>
          <p:nvPr/>
        </p:nvSpPr>
        <p:spPr>
          <a:xfrm>
            <a:off x="11887200" y="3950208"/>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Registre éditorial ; analytics des plateformes.</a:t>
            </a:r>
          </a:p>
        </p:txBody>
      </p:sp>
      <p:sp>
        <p:nvSpPr>
          <p:cNvPr id="13" name="Rectangle 12"/>
          <p:cNvSpPr/>
          <p:nvPr/>
        </p:nvSpPr>
        <p:spPr>
          <a:xfrm>
            <a:off x="868680" y="4636008"/>
            <a:ext cx="16550640" cy="10972"/>
          </a:xfrm>
          <a:prstGeom prst="rect">
            <a:avLst/>
          </a:prstGeom>
          <a:solidFill>
            <a:srgbClr val="D9E2E7"/>
          </a:solidFill>
          <a:ln>
            <a:noFill/>
          </a:ln>
        </p:spPr>
        <p:txBody>
          <a:bodyPr rtlCol="0" anchor="ctr"/>
          <a:lstStyle/>
          <a:p>
            <a:pPr algn="ctr"/>
          </a:p>
        </p:txBody>
      </p:sp>
      <p:sp>
        <p:nvSpPr>
          <p:cNvPr id="14" name="TextBox 13"/>
          <p:cNvSpPr txBox="1"/>
          <p:nvPr/>
        </p:nvSpPr>
        <p:spPr>
          <a:xfrm>
            <a:off x="868680" y="4727448"/>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Performance</a:t>
            </a:r>
          </a:p>
        </p:txBody>
      </p:sp>
      <p:sp>
        <p:nvSpPr>
          <p:cNvPr id="15" name="TextBox 14"/>
          <p:cNvSpPr txBox="1"/>
          <p:nvPr/>
        </p:nvSpPr>
        <p:spPr>
          <a:xfrm>
            <a:off x="868680" y="5157216"/>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Rendre compréhensibles chiffres et offres.</a:t>
            </a:r>
          </a:p>
        </p:txBody>
      </p:sp>
      <p:sp>
        <p:nvSpPr>
          <p:cNvPr id="16" name="TextBox 15"/>
          <p:cNvSpPr txBox="1"/>
          <p:nvPr/>
        </p:nvSpPr>
        <p:spPr>
          <a:xfrm>
            <a:off x="6217920" y="5157216"/>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Portée des relais ; retours sur leur compréhension.</a:t>
            </a:r>
          </a:p>
        </p:txBody>
      </p:sp>
      <p:sp>
        <p:nvSpPr>
          <p:cNvPr id="17" name="TextBox 16"/>
          <p:cNvSpPr txBox="1"/>
          <p:nvPr/>
        </p:nvSpPr>
        <p:spPr>
          <a:xfrm>
            <a:off x="11887200" y="5157216"/>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Canaux disponibles ; retours équipes / managers.</a:t>
            </a:r>
          </a:p>
        </p:txBody>
      </p:sp>
      <p:sp>
        <p:nvSpPr>
          <p:cNvPr id="18" name="Rectangle 17"/>
          <p:cNvSpPr/>
          <p:nvPr/>
        </p:nvSpPr>
        <p:spPr>
          <a:xfrm>
            <a:off x="868680" y="5843016"/>
            <a:ext cx="16550640" cy="10972"/>
          </a:xfrm>
          <a:prstGeom prst="rect">
            <a:avLst/>
          </a:prstGeom>
          <a:solidFill>
            <a:srgbClr val="D9E2E7"/>
          </a:solidFill>
          <a:ln>
            <a:noFill/>
          </a:ln>
        </p:spPr>
        <p:txBody>
          <a:bodyPr rtlCol="0" anchor="ctr"/>
          <a:lstStyle/>
          <a:p>
            <a:pPr algn="ctr"/>
          </a:p>
        </p:txBody>
      </p:sp>
      <p:sp>
        <p:nvSpPr>
          <p:cNvPr id="19" name="TextBox 18"/>
          <p:cNvSpPr txBox="1"/>
          <p:nvPr/>
        </p:nvSpPr>
        <p:spPr>
          <a:xfrm>
            <a:off x="868680" y="5934456"/>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Culture, engagement &amp; image</a:t>
            </a:r>
          </a:p>
        </p:txBody>
      </p:sp>
      <p:sp>
        <p:nvSpPr>
          <p:cNvPr id="20" name="TextBox 19"/>
          <p:cNvSpPr txBox="1"/>
          <p:nvPr/>
        </p:nvSpPr>
        <p:spPr>
          <a:xfrm>
            <a:off x="868680" y="6364224"/>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Contribuer à la mobilisation et à la visibilité du collectif.</a:t>
            </a:r>
          </a:p>
        </p:txBody>
      </p:sp>
      <p:sp>
        <p:nvSpPr>
          <p:cNvPr id="21" name="TextBox 20"/>
          <p:cNvSpPr txBox="1"/>
          <p:nvPr/>
        </p:nvSpPr>
        <p:spPr>
          <a:xfrm>
            <a:off x="6217920" y="6364224"/>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Participation aux rendez-vous ; engagement corporate.</a:t>
            </a:r>
          </a:p>
        </p:txBody>
      </p:sp>
      <p:sp>
        <p:nvSpPr>
          <p:cNvPr id="22" name="TextBox 21"/>
          <p:cNvSpPr txBox="1"/>
          <p:nvPr/>
        </p:nvSpPr>
        <p:spPr>
          <a:xfrm>
            <a:off x="11887200" y="6364224"/>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RH / organisateurs ; analytics réseaux corporate.</a:t>
            </a:r>
          </a:p>
        </p:txBody>
      </p:sp>
      <p:sp>
        <p:nvSpPr>
          <p:cNvPr id="23" name="Rectangle 22"/>
          <p:cNvSpPr/>
          <p:nvPr/>
        </p:nvSpPr>
        <p:spPr>
          <a:xfrm>
            <a:off x="868680" y="7050024"/>
            <a:ext cx="16550640" cy="10972"/>
          </a:xfrm>
          <a:prstGeom prst="rect">
            <a:avLst/>
          </a:prstGeom>
          <a:solidFill>
            <a:srgbClr val="D9E2E7"/>
          </a:solidFill>
          <a:ln>
            <a:noFill/>
          </a:ln>
        </p:spPr>
        <p:txBody>
          <a:bodyPr rtlCol="0" anchor="ctr"/>
          <a:lstStyle/>
          <a:p>
            <a:pPr algn="ctr"/>
          </a:p>
        </p:txBody>
      </p:sp>
      <p:sp>
        <p:nvSpPr>
          <p:cNvPr id="24" name="TextBox 23"/>
          <p:cNvSpPr txBox="1"/>
          <p:nvPr/>
        </p:nvSpPr>
        <p:spPr>
          <a:xfrm>
            <a:off x="868680" y="7141464"/>
            <a:ext cx="16459200" cy="384048"/>
          </a:xfrm>
          <a:prstGeom prst="rect">
            <a:avLst/>
          </a:prstGeom>
          <a:noFill/>
        </p:spPr>
        <p:txBody>
          <a:bodyPr wrap="square" lIns="0" rIns="0" tIns="0" bIns="0">
            <a:spAutoFit/>
          </a:bodyPr>
          <a:lstStyle/>
          <a:p>
            <a:pPr>
              <a:lnSpc>
                <a:spcPts val="2300"/>
              </a:lnSpc>
              <a:spcBef>
                <a:spcPts val="0"/>
              </a:spcBef>
              <a:spcAft>
                <a:spcPts val="0"/>
              </a:spcAft>
              <a:defRPr sz="1800" b="1">
                <a:solidFill>
                  <a:srgbClr val="FF6633"/>
                </a:solidFill>
                <a:latin typeface="Montserrat"/>
              </a:defRPr>
            </a:pPr>
            <a:r>
              <a:t>Écosystème interne</a:t>
            </a:r>
          </a:p>
        </p:txBody>
      </p:sp>
      <p:sp>
        <p:nvSpPr>
          <p:cNvPr id="25" name="TextBox 24"/>
          <p:cNvSpPr txBox="1"/>
          <p:nvPr/>
        </p:nvSpPr>
        <p:spPr>
          <a:xfrm>
            <a:off x="868680" y="7571232"/>
            <a:ext cx="4983480" cy="768096"/>
          </a:xfrm>
          <a:prstGeom prst="rect">
            <a:avLst/>
          </a:prstGeom>
          <a:noFill/>
        </p:spPr>
        <p:txBody>
          <a:bodyPr wrap="square" lIns="0" rIns="0" tIns="0" bIns="0">
            <a:spAutoFit/>
          </a:bodyPr>
          <a:lstStyle/>
          <a:p>
            <a:pPr>
              <a:lnSpc>
                <a:spcPts val="2700"/>
              </a:lnSpc>
              <a:spcBef>
                <a:spcPts val="0"/>
              </a:spcBef>
              <a:spcAft>
                <a:spcPts val="0"/>
              </a:spcAft>
              <a:defRPr sz="2200" b="1">
                <a:solidFill>
                  <a:srgbClr val="002C49"/>
                </a:solidFill>
                <a:latin typeface="Montserrat"/>
              </a:defRPr>
            </a:pPr>
            <a:r>
              <a:t>Faciliter l’accès à une information utile.</a:t>
            </a:r>
          </a:p>
        </p:txBody>
      </p:sp>
      <p:sp>
        <p:nvSpPr>
          <p:cNvPr id="26" name="TextBox 25"/>
          <p:cNvSpPr txBox="1"/>
          <p:nvPr/>
        </p:nvSpPr>
        <p:spPr>
          <a:xfrm>
            <a:off x="6217920" y="7571232"/>
            <a:ext cx="5166360" cy="768096"/>
          </a:xfrm>
          <a:prstGeom prst="rect">
            <a:avLst/>
          </a:prstGeom>
          <a:noFill/>
        </p:spPr>
        <p:txBody>
          <a:bodyPr wrap="square" lIns="0" rIns="0" tIns="0" bIns="0">
            <a:spAutoFit/>
          </a:bodyPr>
          <a:lstStyle/>
          <a:p>
            <a:pPr>
              <a:lnSpc>
                <a:spcPts val="2700"/>
              </a:lnSpc>
              <a:spcBef>
                <a:spcPts val="0"/>
              </a:spcBef>
              <a:spcAft>
                <a:spcPts val="0"/>
              </a:spcAft>
              <a:defRPr sz="2200" b="0">
                <a:solidFill>
                  <a:srgbClr val="526777"/>
                </a:solidFill>
                <a:latin typeface="Montserrat"/>
              </a:defRPr>
            </a:pPr>
            <a:r>
              <a:t>Usage des canaux ; contribution / retour utilisateurs.</a:t>
            </a:r>
          </a:p>
        </p:txBody>
      </p:sp>
      <p:sp>
        <p:nvSpPr>
          <p:cNvPr id="27" name="TextBox 26"/>
          <p:cNvSpPr txBox="1"/>
          <p:nvPr/>
        </p:nvSpPr>
        <p:spPr>
          <a:xfrm>
            <a:off x="11887200" y="7571232"/>
            <a:ext cx="5513832" cy="768096"/>
          </a:xfrm>
          <a:prstGeom prst="rect">
            <a:avLst/>
          </a:prstGeom>
          <a:noFill/>
        </p:spPr>
        <p:txBody>
          <a:bodyPr wrap="square" lIns="0" rIns="0" tIns="0" bIns="0">
            <a:spAutoFit/>
          </a:bodyPr>
          <a:lstStyle/>
          <a:p>
            <a:pPr>
              <a:lnSpc>
                <a:spcPts val="2600"/>
              </a:lnSpc>
              <a:spcBef>
                <a:spcPts val="0"/>
              </a:spcBef>
              <a:spcAft>
                <a:spcPts val="0"/>
              </a:spcAft>
              <a:defRPr sz="2100" b="0">
                <a:solidFill>
                  <a:srgbClr val="526777"/>
                </a:solidFill>
                <a:latin typeface="Montserrat"/>
              </a:defRPr>
            </a:pPr>
            <a:r>
              <a:t>Statistiques disponibles après déploiement / lancement.</a:t>
            </a:r>
          </a:p>
        </p:txBody>
      </p:sp>
      <p:sp>
        <p:nvSpPr>
          <p:cNvPr id="28" name="Rectangle 27"/>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9" name="TextBox 28"/>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Repères d’activité : ≥ 4 vidéos cross-sell / FY ; ≥ 1 RDV et ≥ 1 activation RSE / mois ; 4 All Staff.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A18 / LINKEDIN CORPORATE</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Un calendrier éditorial, cinq territoires de marque.</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Source : calendrier joint • octobre → juin • 34 entrées, dont 5 à confirmer / définir / sélectionner.</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31</a:t>
            </a:r>
          </a:p>
        </p:txBody>
      </p:sp>
      <p:sp>
        <p:nvSpPr>
          <p:cNvPr id="9" name="Rectangle 8"/>
          <p:cNvSpPr/>
          <p:nvPr/>
        </p:nvSpPr>
        <p:spPr>
          <a:xfrm>
            <a:off x="868680" y="3520440"/>
            <a:ext cx="7863840" cy="630936"/>
          </a:xfrm>
          <a:prstGeom prst="rect">
            <a:avLst/>
          </a:prstGeom>
          <a:solidFill>
            <a:srgbClr val="E6EBF0"/>
          </a:solidFill>
          <a:ln>
            <a:noFill/>
          </a:ln>
        </p:spPr>
        <p:txBody>
          <a:bodyPr rtlCol="0" anchor="ctr"/>
          <a:lstStyle/>
          <a:p>
            <a:pPr algn="ctr"/>
          </a:p>
        </p:txBody>
      </p:sp>
      <p:sp>
        <p:nvSpPr>
          <p:cNvPr id="10" name="TextBox 9"/>
          <p:cNvSpPr txBox="1"/>
          <p:nvPr/>
        </p:nvSpPr>
        <p:spPr>
          <a:xfrm>
            <a:off x="1097280" y="3639312"/>
            <a:ext cx="7223760" cy="384048"/>
          </a:xfrm>
          <a:prstGeom prst="rect">
            <a:avLst/>
          </a:prstGeom>
          <a:noFill/>
        </p:spPr>
        <p:txBody>
          <a:bodyPr wrap="square" lIns="0" rIns="0" tIns="0" bIns="0">
            <a:spAutoFit/>
          </a:bodyPr>
          <a:lstStyle/>
          <a:p>
            <a:pPr>
              <a:lnSpc>
                <a:spcPts val="2952"/>
              </a:lnSpc>
              <a:spcBef>
                <a:spcPts val="0"/>
              </a:spcBef>
              <a:spcAft>
                <a:spcPts val="0"/>
              </a:spcAft>
              <a:defRPr sz="2400" b="1">
                <a:solidFill>
                  <a:srgbClr val="002C49"/>
                </a:solidFill>
                <a:latin typeface="Montserrat"/>
              </a:defRPr>
            </a:pPr>
            <a:r>
              <a:t>Corporate &amp; innovation · 8</a:t>
            </a:r>
          </a:p>
        </p:txBody>
      </p:sp>
      <p:sp>
        <p:nvSpPr>
          <p:cNvPr id="11" name="Rectangle 10"/>
          <p:cNvSpPr/>
          <p:nvPr/>
        </p:nvSpPr>
        <p:spPr>
          <a:xfrm>
            <a:off x="868680" y="4334256"/>
            <a:ext cx="7863840" cy="630936"/>
          </a:xfrm>
          <a:prstGeom prst="rect">
            <a:avLst/>
          </a:prstGeom>
          <a:solidFill>
            <a:srgbClr val="F3E8F7"/>
          </a:solidFill>
          <a:ln>
            <a:noFill/>
          </a:ln>
        </p:spPr>
        <p:txBody>
          <a:bodyPr rtlCol="0" anchor="ctr"/>
          <a:lstStyle/>
          <a:p>
            <a:pPr algn="ctr"/>
          </a:p>
        </p:txBody>
      </p:sp>
      <p:sp>
        <p:nvSpPr>
          <p:cNvPr id="12" name="TextBox 11"/>
          <p:cNvSpPr txBox="1"/>
          <p:nvPr/>
        </p:nvSpPr>
        <p:spPr>
          <a:xfrm>
            <a:off x="1097280" y="4453128"/>
            <a:ext cx="7223760" cy="384048"/>
          </a:xfrm>
          <a:prstGeom prst="rect">
            <a:avLst/>
          </a:prstGeom>
          <a:noFill/>
        </p:spPr>
        <p:txBody>
          <a:bodyPr wrap="square" lIns="0" rIns="0" tIns="0" bIns="0">
            <a:spAutoFit/>
          </a:bodyPr>
          <a:lstStyle/>
          <a:p>
            <a:pPr>
              <a:lnSpc>
                <a:spcPts val="2952"/>
              </a:lnSpc>
              <a:spcBef>
                <a:spcPts val="0"/>
              </a:spcBef>
              <a:spcAft>
                <a:spcPts val="0"/>
              </a:spcAft>
              <a:defRPr sz="2400" b="1">
                <a:solidFill>
                  <a:srgbClr val="AC2CCB"/>
                </a:solidFill>
                <a:latin typeface="Montserrat"/>
              </a:defRPr>
            </a:pPr>
            <a:r>
              <a:t>Leadership au féminin · 5</a:t>
            </a:r>
          </a:p>
        </p:txBody>
      </p:sp>
      <p:sp>
        <p:nvSpPr>
          <p:cNvPr id="13" name="Rectangle 12"/>
          <p:cNvSpPr/>
          <p:nvPr/>
        </p:nvSpPr>
        <p:spPr>
          <a:xfrm>
            <a:off x="868680" y="5148072"/>
            <a:ext cx="7863840" cy="630936"/>
          </a:xfrm>
          <a:prstGeom prst="rect">
            <a:avLst/>
          </a:prstGeom>
          <a:solidFill>
            <a:srgbClr val="EDF5E5"/>
          </a:solidFill>
          <a:ln>
            <a:noFill/>
          </a:ln>
        </p:spPr>
        <p:txBody>
          <a:bodyPr rtlCol="0" anchor="ctr"/>
          <a:lstStyle/>
          <a:p>
            <a:pPr algn="ctr"/>
          </a:p>
        </p:txBody>
      </p:sp>
      <p:sp>
        <p:nvSpPr>
          <p:cNvPr id="14" name="TextBox 13"/>
          <p:cNvSpPr txBox="1"/>
          <p:nvPr/>
        </p:nvSpPr>
        <p:spPr>
          <a:xfrm>
            <a:off x="1097280" y="5266944"/>
            <a:ext cx="7223760" cy="384048"/>
          </a:xfrm>
          <a:prstGeom prst="rect">
            <a:avLst/>
          </a:prstGeom>
          <a:noFill/>
        </p:spPr>
        <p:txBody>
          <a:bodyPr wrap="square" lIns="0" rIns="0" tIns="0" bIns="0">
            <a:spAutoFit/>
          </a:bodyPr>
          <a:lstStyle/>
          <a:p>
            <a:pPr>
              <a:lnSpc>
                <a:spcPts val="2952"/>
              </a:lnSpc>
              <a:spcBef>
                <a:spcPts val="0"/>
              </a:spcBef>
              <a:spcAft>
                <a:spcPts val="0"/>
              </a:spcAft>
              <a:defRPr sz="2400" b="1">
                <a:solidFill>
                  <a:srgbClr val="4A9225"/>
                </a:solidFill>
                <a:latin typeface="Montserrat"/>
              </a:defRPr>
            </a:pPr>
            <a:r>
              <a:t>RSE · 8</a:t>
            </a:r>
          </a:p>
        </p:txBody>
      </p:sp>
      <p:sp>
        <p:nvSpPr>
          <p:cNvPr id="15" name="Rectangle 14"/>
          <p:cNvSpPr/>
          <p:nvPr/>
        </p:nvSpPr>
        <p:spPr>
          <a:xfrm>
            <a:off x="868680" y="5961888"/>
            <a:ext cx="7863840" cy="630936"/>
          </a:xfrm>
          <a:prstGeom prst="rect">
            <a:avLst/>
          </a:prstGeom>
          <a:solidFill>
            <a:srgbClr val="FCECF1"/>
          </a:solidFill>
          <a:ln>
            <a:noFill/>
          </a:ln>
        </p:spPr>
        <p:txBody>
          <a:bodyPr rtlCol="0" anchor="ctr"/>
          <a:lstStyle/>
          <a:p>
            <a:pPr algn="ctr"/>
          </a:p>
        </p:txBody>
      </p:sp>
      <p:sp>
        <p:nvSpPr>
          <p:cNvPr id="16" name="TextBox 15"/>
          <p:cNvSpPr txBox="1"/>
          <p:nvPr/>
        </p:nvSpPr>
        <p:spPr>
          <a:xfrm>
            <a:off x="1097280" y="6080759"/>
            <a:ext cx="7223760" cy="384048"/>
          </a:xfrm>
          <a:prstGeom prst="rect">
            <a:avLst/>
          </a:prstGeom>
          <a:noFill/>
        </p:spPr>
        <p:txBody>
          <a:bodyPr wrap="square" lIns="0" rIns="0" tIns="0" bIns="0">
            <a:spAutoFit/>
          </a:bodyPr>
          <a:lstStyle/>
          <a:p>
            <a:pPr>
              <a:lnSpc>
                <a:spcPts val="2952"/>
              </a:lnSpc>
              <a:spcBef>
                <a:spcPts val="0"/>
              </a:spcBef>
              <a:spcAft>
                <a:spcPts val="0"/>
              </a:spcAft>
              <a:defRPr sz="2400" b="1">
                <a:solidFill>
                  <a:srgbClr val="D93662"/>
                </a:solidFill>
                <a:latin typeface="Montserrat"/>
              </a:defRPr>
            </a:pPr>
            <a:r>
              <a:t>Vie interne &amp; RH · 8</a:t>
            </a:r>
          </a:p>
        </p:txBody>
      </p:sp>
      <p:sp>
        <p:nvSpPr>
          <p:cNvPr id="17" name="Rectangle 16"/>
          <p:cNvSpPr/>
          <p:nvPr/>
        </p:nvSpPr>
        <p:spPr>
          <a:xfrm>
            <a:off x="868680" y="6775704"/>
            <a:ext cx="7863840" cy="630936"/>
          </a:xfrm>
          <a:prstGeom prst="rect">
            <a:avLst/>
          </a:prstGeom>
          <a:solidFill>
            <a:srgbClr val="E2F4F7"/>
          </a:solidFill>
          <a:ln>
            <a:noFill/>
          </a:ln>
        </p:spPr>
        <p:txBody>
          <a:bodyPr rtlCol="0" anchor="ctr"/>
          <a:lstStyle/>
          <a:p>
            <a:pPr algn="ctr"/>
          </a:p>
        </p:txBody>
      </p:sp>
      <p:sp>
        <p:nvSpPr>
          <p:cNvPr id="18" name="TextBox 17"/>
          <p:cNvSpPr txBox="1"/>
          <p:nvPr/>
        </p:nvSpPr>
        <p:spPr>
          <a:xfrm>
            <a:off x="1097280" y="6894576"/>
            <a:ext cx="7223760" cy="384048"/>
          </a:xfrm>
          <a:prstGeom prst="rect">
            <a:avLst/>
          </a:prstGeom>
          <a:noFill/>
        </p:spPr>
        <p:txBody>
          <a:bodyPr wrap="square" lIns="0" rIns="0" tIns="0" bIns="0">
            <a:spAutoFit/>
          </a:bodyPr>
          <a:lstStyle/>
          <a:p>
            <a:pPr>
              <a:lnSpc>
                <a:spcPts val="2952"/>
              </a:lnSpc>
              <a:spcBef>
                <a:spcPts val="0"/>
              </a:spcBef>
              <a:spcAft>
                <a:spcPts val="0"/>
              </a:spcAft>
              <a:defRPr sz="2400" b="1">
                <a:solidFill>
                  <a:srgbClr val="00869A"/>
                </a:solidFill>
                <a:latin typeface="Montserrat"/>
              </a:defRPr>
            </a:pPr>
            <a:r>
              <a:t>Sport · 5</a:t>
            </a:r>
          </a:p>
        </p:txBody>
      </p:sp>
      <p:sp>
        <p:nvSpPr>
          <p:cNvPr id="19" name="TextBox 18"/>
          <p:cNvSpPr txBox="1"/>
          <p:nvPr/>
        </p:nvSpPr>
        <p:spPr>
          <a:xfrm>
            <a:off x="9372600" y="3611880"/>
            <a:ext cx="7955279" cy="1956816"/>
          </a:xfrm>
          <a:prstGeom prst="rect">
            <a:avLst/>
          </a:prstGeom>
          <a:noFill/>
        </p:spPr>
        <p:txBody>
          <a:bodyPr wrap="square" lIns="0" rIns="0" tIns="0" bIns="0">
            <a:spAutoFit/>
          </a:bodyPr>
          <a:lstStyle/>
          <a:p>
            <a:pPr>
              <a:lnSpc>
                <a:spcPts val="3600"/>
              </a:lnSpc>
              <a:spcBef>
                <a:spcPts val="0"/>
              </a:spcBef>
              <a:spcAft>
                <a:spcPts val="0"/>
              </a:spcAft>
              <a:defRPr sz="2700" b="1">
                <a:solidFill>
                  <a:srgbClr val="002C49"/>
                </a:solidFill>
                <a:latin typeface="Montserrat"/>
              </a:defRPr>
            </a:pPr>
            <a:r>
              <a:t>Cadence du calendrier :</a:t>
            </a:r>
          </a:p>
          <a:p>
            <a:pPr>
              <a:lnSpc>
                <a:spcPts val="3600"/>
              </a:lnSpc>
              <a:spcBef>
                <a:spcPts val="0"/>
              </a:spcBef>
              <a:spcAft>
                <a:spcPts val="0"/>
              </a:spcAft>
              <a:defRPr sz="2700" b="1">
                <a:solidFill>
                  <a:srgbClr val="002C49"/>
                </a:solidFill>
                <a:latin typeface="Montserrat"/>
              </a:defRPr>
            </a:pPr>
            <a:r>
              <a:t>3 à 4 entrées par mois.</a:t>
            </a:r>
          </a:p>
          <a:p>
            <a:pPr>
              <a:lnSpc>
                <a:spcPts val="3600"/>
              </a:lnSpc>
              <a:spcBef>
                <a:spcPts val="0"/>
              </a:spcBef>
              <a:spcAft>
                <a:spcPts val="0"/>
              </a:spcAft>
              <a:defRPr sz="2700" b="1">
                <a:solidFill>
                  <a:srgbClr val="002C49"/>
                </a:solidFill>
                <a:latin typeface="Montserrat"/>
              </a:defRPr>
            </a:pPr>
            <a:r>
              <a:t>29 sans réserve explicite ; 5 conditionnelles.</a:t>
            </a:r>
          </a:p>
        </p:txBody>
      </p:sp>
      <p:sp>
        <p:nvSpPr>
          <p:cNvPr id="20" name="TextBox 19"/>
          <p:cNvSpPr txBox="1"/>
          <p:nvPr/>
        </p:nvSpPr>
        <p:spPr>
          <a:xfrm>
            <a:off x="9372600" y="5687568"/>
            <a:ext cx="7955279" cy="1344168"/>
          </a:xfrm>
          <a:prstGeom prst="rect">
            <a:avLst/>
          </a:prstGeom>
          <a:noFill/>
        </p:spPr>
        <p:txBody>
          <a:bodyPr wrap="square" lIns="0" rIns="0" tIns="0" bIns="0">
            <a:spAutoFit/>
          </a:bodyPr>
          <a:lstStyle/>
          <a:p>
            <a:pPr>
              <a:lnSpc>
                <a:spcPts val="3400"/>
              </a:lnSpc>
              <a:spcBef>
                <a:spcPts val="0"/>
              </a:spcBef>
              <a:spcAft>
                <a:spcPts val="0"/>
              </a:spcAft>
              <a:defRPr sz="2500" b="0">
                <a:solidFill>
                  <a:srgbClr val="526777"/>
                </a:solidFill>
                <a:latin typeface="Montserrat"/>
              </a:defRPr>
            </a:pPr>
            <a:r>
              <a:t>Deux opportunités sport en plus,</a:t>
            </a:r>
          </a:p>
          <a:p>
            <a:pPr>
              <a:lnSpc>
                <a:spcPts val="3400"/>
              </a:lnSpc>
              <a:spcBef>
                <a:spcPts val="0"/>
              </a:spcBef>
              <a:spcAft>
                <a:spcPts val="0"/>
              </a:spcAft>
              <a:defRPr sz="2500" b="0">
                <a:solidFill>
                  <a:srgbClr val="526777"/>
                </a:solidFill>
                <a:latin typeface="Montserrat"/>
              </a:defRPr>
            </a:pPr>
            <a:r>
              <a:t>hors des 34 entrées : février et mars.</a:t>
            </a:r>
          </a:p>
          <a:p>
            <a:pPr>
              <a:lnSpc>
                <a:spcPts val="3400"/>
              </a:lnSpc>
              <a:spcBef>
                <a:spcPts val="0"/>
              </a:spcBef>
              <a:spcAft>
                <a:spcPts val="0"/>
              </a:spcAft>
              <a:defRPr sz="2500" b="0">
                <a:solidFill>
                  <a:srgbClr val="526777"/>
                </a:solidFill>
                <a:latin typeface="Montserrat"/>
              </a:defRPr>
            </a:pPr>
            <a:r>
              <a:t>Maximum un post par événement.</a:t>
            </a:r>
          </a:p>
        </p:txBody>
      </p:sp>
      <p:sp>
        <p:nvSpPr>
          <p:cNvPr id="21" name="TextBox 20"/>
          <p:cNvSpPr txBox="1"/>
          <p:nvPr/>
        </p:nvSpPr>
        <p:spPr>
          <a:xfrm>
            <a:off x="9372600" y="7351775"/>
            <a:ext cx="7955279" cy="850392"/>
          </a:xfrm>
          <a:prstGeom prst="rect">
            <a:avLst/>
          </a:prstGeom>
          <a:noFill/>
        </p:spPr>
        <p:txBody>
          <a:bodyPr wrap="square" lIns="0" rIns="0" tIns="0" bIns="0">
            <a:spAutoFit/>
          </a:bodyPr>
          <a:lstStyle/>
          <a:p>
            <a:pPr>
              <a:lnSpc>
                <a:spcPts val="3200"/>
              </a:lnSpc>
              <a:spcBef>
                <a:spcPts val="0"/>
              </a:spcBef>
              <a:spcAft>
                <a:spcPts val="0"/>
              </a:spcAft>
              <a:defRPr sz="2400" b="1">
                <a:solidFill>
                  <a:srgbClr val="002C49"/>
                </a:solidFill>
                <a:latin typeface="Montserrat"/>
              </a:defRPr>
            </a:pPr>
            <a:r>
              <a:t>Sport collaborateurs / CSE ≠ Sport Business.</a:t>
            </a:r>
          </a:p>
          <a:p>
            <a:pPr>
              <a:lnSpc>
                <a:spcPts val="3200"/>
              </a:lnSpc>
              <a:spcBef>
                <a:spcPts val="0"/>
              </a:spcBef>
              <a:spcAft>
                <a:spcPts val="0"/>
              </a:spcAft>
              <a:defRPr sz="2400" b="1">
                <a:solidFill>
                  <a:srgbClr val="002C49"/>
                </a:solidFill>
                <a:latin typeface="Montserrat"/>
              </a:defRPr>
            </a:pPr>
            <a:r>
              <a:t>Aucune couverture systématique.</a:t>
            </a:r>
          </a:p>
        </p:txBody>
      </p:sp>
      <p:sp>
        <p:nvSpPr>
          <p:cNvPr id="22" name="Rectangle 21"/>
          <p:cNvSpPr/>
          <p:nvPr/>
        </p:nvSpPr>
        <p:spPr>
          <a:xfrm>
            <a:off x="822960" y="8705088"/>
            <a:ext cx="16642080" cy="10972"/>
          </a:xfrm>
          <a:prstGeom prst="rect">
            <a:avLst/>
          </a:prstGeom>
          <a:solidFill>
            <a:srgbClr val="D9E2E7"/>
          </a:solidFill>
          <a:ln>
            <a:noFill/>
          </a:ln>
        </p:spPr>
        <p:txBody>
          <a:bodyPr rtlCol="0" anchor="ctr"/>
          <a:lstStyle/>
          <a:p>
            <a:pPr algn="ctr"/>
          </a:p>
        </p:txBody>
      </p:sp>
      <p:sp>
        <p:nvSpPr>
          <p:cNvPr id="23" name="TextBox 22"/>
          <p:cNvSpPr txBox="1"/>
          <p:nvPr/>
        </p:nvSpPr>
        <p:spPr>
          <a:xfrm>
            <a:off x="868680" y="8906256"/>
            <a:ext cx="16486632" cy="768096"/>
          </a:xfrm>
          <a:prstGeom prst="rect">
            <a:avLst/>
          </a:prstGeom>
          <a:noFill/>
        </p:spPr>
        <p:txBody>
          <a:bodyPr wrap="square" lIns="0" rIns="0" tIns="0" bIns="0">
            <a:spAutoFit/>
          </a:bodyPr>
          <a:lstStyle/>
          <a:p>
            <a:pPr>
              <a:lnSpc>
                <a:spcPts val="2800"/>
              </a:lnSpc>
              <a:spcBef>
                <a:spcPts val="0"/>
              </a:spcBef>
              <a:spcAft>
                <a:spcPts val="0"/>
              </a:spcAft>
              <a:defRPr sz="2400" b="1">
                <a:solidFill>
                  <a:srgbClr val="002C49"/>
                </a:solidFill>
                <a:latin typeface="Montserrat"/>
              </a:defRPr>
            </a:pPr>
            <a:r>
              <a:t>Ce calendrier ne représente ni le LinkedIn business Marketing, ni l’ensemble du run interne RH / RSE.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A19 / CALENDRIER LINKEDIN</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OCT. / NOV. / DÉC. — sujets du calendrier fourni.</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Contenus et statuts transcrits de l’image ; aucune nouvelle proposition éditoriale.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32</a:t>
            </a:r>
          </a:p>
        </p:txBody>
      </p:sp>
      <p:sp>
        <p:nvSpPr>
          <p:cNvPr id="9" name="TextBox 8"/>
          <p:cNvSpPr txBox="1"/>
          <p:nvPr/>
        </p:nvSpPr>
        <p:spPr>
          <a:xfrm>
            <a:off x="86868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OCT.</a:t>
            </a:r>
          </a:p>
        </p:txBody>
      </p:sp>
      <p:sp>
        <p:nvSpPr>
          <p:cNvPr id="10" name="Rectangle 9"/>
          <p:cNvSpPr/>
          <p:nvPr/>
        </p:nvSpPr>
        <p:spPr>
          <a:xfrm>
            <a:off x="868680" y="4023360"/>
            <a:ext cx="5285232" cy="1188720"/>
          </a:xfrm>
          <a:prstGeom prst="rect">
            <a:avLst/>
          </a:prstGeom>
          <a:solidFill>
            <a:srgbClr val="EDF5E5"/>
          </a:solidFill>
          <a:ln>
            <a:noFill/>
          </a:ln>
        </p:spPr>
        <p:txBody>
          <a:bodyPr rtlCol="0" anchor="ctr"/>
          <a:lstStyle/>
          <a:p>
            <a:pPr algn="ctr"/>
          </a:p>
        </p:txBody>
      </p:sp>
      <p:sp>
        <p:nvSpPr>
          <p:cNvPr id="11" name="TextBox 10"/>
          <p:cNvSpPr txBox="1"/>
          <p:nvPr/>
        </p:nvSpPr>
        <p:spPr>
          <a:xfrm>
            <a:off x="1014983"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15/10 · Octobre Rose</a:t>
            </a:r>
          </a:p>
        </p:txBody>
      </p:sp>
      <p:sp>
        <p:nvSpPr>
          <p:cNvPr id="12" name="TextBox 11"/>
          <p:cNvSpPr txBox="1"/>
          <p:nvPr/>
        </p:nvSpPr>
        <p:spPr>
          <a:xfrm>
            <a:off x="1014983"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Mobilisation, 1 km = 1 €, actions agences, webinaire</a:t>
            </a:r>
          </a:p>
        </p:txBody>
      </p:sp>
      <p:sp>
        <p:nvSpPr>
          <p:cNvPr id="13" name="Rectangle 12"/>
          <p:cNvSpPr/>
          <p:nvPr/>
        </p:nvSpPr>
        <p:spPr>
          <a:xfrm>
            <a:off x="868680" y="5285232"/>
            <a:ext cx="5285232" cy="1188720"/>
          </a:xfrm>
          <a:prstGeom prst="rect">
            <a:avLst/>
          </a:prstGeom>
          <a:solidFill>
            <a:srgbClr val="E6EBF0"/>
          </a:solidFill>
          <a:ln>
            <a:noFill/>
          </a:ln>
        </p:spPr>
        <p:txBody>
          <a:bodyPr rtlCol="0" anchor="ctr"/>
          <a:lstStyle/>
          <a:p>
            <a:pPr algn="ctr"/>
          </a:p>
        </p:txBody>
      </p:sp>
      <p:sp>
        <p:nvSpPr>
          <p:cNvPr id="14" name="TextBox 13"/>
          <p:cNvSpPr txBox="1"/>
          <p:nvPr/>
        </p:nvSpPr>
        <p:spPr>
          <a:xfrm>
            <a:off x="1014983"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22/10 · IA</a:t>
            </a:r>
          </a:p>
        </p:txBody>
      </p:sp>
      <p:sp>
        <p:nvSpPr>
          <p:cNvPr id="15" name="TextBox 14"/>
          <p:cNvSpPr txBox="1"/>
          <p:nvPr/>
        </p:nvSpPr>
        <p:spPr>
          <a:xfrm>
            <a:off x="1014983" y="5843016"/>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Former aujourd’hui les métiers de demain</a:t>
            </a:r>
          </a:p>
        </p:txBody>
      </p:sp>
      <p:sp>
        <p:nvSpPr>
          <p:cNvPr id="16" name="Rectangle 15"/>
          <p:cNvSpPr/>
          <p:nvPr/>
        </p:nvSpPr>
        <p:spPr>
          <a:xfrm>
            <a:off x="868680" y="6547104"/>
            <a:ext cx="5285232" cy="1188720"/>
          </a:xfrm>
          <a:prstGeom prst="rect">
            <a:avLst/>
          </a:prstGeom>
          <a:solidFill>
            <a:srgbClr val="E2F4F7"/>
          </a:solidFill>
          <a:ln>
            <a:noFill/>
          </a:ln>
        </p:spPr>
        <p:txBody>
          <a:bodyPr rtlCol="0" anchor="ctr"/>
          <a:lstStyle/>
          <a:p>
            <a:pPr algn="ctr"/>
          </a:p>
        </p:txBody>
      </p:sp>
      <p:sp>
        <p:nvSpPr>
          <p:cNvPr id="17" name="TextBox 16"/>
          <p:cNvSpPr txBox="1"/>
          <p:nvPr/>
        </p:nvSpPr>
        <p:spPr>
          <a:xfrm>
            <a:off x="1014983"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869A"/>
                </a:solidFill>
                <a:latin typeface="Montserrat"/>
              </a:defRPr>
            </a:pPr>
            <a:r>
              <a:t>29/10 · HYROX</a:t>
            </a:r>
          </a:p>
        </p:txBody>
      </p:sp>
      <p:sp>
        <p:nvSpPr>
          <p:cNvPr id="18" name="TextBox 17"/>
          <p:cNvSpPr txBox="1"/>
          <p:nvPr/>
        </p:nvSpPr>
        <p:spPr>
          <a:xfrm>
            <a:off x="1014983" y="7104888"/>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La tendance HYROX chez les collaborateurs Leyton</a:t>
            </a:r>
          </a:p>
        </p:txBody>
      </p:sp>
      <p:sp>
        <p:nvSpPr>
          <p:cNvPr id="19" name="TextBox 18"/>
          <p:cNvSpPr txBox="1"/>
          <p:nvPr/>
        </p:nvSpPr>
        <p:spPr>
          <a:xfrm>
            <a:off x="649224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NOV.</a:t>
            </a:r>
          </a:p>
        </p:txBody>
      </p:sp>
      <p:sp>
        <p:nvSpPr>
          <p:cNvPr id="20" name="Rectangle 19"/>
          <p:cNvSpPr/>
          <p:nvPr/>
        </p:nvSpPr>
        <p:spPr>
          <a:xfrm>
            <a:off x="6492240" y="4023360"/>
            <a:ext cx="5285232" cy="1188720"/>
          </a:xfrm>
          <a:prstGeom prst="rect">
            <a:avLst/>
          </a:prstGeom>
          <a:solidFill>
            <a:srgbClr val="E6EBF0"/>
          </a:solidFill>
          <a:ln>
            <a:noFill/>
          </a:ln>
        </p:spPr>
        <p:txBody>
          <a:bodyPr rtlCol="0" anchor="ctr"/>
          <a:lstStyle/>
          <a:p>
            <a:pPr algn="ctr"/>
          </a:p>
        </p:txBody>
      </p:sp>
      <p:sp>
        <p:nvSpPr>
          <p:cNvPr id="21" name="TextBox 20"/>
          <p:cNvSpPr txBox="1"/>
          <p:nvPr/>
        </p:nvSpPr>
        <p:spPr>
          <a:xfrm>
            <a:off x="663854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Post All Staff</a:t>
            </a:r>
          </a:p>
        </p:txBody>
      </p:sp>
      <p:sp>
        <p:nvSpPr>
          <p:cNvPr id="22" name="TextBox 21"/>
          <p:cNvSpPr txBox="1"/>
          <p:nvPr/>
        </p:nvSpPr>
        <p:spPr>
          <a:xfrm>
            <a:off x="6638544"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3 enseignements / convictions</a:t>
            </a:r>
          </a:p>
        </p:txBody>
      </p:sp>
      <p:sp>
        <p:nvSpPr>
          <p:cNvPr id="23" name="Rectangle 22"/>
          <p:cNvSpPr/>
          <p:nvPr/>
        </p:nvSpPr>
        <p:spPr>
          <a:xfrm>
            <a:off x="6492240" y="5285232"/>
            <a:ext cx="5285232" cy="1188720"/>
          </a:xfrm>
          <a:prstGeom prst="rect">
            <a:avLst/>
          </a:prstGeom>
          <a:solidFill>
            <a:srgbClr val="E2F4F7"/>
          </a:solidFill>
          <a:ln>
            <a:noFill/>
          </a:ln>
        </p:spPr>
        <p:txBody>
          <a:bodyPr rtlCol="0" anchor="ctr"/>
          <a:lstStyle/>
          <a:p>
            <a:pPr algn="ctr"/>
          </a:p>
        </p:txBody>
      </p:sp>
      <p:sp>
        <p:nvSpPr>
          <p:cNvPr id="24" name="TextBox 23"/>
          <p:cNvSpPr txBox="1"/>
          <p:nvPr/>
        </p:nvSpPr>
        <p:spPr>
          <a:xfrm>
            <a:off x="663854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869A"/>
                </a:solidFill>
                <a:latin typeface="Montserrat"/>
              </a:defRPr>
            </a:pPr>
            <a:r>
              <a:t>~13/11 · Sport Business</a:t>
            </a:r>
          </a:p>
        </p:txBody>
      </p:sp>
      <p:sp>
        <p:nvSpPr>
          <p:cNvPr id="25" name="TextBox 24"/>
          <p:cNvSpPr txBox="1"/>
          <p:nvPr/>
        </p:nvSpPr>
        <p:spPr>
          <a:xfrm>
            <a:off x="6638544" y="5843016"/>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France × Afrique du Sud</a:t>
            </a:r>
          </a:p>
        </p:txBody>
      </p:sp>
      <p:sp>
        <p:nvSpPr>
          <p:cNvPr id="26" name="Rectangle 25"/>
          <p:cNvSpPr/>
          <p:nvPr/>
        </p:nvSpPr>
        <p:spPr>
          <a:xfrm>
            <a:off x="6492240" y="6547104"/>
            <a:ext cx="5285232" cy="1188720"/>
          </a:xfrm>
          <a:prstGeom prst="rect">
            <a:avLst/>
          </a:prstGeom>
          <a:solidFill>
            <a:srgbClr val="FCECF1"/>
          </a:solidFill>
          <a:ln>
            <a:noFill/>
          </a:ln>
        </p:spPr>
        <p:txBody>
          <a:bodyPr rtlCol="0" anchor="ctr"/>
          <a:lstStyle/>
          <a:p>
            <a:pPr algn="ctr"/>
          </a:p>
        </p:txBody>
      </p:sp>
      <p:sp>
        <p:nvSpPr>
          <p:cNvPr id="27" name="TextBox 26"/>
          <p:cNvSpPr txBox="1"/>
          <p:nvPr/>
        </p:nvSpPr>
        <p:spPr>
          <a:xfrm>
            <a:off x="663854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a:t>
            </a:r>
          </a:p>
        </p:txBody>
      </p:sp>
      <p:sp>
        <p:nvSpPr>
          <p:cNvPr id="28" name="TextBox 27"/>
          <p:cNvSpPr txBox="1"/>
          <p:nvPr/>
        </p:nvSpPr>
        <p:spPr>
          <a:xfrm>
            <a:off x="6638544" y="7104888"/>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Movember</a:t>
            </a:r>
          </a:p>
        </p:txBody>
      </p:sp>
      <p:sp>
        <p:nvSpPr>
          <p:cNvPr id="29" name="Rectangle 28"/>
          <p:cNvSpPr/>
          <p:nvPr/>
        </p:nvSpPr>
        <p:spPr>
          <a:xfrm>
            <a:off x="6492240" y="7808975"/>
            <a:ext cx="5285232" cy="1188720"/>
          </a:xfrm>
          <a:prstGeom prst="rect">
            <a:avLst/>
          </a:prstGeom>
          <a:solidFill>
            <a:srgbClr val="F3E8F7"/>
          </a:solidFill>
          <a:ln>
            <a:noFill/>
          </a:ln>
        </p:spPr>
        <p:txBody>
          <a:bodyPr rtlCol="0" anchor="ctr"/>
          <a:lstStyle/>
          <a:p>
            <a:pPr algn="ctr"/>
          </a:p>
        </p:txBody>
      </p:sp>
      <p:sp>
        <p:nvSpPr>
          <p:cNvPr id="30" name="TextBox 29"/>
          <p:cNvSpPr txBox="1"/>
          <p:nvPr/>
        </p:nvSpPr>
        <p:spPr>
          <a:xfrm>
            <a:off x="6638544"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AC2CCB"/>
                </a:solidFill>
                <a:latin typeface="Montserrat"/>
              </a:defRPr>
            </a:pPr>
            <a:r>
              <a:t>26/11 · Leadership au féminin #1</a:t>
            </a:r>
          </a:p>
        </p:txBody>
      </p:sp>
      <p:sp>
        <p:nvSpPr>
          <p:cNvPr id="31" name="TextBox 30"/>
          <p:cNvSpPr txBox="1"/>
          <p:nvPr/>
        </p:nvSpPr>
        <p:spPr>
          <a:xfrm>
            <a:off x="1211580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DÉC.</a:t>
            </a:r>
          </a:p>
        </p:txBody>
      </p:sp>
      <p:sp>
        <p:nvSpPr>
          <p:cNvPr id="32" name="Rectangle 31"/>
          <p:cNvSpPr/>
          <p:nvPr/>
        </p:nvSpPr>
        <p:spPr>
          <a:xfrm>
            <a:off x="12115800" y="4023360"/>
            <a:ext cx="5285232" cy="1188720"/>
          </a:xfrm>
          <a:prstGeom prst="rect">
            <a:avLst/>
          </a:prstGeom>
          <a:solidFill>
            <a:srgbClr val="EDF5E5"/>
          </a:solidFill>
          <a:ln>
            <a:noFill/>
          </a:ln>
        </p:spPr>
        <p:txBody>
          <a:bodyPr rtlCol="0" anchor="ctr"/>
          <a:lstStyle/>
          <a:p>
            <a:pPr algn="ctr"/>
          </a:p>
        </p:txBody>
      </p:sp>
      <p:sp>
        <p:nvSpPr>
          <p:cNvPr id="33" name="TextBox 32"/>
          <p:cNvSpPr txBox="1"/>
          <p:nvPr/>
        </p:nvSpPr>
        <p:spPr>
          <a:xfrm>
            <a:off x="1226210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34" name="Rectangle 33"/>
          <p:cNvSpPr/>
          <p:nvPr/>
        </p:nvSpPr>
        <p:spPr>
          <a:xfrm>
            <a:off x="12115800" y="5285232"/>
            <a:ext cx="5285232" cy="1188720"/>
          </a:xfrm>
          <a:prstGeom prst="rect">
            <a:avLst/>
          </a:prstGeom>
          <a:solidFill>
            <a:srgbClr val="F3E8F7"/>
          </a:solidFill>
          <a:ln>
            <a:noFill/>
          </a:ln>
        </p:spPr>
        <p:txBody>
          <a:bodyPr rtlCol="0" anchor="ctr"/>
          <a:lstStyle/>
          <a:p>
            <a:pPr algn="ctr"/>
          </a:p>
        </p:txBody>
      </p:sp>
      <p:sp>
        <p:nvSpPr>
          <p:cNvPr id="35" name="TextBox 34"/>
          <p:cNvSpPr txBox="1"/>
          <p:nvPr/>
        </p:nvSpPr>
        <p:spPr>
          <a:xfrm>
            <a:off x="1226210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AC2CCB"/>
                </a:solidFill>
                <a:latin typeface="Montserrat"/>
              </a:defRPr>
            </a:pPr>
            <a:r>
              <a:t>Leadership au féminin #2</a:t>
            </a:r>
          </a:p>
        </p:txBody>
      </p:sp>
      <p:sp>
        <p:nvSpPr>
          <p:cNvPr id="36" name="TextBox 35"/>
          <p:cNvSpPr txBox="1"/>
          <p:nvPr/>
        </p:nvSpPr>
        <p:spPr>
          <a:xfrm>
            <a:off x="12262104" y="5843016"/>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Le leadership sans nécessairement manager</a:t>
            </a:r>
          </a:p>
        </p:txBody>
      </p:sp>
      <p:sp>
        <p:nvSpPr>
          <p:cNvPr id="37" name="Rectangle 36"/>
          <p:cNvSpPr/>
          <p:nvPr/>
        </p:nvSpPr>
        <p:spPr>
          <a:xfrm>
            <a:off x="12115800" y="6547104"/>
            <a:ext cx="5285232" cy="1188720"/>
          </a:xfrm>
          <a:prstGeom prst="rect">
            <a:avLst/>
          </a:prstGeom>
          <a:solidFill>
            <a:srgbClr val="FCECF1"/>
          </a:solidFill>
          <a:ln>
            <a:noFill/>
          </a:ln>
        </p:spPr>
        <p:txBody>
          <a:bodyPr rtlCol="0" anchor="ctr"/>
          <a:lstStyle/>
          <a:p>
            <a:pPr algn="ctr"/>
          </a:p>
        </p:txBody>
      </p:sp>
      <p:sp>
        <p:nvSpPr>
          <p:cNvPr id="38" name="TextBox 37"/>
          <p:cNvSpPr txBox="1"/>
          <p:nvPr/>
        </p:nvSpPr>
        <p:spPr>
          <a:xfrm>
            <a:off x="1226210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a:t>
            </a:r>
          </a:p>
        </p:txBody>
      </p:sp>
      <p:sp>
        <p:nvSpPr>
          <p:cNvPr id="39" name="TextBox 38"/>
          <p:cNvSpPr txBox="1"/>
          <p:nvPr/>
        </p:nvSpPr>
        <p:spPr>
          <a:xfrm>
            <a:off x="12262104" y="7104888"/>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Soirée de Noël</a:t>
            </a:r>
          </a:p>
        </p:txBody>
      </p:sp>
      <p:sp>
        <p:nvSpPr>
          <p:cNvPr id="40" name="Rectangle 39"/>
          <p:cNvSpPr/>
          <p:nvPr/>
        </p:nvSpPr>
        <p:spPr>
          <a:xfrm>
            <a:off x="12115800" y="7808975"/>
            <a:ext cx="5285232" cy="1188720"/>
          </a:xfrm>
          <a:prstGeom prst="rect">
            <a:avLst/>
          </a:prstGeom>
          <a:solidFill>
            <a:srgbClr val="E6EBF0"/>
          </a:solidFill>
          <a:ln>
            <a:noFill/>
          </a:ln>
        </p:spPr>
        <p:txBody>
          <a:bodyPr rtlCol="0" anchor="ctr"/>
          <a:lstStyle/>
          <a:p>
            <a:pPr algn="ctr"/>
          </a:p>
        </p:txBody>
      </p:sp>
      <p:sp>
        <p:nvSpPr>
          <p:cNvPr id="41" name="TextBox 40"/>
          <p:cNvSpPr txBox="1"/>
          <p:nvPr/>
        </p:nvSpPr>
        <p:spPr>
          <a:xfrm>
            <a:off x="12262104"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Vœux Leyton</a:t>
            </a:r>
          </a:p>
        </p:txBody>
      </p:sp>
      <p:sp>
        <p:nvSpPr>
          <p:cNvPr id="42" name="TextBox 41"/>
          <p:cNvSpPr txBox="1"/>
          <p:nvPr/>
        </p:nvSpPr>
        <p:spPr>
          <a:xfrm>
            <a:off x="868680" y="9162288"/>
            <a:ext cx="16550640" cy="365760"/>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Cadence et thèmes du calendrier source ; dates des événements à confirmer lorsqu’indiqué.</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A20 / CALENDRIER LINKEDIN</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JAN. / FÉV. / MARS — sujets du calendrier fourni.</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Contenus et statuts transcrits de l’image ; aucune nouvelle proposition éditoriale.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33</a:t>
            </a:r>
          </a:p>
        </p:txBody>
      </p:sp>
      <p:sp>
        <p:nvSpPr>
          <p:cNvPr id="9" name="TextBox 8"/>
          <p:cNvSpPr txBox="1"/>
          <p:nvPr/>
        </p:nvSpPr>
        <p:spPr>
          <a:xfrm>
            <a:off x="86868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JAN.</a:t>
            </a:r>
          </a:p>
        </p:txBody>
      </p:sp>
      <p:sp>
        <p:nvSpPr>
          <p:cNvPr id="10" name="Rectangle 9"/>
          <p:cNvSpPr/>
          <p:nvPr/>
        </p:nvSpPr>
        <p:spPr>
          <a:xfrm>
            <a:off x="868680" y="4023360"/>
            <a:ext cx="5285232" cy="1188720"/>
          </a:xfrm>
          <a:prstGeom prst="rect">
            <a:avLst/>
          </a:prstGeom>
          <a:solidFill>
            <a:srgbClr val="E6EBF0"/>
          </a:solidFill>
          <a:ln>
            <a:noFill/>
          </a:ln>
        </p:spPr>
        <p:txBody>
          <a:bodyPr rtlCol="0" anchor="ctr"/>
          <a:lstStyle/>
          <a:p>
            <a:pPr algn="ctr"/>
          </a:p>
        </p:txBody>
      </p:sp>
      <p:sp>
        <p:nvSpPr>
          <p:cNvPr id="11" name="TextBox 10"/>
          <p:cNvSpPr txBox="1"/>
          <p:nvPr/>
        </p:nvSpPr>
        <p:spPr>
          <a:xfrm>
            <a:off x="1014983"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Rétrospective</a:t>
            </a:r>
          </a:p>
        </p:txBody>
      </p:sp>
      <p:sp>
        <p:nvSpPr>
          <p:cNvPr id="12" name="TextBox 11"/>
          <p:cNvSpPr txBox="1"/>
          <p:nvPr/>
        </p:nvSpPr>
        <p:spPr>
          <a:xfrm>
            <a:off x="1014983"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Ce que nous emportons de 2026 en 2027</a:t>
            </a:r>
          </a:p>
        </p:txBody>
      </p:sp>
      <p:sp>
        <p:nvSpPr>
          <p:cNvPr id="13" name="Rectangle 12"/>
          <p:cNvSpPr/>
          <p:nvPr/>
        </p:nvSpPr>
        <p:spPr>
          <a:xfrm>
            <a:off x="868680" y="5285232"/>
            <a:ext cx="5285232" cy="1188720"/>
          </a:xfrm>
          <a:prstGeom prst="rect">
            <a:avLst/>
          </a:prstGeom>
          <a:solidFill>
            <a:srgbClr val="EDF5E5"/>
          </a:solidFill>
          <a:ln>
            <a:noFill/>
          </a:ln>
        </p:spPr>
        <p:txBody>
          <a:bodyPr rtlCol="0" anchor="ctr"/>
          <a:lstStyle/>
          <a:p>
            <a:pPr algn="ctr"/>
          </a:p>
        </p:txBody>
      </p:sp>
      <p:sp>
        <p:nvSpPr>
          <p:cNvPr id="14" name="TextBox 13"/>
          <p:cNvSpPr txBox="1"/>
          <p:nvPr/>
        </p:nvSpPr>
        <p:spPr>
          <a:xfrm>
            <a:off x="1014983"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a:t>
            </a:r>
          </a:p>
        </p:txBody>
      </p:sp>
      <p:sp>
        <p:nvSpPr>
          <p:cNvPr id="15" name="TextBox 14"/>
          <p:cNvSpPr txBox="1"/>
          <p:nvPr/>
        </p:nvSpPr>
        <p:spPr>
          <a:xfrm>
            <a:off x="1014983" y="5843016"/>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Collecte de vêtements</a:t>
            </a:r>
          </a:p>
        </p:txBody>
      </p:sp>
      <p:sp>
        <p:nvSpPr>
          <p:cNvPr id="16" name="Rectangle 15"/>
          <p:cNvSpPr/>
          <p:nvPr/>
        </p:nvSpPr>
        <p:spPr>
          <a:xfrm>
            <a:off x="868680" y="6547104"/>
            <a:ext cx="5285232" cy="1188720"/>
          </a:xfrm>
          <a:prstGeom prst="rect">
            <a:avLst/>
          </a:prstGeom>
          <a:solidFill>
            <a:srgbClr val="FCECF1"/>
          </a:solidFill>
          <a:ln>
            <a:noFill/>
          </a:ln>
        </p:spPr>
        <p:txBody>
          <a:bodyPr rtlCol="0" anchor="ctr"/>
          <a:lstStyle/>
          <a:p>
            <a:pPr algn="ctr"/>
          </a:p>
        </p:txBody>
      </p:sp>
      <p:sp>
        <p:nvSpPr>
          <p:cNvPr id="17" name="TextBox 16"/>
          <p:cNvSpPr txBox="1"/>
          <p:nvPr/>
        </p:nvSpPr>
        <p:spPr>
          <a:xfrm>
            <a:off x="1014983"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18" name="Rectangle 17"/>
          <p:cNvSpPr/>
          <p:nvPr/>
        </p:nvSpPr>
        <p:spPr>
          <a:xfrm>
            <a:off x="868680" y="7808975"/>
            <a:ext cx="5285232" cy="1188720"/>
          </a:xfrm>
          <a:prstGeom prst="rect">
            <a:avLst/>
          </a:prstGeom>
          <a:solidFill>
            <a:srgbClr val="F3E8F7"/>
          </a:solidFill>
          <a:ln>
            <a:noFill/>
          </a:ln>
        </p:spPr>
        <p:txBody>
          <a:bodyPr rtlCol="0" anchor="ctr"/>
          <a:lstStyle/>
          <a:p>
            <a:pPr algn="ctr"/>
          </a:p>
        </p:txBody>
      </p:sp>
      <p:sp>
        <p:nvSpPr>
          <p:cNvPr id="19" name="TextBox 18"/>
          <p:cNvSpPr txBox="1"/>
          <p:nvPr/>
        </p:nvSpPr>
        <p:spPr>
          <a:xfrm>
            <a:off x="1014983"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AC2CCB"/>
                </a:solidFill>
                <a:latin typeface="Montserrat"/>
              </a:defRPr>
            </a:pPr>
            <a:r>
              <a:t>Leadership au féminin #3</a:t>
            </a:r>
          </a:p>
        </p:txBody>
      </p:sp>
      <p:sp>
        <p:nvSpPr>
          <p:cNvPr id="20" name="TextBox 19"/>
          <p:cNvSpPr txBox="1"/>
          <p:nvPr/>
        </p:nvSpPr>
        <p:spPr>
          <a:xfrm>
            <a:off x="1014983" y="8366759"/>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Les compétences de demain : pas seulement techniques</a:t>
            </a:r>
          </a:p>
        </p:txBody>
      </p:sp>
      <p:sp>
        <p:nvSpPr>
          <p:cNvPr id="21" name="TextBox 20"/>
          <p:cNvSpPr txBox="1"/>
          <p:nvPr/>
        </p:nvSpPr>
        <p:spPr>
          <a:xfrm>
            <a:off x="649224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FÉV.</a:t>
            </a:r>
          </a:p>
        </p:txBody>
      </p:sp>
      <p:sp>
        <p:nvSpPr>
          <p:cNvPr id="22" name="Rectangle 21"/>
          <p:cNvSpPr/>
          <p:nvPr/>
        </p:nvSpPr>
        <p:spPr>
          <a:xfrm>
            <a:off x="6492240" y="4023360"/>
            <a:ext cx="5285232" cy="1188720"/>
          </a:xfrm>
          <a:prstGeom prst="rect">
            <a:avLst/>
          </a:prstGeom>
          <a:solidFill>
            <a:srgbClr val="E6EBF0"/>
          </a:solidFill>
          <a:ln>
            <a:noFill/>
          </a:ln>
        </p:spPr>
        <p:txBody>
          <a:bodyPr rtlCol="0" anchor="ctr"/>
          <a:lstStyle/>
          <a:p>
            <a:pPr algn="ctr"/>
          </a:p>
        </p:txBody>
      </p:sp>
      <p:sp>
        <p:nvSpPr>
          <p:cNvPr id="23" name="TextBox 22"/>
          <p:cNvSpPr txBox="1"/>
          <p:nvPr/>
        </p:nvSpPr>
        <p:spPr>
          <a:xfrm>
            <a:off x="663854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Challenge DigiCraft</a:t>
            </a:r>
          </a:p>
        </p:txBody>
      </p:sp>
      <p:sp>
        <p:nvSpPr>
          <p:cNvPr id="24" name="TextBox 23"/>
          <p:cNvSpPr txBox="1"/>
          <p:nvPr/>
        </p:nvSpPr>
        <p:spPr>
          <a:xfrm>
            <a:off x="6638544"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L’innovation en train de se faire</a:t>
            </a:r>
          </a:p>
        </p:txBody>
      </p:sp>
      <p:sp>
        <p:nvSpPr>
          <p:cNvPr id="25" name="Rectangle 24"/>
          <p:cNvSpPr/>
          <p:nvPr/>
        </p:nvSpPr>
        <p:spPr>
          <a:xfrm>
            <a:off x="6492240" y="5285232"/>
            <a:ext cx="5285232" cy="1188720"/>
          </a:xfrm>
          <a:prstGeom prst="rect">
            <a:avLst/>
          </a:prstGeom>
          <a:solidFill>
            <a:srgbClr val="EDF5E5"/>
          </a:solidFill>
          <a:ln>
            <a:noFill/>
          </a:ln>
        </p:spPr>
        <p:txBody>
          <a:bodyPr rtlCol="0" anchor="ctr"/>
          <a:lstStyle/>
          <a:p>
            <a:pPr algn="ctr"/>
          </a:p>
        </p:txBody>
      </p:sp>
      <p:sp>
        <p:nvSpPr>
          <p:cNvPr id="26" name="TextBox 25"/>
          <p:cNvSpPr txBox="1"/>
          <p:nvPr/>
        </p:nvSpPr>
        <p:spPr>
          <a:xfrm>
            <a:off x="663854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27" name="Rectangle 26"/>
          <p:cNvSpPr/>
          <p:nvPr/>
        </p:nvSpPr>
        <p:spPr>
          <a:xfrm>
            <a:off x="6492240" y="6547104"/>
            <a:ext cx="5285232" cy="1188720"/>
          </a:xfrm>
          <a:prstGeom prst="rect">
            <a:avLst/>
          </a:prstGeom>
          <a:solidFill>
            <a:srgbClr val="FCECF1"/>
          </a:solidFill>
          <a:ln>
            <a:noFill/>
          </a:ln>
        </p:spPr>
        <p:txBody>
          <a:bodyPr rtlCol="0" anchor="ctr"/>
          <a:lstStyle/>
          <a:p>
            <a:pPr algn="ctr"/>
          </a:p>
        </p:txBody>
      </p:sp>
      <p:sp>
        <p:nvSpPr>
          <p:cNvPr id="28" name="TextBox 27"/>
          <p:cNvSpPr txBox="1"/>
          <p:nvPr/>
        </p:nvSpPr>
        <p:spPr>
          <a:xfrm>
            <a:off x="663854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29" name="Rectangle 28"/>
          <p:cNvSpPr/>
          <p:nvPr/>
        </p:nvSpPr>
        <p:spPr>
          <a:xfrm>
            <a:off x="6492240" y="7808975"/>
            <a:ext cx="5285232" cy="1188720"/>
          </a:xfrm>
          <a:prstGeom prst="rect">
            <a:avLst/>
          </a:prstGeom>
          <a:solidFill>
            <a:srgbClr val="F3E8F7"/>
          </a:solidFill>
          <a:ln>
            <a:noFill/>
          </a:ln>
        </p:spPr>
        <p:txBody>
          <a:bodyPr rtlCol="0" anchor="ctr"/>
          <a:lstStyle/>
          <a:p>
            <a:pPr algn="ctr"/>
          </a:p>
        </p:txBody>
      </p:sp>
      <p:sp>
        <p:nvSpPr>
          <p:cNvPr id="30" name="TextBox 29"/>
          <p:cNvSpPr txBox="1"/>
          <p:nvPr/>
        </p:nvSpPr>
        <p:spPr>
          <a:xfrm>
            <a:off x="6638544"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AC2CCB"/>
                </a:solidFill>
                <a:latin typeface="Montserrat"/>
              </a:defRPr>
            </a:pPr>
            <a:r>
              <a:t>Leadership au féminin #4</a:t>
            </a:r>
          </a:p>
        </p:txBody>
      </p:sp>
      <p:sp>
        <p:nvSpPr>
          <p:cNvPr id="31" name="TextBox 30"/>
          <p:cNvSpPr txBox="1"/>
          <p:nvPr/>
        </p:nvSpPr>
        <p:spPr>
          <a:xfrm>
            <a:off x="6638544" y="8366759"/>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Mobilité &amp; évolution professionnelle</a:t>
            </a:r>
          </a:p>
        </p:txBody>
      </p:sp>
      <p:sp>
        <p:nvSpPr>
          <p:cNvPr id="32" name="TextBox 31"/>
          <p:cNvSpPr txBox="1"/>
          <p:nvPr/>
        </p:nvSpPr>
        <p:spPr>
          <a:xfrm>
            <a:off x="1211580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MARS</a:t>
            </a:r>
          </a:p>
        </p:txBody>
      </p:sp>
      <p:sp>
        <p:nvSpPr>
          <p:cNvPr id="33" name="Rectangle 32"/>
          <p:cNvSpPr/>
          <p:nvPr/>
        </p:nvSpPr>
        <p:spPr>
          <a:xfrm>
            <a:off x="12115800" y="4023360"/>
            <a:ext cx="5285232" cy="1188720"/>
          </a:xfrm>
          <a:prstGeom prst="rect">
            <a:avLst/>
          </a:prstGeom>
          <a:solidFill>
            <a:srgbClr val="F3E8F7"/>
          </a:solidFill>
          <a:ln>
            <a:noFill/>
          </a:ln>
        </p:spPr>
        <p:txBody>
          <a:bodyPr rtlCol="0" anchor="ctr"/>
          <a:lstStyle/>
          <a:p>
            <a:pPr algn="ctr"/>
          </a:p>
        </p:txBody>
      </p:sp>
      <p:sp>
        <p:nvSpPr>
          <p:cNvPr id="34" name="TextBox 33"/>
          <p:cNvSpPr txBox="1"/>
          <p:nvPr/>
        </p:nvSpPr>
        <p:spPr>
          <a:xfrm>
            <a:off x="1226210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AC2CCB"/>
                </a:solidFill>
                <a:latin typeface="Montserrat"/>
              </a:defRPr>
            </a:pPr>
            <a:r>
              <a:t>Semaine du 8 mars</a:t>
            </a:r>
          </a:p>
        </p:txBody>
      </p:sp>
      <p:sp>
        <p:nvSpPr>
          <p:cNvPr id="35" name="TextBox 34"/>
          <p:cNvSpPr txBox="1"/>
          <p:nvPr/>
        </p:nvSpPr>
        <p:spPr>
          <a:xfrm>
            <a:off x="12262104"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Mash-up Leadership au féminin</a:t>
            </a:r>
          </a:p>
        </p:txBody>
      </p:sp>
      <p:sp>
        <p:nvSpPr>
          <p:cNvPr id="36" name="Rectangle 35"/>
          <p:cNvSpPr/>
          <p:nvPr/>
        </p:nvSpPr>
        <p:spPr>
          <a:xfrm>
            <a:off x="12115800" y="5285232"/>
            <a:ext cx="5285232" cy="1188720"/>
          </a:xfrm>
          <a:prstGeom prst="rect">
            <a:avLst/>
          </a:prstGeom>
          <a:solidFill>
            <a:srgbClr val="FFFFFF"/>
          </a:solidFill>
          <a:ln w="12700">
            <a:solidFill>
              <a:srgbClr val="00869A"/>
            </a:solidFill>
            <a:prstDash val="dash"/>
          </a:ln>
        </p:spPr>
        <p:txBody>
          <a:bodyPr rtlCol="0" anchor="ctr"/>
          <a:lstStyle/>
          <a:p>
            <a:pPr algn="ctr"/>
          </a:p>
        </p:txBody>
      </p:sp>
      <p:sp>
        <p:nvSpPr>
          <p:cNvPr id="37" name="TextBox 36"/>
          <p:cNvSpPr txBox="1"/>
          <p:nvPr/>
        </p:nvSpPr>
        <p:spPr>
          <a:xfrm>
            <a:off x="1226210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869A"/>
                </a:solidFill>
                <a:latin typeface="Montserrat"/>
              </a:defRPr>
            </a:pPr>
            <a:r>
              <a:t>Semi-marathon</a:t>
            </a:r>
          </a:p>
        </p:txBody>
      </p:sp>
      <p:sp>
        <p:nvSpPr>
          <p:cNvPr id="38" name="TextBox 37"/>
          <p:cNvSpPr txBox="1"/>
          <p:nvPr/>
        </p:nvSpPr>
        <p:spPr>
          <a:xfrm>
            <a:off x="12262104" y="5843016"/>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Event sportif · À confirmer</a:t>
            </a:r>
          </a:p>
        </p:txBody>
      </p:sp>
      <p:sp>
        <p:nvSpPr>
          <p:cNvPr id="39" name="Rectangle 38"/>
          <p:cNvSpPr/>
          <p:nvPr/>
        </p:nvSpPr>
        <p:spPr>
          <a:xfrm>
            <a:off x="12115800" y="6547104"/>
            <a:ext cx="5285232" cy="1188720"/>
          </a:xfrm>
          <a:prstGeom prst="rect">
            <a:avLst/>
          </a:prstGeom>
          <a:solidFill>
            <a:srgbClr val="FCECF1"/>
          </a:solidFill>
          <a:ln>
            <a:noFill/>
          </a:ln>
        </p:spPr>
        <p:txBody>
          <a:bodyPr rtlCol="0" anchor="ctr"/>
          <a:lstStyle/>
          <a:p>
            <a:pPr algn="ctr"/>
          </a:p>
        </p:txBody>
      </p:sp>
      <p:sp>
        <p:nvSpPr>
          <p:cNvPr id="40" name="TextBox 39"/>
          <p:cNvSpPr txBox="1"/>
          <p:nvPr/>
        </p:nvSpPr>
        <p:spPr>
          <a:xfrm>
            <a:off x="1226210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41" name="Rectangle 40"/>
          <p:cNvSpPr/>
          <p:nvPr/>
        </p:nvSpPr>
        <p:spPr>
          <a:xfrm>
            <a:off x="12115800" y="7808975"/>
            <a:ext cx="5285232" cy="1188720"/>
          </a:xfrm>
          <a:prstGeom prst="rect">
            <a:avLst/>
          </a:prstGeom>
          <a:solidFill>
            <a:srgbClr val="EDF5E5"/>
          </a:solidFill>
          <a:ln>
            <a:noFill/>
          </a:ln>
        </p:spPr>
        <p:txBody>
          <a:bodyPr rtlCol="0" anchor="ctr"/>
          <a:lstStyle/>
          <a:p>
            <a:pPr algn="ctr"/>
          </a:p>
        </p:txBody>
      </p:sp>
      <p:sp>
        <p:nvSpPr>
          <p:cNvPr id="42" name="TextBox 41"/>
          <p:cNvSpPr txBox="1"/>
          <p:nvPr/>
        </p:nvSpPr>
        <p:spPr>
          <a:xfrm>
            <a:off x="12262104"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43" name="TextBox 42"/>
          <p:cNvSpPr txBox="1"/>
          <p:nvPr/>
        </p:nvSpPr>
        <p:spPr>
          <a:xfrm>
            <a:off x="868680" y="9162288"/>
            <a:ext cx="16550640" cy="365760"/>
          </a:xfrm>
          <a:prstGeom prst="rect">
            <a:avLst/>
          </a:prstGeom>
          <a:noFill/>
        </p:spPr>
        <p:txBody>
          <a:bodyPr wrap="square" lIns="0" rIns="0" tIns="0" bIns="0">
            <a:spAutoFit/>
          </a:bodyPr>
          <a:lstStyle/>
          <a:p>
            <a:pPr>
              <a:lnSpc>
                <a:spcPts val="2337"/>
              </a:lnSpc>
              <a:spcBef>
                <a:spcPts val="0"/>
              </a:spcBef>
              <a:spcAft>
                <a:spcPts val="0"/>
              </a:spcAft>
              <a:defRPr sz="1900" b="0">
                <a:solidFill>
                  <a:srgbClr val="526777"/>
                </a:solidFill>
                <a:latin typeface="Montserrat"/>
              </a:defRPr>
            </a:pPr>
            <a:r>
              <a:t>Cadence et thèmes du calendrier source ; dates des événements à confirmer lorsqu’indiqué.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822960" y="502920"/>
            <a:ext cx="1691640" cy="345376"/>
          </a:xfrm>
          <a:prstGeom prst="rect">
            <a:avLst/>
          </a:prstGeom>
        </p:spPr>
      </p:pic>
      <p:sp>
        <p:nvSpPr>
          <p:cNvPr id="3" name="TextBox 2"/>
          <p:cNvSpPr txBox="1"/>
          <p:nvPr/>
        </p:nvSpPr>
        <p:spPr>
          <a:xfrm>
            <a:off x="3657600" y="594360"/>
            <a:ext cx="13716000" cy="292608"/>
          </a:xfrm>
          <a:prstGeom prst="rect">
            <a:avLst/>
          </a:prstGeom>
          <a:noFill/>
        </p:spPr>
        <p:txBody>
          <a:bodyPr wrap="square" lIns="0" rIns="0" tIns="0" bIns="0">
            <a:spAutoFit/>
          </a:bodyPr>
          <a:lstStyle/>
          <a:p>
            <a:pPr algn="r">
              <a:lnSpc>
                <a:spcPts val="1845"/>
              </a:lnSpc>
              <a:spcBef>
                <a:spcPts val="0"/>
              </a:spcBef>
              <a:spcAft>
                <a:spcPts val="0"/>
              </a:spcAft>
              <a:defRPr sz="1500" b="1">
                <a:solidFill>
                  <a:srgbClr val="526777"/>
                </a:solidFill>
                <a:latin typeface="Montserrat"/>
              </a:defRPr>
            </a:pPr>
            <a:r>
              <a:t>ANNEXE A21 / CALENDRIER LINKEDIN</a:t>
            </a:r>
          </a:p>
        </p:txBody>
      </p:sp>
      <p:sp>
        <p:nvSpPr>
          <p:cNvPr id="4" name="TextBox 3"/>
          <p:cNvSpPr txBox="1"/>
          <p:nvPr/>
        </p:nvSpPr>
        <p:spPr>
          <a:xfrm>
            <a:off x="822960" y="1371600"/>
            <a:ext cx="16642080" cy="1426464"/>
          </a:xfrm>
          <a:prstGeom prst="rect">
            <a:avLst/>
          </a:prstGeom>
          <a:noFill/>
        </p:spPr>
        <p:txBody>
          <a:bodyPr wrap="square" lIns="0" rIns="0" tIns="0" bIns="0">
            <a:spAutoFit/>
          </a:bodyPr>
          <a:lstStyle/>
          <a:p>
            <a:pPr>
              <a:lnSpc>
                <a:spcPts val="5300"/>
              </a:lnSpc>
              <a:spcBef>
                <a:spcPts val="0"/>
              </a:spcBef>
              <a:spcAft>
                <a:spcPts val="0"/>
              </a:spcAft>
              <a:defRPr sz="4600" b="0">
                <a:solidFill>
                  <a:srgbClr val="002C49"/>
                </a:solidFill>
                <a:latin typeface="Nohemi"/>
              </a:defRPr>
            </a:pPr>
            <a:r>
              <a:t>AVR. / MAI / JUIN — sujets du calendrier fourni.</a:t>
            </a:r>
          </a:p>
        </p:txBody>
      </p:sp>
      <p:sp>
        <p:nvSpPr>
          <p:cNvPr id="5" name="TextBox 4"/>
          <p:cNvSpPr txBox="1"/>
          <p:nvPr/>
        </p:nvSpPr>
        <p:spPr>
          <a:xfrm>
            <a:off x="868680" y="2742285"/>
            <a:ext cx="16504920" cy="868680"/>
          </a:xfrm>
          <a:prstGeom prst="rect">
            <a:avLst/>
          </a:prstGeom>
          <a:noFill/>
        </p:spPr>
        <p:txBody>
          <a:bodyPr wrap="square" lIns="0" rIns="0" tIns="0" bIns="0">
            <a:spAutoFit/>
          </a:bodyPr>
          <a:lstStyle/>
          <a:p>
            <a:pPr>
              <a:lnSpc>
                <a:spcPts val="2900"/>
              </a:lnSpc>
              <a:spcBef>
                <a:spcPts val="0"/>
              </a:spcBef>
              <a:spcAft>
                <a:spcPts val="0"/>
              </a:spcAft>
              <a:defRPr sz="2400" b="0">
                <a:solidFill>
                  <a:srgbClr val="526777"/>
                </a:solidFill>
                <a:latin typeface="Montserrat"/>
              </a:defRPr>
            </a:pPr>
            <a:r>
              <a:t>Contenus et statuts transcrits de l’image ; aucune nouvelle proposition éditoriale.</a:t>
            </a:r>
          </a:p>
        </p:txBody>
      </p:sp>
      <p:sp>
        <p:nvSpPr>
          <p:cNvPr id="6" name="Rectangle 5"/>
          <p:cNvSpPr/>
          <p:nvPr/>
        </p:nvSpPr>
        <p:spPr>
          <a:xfrm>
            <a:off x="822960" y="9738360"/>
            <a:ext cx="16642080" cy="10972"/>
          </a:xfrm>
          <a:prstGeom prst="rect">
            <a:avLst/>
          </a:prstGeom>
          <a:solidFill>
            <a:srgbClr val="D9E2E7"/>
          </a:solidFill>
          <a:ln>
            <a:noFill/>
          </a:ln>
        </p:spPr>
        <p:txBody>
          <a:bodyPr rtlCol="0" anchor="ctr"/>
          <a:lstStyle/>
          <a:p>
            <a:pPr algn="ctr"/>
          </a:p>
        </p:txBody>
      </p:sp>
      <p:sp>
        <p:nvSpPr>
          <p:cNvPr id="7" name="TextBox 6"/>
          <p:cNvSpPr txBox="1"/>
          <p:nvPr/>
        </p:nvSpPr>
        <p:spPr>
          <a:xfrm>
            <a:off x="822960" y="9921240"/>
            <a:ext cx="14630400" cy="210312"/>
          </a:xfrm>
          <a:prstGeom prst="rect">
            <a:avLst/>
          </a:prstGeom>
          <a:noFill/>
        </p:spPr>
        <p:txBody>
          <a:bodyPr wrap="square" lIns="0" rIns="0" tIns="0" bIns="0">
            <a:spAutoFit/>
          </a:bodyPr>
          <a:lstStyle/>
          <a:p>
            <a:pPr>
              <a:lnSpc>
                <a:spcPts val="1476"/>
              </a:lnSpc>
              <a:spcBef>
                <a:spcPts val="0"/>
              </a:spcBef>
              <a:spcAft>
                <a:spcPts val="0"/>
              </a:spcAft>
              <a:defRPr sz="1200" b="0">
                <a:solidFill>
                  <a:srgbClr val="526777"/>
                </a:solidFill>
                <a:latin typeface="Montserrat"/>
              </a:defRPr>
            </a:pPr>
            <a:r>
              <a:t>LEYTON FRANCE  /  PLAN DE COMMUNICATION  /  FY2026/27</a:t>
            </a:r>
          </a:p>
        </p:txBody>
      </p:sp>
      <p:sp>
        <p:nvSpPr>
          <p:cNvPr id="8" name="TextBox 7"/>
          <p:cNvSpPr txBox="1"/>
          <p:nvPr/>
        </p:nvSpPr>
        <p:spPr>
          <a:xfrm>
            <a:off x="16550640" y="9875520"/>
            <a:ext cx="914400" cy="274320"/>
          </a:xfrm>
          <a:prstGeom prst="rect">
            <a:avLst/>
          </a:prstGeom>
          <a:noFill/>
        </p:spPr>
        <p:txBody>
          <a:bodyPr wrap="square" lIns="0" rIns="0" tIns="0" bIns="0">
            <a:spAutoFit/>
          </a:bodyPr>
          <a:lstStyle/>
          <a:p>
            <a:pPr algn="r">
              <a:lnSpc>
                <a:spcPts val="1968"/>
              </a:lnSpc>
              <a:spcBef>
                <a:spcPts val="0"/>
              </a:spcBef>
              <a:spcAft>
                <a:spcPts val="0"/>
              </a:spcAft>
              <a:defRPr sz="1600" b="1">
                <a:solidFill>
                  <a:srgbClr val="FF6633"/>
                </a:solidFill>
                <a:latin typeface="Montserrat"/>
              </a:defRPr>
            </a:pPr>
            <a:r>
              <a:t>34</a:t>
            </a:r>
          </a:p>
        </p:txBody>
      </p:sp>
      <p:sp>
        <p:nvSpPr>
          <p:cNvPr id="9" name="TextBox 8"/>
          <p:cNvSpPr txBox="1"/>
          <p:nvPr/>
        </p:nvSpPr>
        <p:spPr>
          <a:xfrm>
            <a:off x="86868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AVR.</a:t>
            </a:r>
          </a:p>
        </p:txBody>
      </p:sp>
      <p:sp>
        <p:nvSpPr>
          <p:cNvPr id="10" name="Rectangle 9"/>
          <p:cNvSpPr/>
          <p:nvPr/>
        </p:nvSpPr>
        <p:spPr>
          <a:xfrm>
            <a:off x="868680" y="4023360"/>
            <a:ext cx="5285232" cy="1188720"/>
          </a:xfrm>
          <a:prstGeom prst="rect">
            <a:avLst/>
          </a:prstGeom>
          <a:solidFill>
            <a:srgbClr val="E6EBF0"/>
          </a:solidFill>
          <a:ln>
            <a:noFill/>
          </a:ln>
        </p:spPr>
        <p:txBody>
          <a:bodyPr rtlCol="0" anchor="ctr"/>
          <a:lstStyle/>
          <a:p>
            <a:pPr algn="ctr"/>
          </a:p>
        </p:txBody>
      </p:sp>
      <p:sp>
        <p:nvSpPr>
          <p:cNvPr id="11" name="TextBox 10"/>
          <p:cNvSpPr txBox="1"/>
          <p:nvPr/>
        </p:nvSpPr>
        <p:spPr>
          <a:xfrm>
            <a:off x="1014983"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Post All Staff</a:t>
            </a:r>
          </a:p>
        </p:txBody>
      </p:sp>
      <p:sp>
        <p:nvSpPr>
          <p:cNvPr id="12" name="TextBox 11"/>
          <p:cNvSpPr txBox="1"/>
          <p:nvPr/>
        </p:nvSpPr>
        <p:spPr>
          <a:xfrm>
            <a:off x="1014983"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Enseignement / conviction</a:t>
            </a:r>
          </a:p>
        </p:txBody>
      </p:sp>
      <p:sp>
        <p:nvSpPr>
          <p:cNvPr id="13" name="Rectangle 12"/>
          <p:cNvSpPr/>
          <p:nvPr/>
        </p:nvSpPr>
        <p:spPr>
          <a:xfrm>
            <a:off x="868680" y="5285232"/>
            <a:ext cx="5285232" cy="1188720"/>
          </a:xfrm>
          <a:prstGeom prst="rect">
            <a:avLst/>
          </a:prstGeom>
          <a:solidFill>
            <a:srgbClr val="EDF5E5"/>
          </a:solidFill>
          <a:ln>
            <a:noFill/>
          </a:ln>
        </p:spPr>
        <p:txBody>
          <a:bodyPr rtlCol="0" anchor="ctr"/>
          <a:lstStyle/>
          <a:p>
            <a:pPr algn="ctr"/>
          </a:p>
        </p:txBody>
      </p:sp>
      <p:sp>
        <p:nvSpPr>
          <p:cNvPr id="14" name="TextBox 13"/>
          <p:cNvSpPr txBox="1"/>
          <p:nvPr/>
        </p:nvSpPr>
        <p:spPr>
          <a:xfrm>
            <a:off x="1014983"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15" name="Rectangle 14"/>
          <p:cNvSpPr/>
          <p:nvPr/>
        </p:nvSpPr>
        <p:spPr>
          <a:xfrm>
            <a:off x="868680" y="6547104"/>
            <a:ext cx="5285232" cy="1188720"/>
          </a:xfrm>
          <a:prstGeom prst="rect">
            <a:avLst/>
          </a:prstGeom>
          <a:solidFill>
            <a:srgbClr val="FCECF1"/>
          </a:solidFill>
          <a:ln>
            <a:noFill/>
          </a:ln>
        </p:spPr>
        <p:txBody>
          <a:bodyPr rtlCol="0" anchor="ctr"/>
          <a:lstStyle/>
          <a:p>
            <a:pPr algn="ctr"/>
          </a:p>
        </p:txBody>
      </p:sp>
      <p:sp>
        <p:nvSpPr>
          <p:cNvPr id="16" name="TextBox 15"/>
          <p:cNvSpPr txBox="1"/>
          <p:nvPr/>
        </p:nvSpPr>
        <p:spPr>
          <a:xfrm>
            <a:off x="1014983"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17" name="Rectangle 16"/>
          <p:cNvSpPr/>
          <p:nvPr/>
        </p:nvSpPr>
        <p:spPr>
          <a:xfrm>
            <a:off x="868680" y="7808975"/>
            <a:ext cx="5285232" cy="1188720"/>
          </a:xfrm>
          <a:prstGeom prst="rect">
            <a:avLst/>
          </a:prstGeom>
          <a:solidFill>
            <a:srgbClr val="FFFFFF"/>
          </a:solidFill>
          <a:ln w="12700">
            <a:solidFill>
              <a:srgbClr val="002C49"/>
            </a:solidFill>
            <a:prstDash val="dash"/>
          </a:ln>
        </p:spPr>
        <p:txBody>
          <a:bodyPr rtlCol="0" anchor="ctr"/>
          <a:lstStyle/>
          <a:p>
            <a:pPr algn="ctr"/>
          </a:p>
        </p:txBody>
      </p:sp>
      <p:sp>
        <p:nvSpPr>
          <p:cNvPr id="18" name="TextBox 17"/>
          <p:cNvSpPr txBox="1"/>
          <p:nvPr/>
        </p:nvSpPr>
        <p:spPr>
          <a:xfrm>
            <a:off x="1014983"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Leyton 2030</a:t>
            </a:r>
          </a:p>
        </p:txBody>
      </p:sp>
      <p:sp>
        <p:nvSpPr>
          <p:cNvPr id="19" name="TextBox 18"/>
          <p:cNvSpPr txBox="1"/>
          <p:nvPr/>
        </p:nvSpPr>
        <p:spPr>
          <a:xfrm>
            <a:off x="1014983" y="8366759"/>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Sujet corporate · À définir</a:t>
            </a:r>
          </a:p>
        </p:txBody>
      </p:sp>
      <p:sp>
        <p:nvSpPr>
          <p:cNvPr id="20" name="TextBox 19"/>
          <p:cNvSpPr txBox="1"/>
          <p:nvPr/>
        </p:nvSpPr>
        <p:spPr>
          <a:xfrm>
            <a:off x="649224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MAI</a:t>
            </a:r>
          </a:p>
        </p:txBody>
      </p:sp>
      <p:sp>
        <p:nvSpPr>
          <p:cNvPr id="21" name="Rectangle 20"/>
          <p:cNvSpPr/>
          <p:nvPr/>
        </p:nvSpPr>
        <p:spPr>
          <a:xfrm>
            <a:off x="6492240" y="4023360"/>
            <a:ext cx="5285232" cy="1188720"/>
          </a:xfrm>
          <a:prstGeom prst="rect">
            <a:avLst/>
          </a:prstGeom>
          <a:solidFill>
            <a:srgbClr val="FFFFFF"/>
          </a:solidFill>
          <a:ln w="12700">
            <a:solidFill>
              <a:srgbClr val="00869A"/>
            </a:solidFill>
            <a:prstDash val="dash"/>
          </a:ln>
        </p:spPr>
        <p:txBody>
          <a:bodyPr rtlCol="0" anchor="ctr"/>
          <a:lstStyle/>
          <a:p>
            <a:pPr algn="ctr"/>
          </a:p>
        </p:txBody>
      </p:sp>
      <p:sp>
        <p:nvSpPr>
          <p:cNvPr id="22" name="TextBox 21"/>
          <p:cNvSpPr txBox="1"/>
          <p:nvPr/>
        </p:nvSpPr>
        <p:spPr>
          <a:xfrm>
            <a:off x="663854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869A"/>
                </a:solidFill>
                <a:latin typeface="Montserrat"/>
              </a:defRPr>
            </a:pPr>
            <a:r>
              <a:t>Sport Business</a:t>
            </a:r>
          </a:p>
        </p:txBody>
      </p:sp>
      <p:sp>
        <p:nvSpPr>
          <p:cNvPr id="23" name="TextBox 22"/>
          <p:cNvSpPr txBox="1"/>
          <p:nvPr/>
        </p:nvSpPr>
        <p:spPr>
          <a:xfrm>
            <a:off x="6638544" y="4581144"/>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Hospitalité / temps fort PSG, OL ou Stade Toulousain · À sélectionner</a:t>
            </a:r>
          </a:p>
        </p:txBody>
      </p:sp>
      <p:sp>
        <p:nvSpPr>
          <p:cNvPr id="24" name="Rectangle 23"/>
          <p:cNvSpPr/>
          <p:nvPr/>
        </p:nvSpPr>
        <p:spPr>
          <a:xfrm>
            <a:off x="6492240" y="5285232"/>
            <a:ext cx="5285232" cy="1188720"/>
          </a:xfrm>
          <a:prstGeom prst="rect">
            <a:avLst/>
          </a:prstGeom>
          <a:solidFill>
            <a:srgbClr val="EDF5E5"/>
          </a:solidFill>
          <a:ln>
            <a:noFill/>
          </a:ln>
        </p:spPr>
        <p:txBody>
          <a:bodyPr rtlCol="0" anchor="ctr"/>
          <a:lstStyle/>
          <a:p>
            <a:pPr algn="ctr"/>
          </a:p>
        </p:txBody>
      </p:sp>
      <p:sp>
        <p:nvSpPr>
          <p:cNvPr id="25" name="TextBox 24"/>
          <p:cNvSpPr txBox="1"/>
          <p:nvPr/>
        </p:nvSpPr>
        <p:spPr>
          <a:xfrm>
            <a:off x="663854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26" name="Rectangle 25"/>
          <p:cNvSpPr/>
          <p:nvPr/>
        </p:nvSpPr>
        <p:spPr>
          <a:xfrm>
            <a:off x="6492240" y="6547104"/>
            <a:ext cx="5285232" cy="1188720"/>
          </a:xfrm>
          <a:prstGeom prst="rect">
            <a:avLst/>
          </a:prstGeom>
          <a:solidFill>
            <a:srgbClr val="FCECF1"/>
          </a:solidFill>
          <a:ln>
            <a:noFill/>
          </a:ln>
        </p:spPr>
        <p:txBody>
          <a:bodyPr rtlCol="0" anchor="ctr"/>
          <a:lstStyle/>
          <a:p>
            <a:pPr algn="ctr"/>
          </a:p>
        </p:txBody>
      </p:sp>
      <p:sp>
        <p:nvSpPr>
          <p:cNvPr id="27" name="TextBox 26"/>
          <p:cNvSpPr txBox="1"/>
          <p:nvPr/>
        </p:nvSpPr>
        <p:spPr>
          <a:xfrm>
            <a:off x="663854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28" name="Rectangle 27"/>
          <p:cNvSpPr/>
          <p:nvPr/>
        </p:nvSpPr>
        <p:spPr>
          <a:xfrm>
            <a:off x="6492240" y="7808975"/>
            <a:ext cx="5285232" cy="1188720"/>
          </a:xfrm>
          <a:prstGeom prst="rect">
            <a:avLst/>
          </a:prstGeom>
          <a:solidFill>
            <a:srgbClr val="FFFFFF"/>
          </a:solidFill>
          <a:ln w="12700">
            <a:solidFill>
              <a:srgbClr val="002C49"/>
            </a:solidFill>
            <a:prstDash val="dash"/>
          </a:ln>
        </p:spPr>
        <p:txBody>
          <a:bodyPr rtlCol="0" anchor="ctr"/>
          <a:lstStyle/>
          <a:p>
            <a:pPr algn="ctr"/>
          </a:p>
        </p:txBody>
      </p:sp>
      <p:sp>
        <p:nvSpPr>
          <p:cNvPr id="29" name="TextBox 28"/>
          <p:cNvSpPr txBox="1"/>
          <p:nvPr/>
        </p:nvSpPr>
        <p:spPr>
          <a:xfrm>
            <a:off x="6638544" y="7900415"/>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2C49"/>
                </a:solidFill>
                <a:latin typeface="Montserrat"/>
              </a:defRPr>
            </a:pPr>
            <a:r>
              <a:t>Sujet corporate</a:t>
            </a:r>
          </a:p>
        </p:txBody>
      </p:sp>
      <p:sp>
        <p:nvSpPr>
          <p:cNvPr id="30" name="TextBox 29"/>
          <p:cNvSpPr txBox="1"/>
          <p:nvPr/>
        </p:nvSpPr>
        <p:spPr>
          <a:xfrm>
            <a:off x="6638544" y="8366759"/>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À définir</a:t>
            </a:r>
          </a:p>
        </p:txBody>
      </p:sp>
      <p:sp>
        <p:nvSpPr>
          <p:cNvPr id="31" name="TextBox 30"/>
          <p:cNvSpPr txBox="1"/>
          <p:nvPr/>
        </p:nvSpPr>
        <p:spPr>
          <a:xfrm>
            <a:off x="12115800" y="3364992"/>
            <a:ext cx="5303520" cy="530352"/>
          </a:xfrm>
          <a:prstGeom prst="rect">
            <a:avLst/>
          </a:prstGeom>
          <a:noFill/>
        </p:spPr>
        <p:txBody>
          <a:bodyPr wrap="square" lIns="0" rIns="0" tIns="0" bIns="0">
            <a:spAutoFit/>
          </a:bodyPr>
          <a:lstStyle/>
          <a:p>
            <a:pPr>
              <a:lnSpc>
                <a:spcPts val="3690"/>
              </a:lnSpc>
              <a:spcBef>
                <a:spcPts val="0"/>
              </a:spcBef>
              <a:spcAft>
                <a:spcPts val="0"/>
              </a:spcAft>
              <a:defRPr sz="3000" b="1">
                <a:solidFill>
                  <a:srgbClr val="002C49"/>
                </a:solidFill>
                <a:latin typeface="Montserrat"/>
              </a:defRPr>
            </a:pPr>
            <a:r>
              <a:t>JUIN</a:t>
            </a:r>
          </a:p>
        </p:txBody>
      </p:sp>
      <p:sp>
        <p:nvSpPr>
          <p:cNvPr id="32" name="Rectangle 31"/>
          <p:cNvSpPr/>
          <p:nvPr/>
        </p:nvSpPr>
        <p:spPr>
          <a:xfrm>
            <a:off x="12115800" y="4023360"/>
            <a:ext cx="5285232" cy="1188720"/>
          </a:xfrm>
          <a:prstGeom prst="rect">
            <a:avLst/>
          </a:prstGeom>
          <a:solidFill>
            <a:srgbClr val="EDF5E5"/>
          </a:solidFill>
          <a:ln>
            <a:noFill/>
          </a:ln>
        </p:spPr>
        <p:txBody>
          <a:bodyPr rtlCol="0" anchor="ctr"/>
          <a:lstStyle/>
          <a:p>
            <a:pPr algn="ctr"/>
          </a:p>
        </p:txBody>
      </p:sp>
      <p:sp>
        <p:nvSpPr>
          <p:cNvPr id="33" name="TextBox 32"/>
          <p:cNvSpPr txBox="1"/>
          <p:nvPr/>
        </p:nvSpPr>
        <p:spPr>
          <a:xfrm>
            <a:off x="12262104" y="4114800"/>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4A9225"/>
                </a:solidFill>
                <a:latin typeface="Montserrat"/>
              </a:defRPr>
            </a:pPr>
            <a:r>
              <a:t>RSE du mois</a:t>
            </a:r>
          </a:p>
        </p:txBody>
      </p:sp>
      <p:sp>
        <p:nvSpPr>
          <p:cNvPr id="34" name="Rectangle 33"/>
          <p:cNvSpPr/>
          <p:nvPr/>
        </p:nvSpPr>
        <p:spPr>
          <a:xfrm>
            <a:off x="12115800" y="5285232"/>
            <a:ext cx="5285232" cy="1188720"/>
          </a:xfrm>
          <a:prstGeom prst="rect">
            <a:avLst/>
          </a:prstGeom>
          <a:solidFill>
            <a:srgbClr val="FCECF1"/>
          </a:solidFill>
          <a:ln>
            <a:noFill/>
          </a:ln>
        </p:spPr>
        <p:txBody>
          <a:bodyPr rtlCol="0" anchor="ctr"/>
          <a:lstStyle/>
          <a:p>
            <a:pPr algn="ctr"/>
          </a:p>
        </p:txBody>
      </p:sp>
      <p:sp>
        <p:nvSpPr>
          <p:cNvPr id="35" name="TextBox 34"/>
          <p:cNvSpPr txBox="1"/>
          <p:nvPr/>
        </p:nvSpPr>
        <p:spPr>
          <a:xfrm>
            <a:off x="12262104" y="5376672"/>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D93662"/>
                </a:solidFill>
                <a:latin typeface="Montserrat"/>
              </a:defRPr>
            </a:pPr>
            <a:r>
              <a:t>Event RH du mois</a:t>
            </a:r>
          </a:p>
        </p:txBody>
      </p:sp>
      <p:sp>
        <p:nvSpPr>
          <p:cNvPr id="36" name="Rectangle 35"/>
          <p:cNvSpPr/>
          <p:nvPr/>
        </p:nvSpPr>
        <p:spPr>
          <a:xfrm>
            <a:off x="12115800" y="6547104"/>
            <a:ext cx="5285232" cy="1188720"/>
          </a:xfrm>
          <a:prstGeom prst="rect">
            <a:avLst/>
          </a:prstGeom>
          <a:solidFill>
            <a:srgbClr val="FFFFFF"/>
          </a:solidFill>
          <a:ln w="12700">
            <a:solidFill>
              <a:srgbClr val="00869A"/>
            </a:solidFill>
            <a:prstDash val="dash"/>
          </a:ln>
        </p:spPr>
        <p:txBody>
          <a:bodyPr rtlCol="0" anchor="ctr"/>
          <a:lstStyle/>
          <a:p>
            <a:pPr algn="ctr"/>
          </a:p>
        </p:txBody>
      </p:sp>
      <p:sp>
        <p:nvSpPr>
          <p:cNvPr id="37" name="TextBox 36"/>
          <p:cNvSpPr txBox="1"/>
          <p:nvPr/>
        </p:nvSpPr>
        <p:spPr>
          <a:xfrm>
            <a:off x="12262104" y="6638544"/>
            <a:ext cx="4992624" cy="448056"/>
          </a:xfrm>
          <a:prstGeom prst="rect">
            <a:avLst/>
          </a:prstGeom>
          <a:noFill/>
        </p:spPr>
        <p:txBody>
          <a:bodyPr wrap="square" lIns="0" rIns="0" tIns="0" bIns="0">
            <a:spAutoFit/>
          </a:bodyPr>
          <a:lstStyle/>
          <a:p>
            <a:pPr>
              <a:lnSpc>
                <a:spcPts val="2400"/>
              </a:lnSpc>
              <a:spcBef>
                <a:spcPts val="0"/>
              </a:spcBef>
              <a:spcAft>
                <a:spcPts val="0"/>
              </a:spcAft>
              <a:defRPr sz="2100" b="1">
                <a:solidFill>
                  <a:srgbClr val="00869A"/>
                </a:solidFill>
                <a:latin typeface="Montserrat"/>
              </a:defRPr>
            </a:pPr>
            <a:r>
              <a:t>Triathlon</a:t>
            </a:r>
          </a:p>
        </p:txBody>
      </p:sp>
      <p:sp>
        <p:nvSpPr>
          <p:cNvPr id="38" name="TextBox 37"/>
          <p:cNvSpPr txBox="1"/>
          <p:nvPr/>
        </p:nvSpPr>
        <p:spPr>
          <a:xfrm>
            <a:off x="12262104" y="7104888"/>
            <a:ext cx="4992624" cy="640080"/>
          </a:xfrm>
          <a:prstGeom prst="rect">
            <a:avLst/>
          </a:prstGeom>
          <a:noFill/>
        </p:spPr>
        <p:txBody>
          <a:bodyPr wrap="square" lIns="0" rIns="0" tIns="0" bIns="0">
            <a:spAutoFit/>
          </a:bodyPr>
          <a:lstStyle/>
          <a:p>
            <a:pPr>
              <a:lnSpc>
                <a:spcPts val="2100"/>
              </a:lnSpc>
              <a:spcBef>
                <a:spcPts val="0"/>
              </a:spcBef>
              <a:spcAft>
                <a:spcPts val="0"/>
              </a:spcAft>
              <a:defRPr sz="1800" b="0">
                <a:solidFill>
                  <a:srgbClr val="526777"/>
                </a:solidFill>
                <a:latin typeface="Montserrat"/>
              </a:defRPr>
            </a:pPr>
            <a:r>
              <a:t>Event sportif · À confirmer</a:t>
            </a:r>
          </a:p>
        </p:txBody>
      </p:sp>
      <p:sp>
        <p:nvSpPr>
          <p:cNvPr id="39" name="TextBox 38"/>
          <p:cNvSpPr txBox="1"/>
          <p:nvPr/>
        </p:nvSpPr>
        <p:spPr>
          <a:xfrm>
            <a:off x="868680" y="9162288"/>
            <a:ext cx="16550640" cy="365760"/>
          </a:xfrm>
          <a:prstGeom prst="rect">
            <a:avLst/>
          </a:prstGeom>
          <a:noFill/>
        </p:spPr>
        <p:txBody>
          <a:bodyPr wrap="square" lIns="0" rIns="0" tIns="0" bIns="0">
            <a:spAutoFit/>
          </a:bodyPr>
          <a:lstStyle/>
          <a:p>
            <a:pPr>
              <a:lnSpc>
                <a:spcPts val="2214"/>
              </a:lnSpc>
              <a:spcBef>
                <a:spcPts val="0"/>
              </a:spcBef>
              <a:spcAft>
                <a:spcPts val="0"/>
              </a:spcAft>
              <a:defRPr sz="1800" b="1">
                <a:solidFill>
                  <a:srgbClr val="FF6633"/>
                </a:solidFill>
                <a:latin typeface="Montserrat"/>
              </a:defRPr>
            </a:pPr>
            <a:r>
              <a:t>OPPORTUNITÉS : 21/02 Sport Business — France × Écosse ; mars — actualité sport uniquement si réellement stratégique.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Communication France FY2026/27 — V4</dc:title>
  <dc:subject>Deck de direction : choix, temporalité, gouvernance, mesure et arbitrages</dc:subject>
  <dc:creator>Communication France — Leyton</dc:creator>
  <cp:keywords>Leyton2030, Change, Business, People, influence, FY2026/27</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